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de188549cd49e6" /><Relationship Type="http://schemas.openxmlformats.org/officeDocument/2006/relationships/extended-properties" Target="/docProps/app.xml" Id="R41aafb56f69a4f98" /><Relationship Type="http://schemas.openxmlformats.org/officeDocument/2006/relationships/officeDocument" Target="/ppt/presentation.xml" Id="Rc12a44b3ec9d4740" /></Relationships>
</file>

<file path=ppt/presentation.xml><?xml version="1.0" encoding="utf-8"?>
<p:presentation xmlns:p="http://schemas.openxmlformats.org/presentationml/2006/main">
  <p:sldMasterIdLst>
    <p:sldMasterId xmlns:r="http://schemas.openxmlformats.org/officeDocument/2006/relationships" id="2147483648" r:id="R76edab72efbc470b"/>
  </p:sldMasterIdLst>
  <p:notesMasterIdLst>
    <p:notesMasterId xmlns:r="http://schemas.openxmlformats.org/officeDocument/2006/relationships" r:id="R525b297b077b4b75"/>
  </p:notesMasterIdLst>
  <p:sldIdLst>
    <p:sldId xmlns:r="http://schemas.openxmlformats.org/officeDocument/2006/relationships" id="256" r:id="R8417e9822e4745a2"/>
    <p:sldId xmlns:r="http://schemas.openxmlformats.org/officeDocument/2006/relationships" id="257" r:id="Re1ee02928b6f4aeb"/>
    <p:sldId xmlns:r="http://schemas.openxmlformats.org/officeDocument/2006/relationships" id="258" r:id="Rf6bcb115f77c4a4e"/>
    <p:sldId xmlns:r="http://schemas.openxmlformats.org/officeDocument/2006/relationships" id="259" r:id="R2dab1e076ab144a7"/>
    <p:sldId xmlns:r="http://schemas.openxmlformats.org/officeDocument/2006/relationships" id="260" r:id="R251ebebf2ad14085"/>
    <p:sldId xmlns:r="http://schemas.openxmlformats.org/officeDocument/2006/relationships" id="261" r:id="Re25c96afef634219"/>
    <p:sldId xmlns:r="http://schemas.openxmlformats.org/officeDocument/2006/relationships" id="262" r:id="Rf650eb43bc4c4b3f"/>
    <p:sldId xmlns:r="http://schemas.openxmlformats.org/officeDocument/2006/relationships" id="263" r:id="R47c804987f5d401a"/>
    <p:sldId xmlns:r="http://schemas.openxmlformats.org/officeDocument/2006/relationships" id="264" r:id="Rc19ba31885a5496d"/>
    <p:sldId xmlns:r="http://schemas.openxmlformats.org/officeDocument/2006/relationships" id="265" r:id="R8eda2b3c05094883"/>
    <p:sldId xmlns:r="http://schemas.openxmlformats.org/officeDocument/2006/relationships" id="266" r:id="Rd832b69cfff143cb"/>
    <p:sldId xmlns:r="http://schemas.openxmlformats.org/officeDocument/2006/relationships" id="267" r:id="R05b102ae91b34642"/>
    <p:sldId xmlns:r="http://schemas.openxmlformats.org/officeDocument/2006/relationships" id="268" r:id="R16d249e49fff453b"/>
    <p:sldId xmlns:r="http://schemas.openxmlformats.org/officeDocument/2006/relationships" id="269" r:id="R0466b3a25d234700"/>
    <p:sldId xmlns:r="http://schemas.openxmlformats.org/officeDocument/2006/relationships" id="270" r:id="Rec38750b8d984764"/>
    <p:sldId xmlns:r="http://schemas.openxmlformats.org/officeDocument/2006/relationships" id="271" r:id="R42564dfee1034d20"/>
    <p:sldId xmlns:r="http://schemas.openxmlformats.org/officeDocument/2006/relationships" id="272" r:id="R46006314a44c4e56"/>
    <p:sldId xmlns:r="http://schemas.openxmlformats.org/officeDocument/2006/relationships" id="273" r:id="R02f66567e5284e57"/>
    <p:sldId xmlns:r="http://schemas.openxmlformats.org/officeDocument/2006/relationships" id="274" r:id="Re6b9dcdbc7c249fa"/>
    <p:sldId xmlns:r="http://schemas.openxmlformats.org/officeDocument/2006/relationships" id="275" r:id="Rb1d276ea25b34d77"/>
    <p:sldId xmlns:r="http://schemas.openxmlformats.org/officeDocument/2006/relationships" id="276" r:id="R78afd18f32be4fa2"/>
    <p:sldId xmlns:r="http://schemas.openxmlformats.org/officeDocument/2006/relationships" id="277" r:id="Red2b34b835424a1f"/>
    <p:sldId xmlns:r="http://schemas.openxmlformats.org/officeDocument/2006/relationships" id="278" r:id="R5b638428224642b4"/>
    <p:sldId xmlns:r="http://schemas.openxmlformats.org/officeDocument/2006/relationships" id="279" r:id="Rb426f74aa87146b2"/>
    <p:sldId xmlns:r="http://schemas.openxmlformats.org/officeDocument/2006/relationships" id="280" r:id="Rcd0180de4e4d40e3"/>
    <p:sldId xmlns:r="http://schemas.openxmlformats.org/officeDocument/2006/relationships" id="281" r:id="R8884c13076ad4c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3c1e427d6a46ce" /><Relationship Type="http://schemas.openxmlformats.org/officeDocument/2006/relationships/slideMaster" Target="/ppt/slideMasters/slideMaster1.xml" Id="R76edab72efbc470b" /><Relationship Type="http://schemas.openxmlformats.org/officeDocument/2006/relationships/notesMaster" Target="/ppt/notesMasters/notesMaster1.xml" Id="R525b297b077b4b75" /><Relationship Type="http://schemas.openxmlformats.org/officeDocument/2006/relationships/presProps" Target="/ppt/presProps.xml" Id="R960fc9051ed343ed" /><Relationship Type="http://schemas.openxmlformats.org/officeDocument/2006/relationships/tableStyles" Target="/ppt/tableStyles.xml" Id="R66b0be6e299f4793" /><Relationship Type="http://schemas.openxmlformats.org/officeDocument/2006/relationships/slide" Target="/ppt/slides/slide1.xml" Id="R8417e9822e4745a2" /><Relationship Type="http://schemas.openxmlformats.org/officeDocument/2006/relationships/slide" Target="/ppt/slides/slide2.xml" Id="Re1ee02928b6f4aeb" /><Relationship Type="http://schemas.openxmlformats.org/officeDocument/2006/relationships/slide" Target="/ppt/slides/slide3.xml" Id="Rf6bcb115f77c4a4e" /><Relationship Type="http://schemas.openxmlformats.org/officeDocument/2006/relationships/slide" Target="/ppt/slides/slide4.xml" Id="R2dab1e076ab144a7" /><Relationship Type="http://schemas.openxmlformats.org/officeDocument/2006/relationships/slide" Target="/ppt/slides/slide5.xml" Id="R251ebebf2ad14085" /><Relationship Type="http://schemas.openxmlformats.org/officeDocument/2006/relationships/slide" Target="/ppt/slides/slide6.xml" Id="Re25c96afef634219" /><Relationship Type="http://schemas.openxmlformats.org/officeDocument/2006/relationships/slide" Target="/ppt/slides/slide7.xml" Id="Rf650eb43bc4c4b3f" /><Relationship Type="http://schemas.openxmlformats.org/officeDocument/2006/relationships/slide" Target="/ppt/slides/slide8.xml" Id="R47c804987f5d401a" /><Relationship Type="http://schemas.openxmlformats.org/officeDocument/2006/relationships/slide" Target="/ppt/slides/slide9.xml" Id="Rc19ba31885a5496d" /><Relationship Type="http://schemas.openxmlformats.org/officeDocument/2006/relationships/slide" Target="/ppt/slides/slide10.xml" Id="R8eda2b3c05094883" /><Relationship Type="http://schemas.openxmlformats.org/officeDocument/2006/relationships/slide" Target="/ppt/slides/slide11.xml" Id="Rd832b69cfff143cb" /><Relationship Type="http://schemas.openxmlformats.org/officeDocument/2006/relationships/slide" Target="/ppt/slides/slide12.xml" Id="R05b102ae91b34642" /><Relationship Type="http://schemas.openxmlformats.org/officeDocument/2006/relationships/slide" Target="/ppt/slides/slide13.xml" Id="R16d249e49fff453b" /><Relationship Type="http://schemas.openxmlformats.org/officeDocument/2006/relationships/slide" Target="/ppt/slides/slide14.xml" Id="R0466b3a25d234700" /><Relationship Type="http://schemas.openxmlformats.org/officeDocument/2006/relationships/slide" Target="/ppt/slides/slide15.xml" Id="Rec38750b8d984764" /><Relationship Type="http://schemas.openxmlformats.org/officeDocument/2006/relationships/slide" Target="/ppt/slides/slide16.xml" Id="R42564dfee1034d20" /><Relationship Type="http://schemas.openxmlformats.org/officeDocument/2006/relationships/slide" Target="/ppt/slides/slide17.xml" Id="R46006314a44c4e56" /><Relationship Type="http://schemas.openxmlformats.org/officeDocument/2006/relationships/slide" Target="/ppt/slides/slide18.xml" Id="R02f66567e5284e57" /><Relationship Type="http://schemas.openxmlformats.org/officeDocument/2006/relationships/slide" Target="/ppt/slides/slide19.xml" Id="Re6b9dcdbc7c249fa" /><Relationship Type="http://schemas.openxmlformats.org/officeDocument/2006/relationships/slide" Target="/ppt/slides/slide20.xml" Id="Rb1d276ea25b34d77" /><Relationship Type="http://schemas.openxmlformats.org/officeDocument/2006/relationships/slide" Target="/ppt/slides/slide21.xml" Id="R78afd18f32be4fa2" /><Relationship Type="http://schemas.openxmlformats.org/officeDocument/2006/relationships/slide" Target="/ppt/slides/slide22.xml" Id="Red2b34b835424a1f" /><Relationship Type="http://schemas.openxmlformats.org/officeDocument/2006/relationships/slide" Target="/ppt/slides/slide23.xml" Id="R5b638428224642b4" /><Relationship Type="http://schemas.openxmlformats.org/officeDocument/2006/relationships/slide" Target="/ppt/slides/slide24.xml" Id="Rb426f74aa87146b2" /><Relationship Type="http://schemas.openxmlformats.org/officeDocument/2006/relationships/slide" Target="/ppt/slides/slide25.xml" Id="Rcd0180de4e4d40e3" /><Relationship Type="http://schemas.openxmlformats.org/officeDocument/2006/relationships/slide" Target="/ppt/slides/slide26.xml" Id="R8884c13076ad4c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4a0c45dcd047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2c7cfc411a488f" /><Relationship Type="http://schemas.openxmlformats.org/officeDocument/2006/relationships/notesMaster" Target="/ppt/notesMasters/notesMaster1.xml" Id="R6d491aa63e0b42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7956a520a04774" /><Relationship Type="http://schemas.openxmlformats.org/officeDocument/2006/relationships/notesMaster" Target="/ppt/notesMasters/notesMaster1.xml" Id="R7059729a0b6047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11fac3bb5f43d6" /><Relationship Type="http://schemas.openxmlformats.org/officeDocument/2006/relationships/notesMaster" Target="/ppt/notesMasters/notesMaster1.xml" Id="R35893efd0a754a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7b151a19f54d25" /><Relationship Type="http://schemas.openxmlformats.org/officeDocument/2006/relationships/notesMaster" Target="/ppt/notesMasters/notesMaster1.xml" Id="Ra9cfab00128146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34531180c74435" /><Relationship Type="http://schemas.openxmlformats.org/officeDocument/2006/relationships/notesMaster" Target="/ppt/notesMasters/notesMaster1.xml" Id="R30a0df569cb047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b9a31611b84b82" /><Relationship Type="http://schemas.openxmlformats.org/officeDocument/2006/relationships/notesMaster" Target="/ppt/notesMasters/notesMaster1.xml" Id="R4b88b3a94ad140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32a02247044667" /><Relationship Type="http://schemas.openxmlformats.org/officeDocument/2006/relationships/notesMaster" Target="/ppt/notesMasters/notesMaster1.xml" Id="Rc7b9559307f140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b932f1889543ea" /><Relationship Type="http://schemas.openxmlformats.org/officeDocument/2006/relationships/notesMaster" Target="/ppt/notesMasters/notesMaster1.xml" Id="R26148a7cbba642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a8a8be5c474e37" /><Relationship Type="http://schemas.openxmlformats.org/officeDocument/2006/relationships/notesMaster" Target="/ppt/notesMasters/notesMaster1.xml" Id="Rf210f93b230747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eea67ec84842c7" /><Relationship Type="http://schemas.openxmlformats.org/officeDocument/2006/relationships/notesMaster" Target="/ppt/notesMasters/notesMaster1.xml" Id="R2d5d4749b58740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4b643598884e0e" /><Relationship Type="http://schemas.openxmlformats.org/officeDocument/2006/relationships/notesMaster" Target="/ppt/notesMasters/notesMaster1.xml" Id="Rb8af9a6d3be94c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8919b07c14499c" /><Relationship Type="http://schemas.openxmlformats.org/officeDocument/2006/relationships/notesMaster" Target="/ppt/notesMasters/notesMaster1.xml" Id="R1c509c7afd2f44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9025bf05014d2e" /><Relationship Type="http://schemas.openxmlformats.org/officeDocument/2006/relationships/notesMaster" Target="/ppt/notesMasters/notesMaster1.xml" Id="R69dcbbd0f81946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f101393c29b4a13" /><Relationship Type="http://schemas.openxmlformats.org/officeDocument/2006/relationships/notesMaster" Target="/ppt/notesMasters/notesMaster1.xml" Id="R68cc149973ee4e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47a103803c4f2b" /><Relationship Type="http://schemas.openxmlformats.org/officeDocument/2006/relationships/notesMaster" Target="/ppt/notesMasters/notesMaster1.xml" Id="R87e1fa5fed1040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21aec6d4104c99" /><Relationship Type="http://schemas.openxmlformats.org/officeDocument/2006/relationships/notesMaster" Target="/ppt/notesMasters/notesMaster1.xml" Id="Re13fd657248f41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81d773fc0b64e9f" /><Relationship Type="http://schemas.openxmlformats.org/officeDocument/2006/relationships/notesMaster" Target="/ppt/notesMasters/notesMaster1.xml" Id="R04e09f1aaace45a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1ac5c9722954f44" /><Relationship Type="http://schemas.openxmlformats.org/officeDocument/2006/relationships/notesMaster" Target="/ppt/notesMasters/notesMaster1.xml" Id="R08fd52bbc2a544b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c3240f28954879" /><Relationship Type="http://schemas.openxmlformats.org/officeDocument/2006/relationships/notesMaster" Target="/ppt/notesMasters/notesMaster1.xml" Id="R3e4052c5f2814e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f7ed64b56e1411e" /><Relationship Type="http://schemas.openxmlformats.org/officeDocument/2006/relationships/notesMaster" Target="/ppt/notesMasters/notesMaster1.xml" Id="Rc5c0d181f349415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977f8aca32c4543" /><Relationship Type="http://schemas.openxmlformats.org/officeDocument/2006/relationships/notesMaster" Target="/ppt/notesMasters/notesMaster1.xml" Id="Rd10d81cafeb44c4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58ed67d7020415e" /><Relationship Type="http://schemas.openxmlformats.org/officeDocument/2006/relationships/notesMaster" Target="/ppt/notesMasters/notesMaster1.xml" Id="Rbfb99e98c48f4b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dca59767efa4bcb" /><Relationship Type="http://schemas.openxmlformats.org/officeDocument/2006/relationships/notesMaster" Target="/ppt/notesMasters/notesMaster1.xml" Id="R870dbc79d9bc4e9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0adc77471c148ed" /><Relationship Type="http://schemas.openxmlformats.org/officeDocument/2006/relationships/notesMaster" Target="/ppt/notesMasters/notesMaster1.xml" Id="Rc06b3df7418b40a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274f0b92d0042dc" /><Relationship Type="http://schemas.openxmlformats.org/officeDocument/2006/relationships/notesMaster" Target="/ppt/notesMasters/notesMaster1.xml" Id="Rf232971f327b4e1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efe9fe1fb194aad" /><Relationship Type="http://schemas.openxmlformats.org/officeDocument/2006/relationships/notesMaster" Target="/ppt/notesMasters/notesMaster1.xml" Id="R646a5944ef764b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Goods OS is a proposed community workspace for collecting, understanding, curating, controlling and selectively sharing knowledge about land, activities and impact. The ambition is local usefulness that can become reciprocal learning across places. OS describes coordinated knowledge and services, not a new device operating system. Green Goods remains the product/protocol/ecosystem; Coop is a separate reference project. Cover artwork is an AI-generated fictional landscape, not evidence of a real pilot or ecological outcome.</a:t>
            </a:r>
          </a:p>
          <a:p xmlns:a="http://schemas.openxmlformats.org/drawingml/2006/main">
            <a:r>
              <a:t/>
            </a:r>
          </a:p>
          <a:p xmlns:a="http://schemas.openxmlformats.org/drawingml/2006/main">
            <a:r>
              <a:t>Sources (accessed 8 October 2026):</a:t>
            </a:r>
          </a:p>
          <a:p xmlns:a="http://schemas.openxmlformats.org/drawingml/2006/main">
            <a:r>
              <a:t>https://linear.app/greenpill-dev-guild/document/community-evidence-mesh-thesis-architecture-and-narrative-35af454d4501</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hypothesis to validate: observations, sensor files, field conversations and practical experience can become difficult to retrieve, interpret and hand over. This slide describes a plausible workflow problem, not customer interview findings. The cost may include repeated entry, time reconstructing decisions and inappropriate transfer of a practice without local conditions. FAO documents access, skills and affordability barriers; these contextual barriers justify designing for existing devices and support, not assuming technology automatically saves money. Discovery must compare the existing notebook/chat/form workflow, including what already works.</a:t>
            </a:r>
          </a:p>
          <a:p xmlns:a="http://schemas.openxmlformats.org/drawingml/2006/main">
            <a:r>
              <a:t/>
            </a:r>
          </a:p>
          <a:p xmlns:a="http://schemas.openxmlformats.org/drawingml/2006/main">
            <a:r>
              <a:t>Sources (accessed 8 October 2026):</a:t>
            </a:r>
          </a:p>
          <a:p xmlns:a="http://schemas.openxmlformats.org/drawingml/2006/main">
            <a:r>
              <a:t>https://www.fao.org/neareast/main-topics/action-areas/digital-transformation/</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UNEP’s 2026 report estimates annual nature-based-solutions finance at $220 billion in 2023 and the required level at $571 billion by 2030. This is context for accountable local delivery, not the Green Goods software market or proof that records unlock finance. NRCS program documentation makes whole-farm assessment and baseline/final soil testing relevant to regenerative delivery; Green Goods is not certified for those requirements. Browser inference is technically available, but compatibility and net usefulness on target hardware remain unmeasured. The opportunity is to connect local capacity with reviewed records while keeping community value first.</a:t>
            </a:r>
          </a:p>
          <a:p xmlns:a="http://schemas.openxmlformats.org/drawingml/2006/main">
            <a:r>
              <a:t/>
            </a:r>
          </a:p>
          <a:p xmlns:a="http://schemas.openxmlformats.org/drawingml/2006/main">
            <a:r>
              <a:t>Sources (accessed 8 October 2026):</a:t>
            </a:r>
          </a:p>
          <a:p xmlns:a="http://schemas.openxmlformats.org/drawingml/2006/main">
            <a:r>
              <a:t>https://www.unep.org/resources/state-finance-nature-2026</a:t>
            </a:r>
          </a:p>
          <a:p xmlns:a="http://schemas.openxmlformats.org/drawingml/2006/main">
            <a:r>
              <a:t>https://www.nrcs.usda.gov/programs-initiatives/regenerative-pilot-program</a:t>
            </a:r>
          </a:p>
          <a:p xmlns:a="http://schemas.openxmlformats.org/drawingml/2006/main">
            <a:r>
              <a:t>https://webllm.mlc.ai/docs/</a:t>
            </a:r>
          </a:p>
          <a:p xmlns:a="http://schemas.openxmlformats.org/drawingml/2006/main">
            <a:r>
              <a:t>https://ai.google.dev/gemma/docs/core</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 an accessible browser workspace with optional extension capture. Communities collect observations and selected sensor imports; local AI may draft source-linked interpretations; people correct and curate; a separate disclosure step controls sharing. The workspace must remain useful without AI, new hardware, a wallet or public posting. This is planned OS functionality, not an implemented product screenshot. Illustration depicts fictional people and equipment. A community may choose an existing collection system such as farmOS or ODK as the source.</a:t>
            </a:r>
          </a:p>
          <a:p xmlns:a="http://schemas.openxmlformats.org/drawingml/2006/main">
            <a:r>
              <a:t/>
            </a:r>
          </a:p>
          <a:p xmlns:a="http://schemas.openxmlformats.org/drawingml/2006/main">
            <a:r>
              <a:t>Sources (accessed 8 October 2026):</a:t>
            </a:r>
          </a:p>
          <a:p xmlns:a="http://schemas.openxmlformats.org/drawingml/2006/main">
            <a:r>
              <a:t>https://linear.app/greenpill-dev-guild/document/community-evidence-mesh-thesis-architecture-and-narrative-35af454d4501</a:t>
            </a:r>
          </a:p>
          <a:p xmlns:a="http://schemas.openxmlformats.org/drawingml/2006/main">
            <a:r>
              <a:t>https://linear.app/greenpill-dev-guild/document/community-evidence-mesh-evidence-model-privacy-and-trust-0045b35a9939</a:t>
            </a:r>
          </a:p>
          <a:p xmlns:a="http://schemas.openxmlformats.org/drawingml/2006/main">
            <a:r>
              <a:t>https://farmos.org/development/api/</a:t>
            </a:r>
          </a:p>
          <a:p xmlns:a="http://schemas.openxmlformats.org/drawingml/2006/main">
            <a:r>
              <a:t>https://docs.getodk.org/collect-intro/</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initial user: a mid-sized farmer transitioning practices, supported by a trusted adviser. The economic buyer is a conservation/advisory program director; the facilitator or adviser is the day-to-day champion. U.S. conservation districts provide a countable discovery channel, not established distribution access. Cooperatives and NGO programs are adjacent buyer hypotheses. SARE/CTIC’s 2025 online survey included 654 advisers and found associations between personal cover-crop use and recommendations; this supports testing the relationship channel but establishes neither causation nor Green Goods demand. Country, participants and paid buyer are not secured.</a:t>
            </a:r>
          </a:p>
          <a:p xmlns:a="http://schemas.openxmlformats.org/drawingml/2006/main">
            <a:r>
              <a:t/>
            </a:r>
          </a:p>
          <a:p xmlns:a="http://schemas.openxmlformats.org/drawingml/2006/main">
            <a:r>
              <a:t>Sources (accessed 8 October 2026):</a:t>
            </a:r>
          </a:p>
          <a:p xmlns:a="http://schemas.openxmlformats.org/drawingml/2006/main">
            <a:r>
              <a:t>https://www.sare.org/news/new-survey-of-farm-advisors-shows-growing-interest-in-cover-crops/</a:t>
            </a:r>
          </a:p>
          <a:p xmlns:a="http://schemas.openxmlformats.org/drawingml/2006/main">
            <a:r>
              <a:t>https://www.nrcs.usda.gov/state-offices/north-carolina/news/nrcs-north-carolina-leadership-attends-the-senacd-2026-meeting</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question: which field plot needs an in-person moisture check today, and why? One synthetic CSV recording represents a soil-moisture probe; it is not a connected physical sensor or environmental result. Record units, time, plot, depth, device identifier, calibration status and missing values. A local model can flag stale or unusual inputs and draft a summary, but the human checks the sources and decides the next inspection. The exact approved minimal synthetic AT post is retrieved in a second workspace and receives feedback. Green Goods integration is a schema-valid exported-unsubmitted packet, not an executed transaction. Offline reconciliation and privacy-canary tests remain mandatory. An actual sandbox publication requires separate authorized infrastructure.</a:t>
            </a:r>
          </a:p>
          <a:p xmlns:a="http://schemas.openxmlformats.org/drawingml/2006/main">
            <a:r>
              <a:t/>
            </a:r>
          </a:p>
          <a:p xmlns:a="http://schemas.openxmlformats.org/drawingml/2006/main">
            <a:r>
              <a:t>Sources (accessed 8 October 2026):</a:t>
            </a:r>
          </a:p>
          <a:p xmlns:a="http://schemas.openxmlformats.org/drawingml/2006/main">
            <a:r>
              <a:t>https://github.com/greenpill-dev-guild/green-goods/blob/0fc3fd83e9a1c4258e4bcfdf64396a3dbe601778/packages/shared/src/modules/work/submit-work-command.ts</a:t>
            </a:r>
          </a:p>
          <a:p xmlns:a="http://schemas.openxmlformats.org/drawingml/2006/main">
            <a:r>
              <a:t>https://github.com/greenpill-dev-guild/green-goods/blob/0fc3fd83e9a1c4258e4bcfdf64396a3dbe601778/packages/contracts/config/schemas.json</a:t>
            </a:r>
          </a:p>
          <a:p xmlns:a="http://schemas.openxmlformats.org/drawingml/2006/main">
            <a:r>
              <a:t>https://atproto.com/specs/repository</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value propositions and measurement criteria, not delivered savings. Time and total cost must include setup, data entry, translation, curation, hardware maintenance, model download and review. Better decisions means clearer source-grounded choices and fewer avoidable errors in the bounded task, not proven ecological or financial improvement. Continuity is tested through handover, retrieval and recovery. Supporter evidence is downstream of useful records. A fair baseline is the community’s current forms, shared folder and adviser workflow, supplemented by existing tools where appropriate. Meaningful control requires understandable permissions and exit; public copies cannot be recalled.</a:t>
            </a:r>
          </a:p>
          <a:p xmlns:a="http://schemas.openxmlformats.org/drawingml/2006/main">
            <a:r>
              <a:t/>
            </a:r>
          </a:p>
          <a:p xmlns:a="http://schemas.openxmlformats.org/drawingml/2006/main">
            <a:r>
              <a:t>Sources (accessed 8 October 2026):</a:t>
            </a:r>
          </a:p>
          <a:p xmlns:a="http://schemas.openxmlformats.org/drawingml/2006/main">
            <a:r>
              <a:t>https://linear.app/greenpill-dev-guild/document/community-evidence-mesh-evidence-model-privacy-and-trust-0045b35a9939</a:t>
            </a:r>
          </a:p>
          <a:p xmlns:a="http://schemas.openxmlformats.org/drawingml/2006/main">
            <a:r>
              <a:t>https://www.fao.org/neareast/main-topics/action-areas/digital-transformation/</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framework, subject to community evaluation: accessibility across cost, existing hardware, bandwidth, language, disability, skill and time; sovereignty through permissions, identity, governance, portability, recovery and exit; trust through source provenance, human review, limitations and reliable delivery; reciprocity through benefits to contributors as well as recipients. Privacy, interoperability and verifiability are essential across all four. Tradeoffs include more replication increasing exposure, stronger controls adding work, and transparency conflicting with sensitive knowledge. Ownership language must not imply exclusive legal rights over every observation. Trust comes from relationships and reliable practice, not signatures alone.</a:t>
            </a:r>
          </a:p>
          <a:p xmlns:a="http://schemas.openxmlformats.org/drawingml/2006/main">
            <a:r>
              <a:t/>
            </a:r>
          </a:p>
          <a:p xmlns:a="http://schemas.openxmlformats.org/drawingml/2006/main">
            <a:r>
              <a:t>Sources (accessed 8 October 2026):</a:t>
            </a:r>
          </a:p>
          <a:p xmlns:a="http://schemas.openxmlformats.org/drawingml/2006/main">
            <a:r>
              <a:t>https://linear.app/greenpill-dev-guild/document/community-evidence-mesh-evidence-model-privacy-and-trust-0045b35a9939</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Reciprocal network hypothesis: people in different bioregions can benefit from situated practical experience, expertise and resources. Better-resourced stewards can fund curation, equipment support or facilitation and receive useful contextual knowledge. Resource-constrained communities may contribute valued practice and receive expertise, peer feedback and support, without pressure to disclose. These roles are not fixed and neither group automatically knows more. Attribution, consent, language, applicability and different practices travel with the lesson. The pilot measures useful exchanges in both directions and contributor benefit, not upload counts. Knowledge, cultural continuity, experience and relationships need not be converted into tokens.</a:t>
            </a:r>
          </a:p>
          <a:p xmlns:a="http://schemas.openxmlformats.org/drawingml/2006/main">
            <a:r>
              <a:t/>
            </a:r>
          </a:p>
          <a:p xmlns:a="http://schemas.openxmlformats.org/drawingml/2006/main">
            <a:r>
              <a:t>Sources (accessed 8 October 2026):</a:t>
            </a:r>
          </a:p>
          <a:p xmlns:a="http://schemas.openxmlformats.org/drawingml/2006/main">
            <a:r>
              <a:t>https://linear.app/greenpill-dev-guild/document/community-evidence-mesh-thesis-architecture-and-narrative-35af454d4501</a:t>
            </a:r>
          </a:p>
          <a:p xmlns:a="http://schemas.openxmlformats.org/drawingml/2006/main">
            <a:r>
              <a:t>https://linear.app/greenpill-dev-guild/document/community-evidence-mesh-evidence-model-privacy-and-trust-0045b35a9939</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requested settings are a product-learning map, not four simultaneous builds. The initial farmer/adviser pair tests operational usefulness and a program buyer. Small regenerative farmers test low-effort affordability. Global South land communities require locally selected language, community authority, connectivity and support; one pilot cannot establish regional compatibility. Well-resourced stewards can buy premium service and facilitate reciprocity while receiving locally grounded knowledge. The global count is a historical scale indicator, not a count of prospective buyers. FAO’s 2021 estimate is based on heterogeneous agricultural census data and is not a current live count.</a:t>
            </a:r>
          </a:p>
          <a:p xmlns:a="http://schemas.openxmlformats.org/drawingml/2006/main">
            <a:r>
              <a:t/>
            </a:r>
          </a:p>
          <a:p xmlns:a="http://schemas.openxmlformats.org/drawingml/2006/main">
            <a:r>
              <a:t>Sources (accessed 8 October 2026):</a:t>
            </a:r>
          </a:p>
          <a:p xmlns:a="http://schemas.openxmlformats.org/drawingml/2006/main">
            <a:r>
              <a:t>https://www.fao.org/newsroom/detail/FAO-Director-General-Family-farmers-are-agents-of-change-on-the-ground/en</a:t>
            </a:r>
          </a:p>
          <a:p xmlns:a="http://schemas.openxmlformats.org/drawingml/2006/main">
            <a:r>
              <a:t>https://www.fao.org/neareast/main-topics/action-areas/digital-transformation/</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Bottom-up model of one U.S. channel. NRCS reports nearly 3,000 conservation districts; round to 3,000. At assumed annual prices of $3,000/$6,000/$9,000 the channel ceiling is $9m/$18m/$27m. This is universal-purchase capacity, not observed software expenditure or the global TAM. The planning SAM assumes only 10% meet workflow, staffing, procurement and budget criteria: 300 programs at the base $6,000 = $1.8m. A 24-month delivery/acquisition target of 15 programs gives $90,000 ARR; 5/30 programs give $30,000/$180,000. Prices, qualification shares and capture are unvalidated. Farmers are not counted again as paying programs. Other channels and global expansion are not added without inventories.</a:t>
            </a:r>
          </a:p>
          <a:p xmlns:a="http://schemas.openxmlformats.org/drawingml/2006/main">
            <a:r>
              <a:t/>
            </a:r>
          </a:p>
          <a:p xmlns:a="http://schemas.openxmlformats.org/drawingml/2006/main">
            <a:r>
              <a:t>Sources (accessed 8 October 2026):</a:t>
            </a:r>
          </a:p>
          <a:p xmlns:a="http://schemas.openxmlformats.org/drawingml/2006/main">
            <a:r>
              <a:t>https://www.nrcs.usda.gov/state-offices/north-carolina/news/nrcs-north-carolina-leadership-attends-the-senacd-2026-meeting</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competitive position is a hypothesis, not an exclusivity or superiority claim. A notebook, forms and shared folder may be the best alternative. farmOS has operational records and data streams; ODK/Kobo support structured field collection, with ODK Collect providing Android offline operation. Hylo offers community coordination; OpenTEAM supports an interoperability ecosystem. GainForest/Taina overlaps directly in community knowledge, evidence and AT-related distribution. Green Goods should connect or contribute rather than replicate working systems. The differentiator to test is a usable chain across private learning, review, selective exchange and Green Goods commitments/support with less total effort. No named organization is a confirmed partner.</a:t>
            </a:r>
          </a:p>
          <a:p xmlns:a="http://schemas.openxmlformats.org/drawingml/2006/main">
            <a:r>
              <a:t/>
            </a:r>
          </a:p>
          <a:p xmlns:a="http://schemas.openxmlformats.org/drawingml/2006/main">
            <a:r>
              <a:t>Sources (accessed 8 October 2026):</a:t>
            </a:r>
          </a:p>
          <a:p xmlns:a="http://schemas.openxmlformats.org/drawingml/2006/main">
            <a:r>
              <a:t>https://farmos.org/development/api/</a:t>
            </a:r>
          </a:p>
          <a:p xmlns:a="http://schemas.openxmlformats.org/drawingml/2006/main">
            <a:r>
              <a:t>https://docs.getodk.org/collect-intro/</a:t>
            </a:r>
          </a:p>
          <a:p xmlns:a="http://schemas.openxmlformats.org/drawingml/2006/main">
            <a:r>
              <a:t>https://www.kobotoolbox.org/</a:t>
            </a:r>
          </a:p>
          <a:p xmlns:a="http://schemas.openxmlformats.org/drawingml/2006/main">
            <a:r>
              <a:t>https://www.hylo.com/features</a:t>
            </a:r>
          </a:p>
          <a:p xmlns:a="http://schemas.openxmlformats.org/drawingml/2006/main">
            <a:r>
              <a:t>https://openteam.community/</a:t>
            </a:r>
          </a:p>
          <a:p xmlns:a="http://schemas.openxmlformats.org/drawingml/2006/main">
            <a:r>
              <a:t>https://www.gainforest.earth/</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offer hypothesis: $6,000/year for a supported program with up to four community workspaces, plus $2,000 fixed-scope onboarding. This bundles, rather than adds to, the earlier $125/community/month service assumption. Scope includes capped support, recovery drills, updates and facilitated knowledge exchange; hardware, specialist agronomy and travel need separate quotes. A program director buys continuity and staff capacity, not ownership of participants’ data. Own-record access and export remain available on exit. A $3,300 direct-cost assumption gives 45% recurring contribution before acquisition and fixed costs; this margin is not observed. Test actual labor, buyer budgets and renewals before selling a broad SLA. Core licenses remain as-is; a paid service does not require a license transition.</a:t>
            </a:r>
          </a:p>
          <a:p xmlns:a="http://schemas.openxmlformats.org/drawingml/2006/main">
            <a:r>
              <a:t/>
            </a:r>
          </a:p>
          <a:p xmlns:a="http://schemas.openxmlformats.org/drawingml/2006/main">
            <a:r>
              <a:t>Sources (accessed 8 October 2026):</a:t>
            </a:r>
          </a:p>
          <a:p xmlns:a="http://schemas.openxmlformats.org/drawingml/2006/main">
            <a:r>
              <a:t>https://github.com/greenpill-dev-guild/green-goods/blob/0fc3fd83e9a1c4258e4bcfdf64396a3dbe601778/LICENSE</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go-to-market sequence: qualify program directors through conservation/advisory networks and public association directories; sell a bounded paid cohort with a named local facilitator; convert measured usefulness into support renewal and referrals. No contacts, partner interest or procurement access are assumed. First-six-month targets are 30 qualified conversations, six scoped proposals, three paid pilots and two paid continuations: assumed conversions of 20%, 50% and about 67%. Government procurement may be slow; cooperative/NGO interviews can test a better buyer without building a separate product. Later expansion needs repeatable onboarding, trainable local operators, language support and profitable delivery. Network sharing is voluntary and never a condition for retrieving one’s own contribution.</a:t>
            </a:r>
          </a:p>
          <a:p xmlns:a="http://schemas.openxmlformats.org/drawingml/2006/main">
            <a:r>
              <a:t/>
            </a:r>
          </a:p>
          <a:p xmlns:a="http://schemas.openxmlformats.org/drawingml/2006/main">
            <a:r>
              <a:t>Sources (accessed 8 October 2026):</a:t>
            </a:r>
          </a:p>
          <a:p xmlns:a="http://schemas.openxmlformats.org/drawingml/2006/main">
            <a:r>
              <a:t>https://www.nrcs.usda.gov/state-offices/north-carolina/news/nrcs-north-carolina-leadership-attends-the-senacd-2026-meeting</a:t>
            </a:r>
          </a:p>
          <a:p xmlns:a="http://schemas.openxmlformats.org/drawingml/2006/main">
            <a:r>
              <a:t>https://www.sare.org/news/new-survey-of-farm-advisors-shows-growing-interest-in-cover-crops/</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is implementation and capability-ledger inspection at baseline 0fc3fd83e9a1c4258e4bcfdf64396a3dbe601778. PWA, wallet/passkey identity, work submission, community review and funding modules exist. Inspected tests are not a fresh executed product or browser benchmark, and no current deployment certification is claimed. The relevant contracts/work/claims paths had no diff to HEAD 0350b1bd287db542d6b4d07a662ba28c744e203b during this pitch revision. The OS extension, local inference, sensor imports, private collaboration and AT publication remain proposed extensions. Commitment pooling has implementation but availability remains gated. No paid OS users, measured savings, signed design partners or secured funding are established in this package.</a:t>
            </a:r>
          </a:p>
          <a:p xmlns:a="http://schemas.openxmlformats.org/drawingml/2006/main">
            <a:r>
              <a:t/>
            </a:r>
          </a:p>
          <a:p xmlns:a="http://schemas.openxmlformats.org/drawingml/2006/main">
            <a:r>
              <a:t>Sources (accessed 8 October 2026):</a:t>
            </a:r>
          </a:p>
          <a:p xmlns:a="http://schemas.openxmlformats.org/drawingml/2006/main">
            <a:r>
              <a:t>https://github.com/greenpill-dev-guild/green-goods/blob/0fc3fd83e9a1c4258e4bcfdf64396a3dbe601778/docs/docs/community/green-goods-claims.generated.mdx</a:t>
            </a:r>
          </a:p>
          <a:p xmlns:a="http://schemas.openxmlformats.org/drawingml/2006/main">
            <a:r>
              <a:t>https://github.com/greenpill-dev-guild/green-goods/blob/0fc3fd83e9a1c4258e4bcfdf64396a3dbe601778/packages/client/vite.config.ts</a:t>
            </a:r>
          </a:p>
          <a:p xmlns:a="http://schemas.openxmlformats.org/drawingml/2006/main">
            <a:r>
              <a:t>https://github.com/greenpill-dev-guild/green-goods/blob/0fc3fd83e9a1c4258e4bcfdf64396a3dbe601778/packages/shared/src/hooks/auth/usePrimaryAddress.ts</a:t>
            </a:r>
          </a:p>
          <a:p xmlns:a="http://schemas.openxmlformats.org/drawingml/2006/main">
            <a:r>
              <a:t>https://github.com/greenpill-dev-guild/green-goods/blob/0fc3fd83e9a1c4258e4bcfdf64396a3dbe601778/packages/shared/src/modules/work/submit-work-command.ts</a:t>
            </a:r>
          </a:p>
          <a:p xmlns:a="http://schemas.openxmlformats.org/drawingml/2006/main">
            <a:r>
              <a:t>https://github.com/greenpill-dev-guild/green-goods/blob/0fc3fd83e9a1c4258e4bcfdf64396a3dbe601778/packages/contracts/src/resolvers/WorkApproval.sol</a:t>
            </a:r>
          </a:p>
          <a:p xmlns:a="http://schemas.openxmlformats.org/drawingml/2006/main">
            <a:r>
              <a:t>https://github.com/greenpill-dev-guild/green-goods/blob/0fc3fd83e9a1c4258e4bcfdf64396a3dbe601778/.plans/active/commitment-pooling/status.json</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Theory of change: accessible tools can support local memory; useful records and trusted relationships may enable reciprocal learning and better choices; agreed work can become more accountable; credible records may help supporters assess commitments. Each link is conditional. Intellectual, cultural, experiential, social and financial value are distinct, not interchangeable tokens. Green Goods commitment pooling can associate responsibilities, evidence and reviewed fulfillment, with non-transferable units/capacity and gated product availability. Endowment/vault mechanisms may route actual realized returns to ongoing work, subject to strategy, asset, smart-contract, administrative and liquidity risks. Community principal, yield and donations are not automatically Green Goods operating revenue. No environmental outcome, funding, principal or yield is guaranteed.</a:t>
            </a:r>
          </a:p>
          <a:p xmlns:a="http://schemas.openxmlformats.org/drawingml/2006/main">
            <a:r>
              <a:t/>
            </a:r>
          </a:p>
          <a:p xmlns:a="http://schemas.openxmlformats.org/drawingml/2006/main">
            <a:r>
              <a:t>Sources (accessed 8 October 2026):</a:t>
            </a:r>
          </a:p>
          <a:p xmlns:a="http://schemas.openxmlformats.org/drawingml/2006/main">
            <a:r>
              <a:t>https://github.com/greenpill-dev-guild/green-goods/blob/0fc3fd83e9a1c4258e4bcfdf64396a3dbe601778/packages/contracts/src/modules/CommitmentPooling/Lifecycle.sol</a:t>
            </a:r>
          </a:p>
          <a:p xmlns:a="http://schemas.openxmlformats.org/drawingml/2006/main">
            <a:r>
              <a:t>https://github.com/greenpill-dev-guild/green-goods/blob/0fc3fd83e9a1c4258e4bcfdf64396a3dbe601778/.plans/active/commitment-pooling/status.json</a:t>
            </a:r>
          </a:p>
          <a:p xmlns:a="http://schemas.openxmlformats.org/drawingml/2006/main">
            <a:r>
              <a:t>https://github.com/greenpill-dev-guild/green-goods/blob/0fc3fd83e9a1c4258e4bcfdf64396a3dbe601778/packages/contracts/src/resolvers/Yield.sol</a:t>
            </a:r>
          </a:p>
          <a:p xmlns:a="http://schemas.openxmlformats.org/drawingml/2006/main">
            <a:r>
              <a:t>https://github.com/greenpill-dev-guild/green-goods/blob/0fc3fd83e9a1c4258e4bcfdf64396a3dbe601778/packages/shared/src/hooks/vault/useOctantVaultWithdraw.ts</a:t>
            </a:r>
          </a:p>
          <a:p xmlns:a="http://schemas.openxmlformats.org/drawingml/2006/main">
            <a:r>
              <a:t>https://linear.app/greenpill-dev-guild/document/community-evidence-mesh-evidence-model-privacy-and-trust-0045b35a9939</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sequential plan, with timing starting only after implementation authorization and prerequisites. Two weeks/$12,000: one synthetic recording, manual/local-AI comparison, source-linked correction, exact public preview, Green Goods export and real authorized AT sandbox retrieval in a second workspace. Eight weeks/$30,000: three consenting field workspaces, one approved sensor/recording, a paid facilitator, backup/exit drills and measured reciprocal exchange. AI is retained only if it preserves fidelity and reduces total review effort; otherwise the manual path remains. Proposed 20% time improvement is a target, not a result. A three-workspace pilot cannot prove ecological causation or general language/hardware performance. Require a paid continuation signal before scaling service operations.</a:t>
            </a:r>
          </a:p>
          <a:p xmlns:a="http://schemas.openxmlformats.org/drawingml/2006/main">
            <a:r>
              <a:t/>
            </a:r>
          </a:p>
          <a:p xmlns:a="http://schemas.openxmlformats.org/drawingml/2006/main">
            <a:r>
              <a:t>Sources (accessed 8 October 2026):</a:t>
            </a:r>
          </a:p>
          <a:p xmlns:a="http://schemas.openxmlformats.org/drawingml/2006/main">
            <a:r>
              <a:t>https://linear.app/greenpill-dev-guild/issue/RESR-79</a:t>
            </a:r>
          </a:p>
          <a:p xmlns:a="http://schemas.openxmlformats.org/drawingml/2006/main">
            <a:r>
              <a:t>https://atproto.com/specs/repository</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ask for discussion: $42,000 in two gated stages, one lead program partner and three consenting field workspaces. The first $12,000 authorizes only the bounded prototype after prerequisites; $30,000 is a separate pilot decision. The partner supplies legitimate local authority, a named facilitator and operational context; facilitation is budgeted. Roles required include product/research lead, technical lead, paid local facilitator and privacy/accessibility reviewer; no named team commitments are invented. Funding buys reusable documented infrastructure, useful local records and a credible continuation decision, not a promised carbon outcome. The public-interest case is participation and portability; the commercial experiment is repeatable paid delivery. No spend, partner contact, application or implementation occurs under this research request.</a:t>
            </a:r>
          </a:p>
          <a:p xmlns:a="http://schemas.openxmlformats.org/drawingml/2006/main">
            <a:r>
              <a:t/>
            </a:r>
          </a:p>
          <a:p xmlns:a="http://schemas.openxmlformats.org/drawingml/2006/main">
            <a:r>
              <a:t>Sources (accessed 8 October 2026):</a:t>
            </a:r>
          </a:p>
          <a:p xmlns:a="http://schemas.openxmlformats.org/drawingml/2006/main">
            <a:r>
              <a:t>Author proposal; no measured outcome or customer commitment implied.</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Members use a browser/PWA; optional extension capture should request narrow permissions only when needed. Chrome MV3 workers suspend, so persist jobs and recover state; do not rely on a permanently running extension. Packaging, updates, browser compatibility, storage quotas and accessibility need testing. Local AI candidates include a pinned Gemma or smaller model/runtime; model download/weights do not equal total working memory. 4–8 GB devices are a benchmark target, not proven compatibility, and a Mac Studio is not a member requirement. A program operator handles support, private sync/backup and an optional MQTT/HTTP sensor gateway; public PDS/indexer/RPC services remain external dependencies. Satellite context is optional and bounded, never a substitute for local measurement. Coop offers patterns but is not an adopted dependency; no software installation occurred.</a:t>
            </a:r>
          </a:p>
          <a:p xmlns:a="http://schemas.openxmlformats.org/drawingml/2006/main">
            <a:r>
              <a:t/>
            </a:r>
          </a:p>
          <a:p xmlns:a="http://schemas.openxmlformats.org/drawingml/2006/main">
            <a:r>
              <a:t>Sources (accessed 8 October 2026):</a:t>
            </a:r>
          </a:p>
          <a:p xmlns:a="http://schemas.openxmlformats.org/drawingml/2006/main">
            <a:r>
              <a:t>https://developer.chrome.com/docs/extensions/develop/concepts/service-workers/lifecycle</a:t>
            </a:r>
          </a:p>
          <a:p xmlns:a="http://schemas.openxmlformats.org/drawingml/2006/main">
            <a:r>
              <a:t>https://ai.google.dev/gemma/docs/core</a:t>
            </a:r>
          </a:p>
          <a:p xmlns:a="http://schemas.openxmlformats.org/drawingml/2006/main">
            <a:r>
              <a:t>https://webllm.mlc.ai/docs/</a:t>
            </a:r>
          </a:p>
          <a:p xmlns:a="http://schemas.openxmlformats.org/drawingml/2006/main">
            <a:r>
              <a:t>https://developer.mozilla.org/en-US/docs/Web/API/Web_Bluetooth_API</a:t>
            </a:r>
          </a:p>
          <a:p xmlns:a="http://schemas.openxmlformats.org/drawingml/2006/main">
            <a:r>
              <a:t>https://atproto.com/guides/self-hosting</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Private collaborative state can use a CRDT such as Yjs or Automerge, with explicit authorization, encrypted storage, conflict presentation and backups. atcute is an AT client/toolkit candidate; libp2p may help peer connectivity but still needs signaling, NAT traversal/relays and lifecycle recovery. Neither turns browser instances into an always-available authoritative PDS. Use a persistent public service and coordinated publisher; never give every writer a shared repository signing key. Public AT repositories stay public when self-hosted; permissioned-data proposals are experimental. Revocation cannot recover disclosed copies. Exact approved bytes, identity and destination bind publication. Draft/model/sensor input is untrusted, prompt injection cannot grant tool authority, and models never authorize chain transactions. Offline retries must reconcile prior results before reissuing.</a:t>
            </a:r>
          </a:p>
          <a:p xmlns:a="http://schemas.openxmlformats.org/drawingml/2006/main">
            <a:r>
              <a:t/>
            </a:r>
          </a:p>
          <a:p xmlns:a="http://schemas.openxmlformats.org/drawingml/2006/main">
            <a:r>
              <a:t>Sources (accessed 8 October 2026):</a:t>
            </a:r>
          </a:p>
          <a:p xmlns:a="http://schemas.openxmlformats.org/drawingml/2006/main">
            <a:r>
              <a:t>https://atproto.com/specs/repository</a:t>
            </a:r>
          </a:p>
          <a:p xmlns:a="http://schemas.openxmlformats.org/drawingml/2006/main">
            <a:r>
              <a:t>https://atproto.com/guides/self-hosting</a:t>
            </a:r>
          </a:p>
          <a:p xmlns:a="http://schemas.openxmlformats.org/drawingml/2006/main">
            <a:r>
              <a:t>https://github.com/bluesky-social/proposals/blob/main/0016-permissioned-data/README.md</a:t>
            </a:r>
          </a:p>
          <a:p xmlns:a="http://schemas.openxmlformats.org/drawingml/2006/main">
            <a:r>
              <a:t>https://github.com/greenpill-dev-guild/green-goods/blob/0fc3fd83e9a1c4258e4bcfdf64396a3dbe601778/packages/shared/src/modules/work/work-confirmation.ts</a:t>
            </a:r>
          </a:p>
          <a:p xmlns:a="http://schemas.openxmlformats.org/drawingml/2006/main">
            <a:r>
              <a:t>https://linear.app/greenpill-dev-guild/document/community-evidence-mesh-evidence-model-privacy-and-trust-0045b35a9939</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retain the current license baseline while testing governed services. Green Goods root MIT is not a claim that every dependency is MIT; vendored copyleft and contributor authority require review. The inspected Coop revision has AGPL obligations, so do not assume source reuse under Green Goods MIT. Regen Commons brand stewardship, cooperative formation and conditional service discussions are drafts/proposals; operative agreements and adoption remain unresolved. Separate software, observations/data, educational/community knowledge, schemas/model weights/hardware, membership and contribution terms, and trademarks/certification/hosting. Membership must not imply data ownership or AI-training consent. Noncash contributions, fair entry/exit, governance, appeal and portability need explicit terms. Prior MIT permissions do not vanish because future versions change. Restrictive commercial-use/user terms are not OSI-compatible open source. Counsel must review rights/dependencies/grants before any transition.</a:t>
            </a:r>
          </a:p>
          <a:p xmlns:a="http://schemas.openxmlformats.org/drawingml/2006/main">
            <a:r>
              <a:t/>
            </a:r>
          </a:p>
          <a:p xmlns:a="http://schemas.openxmlformats.org/drawingml/2006/main">
            <a:r>
              <a:t>Sources (accessed 8 October 2026):</a:t>
            </a:r>
          </a:p>
          <a:p xmlns:a="http://schemas.openxmlformats.org/drawingml/2006/main">
            <a:r>
              <a:t>https://github.com/greenpill-dev-guild/green-goods/blob/0fc3fd83e9a1c4258e4bcfdf64396a3dbe601778/LICENSE</a:t>
            </a:r>
          </a:p>
          <a:p xmlns:a="http://schemas.openxmlformats.org/drawingml/2006/main">
            <a:r>
              <a:t>https://github.com/greenpill-dev-guild/green-goods/blob/0fc3fd83e9a1c4258e4bcfdf64396a3dbe601778/packages/contracts/src/vendor/octant/LICENSE</a:t>
            </a:r>
          </a:p>
          <a:p xmlns:a="http://schemas.openxmlformats.org/drawingml/2006/main">
            <a:r>
              <a:t>https://regencommons.discourse.group/t/model-for-decentralized-brand-stewardship-draft/23</a:t>
            </a:r>
          </a:p>
          <a:p xmlns:a="http://schemas.openxmlformats.org/drawingml/2006/main">
            <a:r>
              <a:t>https://regencommons.discourse.group/t/request-for-proposals-facilitating-the-summoning-of-regen-commons/47</a:t>
            </a:r>
          </a:p>
          <a:p xmlns:a="http://schemas.openxmlformats.org/drawingml/2006/main">
            <a:r>
              <a:t>https://forum.regen.network/t/agentic-organization-design-and-collaboration/610</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routes are hypotheses. Services/education: program director pays for setup and skills; test a fixed-scope paid package and actual delivery hours. Recurring support: operations budget pays for recovery, reliability and help; test renewals and support cost. Knowledge membership: learning budget pays for curation, translation, expertise and introductions; test a paid cohort, noncash routes and contributor benefit, never paywall the contributor’s own records. Compatible kits: program or steward buys installation and maintenance through local partners; quote logistics, warranty/calibration and replacement reserves before stocking. Protocol fees: payer/incidence/configuration and sufficient volume must be established, excluded from initial forecast. Commercial licensing: rights authority, dependency/grant compatibility and buyer demand must first be established, excluded from forecast. Community funding and Green Goods operating revenue remain separate.</a:t>
            </a:r>
          </a:p>
          <a:p xmlns:a="http://schemas.openxmlformats.org/drawingml/2006/main">
            <a:r>
              <a:t/>
            </a:r>
          </a:p>
          <a:p xmlns:a="http://schemas.openxmlformats.org/drawingml/2006/main">
            <a:r>
              <a:t>Sources (accessed 8 October 2026):</a:t>
            </a:r>
          </a:p>
          <a:p xmlns:a="http://schemas.openxmlformats.org/drawingml/2006/main">
            <a:r>
              <a:t>https://5thworld.com/</a:t>
            </a:r>
          </a:p>
          <a:p xmlns:a="http://schemas.openxmlformats.org/drawingml/2006/main">
            <a:r>
              <a:t>https://openteam.community/</a:t>
            </a:r>
          </a:p>
          <a:p xmlns:a="http://schemas.openxmlformats.org/drawingml/2006/main">
            <a:r>
              <a:t>https://www.hylo.com/features</a:t>
            </a:r>
          </a:p>
          <a:p xmlns:a="http://schemas.openxmlformats.org/drawingml/2006/main">
            <a:r>
              <a:t>https://github.com/greenpill-dev-guild/green-goods/blob/0fc3fd83e9a1c4258e4bcfdf64396a3dbe601778/LICENSE</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Annualized sensitivity, not first-year forecasts. All cases use a $6,000 program price and $3,300 annual direct delivery cost: 60 hours at $40, plus $600 hosting/backup/distribution and $300 language/accessibility reserve. Cases have 5/15/30 active programs for a full year. Revenue is $30,000/$90,000/$180,000; contribution $13,500/$40,500/$81,000. With illustrative $60,000 fixed annual R&amp;D/overhead, remaining result is minus $46,500/minus $19,500/plus $21,000 before acquisition and taxes. Onboarding is excluded to keep ARR separate; an assumed $2,000 package with $1,400 direct cost contributes $600 once. If service labor doubles, annual contribution per program falls from $2,700 to $300. Hardware, travel and specialist agronomy are outside this service scope. These assumptions are not quotes or measured margins.</a:t>
            </a:r>
          </a:p>
          <a:p xmlns:a="http://schemas.openxmlformats.org/drawingml/2006/main">
            <a:r>
              <a:t/>
            </a:r>
          </a:p>
          <a:p xmlns:a="http://schemas.openxmlformats.org/drawingml/2006/main">
            <a:r>
              <a:t>Sources (accessed 8 October 2026):</a:t>
            </a:r>
          </a:p>
          <a:p xmlns:a="http://schemas.openxmlformats.org/drawingml/2006/main">
            <a:r>
              <a:t>Author proposal; no measured outcome or customer commitment implied.</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Primary-site observations, not endorsements or confirmed partnerships. 5th World describes professional land/site analysis, design/build and regenerative services; its historical Regen Tracker material does not establish a current open API or low-cost software tariff. Ma Earth supports community nature-project fundraising and matching; round 3 applications closed May 31 and fundraising ran July 1–21, 2026; no new round deadline verified. NLnet Restack deadline November 3, 2026 at noon CET, €5k–50k, requires eligible open outputs/European dimension and excludes ordinary AI projects; a reusable infrastructure slice might fit, not the whole AI product. NLnet writing/disclosure rules apply to any future application. Eligibility and partner interest remain unverified; no contacts/applications occur here. NRCS program documentation is a discovery signal, not a vendor award or compliance approval. Existing grant applications do not count as runway.</a:t>
            </a:r>
          </a:p>
          <a:p xmlns:a="http://schemas.openxmlformats.org/drawingml/2006/main">
            <a:r>
              <a:t/>
            </a:r>
          </a:p>
          <a:p xmlns:a="http://schemas.openxmlformats.org/drawingml/2006/main">
            <a:r>
              <a:t>Sources (accessed 8 October 2026):</a:t>
            </a:r>
          </a:p>
          <a:p xmlns:a="http://schemas.openxmlformats.org/drawingml/2006/main">
            <a:r>
              <a:t>https://5thworld.com/</a:t>
            </a:r>
          </a:p>
          <a:p xmlns:a="http://schemas.openxmlformats.org/drawingml/2006/main">
            <a:r>
              <a:t>https://maearth.com/campaign-toolkit</a:t>
            </a:r>
          </a:p>
          <a:p xmlns:a="http://schemas.openxmlformats.org/drawingml/2006/main">
            <a:r>
              <a:t>https://nlnet.nl/restack/</a:t>
            </a:r>
          </a:p>
          <a:p xmlns:a="http://schemas.openxmlformats.org/drawingml/2006/main">
            <a:r>
              <a:t>https://nlnet.nl/restack/eligibility/</a:t>
            </a:r>
          </a:p>
          <a:p xmlns:a="http://schemas.openxmlformats.org/drawingml/2006/main">
            <a:r>
              <a:t>https://www.nrcs.usda.gov/programs-initiatives/regenerative-pilot-program</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acceptance is a bounded test, not a guarantee of future security or outcomes. Discovery may find the existing forms/folder workflow cheaper and sufficient; then integrate or stop. Local AI must preserve cited facts/units, avoid invented readings, abstain appropriately and reduce review effort across selected languages/devices. 4–8 GB is unproven. Treat sensor payloads, peers, model output and imported documents as untrusted. Validate units, timestamps, calibration, device identity and missing readings; distinguish measurement from interpretation from independently verified outcomes. Privacy tests include exact publication preview, seeded canaries, shared-device lock, backups, key recovery and malicious content. RESR-79 forbids new external inference trials with gardener evidence before provider/data approval; no silent cloud fallback. Models cannot sign or authorize transactions. Escalate only when paid usefulness and affordable delivery hold.</a:t>
            </a:r>
          </a:p>
          <a:p xmlns:a="http://schemas.openxmlformats.org/drawingml/2006/main">
            <a:r>
              <a:t/>
            </a:r>
          </a:p>
          <a:p xmlns:a="http://schemas.openxmlformats.org/drawingml/2006/main">
            <a:r>
              <a:t>Sources (accessed 8 October 2026):</a:t>
            </a:r>
          </a:p>
          <a:p xmlns:a="http://schemas.openxmlformats.org/drawingml/2006/main">
            <a:r>
              <a:t>https://linear.app/greenpill-dev-guild/issue/RESR-79</a:t>
            </a:r>
          </a:p>
          <a:p xmlns:a="http://schemas.openxmlformats.org/drawingml/2006/main">
            <a:r>
              <a:t>https://developer.mozilla.org/en-US/docs/Web/API/Web_Bluetooth_API</a:t>
            </a:r>
          </a:p>
          <a:p xmlns:a="http://schemas.openxmlformats.org/drawingml/2006/main">
            <a:r>
              <a:t>https://github.com/greenpill-dev-guild/green-goods/blob/0fc3fd83e9a1c4258e4bcfdf64396a3dbe601778/packages/shared/src/modules/work/work-confirmation.ts</a:t>
            </a:r>
          </a:p>
          <a:p xmlns:a="http://schemas.openxmlformats.org/drawingml/2006/main">
            <a:r>
              <a:t>https://linear.app/greenpill-dev-guild/document/community-evidence-mesh-evidence-model-privacy-and-trust-0045b35a9939</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Source-to-claim index is delivered alongside this deck; every slide also carries source URLs in notes. Market model uses one buyer unit, the program organization. NRCS supplies only the rounded district denominator, not fit, price, demand or achievable penetration. $3k/$6k/$9k annual pricing is authored. At base price, fit shares of 5%/10%/20% imply SAM $0.9m/$1.8m/$3.6m. At 15 customers, price sensitivity gives ARR $45k/$90k/$135k before costs. The $6k bundle is four workspaces at $125/month; do not bill or count it twice. Global farm counts and UNEP flows supply context only. Green Goods technical facts are pinned repository evidence, planned OS claims are proposals, provider claims are not independent tests, and user/buyer metrics await field validation.</a:t>
            </a:r>
          </a:p>
          <a:p xmlns:a="http://schemas.openxmlformats.org/drawingml/2006/main">
            <a:r>
              <a:t/>
            </a:r>
          </a:p>
          <a:p xmlns:a="http://schemas.openxmlformats.org/drawingml/2006/main">
            <a:r>
              <a:t>Sources (accessed 8 October 2026):</a:t>
            </a:r>
          </a:p>
          <a:p xmlns:a="http://schemas.openxmlformats.org/drawingml/2006/main">
            <a:r>
              <a:t>https://www.nrcs.usda.gov/state-offices/north-carolina/news/nrcs-north-carolina-leadership-attends-the-senacd-2026-meeting</a:t>
            </a:r>
          </a:p>
          <a:p xmlns:a="http://schemas.openxmlformats.org/drawingml/2006/main">
            <a:r>
              <a:t>https://www.fao.org/newsroom/detail/FAO-Director-General-Family-farmers-are-agents-of-change-on-the-ground/en</a:t>
            </a:r>
          </a:p>
          <a:p xmlns:a="http://schemas.openxmlformats.org/drawingml/2006/main">
            <a:r>
              <a:t>https://www.unep.org/resources/state-finance-nature-2026</a:t>
            </a:r>
          </a:p>
          <a:p xmlns:a="http://schemas.openxmlformats.org/drawingml/2006/main">
            <a:r>
              <a:t>https://github.com/greenpill-dev-guild/green-goods/blob/0fc3fd83e9a1c4258e4bcfdf64396a3dbe601778/docs/docs/community/green-goods-claims.generated.mdx</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c39c37910641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a6bed4944445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261a2652b241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5ae490488e46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0b20ae448443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cc90c36c6a04f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9CF359-A5B3-45EE-B54F-3E83C0FAC6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6F490F-8FA4-42F6-8067-DC1422474B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7EB636-D1FC-426E-9C32-1ECAFB0606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D0442A-DD7D-4045-9DB3-AB0D6D3C6D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802164-78BF-4EAA-8D72-378C0A28C7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B23C18-0C21-40AF-80B8-7FF7F36CFD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202802-D885-4A04-BA3C-2D14A57770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249364-D58A-4765-86F8-9699E7D3006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470F99-6976-46C1-B206-5BDEA8421D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BC2040-D932-44ED-8CF7-6108841277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ca854a63f34e58" /><Relationship Type="http://schemas.openxmlformats.org/officeDocument/2006/relationships/slideLayout" Target="/ppt/slideLayouts/slideLayout1.xml" Id="Rd216eec0120a45ef" /><Relationship Type="http://schemas.openxmlformats.org/officeDocument/2006/relationships/slideLayout" Target="/ppt/slideLayouts/slideLayout2.xml" Id="Rbcc2d12404074a13" /><Relationship Type="http://schemas.openxmlformats.org/officeDocument/2006/relationships/slideLayout" Target="/ppt/slideLayouts/slideLayout3.xml" Id="Rba161d4ec89848c9" /><Relationship Type="http://schemas.openxmlformats.org/officeDocument/2006/relationships/slideLayout" Target="/ppt/slideLayouts/slideLayout4.xml" Id="R53d1a872ae6947d1" /><Relationship Type="http://schemas.openxmlformats.org/officeDocument/2006/relationships/slideLayout" Target="/ppt/slideLayouts/slideLayout5.xml" Id="R63fe0ba6f5fa4597" /><Relationship Type="http://schemas.openxmlformats.org/officeDocument/2006/relationships/slideLayout" Target="/ppt/slideLayouts/slideLayout6.xml" Id="R7003d44a31a84d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16eec0120a45ef"/>
    <p:sldLayoutId xmlns:r="http://schemas.openxmlformats.org/officeDocument/2006/relationships" id="2147483650" r:id="Rbcc2d12404074a13"/>
    <p:sldLayoutId xmlns:r="http://schemas.openxmlformats.org/officeDocument/2006/relationships" id="2147483651" r:id="Rba161d4ec89848c9"/>
    <p:sldLayoutId xmlns:r="http://schemas.openxmlformats.org/officeDocument/2006/relationships" id="2147483652" r:id="R53d1a872ae6947d1"/>
    <p:sldLayoutId xmlns:r="http://schemas.openxmlformats.org/officeDocument/2006/relationships" id="2147483653" r:id="R63fe0ba6f5fa4597"/>
    <p:sldLayoutId xmlns:r="http://schemas.openxmlformats.org/officeDocument/2006/relationships" id="2147483654" r:id="R7003d44a31a84d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05b5a5df06489f" /><Relationship Type="http://schemas.openxmlformats.org/officeDocument/2006/relationships/image" Target="/ppt/media/image.png" Id="R940ce57189494fd6" /><Relationship Type="http://schemas.openxmlformats.org/officeDocument/2006/relationships/image" Target="/ppt/media/image2.png" Id="Rf6dc57cafd004f64" /><Relationship Type="http://schemas.openxmlformats.org/officeDocument/2006/relationships/notesSlide" Target="/ppt/notesSlides/notesSlide1.xml" Id="Ra6d3cf54a0ef48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f1c30cc26a94f48" /><Relationship Type="http://schemas.openxmlformats.org/officeDocument/2006/relationships/notesSlide" Target="/ppt/notesSlides/notesSlide2.xml" Id="R8f09dc58e81841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05ec3f8e7042c3" /><Relationship Type="http://schemas.openxmlformats.org/officeDocument/2006/relationships/notesSlide" Target="/ppt/notesSlides/notesSlide3.xml" Id="R309e04d8b9ea41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4edb32adbb245c3" /><Relationship Type="http://schemas.openxmlformats.org/officeDocument/2006/relationships/image" Target="/ppt/media/image3.png" Id="Rd24f9af801f54061" /><Relationship Type="http://schemas.openxmlformats.org/officeDocument/2006/relationships/notesSlide" Target="/ppt/notesSlides/notesSlide4.xml" Id="R86f615ead8e64f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71e53734e69425d" /><Relationship Type="http://schemas.openxmlformats.org/officeDocument/2006/relationships/notesSlide" Target="/ppt/notesSlides/notesSlide5.xml" Id="R5f4fe332fc8849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14772d31ba4879" /><Relationship Type="http://schemas.openxmlformats.org/officeDocument/2006/relationships/notesSlide" Target="/ppt/notesSlides/notesSlide6.xml" Id="R15461558776643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f06f1531db49cb" /><Relationship Type="http://schemas.openxmlformats.org/officeDocument/2006/relationships/notesSlide" Target="/ppt/notesSlides/notesSlide7.xml" Id="R7938b25571ae44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64ed8d1a9046e5" /><Relationship Type="http://schemas.openxmlformats.org/officeDocument/2006/relationships/notesSlide" Target="/ppt/notesSlides/notesSlide8.xml" Id="R9fc624791edb46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e44038b4c0b4209" /><Relationship Type="http://schemas.openxmlformats.org/officeDocument/2006/relationships/notesSlide" Target="/ppt/notesSlides/notesSlide9.xml" Id="R350591ca06f74e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a059b5727f146f3" /><Relationship Type="http://schemas.openxmlformats.org/officeDocument/2006/relationships/notesSlide" Target="/ppt/notesSlides/notesSlide10.xml" Id="Re8340acf0e4f48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473946d0e2a405c" /><Relationship Type="http://schemas.openxmlformats.org/officeDocument/2006/relationships/notesSlide" Target="/ppt/notesSlides/notesSlide11.xml" Id="R353d954f7e8a4f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fd8c098d7954349" /><Relationship Type="http://schemas.openxmlformats.org/officeDocument/2006/relationships/notesSlide" Target="/ppt/notesSlides/notesSlide12.xml" Id="Rb183fff283fc4a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e82490f85f84c3b" /><Relationship Type="http://schemas.openxmlformats.org/officeDocument/2006/relationships/notesSlide" Target="/ppt/notesSlides/notesSlide13.xml" Id="Rbfba806757cf40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896f8edf58c48bc" /><Relationship Type="http://schemas.openxmlformats.org/officeDocument/2006/relationships/notesSlide" Target="/ppt/notesSlides/notesSlide14.xml" Id="R92c023986e844d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4f6f3dfdb034bc5" /><Relationship Type="http://schemas.openxmlformats.org/officeDocument/2006/relationships/notesSlide" Target="/ppt/notesSlides/notesSlide15.xml" Id="R3291bb8072e842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01d01d1754649bc" /><Relationship Type="http://schemas.openxmlformats.org/officeDocument/2006/relationships/notesSlide" Target="/ppt/notesSlides/notesSlide16.xml" Id="R660f1e22245146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08698d3a3ae4381" /><Relationship Type="http://schemas.openxmlformats.org/officeDocument/2006/relationships/notesSlide" Target="/ppt/notesSlides/notesSlide17.xml" Id="Re1a7780bbaa54bf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4a19495742c44ba" /><Relationship Type="http://schemas.openxmlformats.org/officeDocument/2006/relationships/notesSlide" Target="/ppt/notesSlides/notesSlide18.xml" Id="R6514f557b6ae40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694a142e3264f6e" /><Relationship Type="http://schemas.openxmlformats.org/officeDocument/2006/relationships/notesSlide" Target="/ppt/notesSlides/notesSlide19.xml" Id="R20d05969215040f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b982c23871741a8" /><Relationship Type="http://schemas.openxmlformats.org/officeDocument/2006/relationships/notesSlide" Target="/ppt/notesSlides/notesSlide20.xml" Id="R2ff3dc3afe61449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43008835c8e4dba" /><Relationship Type="http://schemas.openxmlformats.org/officeDocument/2006/relationships/notesSlide" Target="/ppt/notesSlides/notesSlide21.xml" Id="R478e05ad154e45a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d5e6171b0194871" /><Relationship Type="http://schemas.openxmlformats.org/officeDocument/2006/relationships/notesSlide" Target="/ppt/notesSlides/notesSlide22.xml" Id="R950c21cb1179413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f9cd8a776fb4ae0" /><Relationship Type="http://schemas.openxmlformats.org/officeDocument/2006/relationships/notesSlide" Target="/ppt/notesSlides/notesSlide23.xml" Id="R1ffc0e6b582a4ae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3ac8301535a497c" /><Relationship Type="http://schemas.openxmlformats.org/officeDocument/2006/relationships/notesSlide" Target="/ppt/notesSlides/notesSlide24.xml" Id="R1423405c55f543a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af4d0323d354f2e" /><Relationship Type="http://schemas.openxmlformats.org/officeDocument/2006/relationships/notesSlide" Target="/ppt/notesSlides/notesSlide25.xml" Id="R5bcda30595d2482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39f6ea547d646f5" /><Relationship Type="http://schemas.openxmlformats.org/officeDocument/2006/relationships/notesSlide" Target="/ppt/notesSlides/notesSlide26.xml" Id="R4de64a12cd3e4de6" /></Relationships>
</file>

<file path=ppt/slides/slide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781006A-5FEB-4C59-A794-69DAD4F1ADF8}"/>
              </a:ext>
            </a:extLst>
          </p:cNvPr>
          <p:cNvPicPr>
            <a:picLocks xmlns:a="http://schemas.openxmlformats.org/drawingml/2006/main" noChangeAspect="1"/>
          </p:cNvPicPr>
          <p:nvPr/>
        </p:nvPicPr>
        <p:blipFill>
          <a:blip xmlns:r="http://schemas.openxmlformats.org/officeDocument/2006/relationships" xmlns:a="http://schemas.openxmlformats.org/drawingml/2006/main" r:embed="R940ce57189494fd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77F1FFA-2CC8-4F45-B63D-0DD240168F1F}"/>
              </a:ext>
            </a:extLst>
          </p:cNvPr>
          <p:cNvSpPr>
            <a:spLocks xmlns:a="http://schemas.openxmlformats.org/drawingml/2006/main" noGrp="1"/>
          </p:cNvSpPr>
          <p:nvPr/>
        </p:nvSpPr>
        <p:spPr>
          <a:xfrm xmlns:a="http://schemas.openxmlformats.org/drawingml/2006/main">
            <a:off x="381000" y="838200"/>
            <a:ext cx="6762750" cy="5524500"/>
          </a:xfrm>
          <a:prstGeom xmlns:a="http://schemas.openxmlformats.org/drawingml/2006/main" prst="rect">
            <a:avLst/>
          </a:prstGeom>
          <a:solidFill xmlns:a="http://schemas.openxmlformats.org/drawingml/2006/main">
            <a:srgbClr val="FAF8F5"/>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AFB35C0-339B-45F4-BC3A-AFCD818AAB2F}"/>
              </a:ext>
            </a:extLst>
          </p:cNvPr>
          <p:cNvPicPr>
            <a:picLocks xmlns:a="http://schemas.openxmlformats.org/drawingml/2006/main" noChangeAspect="1"/>
          </p:cNvPicPr>
          <p:nvPr/>
        </p:nvPicPr>
        <p:blipFill>
          <a:blip xmlns:r="http://schemas.openxmlformats.org/officeDocument/2006/relationships" xmlns:a="http://schemas.openxmlformats.org/drawingml/2006/main" r:embed="Rf6dc57cafd004f64"/>
          <a:stretch xmlns:a="http://schemas.openxmlformats.org/drawingml/2006/main"/>
        </p:blipFill>
        <p:spPr>
          <a:xfrm xmlns:a="http://schemas.openxmlformats.org/drawingml/2006/main">
            <a:off x="723900" y="1204314"/>
            <a:ext cx="590550" cy="33457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0DADB7D-F8E0-45DA-9BC3-F27FFEEC1079}"/>
              </a:ext>
            </a:extLst>
          </p:cNvPr>
          <p:cNvSpPr>
            <a:spLocks xmlns:a="http://schemas.openxmlformats.org/drawingml/2006/main" noGrp="1"/>
          </p:cNvSpPr>
          <p:nvPr/>
        </p:nvSpPr>
        <p:spPr>
          <a:xfrm xmlns:a="http://schemas.openxmlformats.org/drawingml/2006/main">
            <a:off x="1476375" y="114300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92524"/>
                </a:solidFill>
                <a:latin typeface="Fraunces"/>
                <a:ea typeface="Fraunces"/>
                <a:cs typeface="Fraunces"/>
              </a:defRPr>
            </a:defPPr>
          </a:lstStyle>
          <a:p xmlns:a="http://schemas.openxmlformats.org/drawingml/2006/main">
            <a:pPr>
              <a:defRPr sz="2400" b="0">
                <a:solidFill>
                  <a:srgbClr val="292524"/>
                </a:solidFill>
                <a:latin typeface="Fraunces"/>
                <a:ea typeface="Fraunces"/>
                <a:cs typeface="Fraunces"/>
              </a:defRPr>
            </a:pPr>
            <a:r>
              <a:rPr sz="2400" b="0">
                <a:solidFill>
                  <a:srgbClr val="292524"/>
                </a:solidFill>
                <a:latin typeface="Fraunces"/>
                <a:ea typeface="Fraunces"/>
                <a:cs typeface="Fraunces"/>
              </a:rPr>
              <a:t>Green Goods OS</a:t>
            </a:r>
          </a:p>
        </p:txBody>
      </p:sp>
      <p:sp>
        <p:nvSpPr>
          <p:cNvPr id="5" name="">
            <a:extLst xmlns:a="http://schemas.openxmlformats.org/drawingml/2006/main">
              <a:ext uri="{FF2B5EF4-FFF2-40B4-BE49-F238E27FC236}">
                <a16:creationId xmlns:a16="http://schemas.microsoft.com/office/drawing/2014/main" id="{78A0D386-0FB7-4284-A331-B83B6F843000}"/>
              </a:ext>
            </a:extLst>
          </p:cNvPr>
          <p:cNvSpPr>
            <a:spLocks xmlns:a="http://schemas.openxmlformats.org/drawingml/2006/main" noGrp="1"/>
          </p:cNvSpPr>
          <p:nvPr/>
        </p:nvSpPr>
        <p:spPr>
          <a:xfrm xmlns:a="http://schemas.openxmlformats.org/drawingml/2006/main">
            <a:off x="723900" y="2076450"/>
            <a:ext cx="600075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0">
                <a:solidFill>
                  <a:srgbClr val="292524"/>
                </a:solidFill>
                <a:latin typeface="Fraunces"/>
                <a:ea typeface="Fraunces"/>
                <a:cs typeface="Fraunces"/>
              </a:defRPr>
            </a:defPPr>
          </a:lstStyle>
          <a:p xmlns:a="http://schemas.openxmlformats.org/drawingml/2006/main">
            <a:pPr>
              <a:defRPr sz="4950" b="0">
                <a:solidFill>
                  <a:srgbClr val="292524"/>
                </a:solidFill>
                <a:latin typeface="Fraunces"/>
                <a:ea typeface="Fraunces"/>
                <a:cs typeface="Fraunces"/>
              </a:defRPr>
            </a:pPr>
            <a:r>
              <a:rPr sz="4950" b="0">
                <a:solidFill>
                  <a:srgbClr val="292524"/>
                </a:solidFill>
                <a:latin typeface="Fraunces"/>
                <a:ea typeface="Fraunces"/>
                <a:cs typeface="Fraunces"/>
              </a:rPr>
              <a:t>Local knowledge.</a:t>
            </a:r>
          </a:p>
          <a:p xmlns:a="http://schemas.openxmlformats.org/drawingml/2006/main">
            <a:pPr>
              <a:defRPr sz="4950" b="0">
                <a:solidFill>
                  <a:srgbClr val="292524"/>
                </a:solidFill>
                <a:latin typeface="Fraunces"/>
                <a:ea typeface="Fraunces"/>
                <a:cs typeface="Fraunces"/>
              </a:defRPr>
            </a:pPr>
            <a:r>
              <a:rPr sz="4950" b="0">
                <a:solidFill>
                  <a:srgbClr val="292524"/>
                </a:solidFill>
                <a:latin typeface="Fraunces"/>
                <a:ea typeface="Fraunces"/>
                <a:cs typeface="Fraunces"/>
              </a:rPr>
              <a:t>Shared</a:t>
            </a:r>
          </a:p>
          <a:p xmlns:a="http://schemas.openxmlformats.org/drawingml/2006/main">
            <a:pPr>
              <a:defRPr sz="4950" b="0">
                <a:solidFill>
                  <a:srgbClr val="292524"/>
                </a:solidFill>
                <a:latin typeface="Fraunces"/>
                <a:ea typeface="Fraunces"/>
                <a:cs typeface="Fraunces"/>
              </a:defRPr>
            </a:pPr>
            <a:r>
              <a:rPr sz="4950" b="0" i="1">
                <a:solidFill>
                  <a:srgbClr val="1A7544"/>
                </a:solidFill>
                <a:latin typeface="Fraunces"/>
                <a:ea typeface="Fraunces"/>
                <a:cs typeface="Fraunces"/>
              </a:rPr>
              <a:t>regeneration.</a:t>
            </a:r>
          </a:p>
        </p:txBody>
      </p:sp>
      <p:sp>
        <p:nvSpPr>
          <p:cNvPr id="6" name="">
            <a:extLst xmlns:a="http://schemas.openxmlformats.org/drawingml/2006/main">
              <a:ext uri="{FF2B5EF4-FFF2-40B4-BE49-F238E27FC236}">
                <a16:creationId xmlns:a16="http://schemas.microsoft.com/office/drawing/2014/main" id="{55AF591F-1881-4A3D-9E6A-43E85B616150}"/>
              </a:ext>
            </a:extLst>
          </p:cNvPr>
          <p:cNvSpPr>
            <a:spLocks xmlns:a="http://schemas.openxmlformats.org/drawingml/2006/main" noGrp="1"/>
          </p:cNvSpPr>
          <p:nvPr/>
        </p:nvSpPr>
        <p:spPr>
          <a:xfrm xmlns:a="http://schemas.openxmlformats.org/drawingml/2006/main">
            <a:off x="723900" y="4857750"/>
            <a:ext cx="59150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92524"/>
                </a:solidFill>
                <a:latin typeface="Inter"/>
                <a:ea typeface="Inter"/>
                <a:cs typeface="Inter"/>
              </a:defRPr>
            </a:defPPr>
          </a:lstStyle>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A community workspace for land,</a:t>
            </a:r>
          </a:p>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learning and collective action.</a:t>
            </a:r>
          </a:p>
        </p:txBody>
      </p:sp>
      <p:sp>
        <p:nvSpPr>
          <p:cNvPr id="7" name="">
            <a:extLst xmlns:a="http://schemas.openxmlformats.org/drawingml/2006/main">
              <a:ext uri="{FF2B5EF4-FFF2-40B4-BE49-F238E27FC236}">
                <a16:creationId xmlns:a16="http://schemas.microsoft.com/office/drawing/2014/main" id="{68E14175-7E2C-462A-9A1F-3EDB31832255}"/>
              </a:ext>
            </a:extLst>
          </p:cNvPr>
          <p:cNvSpPr>
            <a:spLocks xmlns:a="http://schemas.openxmlformats.org/drawingml/2006/main" noGrp="1"/>
          </p:cNvSpPr>
          <p:nvPr/>
        </p:nvSpPr>
        <p:spPr>
          <a:xfrm xmlns:a="http://schemas.openxmlformats.org/drawingml/2006/main">
            <a:off x="723900" y="5943600"/>
            <a:ext cx="5991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Funder &amp; partner proposal · October 2026</a:t>
            </a:r>
          </a:p>
        </p:txBody>
      </p:sp>
    </p:spTree>
    <p:extLst>
      <p:ext uri="{BB962C8B-B14F-4D97-AF65-F5344CB8AC3E}">
        <p14:creationId xmlns:p14="http://schemas.microsoft.com/office/powerpoint/2010/main" val="786938652"/>
      </p:ext>
    </p:extLst>
  </p:cSld>
</p:sld>
</file>

<file path=ppt/slides/slide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652B8AB-C612-4B45-B89A-93165500B858}"/>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Every season teaches something</a:t>
            </a:r>
          </a:p>
        </p:txBody>
      </p:sp>
      <p:sp>
        <p:nvSpPr>
          <p:cNvPr id="2" name="">
            <a:extLst xmlns:a="http://schemas.openxmlformats.org/drawingml/2006/main">
              <a:ext uri="{FF2B5EF4-FFF2-40B4-BE49-F238E27FC236}">
                <a16:creationId xmlns:a16="http://schemas.microsoft.com/office/drawing/2014/main" id="{B349D8EA-E339-4AD8-BD8B-3180CFACC8C4}"/>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Fraunces"/>
                <a:ea typeface="Fraunces"/>
                <a:cs typeface="Fraunces"/>
              </a:defRPr>
            </a:defPPr>
          </a:lstStyle>
          <a:p xmlns:a="http://schemas.openxmlformats.org/drawingml/2006/main">
            <a:pPr>
              <a:defRPr sz="1200" b="0">
                <a:solidFill>
                  <a:srgbClr val="78716C"/>
                </a:solidFill>
                <a:latin typeface="Fraunces"/>
                <a:ea typeface="Fraunces"/>
                <a:cs typeface="Fraunces"/>
              </a:defRPr>
            </a:pPr>
            <a:r>
              <a:rPr sz="1200" b="0">
                <a:solidFill>
                  <a:srgbClr val="78716C"/>
                </a:solidFill>
                <a:latin typeface="Fraunces"/>
                <a:ea typeface="Fraunces"/>
                <a:cs typeface="Fraunces"/>
              </a:rPr>
              <a:t>Green Goods OS</a:t>
            </a:r>
          </a:p>
        </p:txBody>
      </p:sp>
      <p:sp>
        <p:nvSpPr>
          <p:cNvPr id="3" name="">
            <a:extLst xmlns:a="http://schemas.openxmlformats.org/drawingml/2006/main">
              <a:ext uri="{FF2B5EF4-FFF2-40B4-BE49-F238E27FC236}">
                <a16:creationId xmlns:a16="http://schemas.microsoft.com/office/drawing/2014/main" id="{B91DE018-5D1A-4B9F-AC0E-98EB7FBE2ACA}"/>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02</a:t>
            </a:r>
          </a:p>
        </p:txBody>
      </p:sp>
      <p:sp>
        <p:nvSpPr>
          <p:cNvPr id="4" name="">
            <a:extLst xmlns:a="http://schemas.openxmlformats.org/drawingml/2006/main">
              <a:ext uri="{FF2B5EF4-FFF2-40B4-BE49-F238E27FC236}">
                <a16:creationId xmlns:a16="http://schemas.microsoft.com/office/drawing/2014/main" id="{C8121EC9-A998-47EF-ACAE-E09067E97DDF}"/>
              </a:ext>
            </a:extLst>
          </p:cNvPr>
          <p:cNvSpPr>
            <a:spLocks xmlns:a="http://schemas.openxmlformats.org/drawingml/2006/main" noGrp="1"/>
          </p:cNvSpPr>
          <p:nvPr/>
        </p:nvSpPr>
        <p:spPr>
          <a:xfrm xmlns:a="http://schemas.openxmlformats.org/drawingml/2006/main">
            <a:off x="609600" y="1952625"/>
            <a:ext cx="5524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0">
                <a:solidFill>
                  <a:srgbClr val="292524"/>
                </a:solidFill>
                <a:latin typeface="Fraunces"/>
                <a:ea typeface="Fraunces"/>
                <a:cs typeface="Fraunces"/>
              </a:defRPr>
            </a:defPPr>
          </a:lstStyle>
          <a:p xmlns:a="http://schemas.openxmlformats.org/drawingml/2006/main">
            <a:pPr>
              <a:defRPr sz="4350" b="0">
                <a:solidFill>
                  <a:srgbClr val="292524"/>
                </a:solidFill>
                <a:latin typeface="Fraunces"/>
                <a:ea typeface="Fraunces"/>
                <a:cs typeface="Fraunces"/>
              </a:defRPr>
            </a:pPr>
            <a:r>
              <a:rPr sz="4350" b="0">
                <a:solidFill>
                  <a:srgbClr val="292524"/>
                </a:solidFill>
                <a:latin typeface="Fraunces"/>
                <a:ea typeface="Fraunces"/>
                <a:cs typeface="Fraunces"/>
              </a:rPr>
              <a:t>What did we learn—</a:t>
            </a:r>
          </a:p>
          <a:p xmlns:a="http://schemas.openxmlformats.org/drawingml/2006/main">
            <a:pPr>
              <a:defRPr sz="4350" b="0">
                <a:solidFill>
                  <a:srgbClr val="292524"/>
                </a:solidFill>
                <a:latin typeface="Fraunces"/>
                <a:ea typeface="Fraunces"/>
                <a:cs typeface="Fraunces"/>
              </a:defRPr>
            </a:pPr>
            <a:r>
              <a:rPr sz="4350" b="0">
                <a:solidFill>
                  <a:srgbClr val="292524"/>
                </a:solidFill>
                <a:latin typeface="Fraunces"/>
                <a:ea typeface="Fraunces"/>
                <a:cs typeface="Fraunces"/>
              </a:rPr>
              <a:t>and where is it?</a:t>
            </a:r>
          </a:p>
        </p:txBody>
      </p:sp>
      <p:sp>
        <p:nvSpPr>
          <p:cNvPr id="5" name="">
            <a:extLst xmlns:a="http://schemas.openxmlformats.org/drawingml/2006/main">
              <a:ext uri="{FF2B5EF4-FFF2-40B4-BE49-F238E27FC236}">
                <a16:creationId xmlns:a16="http://schemas.microsoft.com/office/drawing/2014/main" id="{10F831A2-97EB-430E-B07D-8AD9741533B2}"/>
              </a:ext>
            </a:extLst>
          </p:cNvPr>
          <p:cNvSpPr>
            <a:spLocks xmlns:a="http://schemas.openxmlformats.org/drawingml/2006/main" noGrp="1"/>
          </p:cNvSpPr>
          <p:nvPr/>
        </p:nvSpPr>
        <p:spPr>
          <a:xfrm xmlns:a="http://schemas.openxmlformats.org/drawingml/2006/main">
            <a:off x="609600" y="4124325"/>
            <a:ext cx="53530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92524"/>
                </a:solidFill>
                <a:latin typeface="Inter"/>
                <a:ea typeface="Inter"/>
                <a:cs typeface="Inter"/>
              </a:defRPr>
            </a:defPPr>
          </a:lstStyle>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Notes in one place. Readings in another.</a:t>
            </a:r>
          </a:p>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The explanation still with the person</a:t>
            </a:r>
          </a:p>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who was there.</a:t>
            </a:r>
          </a:p>
        </p:txBody>
      </p:sp>
      <p:sp>
        <p:nvSpPr>
          <p:cNvPr id="6" name="">
            <a:extLst xmlns:a="http://schemas.openxmlformats.org/drawingml/2006/main">
              <a:ext uri="{FF2B5EF4-FFF2-40B4-BE49-F238E27FC236}">
                <a16:creationId xmlns:a16="http://schemas.microsoft.com/office/drawing/2014/main" id="{76BDA023-26EA-4733-9A8E-127C435A8721}"/>
              </a:ext>
            </a:extLst>
          </p:cNvPr>
          <p:cNvSpPr>
            <a:spLocks xmlns:a="http://schemas.openxmlformats.org/drawingml/2006/main" noGrp="1"/>
          </p:cNvSpPr>
          <p:nvPr/>
        </p:nvSpPr>
        <p:spPr>
          <a:xfrm xmlns:a="http://schemas.openxmlformats.org/drawingml/2006/main">
            <a:off x="6981825" y="1838325"/>
            <a:ext cx="4524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92524"/>
                </a:solidFill>
                <a:latin typeface="Inter"/>
                <a:ea typeface="Inter"/>
                <a:cs typeface="Inter"/>
              </a:defRPr>
            </a:defPPr>
          </a:lstStyle>
          <a:p xmlns:a="http://schemas.openxmlformats.org/drawingml/2006/main">
            <a:pPr>
              <a:defRPr sz="2250" b="1">
                <a:solidFill>
                  <a:srgbClr val="292524"/>
                </a:solidFill>
                <a:latin typeface="Inter"/>
                <a:ea typeface="Inter"/>
                <a:cs typeface="Inter"/>
              </a:defRPr>
            </a:pPr>
            <a:r>
              <a:rPr sz="2250" b="1">
                <a:solidFill>
                  <a:srgbClr val="292524"/>
                </a:solidFill>
                <a:latin typeface="Inter"/>
                <a:ea typeface="Inter"/>
                <a:cs typeface="Inter"/>
              </a:rPr>
              <a:t>Experience gets lost</a:t>
            </a:r>
          </a:p>
        </p:txBody>
      </p:sp>
      <p:sp>
        <p:nvSpPr>
          <p:cNvPr id="7" name="">
            <a:extLst xmlns:a="http://schemas.openxmlformats.org/drawingml/2006/main">
              <a:ext uri="{FF2B5EF4-FFF2-40B4-BE49-F238E27FC236}">
                <a16:creationId xmlns:a16="http://schemas.microsoft.com/office/drawing/2014/main" id="{AC9F7D49-101F-4C26-8AC2-42E8174BCD8C}"/>
              </a:ext>
            </a:extLst>
          </p:cNvPr>
          <p:cNvSpPr>
            <a:spLocks xmlns:a="http://schemas.openxmlformats.org/drawingml/2006/main" noGrp="1"/>
          </p:cNvSpPr>
          <p:nvPr/>
        </p:nvSpPr>
        <p:spPr>
          <a:xfrm xmlns:a="http://schemas.openxmlformats.org/drawingml/2006/main">
            <a:off x="6981825" y="2457450"/>
            <a:ext cx="45243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A handover or staff change can separate a record from its meaning.</a:t>
            </a:r>
          </a:p>
        </p:txBody>
      </p:sp>
      <p:sp>
        <p:nvSpPr>
          <p:cNvPr id="8" name="">
            <a:extLst xmlns:a="http://schemas.openxmlformats.org/drawingml/2006/main">
              <a:ext uri="{FF2B5EF4-FFF2-40B4-BE49-F238E27FC236}">
                <a16:creationId xmlns:a16="http://schemas.microsoft.com/office/drawing/2014/main" id="{5FF8F8AC-BCBD-485E-8632-9FA993AE08CF}"/>
              </a:ext>
            </a:extLst>
          </p:cNvPr>
          <p:cNvSpPr>
            <a:spLocks xmlns:a="http://schemas.openxmlformats.org/drawingml/2006/main" noGrp="1"/>
          </p:cNvSpPr>
          <p:nvPr/>
        </p:nvSpPr>
        <p:spPr>
          <a:xfrm xmlns:a="http://schemas.openxmlformats.org/drawingml/2006/main">
            <a:off x="6981825" y="4029075"/>
            <a:ext cx="4524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92524"/>
                </a:solidFill>
                <a:latin typeface="Inter"/>
                <a:ea typeface="Inter"/>
                <a:cs typeface="Inter"/>
              </a:defRPr>
            </a:defPPr>
          </a:lstStyle>
          <a:p xmlns:a="http://schemas.openxmlformats.org/drawingml/2006/main">
            <a:pPr>
              <a:defRPr sz="2250" b="1">
                <a:solidFill>
                  <a:srgbClr val="292524"/>
                </a:solidFill>
                <a:latin typeface="Inter"/>
                <a:ea typeface="Inter"/>
                <a:cs typeface="Inter"/>
              </a:defRPr>
            </a:pPr>
            <a:r>
              <a:rPr sz="2250" b="1">
                <a:solidFill>
                  <a:srgbClr val="292524"/>
                </a:solidFill>
                <a:latin typeface="Inter"/>
                <a:ea typeface="Inter"/>
                <a:cs typeface="Inter"/>
              </a:rPr>
              <a:t>Reporting adds work</a:t>
            </a:r>
          </a:p>
        </p:txBody>
      </p:sp>
      <p:sp>
        <p:nvSpPr>
          <p:cNvPr id="9" name="">
            <a:extLst xmlns:a="http://schemas.openxmlformats.org/drawingml/2006/main">
              <a:ext uri="{FF2B5EF4-FFF2-40B4-BE49-F238E27FC236}">
                <a16:creationId xmlns:a16="http://schemas.microsoft.com/office/drawing/2014/main" id="{709C2851-9510-4EBB-A95B-42ABF75E1A8E}"/>
              </a:ext>
            </a:extLst>
          </p:cNvPr>
          <p:cNvSpPr>
            <a:spLocks xmlns:a="http://schemas.openxmlformats.org/drawingml/2006/main" noGrp="1"/>
          </p:cNvSpPr>
          <p:nvPr/>
        </p:nvSpPr>
        <p:spPr>
          <a:xfrm xmlns:a="http://schemas.openxmlformats.org/drawingml/2006/main">
            <a:off x="6981825" y="4648200"/>
            <a:ext cx="45243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The same activity may need to be reconstructed for another audience.</a:t>
            </a:r>
          </a:p>
        </p:txBody>
      </p:sp>
    </p:spTree>
    <p:extLst>
      <p:ext uri="{BB962C8B-B14F-4D97-AF65-F5344CB8AC3E}">
        <p14:creationId xmlns:p14="http://schemas.microsoft.com/office/powerpoint/2010/main" val="1492703482"/>
      </p:ext>
    </p:extLst>
  </p:cSld>
</p:sld>
</file>

<file path=ppt/slides/slide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DA21254-32AE-4784-8567-38EF3A7F5520}"/>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Why now: useful knowledge needs better tools</a:t>
            </a:r>
          </a:p>
        </p:txBody>
      </p:sp>
      <p:sp>
        <p:nvSpPr>
          <p:cNvPr id="2" name="">
            <a:extLst xmlns:a="http://schemas.openxmlformats.org/drawingml/2006/main">
              <a:ext uri="{FF2B5EF4-FFF2-40B4-BE49-F238E27FC236}">
                <a16:creationId xmlns:a16="http://schemas.microsoft.com/office/drawing/2014/main" id="{438BC714-8D7D-4C31-86E2-EA19E7AF0B54}"/>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UNEP 2026 · Nature-finance context, not Green Goods revenue or addressable software spend</a:t>
            </a:r>
          </a:p>
        </p:txBody>
      </p:sp>
      <p:sp>
        <p:nvSpPr>
          <p:cNvPr id="3" name="">
            <a:extLst xmlns:a="http://schemas.openxmlformats.org/drawingml/2006/main">
              <a:ext uri="{FF2B5EF4-FFF2-40B4-BE49-F238E27FC236}">
                <a16:creationId xmlns:a16="http://schemas.microsoft.com/office/drawing/2014/main" id="{C74CB148-FECD-4D03-9549-214CD34808F0}"/>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03</a:t>
            </a:r>
          </a:p>
        </p:txBody>
      </p:sp>
      <p:sp>
        <p:nvSpPr>
          <p:cNvPr id="4" name="">
            <a:extLst xmlns:a="http://schemas.openxmlformats.org/drawingml/2006/main">
              <a:ext uri="{FF2B5EF4-FFF2-40B4-BE49-F238E27FC236}">
                <a16:creationId xmlns:a16="http://schemas.microsoft.com/office/drawing/2014/main" id="{42DAF1C9-F927-42BC-AD4F-7FBC64BB9F0D}"/>
              </a:ext>
            </a:extLst>
          </p:cNvPr>
          <p:cNvSpPr>
            <a:spLocks xmlns:a="http://schemas.openxmlformats.org/drawingml/2006/main" noGrp="1"/>
          </p:cNvSpPr>
          <p:nvPr/>
        </p:nvSpPr>
        <p:spPr>
          <a:xfrm xmlns:a="http://schemas.openxmlformats.org/drawingml/2006/main">
            <a:off x="609600" y="19240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0">
                <a:solidFill>
                  <a:srgbClr val="292524"/>
                </a:solidFill>
                <a:latin typeface="Fraunces"/>
                <a:ea typeface="Fraunces"/>
                <a:cs typeface="Fraunces"/>
              </a:defRPr>
            </a:defPPr>
          </a:lstStyle>
          <a:p xmlns:a="http://schemas.openxmlformats.org/drawingml/2006/main">
            <a:pPr>
              <a:defRPr sz="5400" b="0">
                <a:solidFill>
                  <a:srgbClr val="292524"/>
                </a:solidFill>
                <a:latin typeface="Fraunces"/>
                <a:ea typeface="Fraunces"/>
                <a:cs typeface="Fraunces"/>
              </a:defRPr>
            </a:pPr>
            <a:r>
              <a:rPr sz="5400" b="0">
                <a:solidFill>
                  <a:srgbClr val="292524"/>
                </a:solidFill>
                <a:latin typeface="Fraunces"/>
                <a:ea typeface="Fraunces"/>
                <a:cs typeface="Fraunces"/>
              </a:rPr>
              <a:t>$220bn</a:t>
            </a:r>
          </a:p>
        </p:txBody>
      </p:sp>
      <p:sp>
        <p:nvSpPr>
          <p:cNvPr id="5" name="">
            <a:extLst xmlns:a="http://schemas.openxmlformats.org/drawingml/2006/main">
              <a:ext uri="{FF2B5EF4-FFF2-40B4-BE49-F238E27FC236}">
                <a16:creationId xmlns:a16="http://schemas.microsoft.com/office/drawing/2014/main" id="{D8722E22-94E8-4CA6-B1A6-0D63484DE3BA}"/>
              </a:ext>
            </a:extLst>
          </p:cNvPr>
          <p:cNvSpPr>
            <a:spLocks xmlns:a="http://schemas.openxmlformats.org/drawingml/2006/main" noGrp="1"/>
          </p:cNvSpPr>
          <p:nvPr/>
        </p:nvSpPr>
        <p:spPr>
          <a:xfrm xmlns:a="http://schemas.openxmlformats.org/drawingml/2006/main">
            <a:off x="609600" y="3009900"/>
            <a:ext cx="5257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annual nature-based-solutions finance in 2023</a:t>
            </a:r>
          </a:p>
        </p:txBody>
      </p:sp>
      <p:sp>
        <p:nvSpPr>
          <p:cNvPr id="6" name="">
            <a:extLst xmlns:a="http://schemas.openxmlformats.org/drawingml/2006/main">
              <a:ext uri="{FF2B5EF4-FFF2-40B4-BE49-F238E27FC236}">
                <a16:creationId xmlns:a16="http://schemas.microsoft.com/office/drawing/2014/main" id="{A649975A-40A3-44BA-B972-7BBBBE74315C}"/>
              </a:ext>
            </a:extLst>
          </p:cNvPr>
          <p:cNvSpPr>
            <a:spLocks xmlns:a="http://schemas.openxmlformats.org/drawingml/2006/main" noGrp="1"/>
          </p:cNvSpPr>
          <p:nvPr/>
        </p:nvSpPr>
        <p:spPr>
          <a:xfrm xmlns:a="http://schemas.openxmlformats.org/drawingml/2006/main">
            <a:off x="609600" y="414337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0">
                <a:solidFill>
                  <a:srgbClr val="1A7544"/>
                </a:solidFill>
                <a:latin typeface="Fraunces"/>
                <a:ea typeface="Fraunces"/>
                <a:cs typeface="Fraunces"/>
              </a:defRPr>
            </a:defPPr>
          </a:lstStyle>
          <a:p xmlns:a="http://schemas.openxmlformats.org/drawingml/2006/main">
            <a:pPr>
              <a:defRPr sz="5400" b="0">
                <a:solidFill>
                  <a:srgbClr val="1A7544"/>
                </a:solidFill>
                <a:latin typeface="Fraunces"/>
                <a:ea typeface="Fraunces"/>
                <a:cs typeface="Fraunces"/>
              </a:defRPr>
            </a:pPr>
            <a:r>
              <a:rPr sz="5400" b="0">
                <a:solidFill>
                  <a:srgbClr val="1A7544"/>
                </a:solidFill>
                <a:latin typeface="Fraunces"/>
                <a:ea typeface="Fraunces"/>
                <a:cs typeface="Fraunces"/>
              </a:rPr>
              <a:t>$571bn</a:t>
            </a:r>
          </a:p>
        </p:txBody>
      </p:sp>
      <p:sp>
        <p:nvSpPr>
          <p:cNvPr id="7" name="">
            <a:extLst xmlns:a="http://schemas.openxmlformats.org/drawingml/2006/main">
              <a:ext uri="{FF2B5EF4-FFF2-40B4-BE49-F238E27FC236}">
                <a16:creationId xmlns:a16="http://schemas.microsoft.com/office/drawing/2014/main" id="{ADA11185-0BC5-422F-B66D-4478CEF3ECE9}"/>
              </a:ext>
            </a:extLst>
          </p:cNvPr>
          <p:cNvSpPr>
            <a:spLocks xmlns:a="http://schemas.openxmlformats.org/drawingml/2006/main" noGrp="1"/>
          </p:cNvSpPr>
          <p:nvPr/>
        </p:nvSpPr>
        <p:spPr>
          <a:xfrm xmlns:a="http://schemas.openxmlformats.org/drawingml/2006/main">
            <a:off x="609600" y="5229225"/>
            <a:ext cx="5334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needed annually by 2030</a:t>
            </a:r>
          </a:p>
        </p:txBody>
      </p:sp>
      <p:sp>
        <p:nvSpPr>
          <p:cNvPr id="8" name="">
            <a:extLst xmlns:a="http://schemas.openxmlformats.org/drawingml/2006/main">
              <a:ext uri="{FF2B5EF4-FFF2-40B4-BE49-F238E27FC236}">
                <a16:creationId xmlns:a16="http://schemas.microsoft.com/office/drawing/2014/main" id="{86A62870-DFF3-4335-9A58-BCF2BCCA0FD9}"/>
              </a:ext>
            </a:extLst>
          </p:cNvPr>
          <p:cNvSpPr>
            <a:spLocks xmlns:a="http://schemas.openxmlformats.org/drawingml/2006/main" noGrp="1"/>
          </p:cNvSpPr>
          <p:nvPr/>
        </p:nvSpPr>
        <p:spPr>
          <a:xfrm xmlns:a="http://schemas.openxmlformats.org/drawingml/2006/main">
            <a:off x="6886575" y="19431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92524"/>
                </a:solidFill>
                <a:latin typeface="Inter"/>
                <a:ea typeface="Inter"/>
                <a:cs typeface="Inter"/>
              </a:defRPr>
            </a:defPPr>
          </a:lstStyle>
          <a:p xmlns:a="http://schemas.openxmlformats.org/drawingml/2006/main">
            <a:pPr>
              <a:defRPr sz="2400" b="1">
                <a:solidFill>
                  <a:srgbClr val="292524"/>
                </a:solidFill>
                <a:latin typeface="Inter"/>
                <a:ea typeface="Inter"/>
                <a:cs typeface="Inter"/>
              </a:defRPr>
            </a:pPr>
            <a:r>
              <a:rPr sz="2400" b="1">
                <a:solidFill>
                  <a:srgbClr val="292524"/>
                </a:solidFill>
                <a:latin typeface="Inter"/>
                <a:ea typeface="Inter"/>
                <a:cs typeface="Inter"/>
              </a:rPr>
              <a:t>Local records matter</a:t>
            </a:r>
          </a:p>
        </p:txBody>
      </p:sp>
      <p:sp>
        <p:nvSpPr>
          <p:cNvPr id="9" name="">
            <a:extLst xmlns:a="http://schemas.openxmlformats.org/drawingml/2006/main">
              <a:ext uri="{FF2B5EF4-FFF2-40B4-BE49-F238E27FC236}">
                <a16:creationId xmlns:a16="http://schemas.microsoft.com/office/drawing/2014/main" id="{BA4EB00C-A014-4BDB-A5C7-5EB899F14CCA}"/>
              </a:ext>
            </a:extLst>
          </p:cNvPr>
          <p:cNvSpPr>
            <a:spLocks xmlns:a="http://schemas.openxmlformats.org/drawingml/2006/main" noGrp="1"/>
          </p:cNvSpPr>
          <p:nvPr/>
        </p:nvSpPr>
        <p:spPr>
          <a:xfrm xmlns:a="http://schemas.openxmlformats.org/drawingml/2006/main">
            <a:off x="6886575" y="2667000"/>
            <a:ext cx="45529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Conservation programs need context, baselines and continuity alongside field expertise.</a:t>
            </a:r>
          </a:p>
        </p:txBody>
      </p:sp>
      <p:sp>
        <p:nvSpPr>
          <p:cNvPr id="10" name="">
            <a:extLst xmlns:a="http://schemas.openxmlformats.org/drawingml/2006/main">
              <a:ext uri="{FF2B5EF4-FFF2-40B4-BE49-F238E27FC236}">
                <a16:creationId xmlns:a16="http://schemas.microsoft.com/office/drawing/2014/main" id="{2A5B7608-BEE8-4D98-A969-ABE5F1A5CD8C}"/>
              </a:ext>
            </a:extLst>
          </p:cNvPr>
          <p:cNvSpPr>
            <a:spLocks xmlns:a="http://schemas.openxmlformats.org/drawingml/2006/main" noGrp="1"/>
          </p:cNvSpPr>
          <p:nvPr/>
        </p:nvSpPr>
        <p:spPr>
          <a:xfrm xmlns:a="http://schemas.openxmlformats.org/drawingml/2006/main">
            <a:off x="6886575" y="4295775"/>
            <a:ext cx="459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92524"/>
                </a:solidFill>
                <a:latin typeface="Inter"/>
                <a:ea typeface="Inter"/>
                <a:cs typeface="Inter"/>
              </a:defRPr>
            </a:defPPr>
          </a:lstStyle>
          <a:p xmlns:a="http://schemas.openxmlformats.org/drawingml/2006/main">
            <a:pPr>
              <a:defRPr sz="2400" b="1">
                <a:solidFill>
                  <a:srgbClr val="292524"/>
                </a:solidFill>
                <a:latin typeface="Inter"/>
                <a:ea typeface="Inter"/>
                <a:cs typeface="Inter"/>
              </a:defRPr>
            </a:pPr>
            <a:r>
              <a:rPr sz="2400" b="1">
                <a:solidFill>
                  <a:srgbClr val="292524"/>
                </a:solidFill>
                <a:latin typeface="Inter"/>
                <a:ea typeface="Inter"/>
                <a:cs typeface="Inter"/>
              </a:rPr>
              <a:t>Private assistance is testable</a:t>
            </a:r>
          </a:p>
        </p:txBody>
      </p:sp>
      <p:sp>
        <p:nvSpPr>
          <p:cNvPr id="11" name="">
            <a:extLst xmlns:a="http://schemas.openxmlformats.org/drawingml/2006/main">
              <a:ext uri="{FF2B5EF4-FFF2-40B4-BE49-F238E27FC236}">
                <a16:creationId xmlns:a16="http://schemas.microsoft.com/office/drawing/2014/main" id="{52B3F0B6-677D-4DBE-8FE1-9E2FCFB3D9A3}"/>
              </a:ext>
            </a:extLst>
          </p:cNvPr>
          <p:cNvSpPr>
            <a:spLocks xmlns:a="http://schemas.openxmlformats.org/drawingml/2006/main" noGrp="1"/>
          </p:cNvSpPr>
          <p:nvPr/>
        </p:nvSpPr>
        <p:spPr>
          <a:xfrm xmlns:a="http://schemas.openxmlformats.org/drawingml/2006/main">
            <a:off x="6886575" y="5153025"/>
            <a:ext cx="45529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Small models and browser runtimes create new options on existing hardware.</a:t>
            </a:r>
          </a:p>
        </p:txBody>
      </p:sp>
    </p:spTree>
    <p:extLst>
      <p:ext uri="{BB962C8B-B14F-4D97-AF65-F5344CB8AC3E}">
        <p14:creationId xmlns:p14="http://schemas.microsoft.com/office/powerpoint/2010/main" val="717118136"/>
      </p:ext>
    </p:extLst>
  </p:cSld>
</p:sld>
</file>

<file path=ppt/slides/slide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95122CE-0E40-411F-A041-39529B7AAD6D}"/>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A living knowledge base for land communities</a:t>
            </a:r>
          </a:p>
        </p:txBody>
      </p:sp>
      <p:sp>
        <p:nvSpPr>
          <p:cNvPr id="2" name="">
            <a:extLst xmlns:a="http://schemas.openxmlformats.org/drawingml/2006/main">
              <a:ext uri="{FF2B5EF4-FFF2-40B4-BE49-F238E27FC236}">
                <a16:creationId xmlns:a16="http://schemas.microsoft.com/office/drawing/2014/main" id="{7FBFF149-4098-48E4-8973-E6CEC964377F}"/>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Proposed OS experience · Manual participation remains a complete path</a:t>
            </a:r>
          </a:p>
        </p:txBody>
      </p:sp>
      <p:sp>
        <p:nvSpPr>
          <p:cNvPr id="3" name="">
            <a:extLst xmlns:a="http://schemas.openxmlformats.org/drawingml/2006/main">
              <a:ext uri="{FF2B5EF4-FFF2-40B4-BE49-F238E27FC236}">
                <a16:creationId xmlns:a16="http://schemas.microsoft.com/office/drawing/2014/main" id="{5D6D3598-FFE9-4A3C-B990-32AFBC0EDD25}"/>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04</a:t>
            </a:r>
          </a:p>
        </p:txBody>
      </p:sp>
      <p:sp>
        <p:nvSpPr>
          <p:cNvPr id="4" name="">
            <a:extLst xmlns:a="http://schemas.openxmlformats.org/drawingml/2006/main">
              <a:ext uri="{FF2B5EF4-FFF2-40B4-BE49-F238E27FC236}">
                <a16:creationId xmlns:a16="http://schemas.microsoft.com/office/drawing/2014/main" id="{9958B170-CB76-4A04-BE4D-C7AFF7C2D1FC}"/>
              </a:ext>
            </a:extLst>
          </p:cNvPr>
          <p:cNvSpPr>
            <a:spLocks xmlns:a="http://schemas.openxmlformats.org/drawingml/2006/main" noGrp="1"/>
          </p:cNvSpPr>
          <p:nvPr/>
        </p:nvSpPr>
        <p:spPr>
          <a:xfrm xmlns:a="http://schemas.openxmlformats.org/drawingml/2006/main">
            <a:off x="609600" y="12668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78716C"/>
                </a:solidFill>
                <a:latin typeface="Inter"/>
                <a:ea typeface="Inter"/>
                <a:cs typeface="Inter"/>
              </a:defRPr>
            </a:defPPr>
          </a:lstStyle>
          <a:p xmlns:a="http://schemas.openxmlformats.org/drawingml/2006/main">
            <a:pPr>
              <a:defRPr sz="2025" b="0">
                <a:solidFill>
                  <a:srgbClr val="78716C"/>
                </a:solidFill>
                <a:latin typeface="Inter"/>
                <a:ea typeface="Inter"/>
                <a:cs typeface="Inter"/>
              </a:defRPr>
            </a:pPr>
            <a:r>
              <a:rPr sz="2025" b="0">
                <a:solidFill>
                  <a:srgbClr val="78716C"/>
                </a:solidFill>
                <a:latin typeface="Inter"/>
                <a:ea typeface="Inter"/>
                <a:cs typeface="Inter"/>
              </a:rPr>
              <a:t>Browser workspace + optional capture extension</a:t>
            </a:r>
          </a:p>
        </p:txBody>
      </p:sp>
      <p:sp>
        <p:nvSpPr>
          <p:cNvPr id="5" name="">
            <a:extLst xmlns:a="http://schemas.openxmlformats.org/drawingml/2006/main">
              <a:ext uri="{FF2B5EF4-FFF2-40B4-BE49-F238E27FC236}">
                <a16:creationId xmlns:a16="http://schemas.microsoft.com/office/drawing/2014/main" id="{7EC8314A-1A70-4B53-9DB5-E7FEC5D270CA}"/>
              </a:ext>
            </a:extLst>
          </p:cNvPr>
          <p:cNvSpPr>
            <a:spLocks xmlns:a="http://schemas.openxmlformats.org/drawingml/2006/main" noGrp="1"/>
          </p:cNvSpPr>
          <p:nvPr/>
        </p:nvSpPr>
        <p:spPr>
          <a:xfrm xmlns:a="http://schemas.openxmlformats.org/drawingml/2006/main">
            <a:off x="609600" y="1962150"/>
            <a:ext cx="452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92524"/>
                </a:solidFill>
                <a:latin typeface="Inter"/>
                <a:ea typeface="Inter"/>
                <a:cs typeface="Inter"/>
              </a:defRPr>
            </a:defPPr>
          </a:lstStyle>
          <a:p xmlns:a="http://schemas.openxmlformats.org/drawingml/2006/main">
            <a:pPr>
              <a:defRPr sz="2400" b="1">
                <a:solidFill>
                  <a:srgbClr val="292524"/>
                </a:solidFill>
                <a:latin typeface="Inter"/>
                <a:ea typeface="Inter"/>
                <a:cs typeface="Inter"/>
              </a:defRPr>
            </a:pPr>
            <a:r>
              <a:rPr sz="2400" b="1">
                <a:solidFill>
                  <a:srgbClr val="292524"/>
                </a:solidFill>
                <a:latin typeface="Inter"/>
                <a:ea typeface="Inter"/>
                <a:cs typeface="Inter"/>
              </a:rPr>
              <a:t>Collect</a:t>
            </a:r>
          </a:p>
        </p:txBody>
      </p:sp>
      <p:sp>
        <p:nvSpPr>
          <p:cNvPr id="6" name="">
            <a:extLst xmlns:a="http://schemas.openxmlformats.org/drawingml/2006/main">
              <a:ext uri="{FF2B5EF4-FFF2-40B4-BE49-F238E27FC236}">
                <a16:creationId xmlns:a16="http://schemas.microsoft.com/office/drawing/2014/main" id="{1631B3F3-4B0C-42A5-A81E-B1B8579259EB}"/>
              </a:ext>
            </a:extLst>
          </p:cNvPr>
          <p:cNvSpPr>
            <a:spLocks xmlns:a="http://schemas.openxmlformats.org/drawingml/2006/main" noGrp="1"/>
          </p:cNvSpPr>
          <p:nvPr/>
        </p:nvSpPr>
        <p:spPr>
          <a:xfrm xmlns:a="http://schemas.openxmlformats.org/drawingml/2006/main">
            <a:off x="609600" y="2457450"/>
            <a:ext cx="454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92524"/>
                </a:solidFill>
                <a:latin typeface="Inter"/>
                <a:ea typeface="Inter"/>
                <a:cs typeface="Inter"/>
              </a:defRPr>
            </a:defPPr>
          </a:lstStyle>
          <a:p xmlns:a="http://schemas.openxmlformats.org/drawingml/2006/main">
            <a:pPr>
              <a:defRPr sz="1950" b="0">
                <a:solidFill>
                  <a:srgbClr val="292524"/>
                </a:solidFill>
                <a:latin typeface="Inter"/>
                <a:ea typeface="Inter"/>
                <a:cs typeface="Inter"/>
              </a:defRPr>
            </a:pPr>
            <a:r>
              <a:rPr sz="1950" b="0">
                <a:solidFill>
                  <a:srgbClr val="292524"/>
                </a:solidFill>
                <a:latin typeface="Inter"/>
                <a:ea typeface="Inter"/>
                <a:cs typeface="Inter"/>
              </a:rPr>
              <a:t>Observations, notes and sensor imports</a:t>
            </a:r>
          </a:p>
        </p:txBody>
      </p:sp>
      <p:sp>
        <p:nvSpPr>
          <p:cNvPr id="7" name="">
            <a:extLst xmlns:a="http://schemas.openxmlformats.org/drawingml/2006/main">
              <a:ext uri="{FF2B5EF4-FFF2-40B4-BE49-F238E27FC236}">
                <a16:creationId xmlns:a16="http://schemas.microsoft.com/office/drawing/2014/main" id="{EFB12AEB-63FD-4F23-9CB1-41634A76C74E}"/>
              </a:ext>
            </a:extLst>
          </p:cNvPr>
          <p:cNvSpPr>
            <a:spLocks xmlns:a="http://schemas.openxmlformats.org/drawingml/2006/main" noGrp="1"/>
          </p:cNvSpPr>
          <p:nvPr/>
        </p:nvSpPr>
        <p:spPr>
          <a:xfrm xmlns:a="http://schemas.openxmlformats.org/drawingml/2006/main">
            <a:off x="609600" y="3181350"/>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92524"/>
                </a:solidFill>
                <a:latin typeface="Inter"/>
                <a:ea typeface="Inter"/>
                <a:cs typeface="Inter"/>
              </a:defRPr>
            </a:defPPr>
          </a:lstStyle>
          <a:p xmlns:a="http://schemas.openxmlformats.org/drawingml/2006/main">
            <a:pPr>
              <a:defRPr sz="2400" b="1">
                <a:solidFill>
                  <a:srgbClr val="292524"/>
                </a:solidFill>
                <a:latin typeface="Inter"/>
                <a:ea typeface="Inter"/>
                <a:cs typeface="Inter"/>
              </a:defRPr>
            </a:pPr>
            <a:r>
              <a:rPr sz="2400" b="1">
                <a:solidFill>
                  <a:srgbClr val="292524"/>
                </a:solidFill>
                <a:latin typeface="Inter"/>
                <a:ea typeface="Inter"/>
                <a:cs typeface="Inter"/>
              </a:rPr>
              <a:t>Understand &amp; curate</a:t>
            </a:r>
          </a:p>
        </p:txBody>
      </p:sp>
      <p:sp>
        <p:nvSpPr>
          <p:cNvPr id="8" name="">
            <a:extLst xmlns:a="http://schemas.openxmlformats.org/drawingml/2006/main">
              <a:ext uri="{FF2B5EF4-FFF2-40B4-BE49-F238E27FC236}">
                <a16:creationId xmlns:a16="http://schemas.microsoft.com/office/drawing/2014/main" id="{2A9DA780-8974-4811-9B76-CE0195E8FDBB}"/>
              </a:ext>
            </a:extLst>
          </p:cNvPr>
          <p:cNvSpPr>
            <a:spLocks xmlns:a="http://schemas.openxmlformats.org/drawingml/2006/main" noGrp="1"/>
          </p:cNvSpPr>
          <p:nvPr/>
        </p:nvSpPr>
        <p:spPr>
          <a:xfrm xmlns:a="http://schemas.openxmlformats.org/drawingml/2006/main">
            <a:off x="609600" y="3667125"/>
            <a:ext cx="4476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92524"/>
                </a:solidFill>
                <a:latin typeface="Inter"/>
                <a:ea typeface="Inter"/>
                <a:cs typeface="Inter"/>
              </a:defRPr>
            </a:defPPr>
          </a:lstStyle>
          <a:p xmlns:a="http://schemas.openxmlformats.org/drawingml/2006/main">
            <a:pPr>
              <a:defRPr sz="1950" b="0">
                <a:solidFill>
                  <a:srgbClr val="292524"/>
                </a:solidFill>
                <a:latin typeface="Inter"/>
                <a:ea typeface="Inter"/>
                <a:cs typeface="Inter"/>
              </a:defRPr>
            </a:pPr>
            <a:r>
              <a:rPr sz="1950" b="0">
                <a:solidFill>
                  <a:srgbClr val="292524"/>
                </a:solidFill>
                <a:latin typeface="Inter"/>
                <a:ea typeface="Inter"/>
                <a:cs typeface="Inter"/>
              </a:rPr>
              <a:t>Use local AI with sources, corrections and human judgment</a:t>
            </a:r>
          </a:p>
        </p:txBody>
      </p:sp>
      <p:sp>
        <p:nvSpPr>
          <p:cNvPr id="9" name="">
            <a:extLst xmlns:a="http://schemas.openxmlformats.org/drawingml/2006/main">
              <a:ext uri="{FF2B5EF4-FFF2-40B4-BE49-F238E27FC236}">
                <a16:creationId xmlns:a16="http://schemas.microsoft.com/office/drawing/2014/main" id="{528E111C-E469-461E-A9A0-5A4457D20377}"/>
              </a:ext>
            </a:extLst>
          </p:cNvPr>
          <p:cNvSpPr>
            <a:spLocks xmlns:a="http://schemas.openxmlformats.org/drawingml/2006/main" noGrp="1"/>
          </p:cNvSpPr>
          <p:nvPr/>
        </p:nvSpPr>
        <p:spPr>
          <a:xfrm xmlns:a="http://schemas.openxmlformats.org/drawingml/2006/main">
            <a:off x="609600" y="4743450"/>
            <a:ext cx="4886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92524"/>
                </a:solidFill>
                <a:latin typeface="Inter"/>
                <a:ea typeface="Inter"/>
                <a:cs typeface="Inter"/>
              </a:defRPr>
            </a:defPPr>
          </a:lstStyle>
          <a:p xmlns:a="http://schemas.openxmlformats.org/drawingml/2006/main">
            <a:pPr>
              <a:defRPr sz="2400" b="1">
                <a:solidFill>
                  <a:srgbClr val="292524"/>
                </a:solidFill>
                <a:latin typeface="Inter"/>
                <a:ea typeface="Inter"/>
                <a:cs typeface="Inter"/>
              </a:defRPr>
            </a:pPr>
            <a:r>
              <a:rPr sz="2400" b="1">
                <a:solidFill>
                  <a:srgbClr val="292524"/>
                </a:solidFill>
                <a:latin typeface="Inter"/>
                <a:ea typeface="Inter"/>
                <a:cs typeface="Inter"/>
              </a:rPr>
              <a:t>Control &amp; selectively share</a:t>
            </a:r>
          </a:p>
        </p:txBody>
      </p:sp>
      <p:sp>
        <p:nvSpPr>
          <p:cNvPr id="10" name="">
            <a:extLst xmlns:a="http://schemas.openxmlformats.org/drawingml/2006/main">
              <a:ext uri="{FF2B5EF4-FFF2-40B4-BE49-F238E27FC236}">
                <a16:creationId xmlns:a16="http://schemas.microsoft.com/office/drawing/2014/main" id="{59DCC047-18C3-44E8-BFD3-A643B20390D3}"/>
              </a:ext>
            </a:extLst>
          </p:cNvPr>
          <p:cNvSpPr>
            <a:spLocks xmlns:a="http://schemas.openxmlformats.org/drawingml/2006/main" noGrp="1"/>
          </p:cNvSpPr>
          <p:nvPr/>
        </p:nvSpPr>
        <p:spPr>
          <a:xfrm xmlns:a="http://schemas.openxmlformats.org/drawingml/2006/main">
            <a:off x="609600" y="5324475"/>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92524"/>
                </a:solidFill>
                <a:latin typeface="Inter"/>
                <a:ea typeface="Inter"/>
                <a:cs typeface="Inter"/>
              </a:defRPr>
            </a:defPPr>
          </a:lstStyle>
          <a:p xmlns:a="http://schemas.openxmlformats.org/drawingml/2006/main">
            <a:pPr>
              <a:defRPr sz="1950" b="0">
                <a:solidFill>
                  <a:srgbClr val="292524"/>
                </a:solidFill>
                <a:latin typeface="Inter"/>
                <a:ea typeface="Inter"/>
                <a:cs typeface="Inter"/>
              </a:defRPr>
            </a:pPr>
            <a:r>
              <a:rPr sz="1950" b="0">
                <a:solidFill>
                  <a:srgbClr val="292524"/>
                </a:solidFill>
                <a:latin typeface="Inter"/>
                <a:ea typeface="Inter"/>
                <a:cs typeface="Inter"/>
              </a:rPr>
              <a:t>Choose what others can see and reuse</a:t>
            </a:r>
          </a:p>
        </p:txBody>
      </p:sp>
      <p:pic>
        <p:nvPicPr>
          <p:cNvPr id="11" name="">
            <a:extLst xmlns:a="http://schemas.openxmlformats.org/drawingml/2006/main">
              <a:ext uri="{FF2B5EF4-FFF2-40B4-BE49-F238E27FC236}">
                <a16:creationId xmlns:a16="http://schemas.microsoft.com/office/drawing/2014/main" id="{441612D8-C6B7-4E30-B16B-4C5504604C9E}"/>
              </a:ext>
            </a:extLst>
          </p:cNvPr>
          <p:cNvPicPr>
            <a:picLocks xmlns:a="http://schemas.openxmlformats.org/drawingml/2006/main" noChangeAspect="1"/>
          </p:cNvPicPr>
          <p:nvPr/>
        </p:nvPicPr>
        <p:blipFill>
          <a:blip xmlns:r="http://schemas.openxmlformats.org/officeDocument/2006/relationships" xmlns:a="http://schemas.openxmlformats.org/drawingml/2006/main" r:embed="Rd24f9af801f54061"/>
          <a:srcRect xmlns:a="http://schemas.openxmlformats.org/drawingml/2006/main" l="0" t="1713" r="0" b="1713"/>
          <a:stretch xmlns:a="http://schemas.openxmlformats.org/drawingml/2006/main">
            <a:fillRect l="0" t="0" r="0" b="0"/>
          </a:stretch>
        </p:blipFill>
        <p:spPr>
          <a:xfrm xmlns:a="http://schemas.openxmlformats.org/drawingml/2006/main">
            <a:off x="5743575" y="1828800"/>
            <a:ext cx="5838825" cy="4229100"/>
          </a:xfrm>
          <a:prstGeom xmlns:a="http://schemas.openxmlformats.org/drawingml/2006/main" prst="rect">
            <a:avLst/>
          </a:prstGeom>
        </p:spPr>
      </p:pic>
    </p:spTree>
    <p:extLst>
      <p:ext uri="{BB962C8B-B14F-4D97-AF65-F5344CB8AC3E}">
        <p14:creationId xmlns:p14="http://schemas.microsoft.com/office/powerpoint/2010/main" val="333694147"/>
      </p:ext>
    </p:extLst>
  </p:cSld>
</p:sld>
</file>

<file path=ppt/slides/slide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FA4AFC-5820-4B33-91CB-12C44F4B2D9C}"/>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Start with a farmer and a trusted adviser</a:t>
            </a:r>
          </a:p>
        </p:txBody>
      </p:sp>
      <p:sp>
        <p:nvSpPr>
          <p:cNvPr id="2" name="">
            <a:extLst xmlns:a="http://schemas.openxmlformats.org/drawingml/2006/main">
              <a:ext uri="{FF2B5EF4-FFF2-40B4-BE49-F238E27FC236}">
                <a16:creationId xmlns:a16="http://schemas.microsoft.com/office/drawing/2014/main" id="{C725B3B1-7214-4DC0-A30E-D48B7D75D849}"/>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Fraunces"/>
                <a:ea typeface="Fraunces"/>
                <a:cs typeface="Fraunces"/>
              </a:defRPr>
            </a:defPPr>
          </a:lstStyle>
          <a:p xmlns:a="http://schemas.openxmlformats.org/drawingml/2006/main">
            <a:pPr>
              <a:defRPr sz="1200" b="0">
                <a:solidFill>
                  <a:srgbClr val="78716C"/>
                </a:solidFill>
                <a:latin typeface="Fraunces"/>
                <a:ea typeface="Fraunces"/>
                <a:cs typeface="Fraunces"/>
              </a:defRPr>
            </a:pPr>
            <a:r>
              <a:rPr sz="1200" b="0">
                <a:solidFill>
                  <a:srgbClr val="78716C"/>
                </a:solidFill>
                <a:latin typeface="Fraunces"/>
                <a:ea typeface="Fraunces"/>
                <a:cs typeface="Fraunces"/>
              </a:rPr>
              <a:t>Green Goods OS</a:t>
            </a:r>
          </a:p>
        </p:txBody>
      </p:sp>
      <p:sp>
        <p:nvSpPr>
          <p:cNvPr id="3" name="">
            <a:extLst xmlns:a="http://schemas.openxmlformats.org/drawingml/2006/main">
              <a:ext uri="{FF2B5EF4-FFF2-40B4-BE49-F238E27FC236}">
                <a16:creationId xmlns:a16="http://schemas.microsoft.com/office/drawing/2014/main" id="{75155D00-6F1A-443C-A20C-5FFB6CF99476}"/>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05</a:t>
            </a:r>
          </a:p>
        </p:txBody>
      </p:sp>
      <p:sp>
        <p:nvSpPr>
          <p:cNvPr id="4" name="">
            <a:extLst xmlns:a="http://schemas.openxmlformats.org/drawingml/2006/main">
              <a:ext uri="{FF2B5EF4-FFF2-40B4-BE49-F238E27FC236}">
                <a16:creationId xmlns:a16="http://schemas.microsoft.com/office/drawing/2014/main" id="{E3207FCF-28DD-44D6-9AF1-7CD878601991}"/>
              </a:ext>
            </a:extLst>
          </p:cNvPr>
          <p:cNvSpPr>
            <a:spLocks xmlns:a="http://schemas.openxmlformats.org/drawingml/2006/main" noGrp="1"/>
          </p:cNvSpPr>
          <p:nvPr/>
        </p:nvSpPr>
        <p:spPr>
          <a:xfrm xmlns:a="http://schemas.openxmlformats.org/drawingml/2006/main">
            <a:off x="609600" y="2000250"/>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A7544"/>
                </a:solidFill>
                <a:latin typeface="Inter"/>
                <a:ea typeface="Inter"/>
                <a:cs typeface="Inter"/>
              </a:defRPr>
            </a:defPPr>
          </a:lstStyle>
          <a:p xmlns:a="http://schemas.openxmlformats.org/drawingml/2006/main">
            <a:pPr>
              <a:defRPr sz="2100" b="1">
                <a:solidFill>
                  <a:srgbClr val="1A7544"/>
                </a:solidFill>
                <a:latin typeface="Inter"/>
                <a:ea typeface="Inter"/>
                <a:cs typeface="Inter"/>
              </a:defRPr>
            </a:pPr>
            <a:r>
              <a:rPr sz="2100" b="1">
                <a:solidFill>
                  <a:srgbClr val="1A7544"/>
                </a:solidFill>
                <a:latin typeface="Inter"/>
                <a:ea typeface="Inter"/>
                <a:cs typeface="Inter"/>
              </a:rPr>
              <a:t>First user</a:t>
            </a:r>
          </a:p>
        </p:txBody>
      </p:sp>
      <p:sp>
        <p:nvSpPr>
          <p:cNvPr id="5" name="">
            <a:extLst xmlns:a="http://schemas.openxmlformats.org/drawingml/2006/main">
              <a:ext uri="{FF2B5EF4-FFF2-40B4-BE49-F238E27FC236}">
                <a16:creationId xmlns:a16="http://schemas.microsoft.com/office/drawing/2014/main" id="{EEBD1FE1-285C-4523-8C9C-5A1BF6429DD2}"/>
              </a:ext>
            </a:extLst>
          </p:cNvPr>
          <p:cNvSpPr>
            <a:spLocks xmlns:a="http://schemas.openxmlformats.org/drawingml/2006/main" noGrp="1"/>
          </p:cNvSpPr>
          <p:nvPr/>
        </p:nvSpPr>
        <p:spPr>
          <a:xfrm xmlns:a="http://schemas.openxmlformats.org/drawingml/2006/main">
            <a:off x="609600" y="2647950"/>
            <a:ext cx="557212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a:solidFill>
                  <a:srgbClr val="292524"/>
                </a:solidFill>
                <a:latin typeface="Fraunces"/>
                <a:ea typeface="Fraunces"/>
                <a:cs typeface="Fraunces"/>
              </a:defRPr>
            </a:defPPr>
          </a:lstStyle>
          <a:p xmlns:a="http://schemas.openxmlformats.org/drawingml/2006/main">
            <a:pPr>
              <a:defRPr sz="3225" b="0">
                <a:solidFill>
                  <a:srgbClr val="292524"/>
                </a:solidFill>
                <a:latin typeface="Fraunces"/>
                <a:ea typeface="Fraunces"/>
                <a:cs typeface="Fraunces"/>
              </a:defRPr>
            </a:pPr>
            <a:r>
              <a:rPr sz="3225" b="0">
                <a:solidFill>
                  <a:srgbClr val="292524"/>
                </a:solidFill>
                <a:latin typeface="Fraunces"/>
                <a:ea typeface="Fraunces"/>
                <a:cs typeface="Fraunces"/>
              </a:rPr>
              <a:t>A mid-sized farmer</a:t>
            </a:r>
          </a:p>
          <a:p xmlns:a="http://schemas.openxmlformats.org/drawingml/2006/main">
            <a:pPr>
              <a:defRPr sz="3225" b="0">
                <a:solidFill>
                  <a:srgbClr val="292524"/>
                </a:solidFill>
                <a:latin typeface="Fraunces"/>
                <a:ea typeface="Fraunces"/>
                <a:cs typeface="Fraunces"/>
              </a:defRPr>
            </a:pPr>
            <a:r>
              <a:rPr sz="3225" b="0">
                <a:solidFill>
                  <a:srgbClr val="292524"/>
                </a:solidFill>
                <a:latin typeface="Fraunces"/>
                <a:ea typeface="Fraunces"/>
                <a:cs typeface="Fraunces"/>
              </a:rPr>
              <a:t>transitioning practices</a:t>
            </a:r>
          </a:p>
        </p:txBody>
      </p:sp>
      <p:sp>
        <p:nvSpPr>
          <p:cNvPr id="6" name="">
            <a:extLst xmlns:a="http://schemas.openxmlformats.org/drawingml/2006/main">
              <a:ext uri="{FF2B5EF4-FFF2-40B4-BE49-F238E27FC236}">
                <a16:creationId xmlns:a16="http://schemas.microsoft.com/office/drawing/2014/main" id="{D3EA9A0D-D910-40FC-B1E7-5073AA9DC477}"/>
              </a:ext>
            </a:extLst>
          </p:cNvPr>
          <p:cNvSpPr>
            <a:spLocks xmlns:a="http://schemas.openxmlformats.org/drawingml/2006/main" noGrp="1"/>
          </p:cNvSpPr>
          <p:nvPr/>
        </p:nvSpPr>
        <p:spPr>
          <a:xfrm xmlns:a="http://schemas.openxmlformats.org/drawingml/2006/main">
            <a:off x="609600" y="4695825"/>
            <a:ext cx="5257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92524"/>
                </a:solidFill>
                <a:latin typeface="Inter"/>
                <a:ea typeface="Inter"/>
                <a:cs typeface="Inter"/>
              </a:defRPr>
            </a:defPPr>
          </a:lstStyle>
          <a:p xmlns:a="http://schemas.openxmlformats.org/drawingml/2006/main">
            <a:pPr>
              <a:defRPr sz="2250" b="0">
                <a:solidFill>
                  <a:srgbClr val="292524"/>
                </a:solidFill>
                <a:latin typeface="Inter"/>
                <a:ea typeface="Inter"/>
                <a:cs typeface="Inter"/>
              </a:defRPr>
            </a:pPr>
            <a:r>
              <a:rPr sz="2250" b="0">
                <a:solidFill>
                  <a:srgbClr val="292524"/>
                </a:solidFill>
                <a:latin typeface="Inter"/>
                <a:ea typeface="Inter"/>
                <a:cs typeface="Inter"/>
              </a:rPr>
              <a:t>One recurring question,</a:t>
            </a:r>
          </a:p>
          <a:p xmlns:a="http://schemas.openxmlformats.org/drawingml/2006/main">
            <a:pPr>
              <a:defRPr sz="2250" b="0">
                <a:solidFill>
                  <a:srgbClr val="292524"/>
                </a:solidFill>
                <a:latin typeface="Inter"/>
                <a:ea typeface="Inter"/>
                <a:cs typeface="Inter"/>
              </a:defRPr>
            </a:pPr>
            <a:r>
              <a:rPr sz="2250" b="0">
                <a:solidFill>
                  <a:srgbClr val="292524"/>
                </a:solidFill>
                <a:latin typeface="Inter"/>
                <a:ea typeface="Inter"/>
                <a:cs typeface="Inter"/>
              </a:rPr>
              <a:t>one adviser, one useful record.</a:t>
            </a:r>
          </a:p>
        </p:txBody>
      </p:sp>
      <p:sp>
        <p:nvSpPr>
          <p:cNvPr id="7" name="">
            <a:extLst xmlns:a="http://schemas.openxmlformats.org/drawingml/2006/main">
              <a:ext uri="{FF2B5EF4-FFF2-40B4-BE49-F238E27FC236}">
                <a16:creationId xmlns:a16="http://schemas.microsoft.com/office/drawing/2014/main" id="{0D77BD6E-0DA3-4A81-8F97-549849C6722A}"/>
              </a:ext>
            </a:extLst>
          </p:cNvPr>
          <p:cNvSpPr>
            <a:spLocks xmlns:a="http://schemas.openxmlformats.org/drawingml/2006/main" noGrp="1"/>
          </p:cNvSpPr>
          <p:nvPr/>
        </p:nvSpPr>
        <p:spPr>
          <a:xfrm xmlns:a="http://schemas.openxmlformats.org/drawingml/2006/main">
            <a:off x="7048500" y="1990725"/>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A7544"/>
                </a:solidFill>
                <a:latin typeface="Inter"/>
                <a:ea typeface="Inter"/>
                <a:cs typeface="Inter"/>
              </a:defRPr>
            </a:defPPr>
          </a:lstStyle>
          <a:p xmlns:a="http://schemas.openxmlformats.org/drawingml/2006/main">
            <a:pPr>
              <a:defRPr sz="2025" b="1">
                <a:solidFill>
                  <a:srgbClr val="1A7544"/>
                </a:solidFill>
                <a:latin typeface="Inter"/>
                <a:ea typeface="Inter"/>
                <a:cs typeface="Inter"/>
              </a:defRPr>
            </a:pPr>
            <a:r>
              <a:rPr sz="2025" b="1">
                <a:solidFill>
                  <a:srgbClr val="1A7544"/>
                </a:solidFill>
                <a:latin typeface="Inter"/>
                <a:ea typeface="Inter"/>
                <a:cs typeface="Inter"/>
              </a:rPr>
              <a:t>Buyer</a:t>
            </a:r>
          </a:p>
        </p:txBody>
      </p:sp>
      <p:sp>
        <p:nvSpPr>
          <p:cNvPr id="8" name="">
            <a:extLst xmlns:a="http://schemas.openxmlformats.org/drawingml/2006/main">
              <a:ext uri="{FF2B5EF4-FFF2-40B4-BE49-F238E27FC236}">
                <a16:creationId xmlns:a16="http://schemas.microsoft.com/office/drawing/2014/main" id="{25BF1318-8AD1-4052-8EBA-27B2B08C8585}"/>
              </a:ext>
            </a:extLst>
          </p:cNvPr>
          <p:cNvSpPr>
            <a:spLocks xmlns:a="http://schemas.openxmlformats.org/drawingml/2006/main" noGrp="1"/>
          </p:cNvSpPr>
          <p:nvPr/>
        </p:nvSpPr>
        <p:spPr>
          <a:xfrm xmlns:a="http://schemas.openxmlformats.org/drawingml/2006/main">
            <a:off x="7048500" y="2524125"/>
            <a:ext cx="4476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92524"/>
                </a:solidFill>
                <a:latin typeface="Inter"/>
                <a:ea typeface="Inter"/>
                <a:cs typeface="Inter"/>
              </a:defRPr>
            </a:defPPr>
          </a:lstStyle>
          <a:p xmlns:a="http://schemas.openxmlformats.org/drawingml/2006/main">
            <a:pPr>
              <a:defRPr sz="2550" b="1">
                <a:solidFill>
                  <a:srgbClr val="292524"/>
                </a:solidFill>
                <a:latin typeface="Inter"/>
                <a:ea typeface="Inter"/>
                <a:cs typeface="Inter"/>
              </a:defRPr>
            </a:pPr>
            <a:r>
              <a:rPr sz="2550" b="1">
                <a:solidFill>
                  <a:srgbClr val="292524"/>
                </a:solidFill>
                <a:latin typeface="Inter"/>
                <a:ea typeface="Inter"/>
                <a:cs typeface="Inter"/>
              </a:rPr>
              <a:t>Conservation or advisory</a:t>
            </a:r>
          </a:p>
          <a:p xmlns:a="http://schemas.openxmlformats.org/drawingml/2006/main">
            <a:pPr>
              <a:defRPr sz="2550" b="1">
                <a:solidFill>
                  <a:srgbClr val="292524"/>
                </a:solidFill>
                <a:latin typeface="Inter"/>
                <a:ea typeface="Inter"/>
                <a:cs typeface="Inter"/>
              </a:defRPr>
            </a:pPr>
            <a:r>
              <a:rPr sz="2550" b="1">
                <a:solidFill>
                  <a:srgbClr val="292524"/>
                </a:solidFill>
                <a:latin typeface="Inter"/>
                <a:ea typeface="Inter"/>
                <a:cs typeface="Inter"/>
              </a:rPr>
              <a:t>program director</a:t>
            </a:r>
          </a:p>
        </p:txBody>
      </p:sp>
      <p:sp>
        <p:nvSpPr>
          <p:cNvPr id="9" name="">
            <a:extLst xmlns:a="http://schemas.openxmlformats.org/drawingml/2006/main">
              <a:ext uri="{FF2B5EF4-FFF2-40B4-BE49-F238E27FC236}">
                <a16:creationId xmlns:a16="http://schemas.microsoft.com/office/drawing/2014/main" id="{C3BB0066-1B38-4F04-8BE8-89C12808323E}"/>
              </a:ext>
            </a:extLst>
          </p:cNvPr>
          <p:cNvSpPr>
            <a:spLocks xmlns:a="http://schemas.openxmlformats.org/drawingml/2006/main" noGrp="1"/>
          </p:cNvSpPr>
          <p:nvPr/>
        </p:nvSpPr>
        <p:spPr>
          <a:xfrm xmlns:a="http://schemas.openxmlformats.org/drawingml/2006/main">
            <a:off x="7048500" y="395287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A7544"/>
                </a:solidFill>
                <a:latin typeface="Inter"/>
                <a:ea typeface="Inter"/>
                <a:cs typeface="Inter"/>
              </a:defRPr>
            </a:defPPr>
          </a:lstStyle>
          <a:p xmlns:a="http://schemas.openxmlformats.org/drawingml/2006/main">
            <a:pPr>
              <a:defRPr sz="2025" b="1">
                <a:solidFill>
                  <a:srgbClr val="1A7544"/>
                </a:solidFill>
                <a:latin typeface="Inter"/>
                <a:ea typeface="Inter"/>
                <a:cs typeface="Inter"/>
              </a:defRPr>
            </a:pPr>
            <a:r>
              <a:rPr sz="2025" b="1">
                <a:solidFill>
                  <a:srgbClr val="1A7544"/>
                </a:solidFill>
                <a:latin typeface="Inter"/>
                <a:ea typeface="Inter"/>
                <a:cs typeface="Inter"/>
              </a:rPr>
              <a:t>Budget</a:t>
            </a:r>
          </a:p>
        </p:txBody>
      </p:sp>
      <p:sp>
        <p:nvSpPr>
          <p:cNvPr id="10" name="">
            <a:extLst xmlns:a="http://schemas.openxmlformats.org/drawingml/2006/main">
              <a:ext uri="{FF2B5EF4-FFF2-40B4-BE49-F238E27FC236}">
                <a16:creationId xmlns:a16="http://schemas.microsoft.com/office/drawing/2014/main" id="{3B117EC5-3A36-45AD-AB0F-6043D432AA54}"/>
              </a:ext>
            </a:extLst>
          </p:cNvPr>
          <p:cNvSpPr>
            <a:spLocks xmlns:a="http://schemas.openxmlformats.org/drawingml/2006/main" noGrp="1"/>
          </p:cNvSpPr>
          <p:nvPr/>
        </p:nvSpPr>
        <p:spPr>
          <a:xfrm xmlns:a="http://schemas.openxmlformats.org/drawingml/2006/main">
            <a:off x="7048500" y="4486275"/>
            <a:ext cx="4476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92524"/>
                </a:solidFill>
                <a:latin typeface="Inter"/>
                <a:ea typeface="Inter"/>
                <a:cs typeface="Inter"/>
              </a:defRPr>
            </a:defPPr>
          </a:lstStyle>
          <a:p xmlns:a="http://schemas.openxmlformats.org/drawingml/2006/main">
            <a:pPr>
              <a:defRPr sz="2250" b="0">
                <a:solidFill>
                  <a:srgbClr val="292524"/>
                </a:solidFill>
                <a:latin typeface="Inter"/>
                <a:ea typeface="Inter"/>
                <a:cs typeface="Inter"/>
              </a:defRPr>
            </a:pPr>
            <a:r>
              <a:rPr sz="2250" b="0">
                <a:solidFill>
                  <a:srgbClr val="292524"/>
                </a:solidFill>
                <a:latin typeface="Inter"/>
                <a:ea typeface="Inter"/>
                <a:cs typeface="Inter"/>
              </a:rPr>
              <a:t>Technical assistance, program</a:t>
            </a:r>
          </a:p>
          <a:p xmlns:a="http://schemas.openxmlformats.org/drawingml/2006/main">
            <a:pPr>
              <a:defRPr sz="2250" b="0">
                <a:solidFill>
                  <a:srgbClr val="292524"/>
                </a:solidFill>
                <a:latin typeface="Inter"/>
                <a:ea typeface="Inter"/>
                <a:cs typeface="Inter"/>
              </a:defRPr>
            </a:pPr>
            <a:r>
              <a:rPr sz="2250" b="0">
                <a:solidFill>
                  <a:srgbClr val="292524"/>
                </a:solidFill>
                <a:latin typeface="Inter"/>
                <a:ea typeface="Inter"/>
                <a:cs typeface="Inter"/>
              </a:rPr>
              <a:t>operations and learning</a:t>
            </a:r>
          </a:p>
        </p:txBody>
      </p:sp>
    </p:spTree>
    <p:extLst>
      <p:ext uri="{BB962C8B-B14F-4D97-AF65-F5344CB8AC3E}">
        <p14:creationId xmlns:p14="http://schemas.microsoft.com/office/powerpoint/2010/main" val="1821889450"/>
      </p:ext>
    </p:extLst>
  </p:cSld>
</p:sld>
</file>

<file path=ppt/slides/slide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C28398-278D-48E7-B805-C79B3E26F194}"/>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A field question with a complete learning loop</a:t>
            </a:r>
          </a:p>
        </p:txBody>
      </p:sp>
      <p:sp>
        <p:nvSpPr>
          <p:cNvPr id="2" name="">
            <a:extLst xmlns:a="http://schemas.openxmlformats.org/drawingml/2006/main">
              <a:ext uri="{FF2B5EF4-FFF2-40B4-BE49-F238E27FC236}">
                <a16:creationId xmlns:a16="http://schemas.microsoft.com/office/drawing/2014/main" id="{F9616FF3-6ADE-4C91-9944-9EECBDD8D4D1}"/>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Prototype: synthetic sensor recording · Planned workflow · No irrigation prescription or transaction</a:t>
            </a:r>
          </a:p>
        </p:txBody>
      </p:sp>
      <p:sp>
        <p:nvSpPr>
          <p:cNvPr id="3" name="">
            <a:extLst xmlns:a="http://schemas.openxmlformats.org/drawingml/2006/main">
              <a:ext uri="{FF2B5EF4-FFF2-40B4-BE49-F238E27FC236}">
                <a16:creationId xmlns:a16="http://schemas.microsoft.com/office/drawing/2014/main" id="{4C0DA763-1D91-4E56-BE84-BA6F4CEE38BD}"/>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06</a:t>
            </a:r>
          </a:p>
        </p:txBody>
      </p:sp>
      <p:sp>
        <p:nvSpPr>
          <p:cNvPr id="4" name="">
            <a:extLst xmlns:a="http://schemas.openxmlformats.org/drawingml/2006/main">
              <a:ext uri="{FF2B5EF4-FFF2-40B4-BE49-F238E27FC236}">
                <a16:creationId xmlns:a16="http://schemas.microsoft.com/office/drawing/2014/main" id="{30C76D4C-025A-4FA0-B58C-9DAD14196368}"/>
              </a:ext>
            </a:extLst>
          </p:cNvPr>
          <p:cNvSpPr>
            <a:spLocks xmlns:a="http://schemas.openxmlformats.org/drawingml/2006/main" noGrp="1"/>
          </p:cNvSpPr>
          <p:nvPr/>
        </p:nvSpPr>
        <p:spPr>
          <a:xfrm xmlns:a="http://schemas.openxmlformats.org/drawingml/2006/main">
            <a:off x="609600" y="17240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A7544"/>
                </a:solidFill>
                <a:latin typeface="Inter"/>
                <a:ea typeface="Inter"/>
                <a:cs typeface="Inter"/>
              </a:defRPr>
            </a:defPPr>
          </a:lstStyle>
          <a:p xmlns:a="http://schemas.openxmlformats.org/drawingml/2006/main">
            <a:pPr>
              <a:defRPr sz="2700" b="1">
                <a:solidFill>
                  <a:srgbClr val="1A7544"/>
                </a:solidFill>
                <a:latin typeface="Inter"/>
                <a:ea typeface="Inter"/>
                <a:cs typeface="Inter"/>
              </a:defRPr>
            </a:pPr>
            <a:r>
              <a:rPr sz="2700" b="1">
                <a:solidFill>
                  <a:srgbClr val="1A7544"/>
                </a:solidFill>
                <a:latin typeface="Inter"/>
                <a:ea typeface="Inter"/>
                <a:cs typeface="Inter"/>
              </a:rPr>
              <a:t>“Which plot needs a moisture check today?”</a:t>
            </a:r>
          </a:p>
        </p:txBody>
      </p:sp>
      <p:sp>
        <p:nvSpPr>
          <p:cNvPr id="5" name="">
            <a:extLst xmlns:a="http://schemas.openxmlformats.org/drawingml/2006/main">
              <a:ext uri="{FF2B5EF4-FFF2-40B4-BE49-F238E27FC236}">
                <a16:creationId xmlns:a16="http://schemas.microsoft.com/office/drawing/2014/main" id="{7B54288A-344E-4CA4-BB10-1AB8067CE39C}"/>
              </a:ext>
            </a:extLst>
          </p:cNvPr>
          <p:cNvSpPr>
            <a:spLocks xmlns:a="http://schemas.openxmlformats.org/drawingml/2006/main" noGrp="1"/>
          </p:cNvSpPr>
          <p:nvPr/>
        </p:nvSpPr>
        <p:spPr>
          <a:xfrm xmlns:a="http://schemas.openxmlformats.org/drawingml/2006/main">
            <a:off x="609600" y="2686050"/>
            <a:ext cx="35147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92524"/>
                </a:solidFill>
                <a:latin typeface="Inter"/>
                <a:ea typeface="Inter"/>
                <a:cs typeface="Inter"/>
              </a:defRPr>
            </a:defPPr>
          </a:lstStyle>
          <a:p xmlns:a="http://schemas.openxmlformats.org/drawingml/2006/main">
            <a:pPr>
              <a:defRPr sz="2025" b="1">
                <a:solidFill>
                  <a:srgbClr val="292524"/>
                </a:solidFill>
                <a:latin typeface="Inter"/>
                <a:ea typeface="Inter"/>
                <a:cs typeface="Inter"/>
              </a:defRPr>
            </a:pPr>
            <a:r>
              <a:rPr sz="2025" b="1">
                <a:solidFill>
                  <a:srgbClr val="292524"/>
                </a:solidFill>
                <a:latin typeface="Inter"/>
                <a:ea typeface="Inter"/>
                <a:cs typeface="Inter"/>
              </a:rPr>
              <a:t>01  Observe</a:t>
            </a:r>
          </a:p>
        </p:txBody>
      </p:sp>
      <p:sp>
        <p:nvSpPr>
          <p:cNvPr id="6" name="">
            <a:extLst xmlns:a="http://schemas.openxmlformats.org/drawingml/2006/main">
              <a:ext uri="{FF2B5EF4-FFF2-40B4-BE49-F238E27FC236}">
                <a16:creationId xmlns:a16="http://schemas.microsoft.com/office/drawing/2014/main" id="{31CAE1CD-2127-4B5A-900C-B94C1ADC3F63}"/>
              </a:ext>
            </a:extLst>
          </p:cNvPr>
          <p:cNvSpPr>
            <a:spLocks xmlns:a="http://schemas.openxmlformats.org/drawingml/2006/main" noGrp="1"/>
          </p:cNvSpPr>
          <p:nvPr/>
        </p:nvSpPr>
        <p:spPr>
          <a:xfrm xmlns:a="http://schemas.openxmlformats.org/drawingml/2006/main">
            <a:off x="4295775" y="2686050"/>
            <a:ext cx="7153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Import a reading and add the field note that explains it.</a:t>
            </a:r>
          </a:p>
        </p:txBody>
      </p:sp>
      <p:sp>
        <p:nvSpPr>
          <p:cNvPr id="7" name="">
            <a:extLst xmlns:a="http://schemas.openxmlformats.org/drawingml/2006/main">
              <a:ext uri="{FF2B5EF4-FFF2-40B4-BE49-F238E27FC236}">
                <a16:creationId xmlns:a16="http://schemas.microsoft.com/office/drawing/2014/main" id="{7E3A71AD-3EBA-42F6-89A3-7744DB3891E0}"/>
              </a:ext>
            </a:extLst>
          </p:cNvPr>
          <p:cNvSpPr>
            <a:spLocks xmlns:a="http://schemas.openxmlformats.org/drawingml/2006/main" noGrp="1"/>
          </p:cNvSpPr>
          <p:nvPr/>
        </p:nvSpPr>
        <p:spPr>
          <a:xfrm xmlns:a="http://schemas.openxmlformats.org/drawingml/2006/main">
            <a:off x="609600" y="3505200"/>
            <a:ext cx="35147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92524"/>
                </a:solidFill>
                <a:latin typeface="Inter"/>
                <a:ea typeface="Inter"/>
                <a:cs typeface="Inter"/>
              </a:defRPr>
            </a:defPPr>
          </a:lstStyle>
          <a:p xmlns:a="http://schemas.openxmlformats.org/drawingml/2006/main">
            <a:pPr>
              <a:defRPr sz="2025" b="1">
                <a:solidFill>
                  <a:srgbClr val="292524"/>
                </a:solidFill>
                <a:latin typeface="Inter"/>
                <a:ea typeface="Inter"/>
                <a:cs typeface="Inter"/>
              </a:defRPr>
            </a:pPr>
            <a:r>
              <a:rPr sz="2025" b="1">
                <a:solidFill>
                  <a:srgbClr val="292524"/>
                </a:solidFill>
                <a:latin typeface="Inter"/>
                <a:ea typeface="Inter"/>
                <a:cs typeface="Inter"/>
              </a:rPr>
              <a:t>02  Interpret &amp; review</a:t>
            </a:r>
          </a:p>
        </p:txBody>
      </p:sp>
      <p:sp>
        <p:nvSpPr>
          <p:cNvPr id="8" name="">
            <a:extLst xmlns:a="http://schemas.openxmlformats.org/drawingml/2006/main">
              <a:ext uri="{FF2B5EF4-FFF2-40B4-BE49-F238E27FC236}">
                <a16:creationId xmlns:a16="http://schemas.microsoft.com/office/drawing/2014/main" id="{970C93C9-671B-40A5-980B-A3D90F60FF95}"/>
              </a:ext>
            </a:extLst>
          </p:cNvPr>
          <p:cNvSpPr>
            <a:spLocks xmlns:a="http://schemas.openxmlformats.org/drawingml/2006/main" noGrp="1"/>
          </p:cNvSpPr>
          <p:nvPr/>
        </p:nvSpPr>
        <p:spPr>
          <a:xfrm xmlns:a="http://schemas.openxmlformats.org/drawingml/2006/main">
            <a:off x="4295775" y="3505200"/>
            <a:ext cx="7153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Review a local draft beside its sources; decide what to check.</a:t>
            </a:r>
          </a:p>
        </p:txBody>
      </p:sp>
      <p:sp>
        <p:nvSpPr>
          <p:cNvPr id="9" name="">
            <a:extLst xmlns:a="http://schemas.openxmlformats.org/drawingml/2006/main">
              <a:ext uri="{FF2B5EF4-FFF2-40B4-BE49-F238E27FC236}">
                <a16:creationId xmlns:a16="http://schemas.microsoft.com/office/drawing/2014/main" id="{A068FB5B-6231-4382-BB2F-37F4FAA9586C}"/>
              </a:ext>
            </a:extLst>
          </p:cNvPr>
          <p:cNvSpPr>
            <a:spLocks xmlns:a="http://schemas.openxmlformats.org/drawingml/2006/main" noGrp="1"/>
          </p:cNvSpPr>
          <p:nvPr/>
        </p:nvSpPr>
        <p:spPr>
          <a:xfrm xmlns:a="http://schemas.openxmlformats.org/drawingml/2006/main">
            <a:off x="609600" y="4324350"/>
            <a:ext cx="35147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92524"/>
                </a:solidFill>
                <a:latin typeface="Inter"/>
                <a:ea typeface="Inter"/>
                <a:cs typeface="Inter"/>
              </a:defRPr>
            </a:defPPr>
          </a:lstStyle>
          <a:p xmlns:a="http://schemas.openxmlformats.org/drawingml/2006/main">
            <a:pPr>
              <a:defRPr sz="2025" b="1">
                <a:solidFill>
                  <a:srgbClr val="292524"/>
                </a:solidFill>
                <a:latin typeface="Inter"/>
                <a:ea typeface="Inter"/>
                <a:cs typeface="Inter"/>
              </a:defRPr>
            </a:pPr>
            <a:r>
              <a:rPr sz="2025" b="1">
                <a:solidFill>
                  <a:srgbClr val="292524"/>
                </a:solidFill>
                <a:latin typeface="Inter"/>
                <a:ea typeface="Inter"/>
                <a:cs typeface="Inter"/>
              </a:rPr>
              <a:t>03  Choose disclosure</a:t>
            </a:r>
          </a:p>
        </p:txBody>
      </p:sp>
      <p:sp>
        <p:nvSpPr>
          <p:cNvPr id="10" name="">
            <a:extLst xmlns:a="http://schemas.openxmlformats.org/drawingml/2006/main">
              <a:ext uri="{FF2B5EF4-FFF2-40B4-BE49-F238E27FC236}">
                <a16:creationId xmlns:a16="http://schemas.microsoft.com/office/drawing/2014/main" id="{A237A4DD-2EA3-4E5E-A975-62BE8E6C2934}"/>
              </a:ext>
            </a:extLst>
          </p:cNvPr>
          <p:cNvSpPr>
            <a:spLocks xmlns:a="http://schemas.openxmlformats.org/drawingml/2006/main" noGrp="1"/>
          </p:cNvSpPr>
          <p:nvPr/>
        </p:nvSpPr>
        <p:spPr>
          <a:xfrm xmlns:a="http://schemas.openxmlformats.org/drawingml/2006/main">
            <a:off x="4295775" y="4324350"/>
            <a:ext cx="7153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Approve exact text for a Green Goods export and minimal AT post.</a:t>
            </a:r>
          </a:p>
        </p:txBody>
      </p:sp>
      <p:sp>
        <p:nvSpPr>
          <p:cNvPr id="11" name="">
            <a:extLst xmlns:a="http://schemas.openxmlformats.org/drawingml/2006/main">
              <a:ext uri="{FF2B5EF4-FFF2-40B4-BE49-F238E27FC236}">
                <a16:creationId xmlns:a16="http://schemas.microsoft.com/office/drawing/2014/main" id="{F3209C99-6BEF-4FF0-B29D-3904FA4E8A7C}"/>
              </a:ext>
            </a:extLst>
          </p:cNvPr>
          <p:cNvSpPr>
            <a:spLocks xmlns:a="http://schemas.openxmlformats.org/drawingml/2006/main" noGrp="1"/>
          </p:cNvSpPr>
          <p:nvPr/>
        </p:nvSpPr>
        <p:spPr>
          <a:xfrm xmlns:a="http://schemas.openxmlformats.org/drawingml/2006/main">
            <a:off x="609600" y="5143500"/>
            <a:ext cx="35147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92524"/>
                </a:solidFill>
                <a:latin typeface="Inter"/>
                <a:ea typeface="Inter"/>
                <a:cs typeface="Inter"/>
              </a:defRPr>
            </a:defPPr>
          </a:lstStyle>
          <a:p xmlns:a="http://schemas.openxmlformats.org/drawingml/2006/main">
            <a:pPr>
              <a:defRPr sz="2025" b="1">
                <a:solidFill>
                  <a:srgbClr val="292524"/>
                </a:solidFill>
                <a:latin typeface="Inter"/>
                <a:ea typeface="Inter"/>
                <a:cs typeface="Inter"/>
              </a:defRPr>
            </a:pPr>
            <a:r>
              <a:rPr sz="2025" b="1">
                <a:solidFill>
                  <a:srgbClr val="292524"/>
                </a:solidFill>
                <a:latin typeface="Inter"/>
                <a:ea typeface="Inter"/>
                <a:cs typeface="Inter"/>
              </a:rPr>
              <a:t>04  Learn together</a:t>
            </a:r>
          </a:p>
        </p:txBody>
      </p:sp>
      <p:sp>
        <p:nvSpPr>
          <p:cNvPr id="12" name="">
            <a:extLst xmlns:a="http://schemas.openxmlformats.org/drawingml/2006/main">
              <a:ext uri="{FF2B5EF4-FFF2-40B4-BE49-F238E27FC236}">
                <a16:creationId xmlns:a16="http://schemas.microsoft.com/office/drawing/2014/main" id="{712BB3E0-2A1B-436C-B77E-89345F37ADB2}"/>
              </a:ext>
            </a:extLst>
          </p:cNvPr>
          <p:cNvSpPr>
            <a:spLocks xmlns:a="http://schemas.openxmlformats.org/drawingml/2006/main" noGrp="1"/>
          </p:cNvSpPr>
          <p:nvPr/>
        </p:nvSpPr>
        <p:spPr>
          <a:xfrm xmlns:a="http://schemas.openxmlformats.org/drawingml/2006/main">
            <a:off x="4295775" y="5143500"/>
            <a:ext cx="7153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A second workspace retrieves the lesson and returns useful feedback.</a:t>
            </a:r>
          </a:p>
        </p:txBody>
      </p:sp>
    </p:spTree>
    <p:extLst>
      <p:ext uri="{BB962C8B-B14F-4D97-AF65-F5344CB8AC3E}">
        <p14:creationId xmlns:p14="http://schemas.microsoft.com/office/powerpoint/2010/main" val="1971064339"/>
      </p:ext>
    </p:extLst>
  </p:cSld>
</p:sld>
</file>

<file path=ppt/slides/slide7.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572BA4-00EB-4BDA-9ED1-A5BADBE1B35B}"/>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Value starts with the people doing the work</a:t>
            </a:r>
          </a:p>
        </p:txBody>
      </p:sp>
      <p:sp>
        <p:nvSpPr>
          <p:cNvPr id="2" name="">
            <a:extLst xmlns:a="http://schemas.openxmlformats.org/drawingml/2006/main">
              <a:ext uri="{FF2B5EF4-FFF2-40B4-BE49-F238E27FC236}">
                <a16:creationId xmlns:a16="http://schemas.microsoft.com/office/drawing/2014/main" id="{A295BF84-4E05-4A92-803E-91924F6D5B87}"/>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Fraunces"/>
                <a:ea typeface="Fraunces"/>
                <a:cs typeface="Fraunces"/>
              </a:defRPr>
            </a:defPPr>
          </a:lstStyle>
          <a:p xmlns:a="http://schemas.openxmlformats.org/drawingml/2006/main">
            <a:pPr>
              <a:defRPr sz="1200" b="0">
                <a:solidFill>
                  <a:srgbClr val="78716C"/>
                </a:solidFill>
                <a:latin typeface="Fraunces"/>
                <a:ea typeface="Fraunces"/>
                <a:cs typeface="Fraunces"/>
              </a:defRPr>
            </a:pPr>
            <a:r>
              <a:rPr sz="1200" b="0">
                <a:solidFill>
                  <a:srgbClr val="78716C"/>
                </a:solidFill>
                <a:latin typeface="Fraunces"/>
                <a:ea typeface="Fraunces"/>
                <a:cs typeface="Fraunces"/>
              </a:rPr>
              <a:t>Green Goods OS</a:t>
            </a:r>
          </a:p>
        </p:txBody>
      </p:sp>
      <p:sp>
        <p:nvSpPr>
          <p:cNvPr id="3" name="">
            <a:extLst xmlns:a="http://schemas.openxmlformats.org/drawingml/2006/main">
              <a:ext uri="{FF2B5EF4-FFF2-40B4-BE49-F238E27FC236}">
                <a16:creationId xmlns:a16="http://schemas.microsoft.com/office/drawing/2014/main" id="{F1CE4FF5-DE47-432B-A338-55E09BD4B08F}"/>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07</a:t>
            </a:r>
          </a:p>
        </p:txBody>
      </p:sp>
      <p:sp>
        <p:nvSpPr>
          <p:cNvPr id="4" name="">
            <a:extLst xmlns:a="http://schemas.openxmlformats.org/drawingml/2006/main">
              <a:ext uri="{FF2B5EF4-FFF2-40B4-BE49-F238E27FC236}">
                <a16:creationId xmlns:a16="http://schemas.microsoft.com/office/drawing/2014/main" id="{EBBBA179-F98F-4940-B6A3-41C35BB5D3D5}"/>
              </a:ext>
            </a:extLst>
          </p:cNvPr>
          <p:cNvSpPr>
            <a:spLocks xmlns:a="http://schemas.openxmlformats.org/drawingml/2006/main" noGrp="1"/>
          </p:cNvSpPr>
          <p:nvPr/>
        </p:nvSpPr>
        <p:spPr>
          <a:xfrm xmlns:a="http://schemas.openxmlformats.org/drawingml/2006/main">
            <a:off x="609600" y="1905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92524"/>
                </a:solidFill>
                <a:latin typeface="Inter"/>
                <a:ea typeface="Inter"/>
                <a:cs typeface="Inter"/>
              </a:defRPr>
            </a:defPPr>
          </a:lstStyle>
          <a:p xmlns:a="http://schemas.openxmlformats.org/drawingml/2006/main">
            <a:pPr>
              <a:defRPr sz="2325" b="1">
                <a:solidFill>
                  <a:srgbClr val="292524"/>
                </a:solidFill>
                <a:latin typeface="Inter"/>
                <a:ea typeface="Inter"/>
                <a:cs typeface="Inter"/>
              </a:defRPr>
            </a:pPr>
            <a:r>
              <a:rPr sz="2325" b="1">
                <a:solidFill>
                  <a:srgbClr val="292524"/>
                </a:solidFill>
                <a:latin typeface="Inter"/>
                <a:ea typeface="Inter"/>
                <a:cs typeface="Inter"/>
              </a:rPr>
              <a:t>Less reconstruction</a:t>
            </a:r>
          </a:p>
        </p:txBody>
      </p:sp>
      <p:sp>
        <p:nvSpPr>
          <p:cNvPr id="5" name="">
            <a:extLst xmlns:a="http://schemas.openxmlformats.org/drawingml/2006/main">
              <a:ext uri="{FF2B5EF4-FFF2-40B4-BE49-F238E27FC236}">
                <a16:creationId xmlns:a16="http://schemas.microsoft.com/office/drawing/2014/main" id="{D47D64C8-83AE-46B5-A625-D945E39B2228}"/>
              </a:ext>
            </a:extLst>
          </p:cNvPr>
          <p:cNvSpPr>
            <a:spLocks xmlns:a="http://schemas.openxmlformats.org/drawingml/2006/main" noGrp="1"/>
          </p:cNvSpPr>
          <p:nvPr/>
        </p:nvSpPr>
        <p:spPr>
          <a:xfrm xmlns:a="http://schemas.openxmlformats.org/drawingml/2006/main">
            <a:off x="609600" y="2771775"/>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Find the note, reading and correction together.</a:t>
            </a:r>
          </a:p>
          <a:p xmlns:a="http://schemas.openxmlformats.org/drawingml/2006/main">
            <a:r>
              <a:t/>
            </a:r>
          </a:p>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Test total task time and repeated entry.</a:t>
            </a:r>
          </a:p>
        </p:txBody>
      </p:sp>
      <p:sp>
        <p:nvSpPr>
          <p:cNvPr id="6" name="">
            <a:extLst xmlns:a="http://schemas.openxmlformats.org/drawingml/2006/main">
              <a:ext uri="{FF2B5EF4-FFF2-40B4-BE49-F238E27FC236}">
                <a16:creationId xmlns:a16="http://schemas.microsoft.com/office/drawing/2014/main" id="{77FF850E-9EE9-46F8-94AC-361F3A990472}"/>
              </a:ext>
            </a:extLst>
          </p:cNvPr>
          <p:cNvSpPr>
            <a:spLocks xmlns:a="http://schemas.openxmlformats.org/drawingml/2006/main" noGrp="1"/>
          </p:cNvSpPr>
          <p:nvPr/>
        </p:nvSpPr>
        <p:spPr>
          <a:xfrm xmlns:a="http://schemas.openxmlformats.org/drawingml/2006/main">
            <a:off x="4343400" y="1905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92524"/>
                </a:solidFill>
                <a:latin typeface="Inter"/>
                <a:ea typeface="Inter"/>
                <a:cs typeface="Inter"/>
              </a:defRPr>
            </a:defPPr>
          </a:lstStyle>
          <a:p xmlns:a="http://schemas.openxmlformats.org/drawingml/2006/main">
            <a:pPr>
              <a:defRPr sz="2325" b="1">
                <a:solidFill>
                  <a:srgbClr val="292524"/>
                </a:solidFill>
                <a:latin typeface="Inter"/>
                <a:ea typeface="Inter"/>
                <a:cs typeface="Inter"/>
              </a:defRPr>
            </a:pPr>
            <a:r>
              <a:rPr sz="2325" b="1">
                <a:solidFill>
                  <a:srgbClr val="292524"/>
                </a:solidFill>
                <a:latin typeface="Inter"/>
                <a:ea typeface="Inter"/>
                <a:cs typeface="Inter"/>
              </a:rPr>
              <a:t>Better local decisions</a:t>
            </a:r>
          </a:p>
        </p:txBody>
      </p:sp>
      <p:sp>
        <p:nvSpPr>
          <p:cNvPr id="7" name="">
            <a:extLst xmlns:a="http://schemas.openxmlformats.org/drawingml/2006/main">
              <a:ext uri="{FF2B5EF4-FFF2-40B4-BE49-F238E27FC236}">
                <a16:creationId xmlns:a16="http://schemas.microsoft.com/office/drawing/2014/main" id="{4F761779-7B45-4567-ADA4-515933C08858}"/>
              </a:ext>
            </a:extLst>
          </p:cNvPr>
          <p:cNvSpPr>
            <a:spLocks xmlns:a="http://schemas.openxmlformats.org/drawingml/2006/main" noGrp="1"/>
          </p:cNvSpPr>
          <p:nvPr/>
        </p:nvSpPr>
        <p:spPr>
          <a:xfrm xmlns:a="http://schemas.openxmlformats.org/drawingml/2006/main">
            <a:off x="4343400" y="2771775"/>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See what is known, uncertain or missing.</a:t>
            </a:r>
          </a:p>
          <a:p xmlns:a="http://schemas.openxmlformats.org/drawingml/2006/main">
            <a:r>
              <a:t/>
            </a:r>
          </a:p>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Test justified choices and review effort.</a:t>
            </a:r>
          </a:p>
        </p:txBody>
      </p:sp>
      <p:sp>
        <p:nvSpPr>
          <p:cNvPr id="8" name="">
            <a:extLst xmlns:a="http://schemas.openxmlformats.org/drawingml/2006/main">
              <a:ext uri="{FF2B5EF4-FFF2-40B4-BE49-F238E27FC236}">
                <a16:creationId xmlns:a16="http://schemas.microsoft.com/office/drawing/2014/main" id="{50335838-FA27-441B-88D6-E57E08B6BF4E}"/>
              </a:ext>
            </a:extLst>
          </p:cNvPr>
          <p:cNvSpPr>
            <a:spLocks xmlns:a="http://schemas.openxmlformats.org/drawingml/2006/main" noGrp="1"/>
          </p:cNvSpPr>
          <p:nvPr/>
        </p:nvSpPr>
        <p:spPr>
          <a:xfrm xmlns:a="http://schemas.openxmlformats.org/drawingml/2006/main">
            <a:off x="8077200" y="1905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92524"/>
                </a:solidFill>
                <a:latin typeface="Inter"/>
                <a:ea typeface="Inter"/>
                <a:cs typeface="Inter"/>
              </a:defRPr>
            </a:defPPr>
          </a:lstStyle>
          <a:p xmlns:a="http://schemas.openxmlformats.org/drawingml/2006/main">
            <a:pPr>
              <a:defRPr sz="2325" b="1">
                <a:solidFill>
                  <a:srgbClr val="292524"/>
                </a:solidFill>
                <a:latin typeface="Inter"/>
                <a:ea typeface="Inter"/>
                <a:cs typeface="Inter"/>
              </a:defRPr>
            </a:pPr>
            <a:r>
              <a:rPr sz="2325" b="1">
                <a:solidFill>
                  <a:srgbClr val="292524"/>
                </a:solidFill>
                <a:latin typeface="Inter"/>
                <a:ea typeface="Inter"/>
                <a:cs typeface="Inter"/>
              </a:rPr>
              <a:t>Knowledge that lasts</a:t>
            </a:r>
          </a:p>
        </p:txBody>
      </p:sp>
      <p:sp>
        <p:nvSpPr>
          <p:cNvPr id="9" name="">
            <a:extLst xmlns:a="http://schemas.openxmlformats.org/drawingml/2006/main">
              <a:ext uri="{FF2B5EF4-FFF2-40B4-BE49-F238E27FC236}">
                <a16:creationId xmlns:a16="http://schemas.microsoft.com/office/drawing/2014/main" id="{8FD7358F-5977-4662-947A-12F11CE9BB15}"/>
              </a:ext>
            </a:extLst>
          </p:cNvPr>
          <p:cNvSpPr>
            <a:spLocks xmlns:a="http://schemas.openxmlformats.org/drawingml/2006/main" noGrp="1"/>
          </p:cNvSpPr>
          <p:nvPr/>
        </p:nvSpPr>
        <p:spPr>
          <a:xfrm xmlns:a="http://schemas.openxmlformats.org/drawingml/2006/main">
            <a:off x="8077200" y="2771775"/>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Hand experience to the next steward.</a:t>
            </a:r>
          </a:p>
          <a:p xmlns:a="http://schemas.openxmlformats.org/drawingml/2006/main">
            <a:r>
              <a:t/>
            </a:r>
          </a:p>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Test retrieval, recovery and reuse.</a:t>
            </a:r>
          </a:p>
        </p:txBody>
      </p:sp>
      <p:sp>
        <p:nvSpPr>
          <p:cNvPr id="10" name="">
            <a:extLst xmlns:a="http://schemas.openxmlformats.org/drawingml/2006/main">
              <a:ext uri="{FF2B5EF4-FFF2-40B4-BE49-F238E27FC236}">
                <a16:creationId xmlns:a16="http://schemas.microsoft.com/office/drawing/2014/main" id="{A78597A4-62B2-4F8C-97B6-00C65B1CE6CA}"/>
              </a:ext>
            </a:extLst>
          </p:cNvPr>
          <p:cNvSpPr>
            <a:spLocks xmlns:a="http://schemas.openxmlformats.org/drawingml/2006/main" noGrp="1"/>
          </p:cNvSpPr>
          <p:nvPr/>
        </p:nvSpPr>
        <p:spPr>
          <a:xfrm xmlns:a="http://schemas.openxmlformats.org/drawingml/2006/main">
            <a:off x="609600" y="55340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A7544"/>
                </a:solidFill>
                <a:latin typeface="Inter"/>
                <a:ea typeface="Inter"/>
                <a:cs typeface="Inter"/>
              </a:defRPr>
            </a:defPPr>
          </a:lstStyle>
          <a:p xmlns:a="http://schemas.openxmlformats.org/drawingml/2006/main">
            <a:pPr>
              <a:defRPr sz="2250" b="1">
                <a:solidFill>
                  <a:srgbClr val="1A7544"/>
                </a:solidFill>
                <a:latin typeface="Inter"/>
                <a:ea typeface="Inter"/>
                <a:cs typeface="Inter"/>
              </a:defRPr>
            </a:pPr>
            <a:r>
              <a:rPr sz="2250" b="1">
                <a:solidFill>
                  <a:srgbClr val="1A7544"/>
                </a:solidFill>
                <a:latin typeface="Inter"/>
                <a:ea typeface="Inter"/>
                <a:cs typeface="Inter"/>
              </a:rPr>
              <a:t>Communities control disclosure. Supporters receive a reviewed account.</a:t>
            </a:r>
          </a:p>
        </p:txBody>
      </p:sp>
    </p:spTree>
    <p:extLst>
      <p:ext uri="{BB962C8B-B14F-4D97-AF65-F5344CB8AC3E}">
        <p14:creationId xmlns:p14="http://schemas.microsoft.com/office/powerpoint/2010/main" val="1719055102"/>
      </p:ext>
    </p:extLst>
  </p:cSld>
</p:sld>
</file>

<file path=ppt/slides/slide8.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A43881E-23EF-4A8C-A9B0-2DECDDA9DC2D}"/>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Four principles that make the product worth using</a:t>
            </a:r>
          </a:p>
        </p:txBody>
      </p:sp>
      <p:sp>
        <p:nvSpPr>
          <p:cNvPr id="2" name="">
            <a:extLst xmlns:a="http://schemas.openxmlformats.org/drawingml/2006/main">
              <a:ext uri="{FF2B5EF4-FFF2-40B4-BE49-F238E27FC236}">
                <a16:creationId xmlns:a16="http://schemas.microsoft.com/office/drawing/2014/main" id="{4C56631B-B6D0-4D11-805F-43D40A0000D6}"/>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Fraunces"/>
                <a:ea typeface="Fraunces"/>
                <a:cs typeface="Fraunces"/>
              </a:defRPr>
            </a:defPPr>
          </a:lstStyle>
          <a:p xmlns:a="http://schemas.openxmlformats.org/drawingml/2006/main">
            <a:pPr>
              <a:defRPr sz="1200" b="0">
                <a:solidFill>
                  <a:srgbClr val="78716C"/>
                </a:solidFill>
                <a:latin typeface="Fraunces"/>
                <a:ea typeface="Fraunces"/>
                <a:cs typeface="Fraunces"/>
              </a:defRPr>
            </a:pPr>
            <a:r>
              <a:rPr sz="1200" b="0">
                <a:solidFill>
                  <a:srgbClr val="78716C"/>
                </a:solidFill>
                <a:latin typeface="Fraunces"/>
                <a:ea typeface="Fraunces"/>
                <a:cs typeface="Fraunces"/>
              </a:rPr>
              <a:t>Green Goods OS</a:t>
            </a:r>
          </a:p>
        </p:txBody>
      </p:sp>
      <p:sp>
        <p:nvSpPr>
          <p:cNvPr id="3" name="">
            <a:extLst xmlns:a="http://schemas.openxmlformats.org/drawingml/2006/main">
              <a:ext uri="{FF2B5EF4-FFF2-40B4-BE49-F238E27FC236}">
                <a16:creationId xmlns:a16="http://schemas.microsoft.com/office/drawing/2014/main" id="{F9A81605-B89A-4203-BCE2-5670700027B9}"/>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08</a:t>
            </a:r>
          </a:p>
        </p:txBody>
      </p:sp>
      <p:sp>
        <p:nvSpPr>
          <p:cNvPr id="4" name="">
            <a:extLst xmlns:a="http://schemas.openxmlformats.org/drawingml/2006/main">
              <a:ext uri="{FF2B5EF4-FFF2-40B4-BE49-F238E27FC236}">
                <a16:creationId xmlns:a16="http://schemas.microsoft.com/office/drawing/2014/main" id="{691BC0FF-680E-4EFE-84D0-152496FBF3D3}"/>
              </a:ext>
            </a:extLst>
          </p:cNvPr>
          <p:cNvSpPr>
            <a:spLocks xmlns:a="http://schemas.openxmlformats.org/drawingml/2006/main" noGrp="1"/>
          </p:cNvSpPr>
          <p:nvPr/>
        </p:nvSpPr>
        <p:spPr>
          <a:xfrm xmlns:a="http://schemas.openxmlformats.org/drawingml/2006/main">
            <a:off x="609600" y="18669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92524"/>
                </a:solidFill>
                <a:latin typeface="Inter"/>
                <a:ea typeface="Inter"/>
                <a:cs typeface="Inter"/>
              </a:defRPr>
            </a:defPPr>
          </a:lstStyle>
          <a:p xmlns:a="http://schemas.openxmlformats.org/drawingml/2006/main">
            <a:pPr>
              <a:defRPr sz="2550" b="1">
                <a:solidFill>
                  <a:srgbClr val="292524"/>
                </a:solidFill>
                <a:latin typeface="Inter"/>
                <a:ea typeface="Inter"/>
                <a:cs typeface="Inter"/>
              </a:defRPr>
            </a:pPr>
            <a:r>
              <a:rPr sz="2550" b="1">
                <a:solidFill>
                  <a:srgbClr val="292524"/>
                </a:solidFill>
                <a:latin typeface="Inter"/>
                <a:ea typeface="Inter"/>
                <a:cs typeface="Inter"/>
              </a:rPr>
              <a:t>Accessibility</a:t>
            </a:r>
          </a:p>
        </p:txBody>
      </p:sp>
      <p:sp>
        <p:nvSpPr>
          <p:cNvPr id="5" name="">
            <a:extLst xmlns:a="http://schemas.openxmlformats.org/drawingml/2006/main">
              <a:ext uri="{FF2B5EF4-FFF2-40B4-BE49-F238E27FC236}">
                <a16:creationId xmlns:a16="http://schemas.microsoft.com/office/drawing/2014/main" id="{8958E3EE-74E2-4EAF-9D8D-F580A70BE4AE}"/>
              </a:ext>
            </a:extLst>
          </p:cNvPr>
          <p:cNvSpPr>
            <a:spLocks xmlns:a="http://schemas.openxmlformats.org/drawingml/2006/main" noGrp="1"/>
          </p:cNvSpPr>
          <p:nvPr/>
        </p:nvSpPr>
        <p:spPr>
          <a:xfrm xmlns:a="http://schemas.openxmlformats.org/drawingml/2006/main">
            <a:off x="609600" y="2505075"/>
            <a:ext cx="4905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92524"/>
                </a:solidFill>
                <a:latin typeface="Inter"/>
                <a:ea typeface="Inter"/>
                <a:cs typeface="Inter"/>
              </a:defRPr>
            </a:defPPr>
          </a:lstStyle>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Use existing devices, work offline and participate without AI.</a:t>
            </a:r>
          </a:p>
        </p:txBody>
      </p:sp>
      <p:sp>
        <p:nvSpPr>
          <p:cNvPr id="6" name="">
            <a:extLst xmlns:a="http://schemas.openxmlformats.org/drawingml/2006/main">
              <a:ext uri="{FF2B5EF4-FFF2-40B4-BE49-F238E27FC236}">
                <a16:creationId xmlns:a16="http://schemas.microsoft.com/office/drawing/2014/main" id="{DB2C6E9C-432F-4BD7-BA89-9F81927C01A3}"/>
              </a:ext>
            </a:extLst>
          </p:cNvPr>
          <p:cNvSpPr>
            <a:spLocks xmlns:a="http://schemas.openxmlformats.org/drawingml/2006/main" noGrp="1"/>
          </p:cNvSpPr>
          <p:nvPr/>
        </p:nvSpPr>
        <p:spPr>
          <a:xfrm xmlns:a="http://schemas.openxmlformats.org/drawingml/2006/main">
            <a:off x="6515100" y="18669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92524"/>
                </a:solidFill>
                <a:latin typeface="Inter"/>
                <a:ea typeface="Inter"/>
                <a:cs typeface="Inter"/>
              </a:defRPr>
            </a:defPPr>
          </a:lstStyle>
          <a:p xmlns:a="http://schemas.openxmlformats.org/drawingml/2006/main">
            <a:pPr>
              <a:defRPr sz="2550" b="1">
                <a:solidFill>
                  <a:srgbClr val="292524"/>
                </a:solidFill>
                <a:latin typeface="Inter"/>
                <a:ea typeface="Inter"/>
                <a:cs typeface="Inter"/>
              </a:defRPr>
            </a:pPr>
            <a:r>
              <a:rPr sz="2550" b="1">
                <a:solidFill>
                  <a:srgbClr val="292524"/>
                </a:solidFill>
                <a:latin typeface="Inter"/>
                <a:ea typeface="Inter"/>
                <a:cs typeface="Inter"/>
              </a:rPr>
              <a:t>Sovereignty</a:t>
            </a:r>
          </a:p>
        </p:txBody>
      </p:sp>
      <p:sp>
        <p:nvSpPr>
          <p:cNvPr id="7" name="">
            <a:extLst xmlns:a="http://schemas.openxmlformats.org/drawingml/2006/main">
              <a:ext uri="{FF2B5EF4-FFF2-40B4-BE49-F238E27FC236}">
                <a16:creationId xmlns:a16="http://schemas.microsoft.com/office/drawing/2014/main" id="{013AA807-7E42-454E-A693-779FC571E013}"/>
              </a:ext>
            </a:extLst>
          </p:cNvPr>
          <p:cNvSpPr>
            <a:spLocks xmlns:a="http://schemas.openxmlformats.org/drawingml/2006/main" noGrp="1"/>
          </p:cNvSpPr>
          <p:nvPr/>
        </p:nvSpPr>
        <p:spPr>
          <a:xfrm xmlns:a="http://schemas.openxmlformats.org/drawingml/2006/main">
            <a:off x="6515100" y="2505075"/>
            <a:ext cx="4905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92524"/>
                </a:solidFill>
                <a:latin typeface="Inter"/>
                <a:ea typeface="Inter"/>
                <a:cs typeface="Inter"/>
              </a:defRPr>
            </a:defPPr>
          </a:lstStyle>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Choose audiences, recover records and leave with a useful export.</a:t>
            </a:r>
          </a:p>
        </p:txBody>
      </p:sp>
      <p:sp>
        <p:nvSpPr>
          <p:cNvPr id="8" name="">
            <a:extLst xmlns:a="http://schemas.openxmlformats.org/drawingml/2006/main">
              <a:ext uri="{FF2B5EF4-FFF2-40B4-BE49-F238E27FC236}">
                <a16:creationId xmlns:a16="http://schemas.microsoft.com/office/drawing/2014/main" id="{4A8ED567-B201-451D-8689-E77F8E4A72B6}"/>
              </a:ext>
            </a:extLst>
          </p:cNvPr>
          <p:cNvSpPr>
            <a:spLocks xmlns:a="http://schemas.openxmlformats.org/drawingml/2006/main" noGrp="1"/>
          </p:cNvSpPr>
          <p:nvPr/>
        </p:nvSpPr>
        <p:spPr>
          <a:xfrm xmlns:a="http://schemas.openxmlformats.org/drawingml/2006/main">
            <a:off x="609600" y="38481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92524"/>
                </a:solidFill>
                <a:latin typeface="Inter"/>
                <a:ea typeface="Inter"/>
                <a:cs typeface="Inter"/>
              </a:defRPr>
            </a:defPPr>
          </a:lstStyle>
          <a:p xmlns:a="http://schemas.openxmlformats.org/drawingml/2006/main">
            <a:pPr>
              <a:defRPr sz="2550" b="1">
                <a:solidFill>
                  <a:srgbClr val="292524"/>
                </a:solidFill>
                <a:latin typeface="Inter"/>
                <a:ea typeface="Inter"/>
                <a:cs typeface="Inter"/>
              </a:defRPr>
            </a:pPr>
            <a:r>
              <a:rPr sz="2550" b="1">
                <a:solidFill>
                  <a:srgbClr val="292524"/>
                </a:solidFill>
                <a:latin typeface="Inter"/>
                <a:ea typeface="Inter"/>
                <a:cs typeface="Inter"/>
              </a:rPr>
              <a:t>Trust</a:t>
            </a:r>
          </a:p>
        </p:txBody>
      </p:sp>
      <p:sp>
        <p:nvSpPr>
          <p:cNvPr id="9" name="">
            <a:extLst xmlns:a="http://schemas.openxmlformats.org/drawingml/2006/main">
              <a:ext uri="{FF2B5EF4-FFF2-40B4-BE49-F238E27FC236}">
                <a16:creationId xmlns:a16="http://schemas.microsoft.com/office/drawing/2014/main" id="{BF0F9644-DB42-4B8A-9F16-51E68DC4EE68}"/>
              </a:ext>
            </a:extLst>
          </p:cNvPr>
          <p:cNvSpPr>
            <a:spLocks xmlns:a="http://schemas.openxmlformats.org/drawingml/2006/main" noGrp="1"/>
          </p:cNvSpPr>
          <p:nvPr/>
        </p:nvSpPr>
        <p:spPr>
          <a:xfrm xmlns:a="http://schemas.openxmlformats.org/drawingml/2006/main">
            <a:off x="609600" y="4486275"/>
            <a:ext cx="4905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92524"/>
                </a:solidFill>
                <a:latin typeface="Inter"/>
                <a:ea typeface="Inter"/>
                <a:cs typeface="Inter"/>
              </a:defRPr>
            </a:defPPr>
          </a:lstStyle>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See sources, corrections, reviewers and understandable limits.</a:t>
            </a:r>
          </a:p>
        </p:txBody>
      </p:sp>
      <p:sp>
        <p:nvSpPr>
          <p:cNvPr id="10" name="">
            <a:extLst xmlns:a="http://schemas.openxmlformats.org/drawingml/2006/main">
              <a:ext uri="{FF2B5EF4-FFF2-40B4-BE49-F238E27FC236}">
                <a16:creationId xmlns:a16="http://schemas.microsoft.com/office/drawing/2014/main" id="{4E4AF8E2-7BB6-4544-9787-92E8DB532640}"/>
              </a:ext>
            </a:extLst>
          </p:cNvPr>
          <p:cNvSpPr>
            <a:spLocks xmlns:a="http://schemas.openxmlformats.org/drawingml/2006/main" noGrp="1"/>
          </p:cNvSpPr>
          <p:nvPr/>
        </p:nvSpPr>
        <p:spPr>
          <a:xfrm xmlns:a="http://schemas.openxmlformats.org/drawingml/2006/main">
            <a:off x="6515100" y="38481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92524"/>
                </a:solidFill>
                <a:latin typeface="Inter"/>
                <a:ea typeface="Inter"/>
                <a:cs typeface="Inter"/>
              </a:defRPr>
            </a:defPPr>
          </a:lstStyle>
          <a:p xmlns:a="http://schemas.openxmlformats.org/drawingml/2006/main">
            <a:pPr>
              <a:defRPr sz="2550" b="1">
                <a:solidFill>
                  <a:srgbClr val="292524"/>
                </a:solidFill>
                <a:latin typeface="Inter"/>
                <a:ea typeface="Inter"/>
                <a:cs typeface="Inter"/>
              </a:defRPr>
            </a:pPr>
            <a:r>
              <a:rPr sz="2550" b="1">
                <a:solidFill>
                  <a:srgbClr val="292524"/>
                </a:solidFill>
                <a:latin typeface="Inter"/>
                <a:ea typeface="Inter"/>
                <a:cs typeface="Inter"/>
              </a:rPr>
              <a:t>Reciprocity</a:t>
            </a:r>
          </a:p>
        </p:txBody>
      </p:sp>
      <p:sp>
        <p:nvSpPr>
          <p:cNvPr id="11" name="">
            <a:extLst xmlns:a="http://schemas.openxmlformats.org/drawingml/2006/main">
              <a:ext uri="{FF2B5EF4-FFF2-40B4-BE49-F238E27FC236}">
                <a16:creationId xmlns:a16="http://schemas.microsoft.com/office/drawing/2014/main" id="{5FA773DE-6D69-4D02-A211-F49FDBE47E90}"/>
              </a:ext>
            </a:extLst>
          </p:cNvPr>
          <p:cNvSpPr>
            <a:spLocks xmlns:a="http://schemas.openxmlformats.org/drawingml/2006/main" noGrp="1"/>
          </p:cNvSpPr>
          <p:nvPr/>
        </p:nvSpPr>
        <p:spPr>
          <a:xfrm xmlns:a="http://schemas.openxmlformats.org/drawingml/2006/main">
            <a:off x="6515100" y="4486275"/>
            <a:ext cx="4905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92524"/>
                </a:solidFill>
                <a:latin typeface="Inter"/>
                <a:ea typeface="Inter"/>
                <a:cs typeface="Inter"/>
              </a:defRPr>
            </a:defPPr>
          </a:lstStyle>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Receive useful knowledge, skills or support for what you contribute.</a:t>
            </a:r>
          </a:p>
        </p:txBody>
      </p:sp>
      <p:sp>
        <p:nvSpPr>
          <p:cNvPr id="12" name="">
            <a:extLst xmlns:a="http://schemas.openxmlformats.org/drawingml/2006/main">
              <a:ext uri="{FF2B5EF4-FFF2-40B4-BE49-F238E27FC236}">
                <a16:creationId xmlns:a16="http://schemas.microsoft.com/office/drawing/2014/main" id="{BDC5529F-E0BA-4B43-A08F-9F2F38EDB867}"/>
              </a:ext>
            </a:extLst>
          </p:cNvPr>
          <p:cNvSpPr>
            <a:spLocks xmlns:a="http://schemas.openxmlformats.org/drawingml/2006/main" noGrp="1"/>
          </p:cNvSpPr>
          <p:nvPr/>
        </p:nvSpPr>
        <p:spPr>
          <a:xfrm xmlns:a="http://schemas.openxmlformats.org/drawingml/2006/main">
            <a:off x="609600" y="57150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A7544"/>
                </a:solidFill>
                <a:latin typeface="Inter"/>
                <a:ea typeface="Inter"/>
                <a:cs typeface="Inter"/>
              </a:defRPr>
            </a:defPPr>
          </a:lstStyle>
          <a:p xmlns:a="http://schemas.openxmlformats.org/drawingml/2006/main">
            <a:pPr>
              <a:defRPr sz="2325" b="1">
                <a:solidFill>
                  <a:srgbClr val="1A7544"/>
                </a:solidFill>
                <a:latin typeface="Inter"/>
                <a:ea typeface="Inter"/>
                <a:cs typeface="Inter"/>
              </a:defRPr>
            </a:pPr>
            <a:r>
              <a:rPr sz="2325" b="1">
                <a:solidFill>
                  <a:srgbClr val="1A7544"/>
                </a:solidFill>
                <a:latin typeface="Inter"/>
                <a:ea typeface="Inter"/>
                <a:cs typeface="Inter"/>
              </a:rPr>
              <a:t>Privacy · Interoperability · Verifiability</a:t>
            </a:r>
          </a:p>
        </p:txBody>
      </p:sp>
    </p:spTree>
    <p:extLst>
      <p:ext uri="{BB962C8B-B14F-4D97-AF65-F5344CB8AC3E}">
        <p14:creationId xmlns:p14="http://schemas.microsoft.com/office/powerpoint/2010/main" val="1078426534"/>
      </p:ext>
    </p:extLst>
  </p:cSld>
</p:sld>
</file>

<file path=ppt/slides/slide9.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3C0D7D-C25F-492B-94F4-FEF10F814D91}"/>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A lesson should help the place it came from, too</a:t>
            </a:r>
          </a:p>
        </p:txBody>
      </p:sp>
      <p:sp>
        <p:nvSpPr>
          <p:cNvPr id="2" name="">
            <a:extLst xmlns:a="http://schemas.openxmlformats.org/drawingml/2006/main">
              <a:ext uri="{FF2B5EF4-FFF2-40B4-BE49-F238E27FC236}">
                <a16:creationId xmlns:a16="http://schemas.microsoft.com/office/drawing/2014/main" id="{3DE63367-BED5-439F-93AC-9253816CE6D3}"/>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Reciprocal network hypothesis · Measure useful exchanges and benefits in both directions</a:t>
            </a:r>
          </a:p>
        </p:txBody>
      </p:sp>
      <p:sp>
        <p:nvSpPr>
          <p:cNvPr id="3" name="">
            <a:extLst xmlns:a="http://schemas.openxmlformats.org/drawingml/2006/main">
              <a:ext uri="{FF2B5EF4-FFF2-40B4-BE49-F238E27FC236}">
                <a16:creationId xmlns:a16="http://schemas.microsoft.com/office/drawing/2014/main" id="{4ACE4362-FE34-44A5-AF52-197FF906BFBF}"/>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09</a:t>
            </a:r>
          </a:p>
        </p:txBody>
      </p:sp>
      <p:sp>
        <p:nvSpPr>
          <p:cNvPr id="4" name="">
            <a:extLst xmlns:a="http://schemas.openxmlformats.org/drawingml/2006/main">
              <a:ext uri="{FF2B5EF4-FFF2-40B4-BE49-F238E27FC236}">
                <a16:creationId xmlns:a16="http://schemas.microsoft.com/office/drawing/2014/main" id="{5E8DD9FB-2D70-41FC-B020-959BCC993B8B}"/>
              </a:ext>
            </a:extLst>
          </p:cNvPr>
          <p:cNvSpPr>
            <a:spLocks xmlns:a="http://schemas.openxmlformats.org/drawingml/2006/main" noGrp="1"/>
          </p:cNvSpPr>
          <p:nvPr/>
        </p:nvSpPr>
        <p:spPr>
          <a:xfrm xmlns:a="http://schemas.openxmlformats.org/drawingml/2006/main">
            <a:off x="609600" y="1962150"/>
            <a:ext cx="5257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A7544"/>
                </a:solidFill>
                <a:latin typeface="Inter"/>
                <a:ea typeface="Inter"/>
                <a:cs typeface="Inter"/>
              </a:defRPr>
            </a:defPPr>
          </a:lstStyle>
          <a:p xmlns:a="http://schemas.openxmlformats.org/drawingml/2006/main">
            <a:pPr>
              <a:defRPr sz="2625" b="1">
                <a:solidFill>
                  <a:srgbClr val="1A7544"/>
                </a:solidFill>
                <a:latin typeface="Inter"/>
                <a:ea typeface="Inter"/>
                <a:cs typeface="Inter"/>
              </a:defRPr>
            </a:pPr>
            <a:r>
              <a:rPr sz="2625" b="1">
                <a:solidFill>
                  <a:srgbClr val="1A7544"/>
                </a:solidFill>
                <a:latin typeface="Inter"/>
                <a:ea typeface="Inter"/>
                <a:cs typeface="Inter"/>
              </a:rPr>
              <a:t>Well-resourced stewards</a:t>
            </a:r>
          </a:p>
        </p:txBody>
      </p:sp>
      <p:sp>
        <p:nvSpPr>
          <p:cNvPr id="5" name="">
            <a:extLst xmlns:a="http://schemas.openxmlformats.org/drawingml/2006/main">
              <a:ext uri="{FF2B5EF4-FFF2-40B4-BE49-F238E27FC236}">
                <a16:creationId xmlns:a16="http://schemas.microsoft.com/office/drawing/2014/main" id="{EC1B75EF-F2FD-4993-94BD-F80B02F4F83F}"/>
              </a:ext>
            </a:extLst>
          </p:cNvPr>
          <p:cNvSpPr>
            <a:spLocks xmlns:a="http://schemas.openxmlformats.org/drawingml/2006/main" noGrp="1"/>
          </p:cNvSpPr>
          <p:nvPr/>
        </p:nvSpPr>
        <p:spPr>
          <a:xfrm xmlns:a="http://schemas.openxmlformats.org/drawingml/2006/main">
            <a:off x="609600" y="3181350"/>
            <a:ext cx="5143500" cy="1990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92524"/>
                </a:solidFill>
                <a:latin typeface="Inter"/>
                <a:ea typeface="Inter"/>
                <a:cs typeface="Inter"/>
              </a:defRPr>
            </a:defPPr>
          </a:lstStyle>
          <a:p xmlns:a="http://schemas.openxmlformats.org/drawingml/2006/main">
            <a:pPr>
              <a:defRPr sz="2400" b="0">
                <a:solidFill>
                  <a:srgbClr val="292524"/>
                </a:solidFill>
                <a:latin typeface="Inter"/>
                <a:ea typeface="Inter"/>
                <a:cs typeface="Inter"/>
              </a:defRPr>
            </a:pPr>
            <a:r>
              <a:rPr sz="2400" b="0">
                <a:solidFill>
                  <a:srgbClr val="292524"/>
                </a:solidFill>
                <a:latin typeface="Inter"/>
                <a:ea typeface="Inter"/>
                <a:cs typeface="Inter"/>
              </a:rPr>
              <a:t>Contribute resources and expertise.</a:t>
            </a:r>
          </a:p>
          <a:p xmlns:a="http://schemas.openxmlformats.org/drawingml/2006/main">
            <a:pPr>
              <a:defRPr sz="2400" b="0">
                <a:solidFill>
                  <a:srgbClr val="292524"/>
                </a:solidFill>
                <a:latin typeface="Inter"/>
                <a:ea typeface="Inter"/>
                <a:cs typeface="Inter"/>
              </a:defRPr>
            </a:pPr>
            <a:r>
              <a:rPr sz="2400" b="0">
                <a:solidFill>
                  <a:srgbClr val="292524"/>
                </a:solidFill>
                <a:latin typeface="Inter"/>
                <a:ea typeface="Inter"/>
                <a:cs typeface="Inter"/>
              </a:rPr>
              <a:t>Learn from practices in other places.</a:t>
            </a:r>
          </a:p>
        </p:txBody>
      </p:sp>
      <p:sp>
        <p:nvSpPr>
          <p:cNvPr id="6" name="">
            <a:extLst xmlns:a="http://schemas.openxmlformats.org/drawingml/2006/main">
              <a:ext uri="{FF2B5EF4-FFF2-40B4-BE49-F238E27FC236}">
                <a16:creationId xmlns:a16="http://schemas.microsoft.com/office/drawing/2014/main" id="{34CAC49B-97A4-435D-A898-EAF7D525E31B}"/>
              </a:ext>
            </a:extLst>
          </p:cNvPr>
          <p:cNvSpPr>
            <a:spLocks xmlns:a="http://schemas.openxmlformats.org/drawingml/2006/main" noGrp="1"/>
          </p:cNvSpPr>
          <p:nvPr/>
        </p:nvSpPr>
        <p:spPr>
          <a:xfrm xmlns:a="http://schemas.openxmlformats.org/drawingml/2006/main">
            <a:off x="6743700" y="1962150"/>
            <a:ext cx="4819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A7544"/>
                </a:solidFill>
                <a:latin typeface="Inter"/>
                <a:ea typeface="Inter"/>
                <a:cs typeface="Inter"/>
              </a:defRPr>
            </a:defPPr>
          </a:lstStyle>
          <a:p xmlns:a="http://schemas.openxmlformats.org/drawingml/2006/main">
            <a:pPr>
              <a:defRPr sz="2625" b="1">
                <a:solidFill>
                  <a:srgbClr val="1A7544"/>
                </a:solidFill>
                <a:latin typeface="Inter"/>
                <a:ea typeface="Inter"/>
                <a:cs typeface="Inter"/>
              </a:defRPr>
            </a:pPr>
            <a:r>
              <a:rPr sz="2625" b="1">
                <a:solidFill>
                  <a:srgbClr val="1A7544"/>
                </a:solidFill>
                <a:latin typeface="Inter"/>
                <a:ea typeface="Inter"/>
                <a:cs typeface="Inter"/>
              </a:rPr>
              <a:t>Communities with</a:t>
            </a:r>
          </a:p>
          <a:p xmlns:a="http://schemas.openxmlformats.org/drawingml/2006/main">
            <a:pPr>
              <a:defRPr sz="2625" b="1">
                <a:solidFill>
                  <a:srgbClr val="1A7544"/>
                </a:solidFill>
                <a:latin typeface="Inter"/>
                <a:ea typeface="Inter"/>
                <a:cs typeface="Inter"/>
              </a:defRPr>
            </a:pPr>
            <a:r>
              <a:rPr sz="2625" b="1">
                <a:solidFill>
                  <a:srgbClr val="1A7544"/>
                </a:solidFill>
                <a:latin typeface="Inter"/>
                <a:ea typeface="Inter"/>
                <a:cs typeface="Inter"/>
              </a:rPr>
              <a:t>fewer resources</a:t>
            </a:r>
          </a:p>
        </p:txBody>
      </p:sp>
      <p:sp>
        <p:nvSpPr>
          <p:cNvPr id="7" name="">
            <a:extLst xmlns:a="http://schemas.openxmlformats.org/drawingml/2006/main">
              <a:ext uri="{FF2B5EF4-FFF2-40B4-BE49-F238E27FC236}">
                <a16:creationId xmlns:a16="http://schemas.microsoft.com/office/drawing/2014/main" id="{859695A3-F1DB-4DCE-B603-9D2A874B1DB0}"/>
              </a:ext>
            </a:extLst>
          </p:cNvPr>
          <p:cNvSpPr>
            <a:spLocks xmlns:a="http://schemas.openxmlformats.org/drawingml/2006/main" noGrp="1"/>
          </p:cNvSpPr>
          <p:nvPr/>
        </p:nvSpPr>
        <p:spPr>
          <a:xfrm xmlns:a="http://schemas.openxmlformats.org/drawingml/2006/main">
            <a:off x="6743700" y="3181350"/>
            <a:ext cx="4819650" cy="1990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92524"/>
                </a:solidFill>
                <a:latin typeface="Inter"/>
                <a:ea typeface="Inter"/>
                <a:cs typeface="Inter"/>
              </a:defRPr>
            </a:defPPr>
          </a:lstStyle>
          <a:p xmlns:a="http://schemas.openxmlformats.org/drawingml/2006/main">
            <a:pPr>
              <a:defRPr sz="2400" b="0">
                <a:solidFill>
                  <a:srgbClr val="292524"/>
                </a:solidFill>
                <a:latin typeface="Inter"/>
                <a:ea typeface="Inter"/>
                <a:cs typeface="Inter"/>
              </a:defRPr>
            </a:pPr>
            <a:r>
              <a:rPr sz="2400" b="0">
                <a:solidFill>
                  <a:srgbClr val="292524"/>
                </a:solidFill>
                <a:latin typeface="Inter"/>
                <a:ea typeface="Inter"/>
                <a:cs typeface="Inter"/>
              </a:rPr>
              <a:t>Contribute chosen local knowledge.</a:t>
            </a:r>
          </a:p>
          <a:p xmlns:a="http://schemas.openxmlformats.org/drawingml/2006/main">
            <a:pPr>
              <a:defRPr sz="2400" b="0">
                <a:solidFill>
                  <a:srgbClr val="292524"/>
                </a:solidFill>
                <a:latin typeface="Inter"/>
                <a:ea typeface="Inter"/>
                <a:cs typeface="Inter"/>
              </a:defRPr>
            </a:pPr>
            <a:r>
              <a:rPr sz="2400" b="0">
                <a:solidFill>
                  <a:srgbClr val="292524"/>
                </a:solidFill>
                <a:latin typeface="Inter"/>
                <a:ea typeface="Inter"/>
                <a:cs typeface="Inter"/>
              </a:rPr>
              <a:t>Receive feedback, skills and support.</a:t>
            </a:r>
          </a:p>
        </p:txBody>
      </p:sp>
      <p:sp>
        <p:nvSpPr>
          <p:cNvPr id="8" name="">
            <a:extLst xmlns:a="http://schemas.openxmlformats.org/drawingml/2006/main">
              <a:ext uri="{FF2B5EF4-FFF2-40B4-BE49-F238E27FC236}">
                <a16:creationId xmlns:a16="http://schemas.microsoft.com/office/drawing/2014/main" id="{7C13FB04-1B23-4CBE-AC1D-829E92BD06D1}"/>
              </a:ext>
            </a:extLst>
          </p:cNvPr>
          <p:cNvSpPr>
            <a:spLocks xmlns:a="http://schemas.openxmlformats.org/drawingml/2006/main" noGrp="1"/>
          </p:cNvSpPr>
          <p:nvPr/>
        </p:nvSpPr>
        <p:spPr>
          <a:xfrm xmlns:a="http://schemas.openxmlformats.org/drawingml/2006/main">
            <a:off x="609600" y="56292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92524"/>
                </a:solidFill>
                <a:latin typeface="Inter"/>
                <a:ea typeface="Inter"/>
                <a:cs typeface="Inter"/>
              </a:defRPr>
            </a:defPPr>
          </a:lstStyle>
          <a:p xmlns:a="http://schemas.openxmlformats.org/drawingml/2006/main">
            <a:pPr>
              <a:defRPr sz="2325" b="1">
                <a:solidFill>
                  <a:srgbClr val="292524"/>
                </a:solidFill>
                <a:latin typeface="Inter"/>
                <a:ea typeface="Inter"/>
                <a:cs typeface="Inter"/>
              </a:defRPr>
            </a:pPr>
            <a:r>
              <a:rPr sz="2325" b="1">
                <a:solidFill>
                  <a:srgbClr val="292524"/>
                </a:solidFill>
                <a:latin typeface="Inter"/>
                <a:ea typeface="Inter"/>
                <a:cs typeface="Inter"/>
              </a:rPr>
              <a:t>Context · Attribution · Consent · Differences in practice</a:t>
            </a:r>
          </a:p>
        </p:txBody>
      </p:sp>
    </p:spTree>
    <p:extLst>
      <p:ext uri="{BB962C8B-B14F-4D97-AF65-F5344CB8AC3E}">
        <p14:creationId xmlns:p14="http://schemas.microsoft.com/office/powerpoint/2010/main" val="603778059"/>
      </p:ext>
    </p:extLst>
  </p:cSld>
</p:sld>
</file>

<file path=ppt/slides/slide10.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F32CC1-FB29-4142-AC01-A2A45A428B02}"/>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One product core, four customer settings</a:t>
            </a:r>
          </a:p>
        </p:txBody>
      </p:sp>
      <p:sp>
        <p:nvSpPr>
          <p:cNvPr id="2" name="">
            <a:extLst xmlns:a="http://schemas.openxmlformats.org/drawingml/2006/main">
              <a:ext uri="{FF2B5EF4-FFF2-40B4-BE49-F238E27FC236}">
                <a16:creationId xmlns:a16="http://schemas.microsoft.com/office/drawing/2014/main" id="{7122BF52-1460-4E70-AE56-D515AB74E151}"/>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FAO 2021 estimated ~608m farms worldwide · Global context, not the paying market</a:t>
            </a:r>
          </a:p>
        </p:txBody>
      </p:sp>
      <p:sp>
        <p:nvSpPr>
          <p:cNvPr id="3" name="">
            <a:extLst xmlns:a="http://schemas.openxmlformats.org/drawingml/2006/main">
              <a:ext uri="{FF2B5EF4-FFF2-40B4-BE49-F238E27FC236}">
                <a16:creationId xmlns:a16="http://schemas.microsoft.com/office/drawing/2014/main" id="{B40EDEF5-5892-494A-9F5E-284CC1360E6F}"/>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10</a:t>
            </a:r>
          </a:p>
        </p:txBody>
      </p:sp>
      <p:graphicFrame>
        <p:nvGraphicFramePr>
          <p:cNvPr id="4" name="">
            <a:extLst xmlns:a="http://schemas.openxmlformats.org/drawingml/2006/main">
              <a:ext uri="{FF2B5EF4-FFF2-40B4-BE49-F238E27FC236}">
                <a16:creationId xmlns:a16="http://schemas.microsoft.com/office/drawing/2014/main" id="{0B8A49EF-C0C9-4FF6-9261-F60A6779FCF5}"/>
              </a:ext>
            </a:extLst>
          </p:cNvPr>
          <p:cNvGraphicFramePr/>
          <p:nvPr/>
        </p:nvGraphicFramePr>
        <p:xfrm>
          <a:off xmlns:a="http://schemas.openxmlformats.org/drawingml/2006/main" x="609600" y="1790700"/>
          <a:ext xmlns:a="http://schemas.openxmlformats.org/drawingml/2006/main" cx="10972800" cy="3952875"/>
        </p:xfrm>
        <a:graphic xmlns:a="http://schemas.openxmlformats.org/drawingml/2006/main">
          <a:graphicData uri="http://schemas.openxmlformats.org/drawingml/2006/table">
            <a:tbl>
              <a:tblPr/>
              <a:tblGrid>
                <a:gridCol w="3857625"/>
                <a:gridCol w="4600575"/>
                <a:gridCol w="2514600"/>
              </a:tblGrid>
              <a:tr h="790575">
                <a:tc>
                  <a:txBody>
                    <a:bodyPr wrap="square" lIns="152400" tIns="95250" rIns="152400" bIns="95250">
                      <a:noAutofit/>
                    </a:bodyPr>
                    <a:lstStyle/>
                    <a:p>
                      <a:r>
                        <a:rPr sz="1875" b="1">
                          <a:solidFill>
                            <a:srgbClr val="1A7544"/>
                          </a:solidFill>
                          <a:latin typeface="Inter"/>
                          <a:ea typeface="Inter"/>
                          <a:cs typeface="Inter"/>
                        </a:rPr>
                        <a:t>Setting</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75" b="1">
                          <a:solidFill>
                            <a:srgbClr val="1A7544"/>
                          </a:solidFill>
                          <a:latin typeface="Inter"/>
                          <a:ea typeface="Inter"/>
                          <a:cs typeface="Inter"/>
                        </a:rPr>
                        <a:t>Need to serve</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75" b="1">
                          <a:solidFill>
                            <a:srgbClr val="1A7544"/>
                          </a:solidFill>
                          <a:latin typeface="Inter"/>
                          <a:ea typeface="Inter"/>
                          <a:cs typeface="Inter"/>
                        </a:rPr>
                        <a:t>Sequence</a:t>
                      </a:r>
                    </a:p>
                  </a:txBody>
                  <a:tcPr marL="91440" marR="91440" marT="45720" marB="45720" anchor="ctr">
                    <a:lnB w="6350">
                      <a:solidFill>
                        <a:srgbClr val="78716C"/>
                      </a:solidFill>
                    </a:lnB>
                    <a:lnT w="6350">
                      <a:noFill/>
                    </a:lnT>
                    <a:lnR w="6350">
                      <a:noFill/>
                    </a:lnR>
                    <a:lnL w="6350">
                      <a:noFill/>
                    </a:lnL>
                    <a:solidFill>
                      <a:srgbClr val="FAF8F5"/>
                    </a:solidFill>
                  </a:tcPr>
                </a:tc>
              </a:tr>
              <a:tr h="790575">
                <a:tc>
                  <a:txBody>
                    <a:bodyPr wrap="square" lIns="152400" tIns="95250" rIns="152400" bIns="95250">
                      <a:noAutofit/>
                    </a:bodyPr>
                    <a:lstStyle/>
                    <a:p>
                      <a:r>
                        <a:rPr sz="1875" b="0">
                          <a:solidFill>
                            <a:srgbClr val="292524"/>
                          </a:solidFill>
                          <a:latin typeface="Inter"/>
                          <a:ea typeface="Inter"/>
                          <a:cs typeface="Inter"/>
                        </a:rPr>
                        <a:t>Mid-sized farmer in transition</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Useful records with a trusted adviser</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First user</a:t>
                      </a:r>
                    </a:p>
                  </a:txBody>
                  <a:tcPr marL="91440" marR="91440" marT="45720" marB="45720" anchor="ctr">
                    <a:lnB w="6350">
                      <a:solidFill>
                        <a:srgbClr val="E7E5E4"/>
                      </a:solidFill>
                    </a:lnB>
                    <a:lnT w="6350">
                      <a:noFill/>
                    </a:lnT>
                    <a:lnR w="6350">
                      <a:noFill/>
                    </a:lnR>
                    <a:lnL w="6350">
                      <a:noFill/>
                    </a:lnL>
                    <a:solidFill>
                      <a:srgbClr val="FAF8F5"/>
                    </a:solidFill>
                  </a:tcPr>
                </a:tc>
              </a:tr>
              <a:tr h="790575">
                <a:tc>
                  <a:txBody>
                    <a:bodyPr wrap="square" lIns="152400" tIns="95250" rIns="152400" bIns="95250">
                      <a:noAutofit/>
                    </a:bodyPr>
                    <a:lstStyle/>
                    <a:p>
                      <a:r>
                        <a:rPr sz="1875" b="0">
                          <a:solidFill>
                            <a:srgbClr val="292524"/>
                          </a:solidFill>
                          <a:latin typeface="Inter"/>
                          <a:ea typeface="Inter"/>
                          <a:cs typeface="Inter"/>
                        </a:rPr>
                        <a:t>Small regenerative farmer</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Low effort, low cost, practical peer learning</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Next cohort</a:t>
                      </a:r>
                    </a:p>
                  </a:txBody>
                  <a:tcPr marL="91440" marR="91440" marT="45720" marB="45720" anchor="ctr">
                    <a:lnB w="6350">
                      <a:solidFill>
                        <a:srgbClr val="E7E5E4"/>
                      </a:solidFill>
                    </a:lnB>
                    <a:lnT w="6350">
                      <a:noFill/>
                    </a:lnT>
                    <a:lnR w="6350">
                      <a:noFill/>
                    </a:lnR>
                    <a:lnL w="6350">
                      <a:noFill/>
                    </a:lnL>
                    <a:solidFill>
                      <a:srgbClr val="FAF8F5"/>
                    </a:solidFill>
                  </a:tcPr>
                </a:tc>
              </a:tr>
              <a:tr h="790575">
                <a:tc>
                  <a:txBody>
                    <a:bodyPr wrap="square" lIns="152400" tIns="95250" rIns="152400" bIns="95250">
                      <a:noAutofit/>
                    </a:bodyPr>
                    <a:lstStyle/>
                    <a:p>
                      <a:r>
                        <a:rPr sz="1875" b="0">
                          <a:solidFill>
                            <a:srgbClr val="292524"/>
                          </a:solidFill>
                          <a:latin typeface="Inter"/>
                          <a:ea typeface="Inter"/>
                          <a:cs typeface="Inter"/>
                        </a:rPr>
                        <a:t>Global South land community</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Local language, authority and offline access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Co-designed expansion</a:t>
                      </a:r>
                    </a:p>
                  </a:txBody>
                  <a:tcPr marL="91440" marR="91440" marT="45720" marB="45720" anchor="ctr">
                    <a:lnB w="6350">
                      <a:solidFill>
                        <a:srgbClr val="E7E5E4"/>
                      </a:solidFill>
                    </a:lnB>
                    <a:lnT w="6350">
                      <a:noFill/>
                    </a:lnT>
                    <a:lnR w="6350">
                      <a:noFill/>
                    </a:lnR>
                    <a:lnL w="6350">
                      <a:noFill/>
                    </a:lnL>
                    <a:solidFill>
                      <a:srgbClr val="FAF8F5"/>
                    </a:solidFill>
                  </a:tcPr>
                </a:tc>
              </a:tr>
              <a:tr h="790575">
                <a:tc>
                  <a:txBody>
                    <a:bodyPr wrap="square" lIns="152400" tIns="95250" rIns="152400" bIns="95250">
                      <a:noAutofit/>
                    </a:bodyPr>
                    <a:lstStyle/>
                    <a:p>
                      <a:r>
                        <a:rPr sz="1875" b="0">
                          <a:solidFill>
                            <a:srgbClr val="292524"/>
                          </a:solidFill>
                          <a:latin typeface="Inter"/>
                          <a:ea typeface="Inter"/>
                          <a:cs typeface="Inter"/>
                        </a:rPr>
                        <a:t>Well-resourced steward</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Reliable service and contextual expertise</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Buyer / exchange participant</a:t>
                      </a:r>
                    </a:p>
                  </a:txBody>
                  <a:tcPr marL="91440" marR="91440" marT="45720" marB="45720" anchor="ctr">
                    <a:lnB w="6350">
                      <a:solidFill>
                        <a:srgbClr val="E7E5E4"/>
                      </a:solidFill>
                    </a:lnB>
                    <a:lnT w="6350">
                      <a:noFill/>
                    </a:lnT>
                    <a:lnR w="6350">
                      <a:noFill/>
                    </a:lnR>
                    <a:lnL w="6350">
                      <a:noFill/>
                    </a:lnL>
                    <a:solidFill>
                      <a:srgbClr val="FAF8F5"/>
                    </a:solidFill>
                  </a:tcPr>
                </a:tc>
              </a:tr>
            </a:tbl>
          </a:graphicData>
        </a:graphic>
      </p:graphicFrame>
    </p:spTree>
    <p:extLst>
      <p:ext uri="{BB962C8B-B14F-4D97-AF65-F5344CB8AC3E}">
        <p14:creationId xmlns:p14="http://schemas.microsoft.com/office/powerpoint/2010/main" val="1601363320"/>
      </p:ext>
    </p:extLst>
  </p:cSld>
</p:sld>
</file>

<file path=ppt/slides/slide1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018E46E-7C58-42A7-A98E-EB3134EBE27F}"/>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A measurable first market for supported programs</a:t>
            </a:r>
          </a:p>
        </p:txBody>
      </p:sp>
      <p:sp>
        <p:nvSpPr>
          <p:cNvPr id="2" name="">
            <a:extLst xmlns:a="http://schemas.openxmlformats.org/drawingml/2006/main">
              <a:ext uri="{FF2B5EF4-FFF2-40B4-BE49-F238E27FC236}">
                <a16:creationId xmlns:a16="http://schemas.microsoft.com/office/drawing/2014/main" id="{AF9CAD70-383F-4BAB-9993-62AFA4A4B7B5}"/>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Illustrative annual service model · Price, fit and adoption unvalidated · Full arithmetic in market-sizing.md</a:t>
            </a:r>
          </a:p>
        </p:txBody>
      </p:sp>
      <p:sp>
        <p:nvSpPr>
          <p:cNvPr id="3" name="">
            <a:extLst xmlns:a="http://schemas.openxmlformats.org/drawingml/2006/main">
              <a:ext uri="{FF2B5EF4-FFF2-40B4-BE49-F238E27FC236}">
                <a16:creationId xmlns:a16="http://schemas.microsoft.com/office/drawing/2014/main" id="{8539C7A0-D545-4726-97DB-70E31025E67E}"/>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11</a:t>
            </a:r>
          </a:p>
        </p:txBody>
      </p:sp>
      <p:sp>
        <p:nvSpPr>
          <p:cNvPr id="4" name="">
            <a:extLst xmlns:a="http://schemas.openxmlformats.org/drawingml/2006/main">
              <a:ext uri="{FF2B5EF4-FFF2-40B4-BE49-F238E27FC236}">
                <a16:creationId xmlns:a16="http://schemas.microsoft.com/office/drawing/2014/main" id="{EF4DE161-87A4-4A2B-A138-1B03D6650CF8}"/>
              </a:ext>
            </a:extLst>
          </p:cNvPr>
          <p:cNvSpPr>
            <a:spLocks xmlns:a="http://schemas.openxmlformats.org/drawingml/2006/main" noGrp="1"/>
          </p:cNvSpPr>
          <p:nvPr/>
        </p:nvSpPr>
        <p:spPr>
          <a:xfrm xmlns:a="http://schemas.openxmlformats.org/drawingml/2006/main">
            <a:off x="609600" y="1809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92524"/>
                </a:solidFill>
                <a:latin typeface="Inter"/>
                <a:ea typeface="Inter"/>
                <a:cs typeface="Inter"/>
              </a:defRPr>
            </a:defPPr>
          </a:lstStyle>
          <a:p xmlns:a="http://schemas.openxmlformats.org/drawingml/2006/main">
            <a:pPr>
              <a:defRPr sz="2175" b="1">
                <a:solidFill>
                  <a:srgbClr val="292524"/>
                </a:solidFill>
                <a:latin typeface="Inter"/>
                <a:ea typeface="Inter"/>
                <a:cs typeface="Inter"/>
              </a:defRPr>
            </a:pPr>
            <a:r>
              <a:rPr sz="2175" b="1">
                <a:solidFill>
                  <a:srgbClr val="292524"/>
                </a:solidFill>
                <a:latin typeface="Inter"/>
                <a:ea typeface="Inter"/>
                <a:cs typeface="Inter"/>
              </a:rPr>
              <a:t>Channel ceiling</a:t>
            </a:r>
          </a:p>
        </p:txBody>
      </p:sp>
      <p:sp>
        <p:nvSpPr>
          <p:cNvPr id="5" name="">
            <a:extLst xmlns:a="http://schemas.openxmlformats.org/drawingml/2006/main">
              <a:ext uri="{FF2B5EF4-FFF2-40B4-BE49-F238E27FC236}">
                <a16:creationId xmlns:a16="http://schemas.microsoft.com/office/drawing/2014/main" id="{15FC2FB7-7BA7-4658-A501-2A88E201FE73}"/>
              </a:ext>
            </a:extLst>
          </p:cNvPr>
          <p:cNvSpPr>
            <a:spLocks xmlns:a="http://schemas.openxmlformats.org/drawingml/2006/main" noGrp="1"/>
          </p:cNvSpPr>
          <p:nvPr/>
        </p:nvSpPr>
        <p:spPr>
          <a:xfrm xmlns:a="http://schemas.openxmlformats.org/drawingml/2006/main">
            <a:off x="609600" y="248602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~3,000 U.S. districts</a:t>
            </a:r>
          </a:p>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 $3k–$9k per year</a:t>
            </a:r>
          </a:p>
        </p:txBody>
      </p:sp>
      <p:sp>
        <p:nvSpPr>
          <p:cNvPr id="6" name="">
            <a:extLst xmlns:a="http://schemas.openxmlformats.org/drawingml/2006/main">
              <a:ext uri="{FF2B5EF4-FFF2-40B4-BE49-F238E27FC236}">
                <a16:creationId xmlns:a16="http://schemas.microsoft.com/office/drawing/2014/main" id="{837E7303-B5FC-4DB1-B720-B016E7FF80AC}"/>
              </a:ext>
            </a:extLst>
          </p:cNvPr>
          <p:cNvSpPr>
            <a:spLocks xmlns:a="http://schemas.openxmlformats.org/drawingml/2006/main" noGrp="1"/>
          </p:cNvSpPr>
          <p:nvPr/>
        </p:nvSpPr>
        <p:spPr>
          <a:xfrm xmlns:a="http://schemas.openxmlformats.org/drawingml/2006/main">
            <a:off x="4343400" y="1809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92524"/>
                </a:solidFill>
                <a:latin typeface="Inter"/>
                <a:ea typeface="Inter"/>
                <a:cs typeface="Inter"/>
              </a:defRPr>
            </a:defPPr>
          </a:lstStyle>
          <a:p xmlns:a="http://schemas.openxmlformats.org/drawingml/2006/main">
            <a:pPr>
              <a:defRPr sz="2175" b="1">
                <a:solidFill>
                  <a:srgbClr val="292524"/>
                </a:solidFill>
                <a:latin typeface="Inter"/>
                <a:ea typeface="Inter"/>
                <a:cs typeface="Inter"/>
              </a:defRPr>
            </a:pPr>
            <a:r>
              <a:rPr sz="2175" b="1">
                <a:solidFill>
                  <a:srgbClr val="292524"/>
                </a:solidFill>
                <a:latin typeface="Inter"/>
                <a:ea typeface="Inter"/>
                <a:cs typeface="Inter"/>
              </a:rPr>
              <a:t>Planning SAM</a:t>
            </a:r>
          </a:p>
        </p:txBody>
      </p:sp>
      <p:sp>
        <p:nvSpPr>
          <p:cNvPr id="7" name="">
            <a:extLst xmlns:a="http://schemas.openxmlformats.org/drawingml/2006/main">
              <a:ext uri="{FF2B5EF4-FFF2-40B4-BE49-F238E27FC236}">
                <a16:creationId xmlns:a16="http://schemas.microsoft.com/office/drawing/2014/main" id="{5ED87D58-B4FE-4283-8069-A68BC9539E6F}"/>
              </a:ext>
            </a:extLst>
          </p:cNvPr>
          <p:cNvSpPr>
            <a:spLocks xmlns:a="http://schemas.openxmlformats.org/drawingml/2006/main" noGrp="1"/>
          </p:cNvSpPr>
          <p:nvPr/>
        </p:nvSpPr>
        <p:spPr>
          <a:xfrm xmlns:a="http://schemas.openxmlformats.org/drawingml/2006/main">
            <a:off x="4343400" y="248602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300 programs</a:t>
            </a:r>
          </a:p>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 $6k per year</a:t>
            </a:r>
          </a:p>
        </p:txBody>
      </p:sp>
      <p:sp>
        <p:nvSpPr>
          <p:cNvPr id="8" name="">
            <a:extLst xmlns:a="http://schemas.openxmlformats.org/drawingml/2006/main">
              <a:ext uri="{FF2B5EF4-FFF2-40B4-BE49-F238E27FC236}">
                <a16:creationId xmlns:a16="http://schemas.microsoft.com/office/drawing/2014/main" id="{B2B20A91-ABA3-4B66-B9E6-B4FD61B42F89}"/>
              </a:ext>
            </a:extLst>
          </p:cNvPr>
          <p:cNvSpPr>
            <a:spLocks xmlns:a="http://schemas.openxmlformats.org/drawingml/2006/main" noGrp="1"/>
          </p:cNvSpPr>
          <p:nvPr/>
        </p:nvSpPr>
        <p:spPr>
          <a:xfrm xmlns:a="http://schemas.openxmlformats.org/drawingml/2006/main">
            <a:off x="8077200" y="1809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92524"/>
                </a:solidFill>
                <a:latin typeface="Inter"/>
                <a:ea typeface="Inter"/>
                <a:cs typeface="Inter"/>
              </a:defRPr>
            </a:defPPr>
          </a:lstStyle>
          <a:p xmlns:a="http://schemas.openxmlformats.org/drawingml/2006/main">
            <a:pPr>
              <a:defRPr sz="2175" b="1">
                <a:solidFill>
                  <a:srgbClr val="292524"/>
                </a:solidFill>
                <a:latin typeface="Inter"/>
                <a:ea typeface="Inter"/>
                <a:cs typeface="Inter"/>
              </a:defRPr>
            </a:pPr>
            <a:r>
              <a:rPr sz="2175" b="1">
                <a:solidFill>
                  <a:srgbClr val="292524"/>
                </a:solidFill>
                <a:latin typeface="Inter"/>
                <a:ea typeface="Inter"/>
                <a:cs typeface="Inter"/>
              </a:rPr>
              <a:t>24-month base target</a:t>
            </a:r>
          </a:p>
        </p:txBody>
      </p:sp>
      <p:sp>
        <p:nvSpPr>
          <p:cNvPr id="9" name="">
            <a:extLst xmlns:a="http://schemas.openxmlformats.org/drawingml/2006/main">
              <a:ext uri="{FF2B5EF4-FFF2-40B4-BE49-F238E27FC236}">
                <a16:creationId xmlns:a16="http://schemas.microsoft.com/office/drawing/2014/main" id="{AD93D1BC-105F-4DF5-9EAE-A54C4125EF36}"/>
              </a:ext>
            </a:extLst>
          </p:cNvPr>
          <p:cNvSpPr>
            <a:spLocks xmlns:a="http://schemas.openxmlformats.org/drawingml/2006/main" noGrp="1"/>
          </p:cNvSpPr>
          <p:nvPr/>
        </p:nvSpPr>
        <p:spPr>
          <a:xfrm xmlns:a="http://schemas.openxmlformats.org/drawingml/2006/main">
            <a:off x="8077200" y="248602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15 active programs</a:t>
            </a:r>
          </a:p>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 $6k per year</a:t>
            </a:r>
          </a:p>
        </p:txBody>
      </p:sp>
      <p:sp>
        <p:nvSpPr>
          <p:cNvPr id="10" name="">
            <a:extLst xmlns:a="http://schemas.openxmlformats.org/drawingml/2006/main">
              <a:ext uri="{FF2B5EF4-FFF2-40B4-BE49-F238E27FC236}">
                <a16:creationId xmlns:a16="http://schemas.microsoft.com/office/drawing/2014/main" id="{7EC2783B-4B8E-4E7C-9DAD-68A2DADFCFCB}"/>
              </a:ext>
            </a:extLst>
          </p:cNvPr>
          <p:cNvSpPr>
            <a:spLocks xmlns:a="http://schemas.openxmlformats.org/drawingml/2006/main" noGrp="1"/>
          </p:cNvSpPr>
          <p:nvPr/>
        </p:nvSpPr>
        <p:spPr>
          <a:xfrm xmlns:a="http://schemas.openxmlformats.org/drawingml/2006/main">
            <a:off x="609600" y="3914775"/>
            <a:ext cx="3429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0">
                <a:solidFill>
                  <a:srgbClr val="292524"/>
                </a:solidFill>
                <a:latin typeface="Fraunces"/>
                <a:ea typeface="Fraunces"/>
                <a:cs typeface="Fraunces"/>
              </a:defRPr>
            </a:defPPr>
          </a:lstStyle>
          <a:p xmlns:a="http://schemas.openxmlformats.org/drawingml/2006/main">
            <a:pPr>
              <a:defRPr sz="4425" b="0">
                <a:solidFill>
                  <a:srgbClr val="292524"/>
                </a:solidFill>
                <a:latin typeface="Fraunces"/>
                <a:ea typeface="Fraunces"/>
                <a:cs typeface="Fraunces"/>
              </a:defRPr>
            </a:pPr>
            <a:r>
              <a:rPr sz="4425" b="0">
                <a:solidFill>
                  <a:srgbClr val="292524"/>
                </a:solidFill>
                <a:latin typeface="Fraunces"/>
                <a:ea typeface="Fraunces"/>
                <a:cs typeface="Fraunces"/>
              </a:rPr>
              <a:t>$9–27m</a:t>
            </a:r>
          </a:p>
        </p:txBody>
      </p:sp>
      <p:sp>
        <p:nvSpPr>
          <p:cNvPr id="11" name="">
            <a:extLst xmlns:a="http://schemas.openxmlformats.org/drawingml/2006/main">
              <a:ext uri="{FF2B5EF4-FFF2-40B4-BE49-F238E27FC236}">
                <a16:creationId xmlns:a16="http://schemas.microsoft.com/office/drawing/2014/main" id="{797AAF56-5BFA-4A81-91A2-FB1B34509D9D}"/>
              </a:ext>
            </a:extLst>
          </p:cNvPr>
          <p:cNvSpPr>
            <a:spLocks xmlns:a="http://schemas.openxmlformats.org/drawingml/2006/main" noGrp="1"/>
          </p:cNvSpPr>
          <p:nvPr/>
        </p:nvSpPr>
        <p:spPr>
          <a:xfrm xmlns:a="http://schemas.openxmlformats.org/drawingml/2006/main">
            <a:off x="4343400" y="3914775"/>
            <a:ext cx="3429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0">
                <a:solidFill>
                  <a:srgbClr val="292524"/>
                </a:solidFill>
                <a:latin typeface="Fraunces"/>
                <a:ea typeface="Fraunces"/>
                <a:cs typeface="Fraunces"/>
              </a:defRPr>
            </a:defPPr>
          </a:lstStyle>
          <a:p xmlns:a="http://schemas.openxmlformats.org/drawingml/2006/main">
            <a:pPr>
              <a:defRPr sz="4425" b="0">
                <a:solidFill>
                  <a:srgbClr val="292524"/>
                </a:solidFill>
                <a:latin typeface="Fraunces"/>
                <a:ea typeface="Fraunces"/>
                <a:cs typeface="Fraunces"/>
              </a:defRPr>
            </a:pPr>
            <a:r>
              <a:rPr sz="4425" b="0">
                <a:solidFill>
                  <a:srgbClr val="292524"/>
                </a:solidFill>
                <a:latin typeface="Fraunces"/>
                <a:ea typeface="Fraunces"/>
                <a:cs typeface="Fraunces"/>
              </a:rPr>
              <a:t>$1.8m</a:t>
            </a:r>
          </a:p>
        </p:txBody>
      </p:sp>
      <p:sp>
        <p:nvSpPr>
          <p:cNvPr id="12" name="">
            <a:extLst xmlns:a="http://schemas.openxmlformats.org/drawingml/2006/main">
              <a:ext uri="{FF2B5EF4-FFF2-40B4-BE49-F238E27FC236}">
                <a16:creationId xmlns:a16="http://schemas.microsoft.com/office/drawing/2014/main" id="{0EBE809E-C1AB-4546-A059-56B919D55030}"/>
              </a:ext>
            </a:extLst>
          </p:cNvPr>
          <p:cNvSpPr>
            <a:spLocks xmlns:a="http://schemas.openxmlformats.org/drawingml/2006/main" noGrp="1"/>
          </p:cNvSpPr>
          <p:nvPr/>
        </p:nvSpPr>
        <p:spPr>
          <a:xfrm xmlns:a="http://schemas.openxmlformats.org/drawingml/2006/main">
            <a:off x="8077200" y="3914775"/>
            <a:ext cx="34575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0">
                <a:solidFill>
                  <a:srgbClr val="292524"/>
                </a:solidFill>
                <a:latin typeface="Fraunces"/>
                <a:ea typeface="Fraunces"/>
                <a:cs typeface="Fraunces"/>
              </a:defRPr>
            </a:defPPr>
          </a:lstStyle>
          <a:p xmlns:a="http://schemas.openxmlformats.org/drawingml/2006/main">
            <a:pPr>
              <a:defRPr sz="3825" b="0">
                <a:solidFill>
                  <a:srgbClr val="292524"/>
                </a:solidFill>
                <a:latin typeface="Fraunces"/>
                <a:ea typeface="Fraunces"/>
                <a:cs typeface="Fraunces"/>
              </a:defRPr>
            </a:pPr>
            <a:r>
              <a:rPr sz="3825" b="0">
                <a:solidFill>
                  <a:srgbClr val="292524"/>
                </a:solidFill>
                <a:latin typeface="Fraunces"/>
                <a:ea typeface="Fraunces"/>
                <a:cs typeface="Fraunces"/>
              </a:rPr>
              <a:t>$90k ARR</a:t>
            </a:r>
          </a:p>
        </p:txBody>
      </p:sp>
      <p:sp>
        <p:nvSpPr>
          <p:cNvPr id="13" name="">
            <a:extLst xmlns:a="http://schemas.openxmlformats.org/drawingml/2006/main">
              <a:ext uri="{FF2B5EF4-FFF2-40B4-BE49-F238E27FC236}">
                <a16:creationId xmlns:a16="http://schemas.microsoft.com/office/drawing/2014/main" id="{9380E433-56B0-417D-B0DC-C72CDE37AEFC}"/>
              </a:ext>
            </a:extLst>
          </p:cNvPr>
          <p:cNvSpPr>
            <a:spLocks xmlns:a="http://schemas.openxmlformats.org/drawingml/2006/main" noGrp="1"/>
          </p:cNvSpPr>
          <p:nvPr/>
        </p:nvSpPr>
        <p:spPr>
          <a:xfrm xmlns:a="http://schemas.openxmlformats.org/drawingml/2006/main">
            <a:off x="609600" y="499110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92524"/>
                </a:solidFill>
                <a:latin typeface="Inter"/>
                <a:ea typeface="Inter"/>
                <a:cs typeface="Inter"/>
              </a:defRPr>
            </a:defPPr>
          </a:lstStyle>
          <a:p xmlns:a="http://schemas.openxmlformats.org/drawingml/2006/main">
            <a:pPr>
              <a:defRPr sz="1800" b="0">
                <a:solidFill>
                  <a:srgbClr val="292524"/>
                </a:solidFill>
                <a:latin typeface="Inter"/>
                <a:ea typeface="Inter"/>
                <a:cs typeface="Inter"/>
              </a:defRPr>
            </a:pPr>
            <a:r>
              <a:rPr sz="1800" b="0">
                <a:solidFill>
                  <a:srgbClr val="292524"/>
                </a:solidFill>
                <a:latin typeface="Inter"/>
                <a:ea typeface="Inter"/>
                <a:cs typeface="Inter"/>
              </a:rPr>
              <a:t>Universal-purchase ceiling;</a:t>
            </a:r>
          </a:p>
          <a:p xmlns:a="http://schemas.openxmlformats.org/drawingml/2006/main">
            <a:pPr>
              <a:defRPr sz="1800" b="0">
                <a:solidFill>
                  <a:srgbClr val="292524"/>
                </a:solidFill>
                <a:latin typeface="Inter"/>
                <a:ea typeface="Inter"/>
                <a:cs typeface="Inter"/>
              </a:defRPr>
            </a:pPr>
            <a:r>
              <a:rPr sz="1800" b="0">
                <a:solidFill>
                  <a:srgbClr val="292524"/>
                </a:solidFill>
                <a:latin typeface="Inter"/>
                <a:ea typeface="Inter"/>
                <a:cs typeface="Inter"/>
              </a:rPr>
              <a:t>not a revenue forecast</a:t>
            </a:r>
          </a:p>
        </p:txBody>
      </p:sp>
      <p:sp>
        <p:nvSpPr>
          <p:cNvPr id="14" name="">
            <a:extLst xmlns:a="http://schemas.openxmlformats.org/drawingml/2006/main">
              <a:ext uri="{FF2B5EF4-FFF2-40B4-BE49-F238E27FC236}">
                <a16:creationId xmlns:a16="http://schemas.microsoft.com/office/drawing/2014/main" id="{8C4D13E4-167A-4DC1-BB03-048F985BB847}"/>
              </a:ext>
            </a:extLst>
          </p:cNvPr>
          <p:cNvSpPr>
            <a:spLocks xmlns:a="http://schemas.openxmlformats.org/drawingml/2006/main" noGrp="1"/>
          </p:cNvSpPr>
          <p:nvPr/>
        </p:nvSpPr>
        <p:spPr>
          <a:xfrm xmlns:a="http://schemas.openxmlformats.org/drawingml/2006/main">
            <a:off x="4343400" y="499110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92524"/>
                </a:solidFill>
                <a:latin typeface="Inter"/>
                <a:ea typeface="Inter"/>
                <a:cs typeface="Inter"/>
              </a:defRPr>
            </a:defPPr>
          </a:lstStyle>
          <a:p xmlns:a="http://schemas.openxmlformats.org/drawingml/2006/main">
            <a:pPr>
              <a:defRPr sz="1800" b="0">
                <a:solidFill>
                  <a:srgbClr val="292524"/>
                </a:solidFill>
                <a:latin typeface="Inter"/>
                <a:ea typeface="Inter"/>
                <a:cs typeface="Inter"/>
              </a:defRPr>
            </a:pPr>
            <a:r>
              <a:rPr sz="1800" b="0">
                <a:solidFill>
                  <a:srgbClr val="292524"/>
                </a:solidFill>
                <a:latin typeface="Inter"/>
                <a:ea typeface="Inter"/>
                <a:cs typeface="Inter"/>
              </a:rPr>
              <a:t>Assumes 10% qualify;</a:t>
            </a:r>
          </a:p>
          <a:p xmlns:a="http://schemas.openxmlformats.org/drawingml/2006/main">
            <a:pPr>
              <a:defRPr sz="1800" b="0">
                <a:solidFill>
                  <a:srgbClr val="292524"/>
                </a:solidFill>
                <a:latin typeface="Inter"/>
                <a:ea typeface="Inter"/>
                <a:cs typeface="Inter"/>
              </a:defRPr>
            </a:pPr>
            <a:r>
              <a:rPr sz="1800" b="0">
                <a:solidFill>
                  <a:srgbClr val="292524"/>
                </a:solidFill>
                <a:latin typeface="Inter"/>
                <a:ea typeface="Inter"/>
                <a:cs typeface="Inter"/>
              </a:rPr>
              <a:t>not yet buyer-validated</a:t>
            </a:r>
          </a:p>
        </p:txBody>
      </p:sp>
      <p:sp>
        <p:nvSpPr>
          <p:cNvPr id="15" name="">
            <a:extLst xmlns:a="http://schemas.openxmlformats.org/drawingml/2006/main">
              <a:ext uri="{FF2B5EF4-FFF2-40B4-BE49-F238E27FC236}">
                <a16:creationId xmlns:a16="http://schemas.microsoft.com/office/drawing/2014/main" id="{825AAA57-714B-461D-8FB0-E97E257F7277}"/>
              </a:ext>
            </a:extLst>
          </p:cNvPr>
          <p:cNvSpPr>
            <a:spLocks xmlns:a="http://schemas.openxmlformats.org/drawingml/2006/main" noGrp="1"/>
          </p:cNvSpPr>
          <p:nvPr/>
        </p:nvSpPr>
        <p:spPr>
          <a:xfrm xmlns:a="http://schemas.openxmlformats.org/drawingml/2006/main">
            <a:off x="8077200" y="499110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92524"/>
                </a:solidFill>
                <a:latin typeface="Inter"/>
                <a:ea typeface="Inter"/>
                <a:cs typeface="Inter"/>
              </a:defRPr>
            </a:defPPr>
          </a:lstStyle>
          <a:p xmlns:a="http://schemas.openxmlformats.org/drawingml/2006/main">
            <a:pPr>
              <a:defRPr sz="1800" b="0">
                <a:solidFill>
                  <a:srgbClr val="292524"/>
                </a:solidFill>
                <a:latin typeface="Inter"/>
                <a:ea typeface="Inter"/>
                <a:cs typeface="Inter"/>
              </a:defRPr>
            </a:pPr>
            <a:r>
              <a:rPr sz="1800" b="0">
                <a:solidFill>
                  <a:srgbClr val="292524"/>
                </a:solidFill>
                <a:latin typeface="Inter"/>
                <a:ea typeface="Inter"/>
                <a:cs typeface="Inter"/>
              </a:rPr>
              <a:t>Obtainable target;</a:t>
            </a:r>
          </a:p>
          <a:p xmlns:a="http://schemas.openxmlformats.org/drawingml/2006/main">
            <a:pPr>
              <a:defRPr sz="1800" b="0">
                <a:solidFill>
                  <a:srgbClr val="292524"/>
                </a:solidFill>
                <a:latin typeface="Inter"/>
                <a:ea typeface="Inter"/>
                <a:cs typeface="Inter"/>
              </a:defRPr>
            </a:pPr>
            <a:r>
              <a:rPr sz="1800" b="0">
                <a:solidFill>
                  <a:srgbClr val="292524"/>
                </a:solidFill>
                <a:latin typeface="Inter"/>
                <a:ea typeface="Inter"/>
                <a:cs typeface="Inter"/>
              </a:rPr>
              <a:t>no pipeline implied</a:t>
            </a:r>
          </a:p>
        </p:txBody>
      </p:sp>
    </p:spTree>
    <p:extLst>
      <p:ext uri="{BB962C8B-B14F-4D97-AF65-F5344CB8AC3E}">
        <p14:creationId xmlns:p14="http://schemas.microsoft.com/office/powerpoint/2010/main" val="1303712097"/>
      </p:ext>
    </p:extLst>
  </p:cSld>
</p:sld>
</file>

<file path=ppt/slides/slide1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F04609-91FE-4EE1-A422-F5DBE76B5CE8}"/>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Compete on continuity; integrate proven tools</a:t>
            </a:r>
          </a:p>
        </p:txBody>
      </p:sp>
      <p:sp>
        <p:nvSpPr>
          <p:cNvPr id="2" name="">
            <a:extLst xmlns:a="http://schemas.openxmlformats.org/drawingml/2006/main">
              <a:ext uri="{FF2B5EF4-FFF2-40B4-BE49-F238E27FC236}">
                <a16:creationId xmlns:a16="http://schemas.microsoft.com/office/drawing/2014/main" id="{6869CA61-CDFD-4825-8EBD-681288980231}"/>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Fraunces"/>
                <a:ea typeface="Fraunces"/>
                <a:cs typeface="Fraunces"/>
              </a:defRPr>
            </a:defPPr>
          </a:lstStyle>
          <a:p xmlns:a="http://schemas.openxmlformats.org/drawingml/2006/main">
            <a:pPr>
              <a:defRPr sz="1200" b="0">
                <a:solidFill>
                  <a:srgbClr val="78716C"/>
                </a:solidFill>
                <a:latin typeface="Fraunces"/>
                <a:ea typeface="Fraunces"/>
                <a:cs typeface="Fraunces"/>
              </a:defRPr>
            </a:pPr>
            <a:r>
              <a:rPr sz="1200" b="0">
                <a:solidFill>
                  <a:srgbClr val="78716C"/>
                </a:solidFill>
                <a:latin typeface="Fraunces"/>
                <a:ea typeface="Fraunces"/>
                <a:cs typeface="Fraunces"/>
              </a:rPr>
              <a:t>Green Goods OS</a:t>
            </a:r>
          </a:p>
        </p:txBody>
      </p:sp>
      <p:sp>
        <p:nvSpPr>
          <p:cNvPr id="3" name="">
            <a:extLst xmlns:a="http://schemas.openxmlformats.org/drawingml/2006/main">
              <a:ext uri="{FF2B5EF4-FFF2-40B4-BE49-F238E27FC236}">
                <a16:creationId xmlns:a16="http://schemas.microsoft.com/office/drawing/2014/main" id="{991CAF30-84EC-46ED-881B-BB666615AE3F}"/>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12</a:t>
            </a:r>
          </a:p>
        </p:txBody>
      </p:sp>
      <p:graphicFrame>
        <p:nvGraphicFramePr>
          <p:cNvPr id="4" name="">
            <a:extLst xmlns:a="http://schemas.openxmlformats.org/drawingml/2006/main">
              <a:ext uri="{FF2B5EF4-FFF2-40B4-BE49-F238E27FC236}">
                <a16:creationId xmlns:a16="http://schemas.microsoft.com/office/drawing/2014/main" id="{68AD1019-F7FC-4458-94A4-250016CF09BD}"/>
              </a:ext>
            </a:extLst>
          </p:cNvPr>
          <p:cNvGraphicFramePr/>
          <p:nvPr/>
        </p:nvGraphicFramePr>
        <p:xfrm>
          <a:off xmlns:a="http://schemas.openxmlformats.org/drawingml/2006/main" x="609600" y="1762125"/>
          <a:ext xmlns:a="http://schemas.openxmlformats.org/drawingml/2006/main" cx="10972800" cy="3829050"/>
        </p:xfrm>
        <a:graphic xmlns:a="http://schemas.openxmlformats.org/drawingml/2006/main">
          <a:graphicData uri="http://schemas.openxmlformats.org/drawingml/2006/table">
            <a:tbl>
              <a:tblPr/>
              <a:tblGrid>
                <a:gridCol w="2647950"/>
                <a:gridCol w="3667125"/>
                <a:gridCol w="4657725"/>
              </a:tblGrid>
              <a:tr h="765810">
                <a:tc>
                  <a:txBody>
                    <a:bodyPr wrap="square" lIns="152400" tIns="95250" rIns="152400" bIns="95250">
                      <a:noAutofit/>
                    </a:bodyPr>
                    <a:lstStyle/>
                    <a:p>
                      <a:r>
                        <a:rPr sz="1800" b="1">
                          <a:solidFill>
                            <a:srgbClr val="1A7544"/>
                          </a:solidFill>
                          <a:latin typeface="Inter"/>
                          <a:ea typeface="Inter"/>
                          <a:cs typeface="Inter"/>
                        </a:rPr>
                        <a:t>Alternative</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00" b="1">
                          <a:solidFill>
                            <a:srgbClr val="1A7544"/>
                          </a:solidFill>
                          <a:latin typeface="Inter"/>
                          <a:ea typeface="Inter"/>
                          <a:cs typeface="Inter"/>
                        </a:rPr>
                        <a:t>Existing strength</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00" b="1">
                          <a:solidFill>
                            <a:srgbClr val="1A7544"/>
                          </a:solidFill>
                          <a:latin typeface="Inter"/>
                          <a:ea typeface="Inter"/>
                          <a:cs typeface="Inter"/>
                        </a:rPr>
                        <a:t>Proposed Green Goods role</a:t>
                      </a:r>
                    </a:p>
                  </a:txBody>
                  <a:tcPr marL="91440" marR="91440" marT="45720" marB="45720" anchor="ctr">
                    <a:lnB w="6350">
                      <a:solidFill>
                        <a:srgbClr val="78716C"/>
                      </a:solidFill>
                    </a:lnB>
                    <a:lnT w="6350">
                      <a:noFill/>
                    </a:lnT>
                    <a:lnR w="6350">
                      <a:noFill/>
                    </a:lnR>
                    <a:lnL w="6350">
                      <a:noFill/>
                    </a:lnL>
                    <a:solidFill>
                      <a:srgbClr val="FAF8F5"/>
                    </a:solidFill>
                  </a:tcPr>
                </a:tc>
              </a:tr>
              <a:tr h="765810">
                <a:tc>
                  <a:txBody>
                    <a:bodyPr wrap="square" lIns="152400" tIns="95250" rIns="152400" bIns="95250">
                      <a:noAutofit/>
                    </a:bodyPr>
                    <a:lstStyle/>
                    <a:p>
                      <a:r>
                        <a:rPr sz="1800" b="0">
                          <a:solidFill>
                            <a:srgbClr val="292524"/>
                          </a:solidFill>
                          <a:latin typeface="Inter"/>
                          <a:ea typeface="Inter"/>
                          <a:cs typeface="Inter"/>
                        </a:rPr>
                        <a:t>Forms + shared folder</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Familiar capture and sharing</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Trace sources; reuse approved lessons</a:t>
                      </a:r>
                    </a:p>
                  </a:txBody>
                  <a:tcPr marL="91440" marR="91440" marT="45720" marB="45720" anchor="ctr">
                    <a:lnB w="6350">
                      <a:solidFill>
                        <a:srgbClr val="E7E5E4"/>
                      </a:solidFill>
                    </a:lnB>
                    <a:lnT w="6350">
                      <a:noFill/>
                    </a:lnT>
                    <a:lnR w="6350">
                      <a:noFill/>
                    </a:lnR>
                    <a:lnL w="6350">
                      <a:noFill/>
                    </a:lnL>
                    <a:solidFill>
                      <a:srgbClr val="FAF8F5"/>
                    </a:solidFill>
                  </a:tcPr>
                </a:tc>
              </a:tr>
              <a:tr h="765810">
                <a:tc>
                  <a:txBody>
                    <a:bodyPr wrap="square" lIns="152400" tIns="95250" rIns="152400" bIns="95250">
                      <a:noAutofit/>
                    </a:bodyPr>
                    <a:lstStyle/>
                    <a:p>
                      <a:r>
                        <a:rPr sz="1800" b="0">
                          <a:solidFill>
                            <a:srgbClr val="292524"/>
                          </a:solidFill>
                          <a:latin typeface="Inter"/>
                          <a:ea typeface="Inter"/>
                          <a:cs typeface="Inter"/>
                        </a:rPr>
                        <a:t>farmOS · ODK / Kobo</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Farm records / offline field forms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Link records to review and commitments</a:t>
                      </a:r>
                    </a:p>
                  </a:txBody>
                  <a:tcPr marL="91440" marR="91440" marT="45720" marB="45720" anchor="ctr">
                    <a:lnB w="6350">
                      <a:solidFill>
                        <a:srgbClr val="E7E5E4"/>
                      </a:solidFill>
                    </a:lnB>
                    <a:lnT w="6350">
                      <a:noFill/>
                    </a:lnT>
                    <a:lnR w="6350">
                      <a:noFill/>
                    </a:lnR>
                    <a:lnL w="6350">
                      <a:noFill/>
                    </a:lnL>
                    <a:solidFill>
                      <a:srgbClr val="FAF8F5"/>
                    </a:solidFill>
                  </a:tcPr>
                </a:tc>
              </a:tr>
              <a:tr h="765810">
                <a:tc>
                  <a:txBody>
                    <a:bodyPr wrap="square" lIns="152400" tIns="95250" rIns="152400" bIns="95250">
                      <a:noAutofit/>
                    </a:bodyPr>
                    <a:lstStyle/>
                    <a:p>
                      <a:r>
                        <a:rPr sz="1800" b="0">
                          <a:solidFill>
                            <a:srgbClr val="292524"/>
                          </a:solidFill>
                          <a:latin typeface="Inter"/>
                          <a:ea typeface="Inter"/>
                          <a:cs typeface="Inter"/>
                        </a:rPr>
                        <a:t>Hylo · OpenTEAM</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Coordination / open tooling</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Link interpretation, consent and exchange</a:t>
                      </a:r>
                    </a:p>
                  </a:txBody>
                  <a:tcPr marL="91440" marR="91440" marT="45720" marB="45720" anchor="ctr">
                    <a:lnB w="6350">
                      <a:solidFill>
                        <a:srgbClr val="E7E5E4"/>
                      </a:solidFill>
                    </a:lnB>
                    <a:lnT w="6350">
                      <a:noFill/>
                    </a:lnT>
                    <a:lnR w="6350">
                      <a:noFill/>
                    </a:lnR>
                    <a:lnL w="6350">
                      <a:noFill/>
                    </a:lnL>
                    <a:solidFill>
                      <a:srgbClr val="FAF8F5"/>
                    </a:solidFill>
                  </a:tcPr>
                </a:tc>
              </a:tr>
              <a:tr h="765810">
                <a:tc>
                  <a:txBody>
                    <a:bodyPr wrap="square" lIns="152400" tIns="95250" rIns="152400" bIns="95250">
                      <a:noAutofit/>
                    </a:bodyPr>
                    <a:lstStyle/>
                    <a:p>
                      <a:r>
                        <a:rPr sz="1800" b="0">
                          <a:solidFill>
                            <a:srgbClr val="292524"/>
                          </a:solidFill>
                          <a:latin typeface="Inter"/>
                          <a:ea typeface="Inter"/>
                          <a:cs typeface="Inter"/>
                        </a:rPr>
                        <a:t>GainForest / Taina</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Community knowledge, evidence and AT</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Close overlap: test integration first</a:t>
                      </a:r>
                    </a:p>
                  </a:txBody>
                  <a:tcPr marL="91440" marR="91440" marT="45720" marB="45720" anchor="ctr">
                    <a:lnB w="6350">
                      <a:solidFill>
                        <a:srgbClr val="E7E5E4"/>
                      </a:solidFill>
                    </a:lnB>
                    <a:lnT w="6350">
                      <a:noFill/>
                    </a:lnT>
                    <a:lnR w="6350">
                      <a:noFill/>
                    </a:lnR>
                    <a:lnL w="6350">
                      <a:noFill/>
                    </a:lnL>
                    <a:solidFill>
                      <a:srgbClr val="FAF8F5"/>
                    </a:solidFill>
                  </a:tcPr>
                </a:tc>
              </a:tr>
            </a:tbl>
          </a:graphicData>
        </a:graphic>
      </p:graphicFrame>
      <p:sp>
        <p:nvSpPr>
          <p:cNvPr id="5" name="">
            <a:extLst xmlns:a="http://schemas.openxmlformats.org/drawingml/2006/main">
              <a:ext uri="{FF2B5EF4-FFF2-40B4-BE49-F238E27FC236}">
                <a16:creationId xmlns:a16="http://schemas.microsoft.com/office/drawing/2014/main" id="{562263C8-3D6F-4B5A-B247-90A303DC466E}"/>
              </a:ext>
            </a:extLst>
          </p:cNvPr>
          <p:cNvSpPr>
            <a:spLocks xmlns:a="http://schemas.openxmlformats.org/drawingml/2006/main" noGrp="1"/>
          </p:cNvSpPr>
          <p:nvPr/>
        </p:nvSpPr>
        <p:spPr>
          <a:xfrm xmlns:a="http://schemas.openxmlformats.org/drawingml/2006/main">
            <a:off x="609600" y="5857875"/>
            <a:ext cx="10934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A7544"/>
                </a:solidFill>
                <a:latin typeface="Inter"/>
                <a:ea typeface="Inter"/>
                <a:cs typeface="Inter"/>
              </a:defRPr>
            </a:defPPr>
          </a:lstStyle>
          <a:p xmlns:a="http://schemas.openxmlformats.org/drawingml/2006/main">
            <a:pPr>
              <a:defRPr sz="2100" b="1">
                <a:solidFill>
                  <a:srgbClr val="1A7544"/>
                </a:solidFill>
                <a:latin typeface="Inter"/>
                <a:ea typeface="Inter"/>
                <a:cs typeface="Inter"/>
              </a:defRPr>
            </a:pPr>
            <a:r>
              <a:rPr sz="2100" b="1">
                <a:solidFill>
                  <a:srgbClr val="1A7544"/>
                </a:solidFill>
                <a:latin typeface="Inter"/>
                <a:ea typeface="Inter"/>
                <a:cs typeface="Inter"/>
              </a:rPr>
              <a:t>Intended advantage: private learning through to accountable work</a:t>
            </a:r>
          </a:p>
        </p:txBody>
      </p:sp>
    </p:spTree>
    <p:extLst>
      <p:ext uri="{BB962C8B-B14F-4D97-AF65-F5344CB8AC3E}">
        <p14:creationId xmlns:p14="http://schemas.microsoft.com/office/powerpoint/2010/main" val="2092898523"/>
      </p:ext>
    </p:extLst>
  </p:cSld>
</p:sld>
</file>

<file path=ppt/slides/slide1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3CCEA31-5BA6-495E-BCED-62C820584FF7}"/>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Sell dependable service around an open commons</a:t>
            </a:r>
          </a:p>
        </p:txBody>
      </p:sp>
      <p:sp>
        <p:nvSpPr>
          <p:cNvPr id="2" name="">
            <a:extLst xmlns:a="http://schemas.openxmlformats.org/drawingml/2006/main">
              <a:ext uri="{FF2B5EF4-FFF2-40B4-BE49-F238E27FC236}">
                <a16:creationId xmlns:a16="http://schemas.microsoft.com/office/drawing/2014/main" id="{B417555E-C040-4022-AD8F-2DA8B2B067C0}"/>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Proposed service prices in US dollars · No paid demand or achieved margin claimed</a:t>
            </a:r>
          </a:p>
        </p:txBody>
      </p:sp>
      <p:sp>
        <p:nvSpPr>
          <p:cNvPr id="3" name="">
            <a:extLst xmlns:a="http://schemas.openxmlformats.org/drawingml/2006/main">
              <a:ext uri="{FF2B5EF4-FFF2-40B4-BE49-F238E27FC236}">
                <a16:creationId xmlns:a16="http://schemas.microsoft.com/office/drawing/2014/main" id="{A4F6CEE7-BC45-4EAB-94B5-B07473635008}"/>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13</a:t>
            </a:r>
          </a:p>
        </p:txBody>
      </p:sp>
      <p:sp>
        <p:nvSpPr>
          <p:cNvPr id="4" name="">
            <a:extLst xmlns:a="http://schemas.openxmlformats.org/drawingml/2006/main">
              <a:ext uri="{FF2B5EF4-FFF2-40B4-BE49-F238E27FC236}">
                <a16:creationId xmlns:a16="http://schemas.microsoft.com/office/drawing/2014/main" id="{885B91D3-E128-4272-8849-A76AA5F39F16}"/>
              </a:ext>
            </a:extLst>
          </p:cNvPr>
          <p:cNvSpPr>
            <a:spLocks xmlns:a="http://schemas.openxmlformats.org/drawingml/2006/main" noGrp="1"/>
          </p:cNvSpPr>
          <p:nvPr/>
        </p:nvSpPr>
        <p:spPr>
          <a:xfrm xmlns:a="http://schemas.openxmlformats.org/drawingml/2006/main">
            <a:off x="609600" y="1905000"/>
            <a:ext cx="65913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0">
                <a:solidFill>
                  <a:srgbClr val="1A7544"/>
                </a:solidFill>
                <a:latin typeface="Fraunces"/>
                <a:ea typeface="Fraunces"/>
                <a:cs typeface="Fraunces"/>
              </a:defRPr>
            </a:defPPr>
          </a:lstStyle>
          <a:p xmlns:a="http://schemas.openxmlformats.org/drawingml/2006/main">
            <a:pPr>
              <a:defRPr sz="4950" b="0">
                <a:solidFill>
                  <a:srgbClr val="1A7544"/>
                </a:solidFill>
                <a:latin typeface="Fraunces"/>
                <a:ea typeface="Fraunces"/>
                <a:cs typeface="Fraunces"/>
              </a:defRPr>
            </a:pPr>
            <a:r>
              <a:rPr sz="4950" b="0">
                <a:solidFill>
                  <a:srgbClr val="1A7544"/>
                </a:solidFill>
                <a:latin typeface="Fraunces"/>
                <a:ea typeface="Fraunces"/>
                <a:cs typeface="Fraunces"/>
              </a:rPr>
              <a:t>$6,000 / year</a:t>
            </a:r>
          </a:p>
        </p:txBody>
      </p:sp>
      <p:sp>
        <p:nvSpPr>
          <p:cNvPr id="5" name="">
            <a:extLst xmlns:a="http://schemas.openxmlformats.org/drawingml/2006/main">
              <a:ext uri="{FF2B5EF4-FFF2-40B4-BE49-F238E27FC236}">
                <a16:creationId xmlns:a16="http://schemas.microsoft.com/office/drawing/2014/main" id="{699BB612-1A27-4A2D-AC90-4F2DD36DEC8E}"/>
              </a:ext>
            </a:extLst>
          </p:cNvPr>
          <p:cNvSpPr>
            <a:spLocks xmlns:a="http://schemas.openxmlformats.org/drawingml/2006/main" noGrp="1"/>
          </p:cNvSpPr>
          <p:nvPr/>
        </p:nvSpPr>
        <p:spPr>
          <a:xfrm xmlns:a="http://schemas.openxmlformats.org/drawingml/2006/main">
            <a:off x="609600" y="2990850"/>
            <a:ext cx="66008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92524"/>
                </a:solidFill>
                <a:latin typeface="Inter"/>
                <a:ea typeface="Inter"/>
                <a:cs typeface="Inter"/>
              </a:defRPr>
            </a:defPPr>
          </a:lstStyle>
          <a:p xmlns:a="http://schemas.openxmlformats.org/drawingml/2006/main">
            <a:pPr>
              <a:defRPr sz="2400" b="0">
                <a:solidFill>
                  <a:srgbClr val="292524"/>
                </a:solidFill>
                <a:latin typeface="Inter"/>
                <a:ea typeface="Inter"/>
                <a:cs typeface="Inter"/>
              </a:defRPr>
            </a:pPr>
            <a:r>
              <a:rPr sz="2400" b="0">
                <a:solidFill>
                  <a:srgbClr val="292524"/>
                </a:solidFill>
                <a:latin typeface="Inter"/>
                <a:ea typeface="Inter"/>
                <a:cs typeface="Inter"/>
              </a:rPr>
              <a:t>One program. Up to four community workspaces.</a:t>
            </a:r>
          </a:p>
        </p:txBody>
      </p:sp>
      <p:sp>
        <p:nvSpPr>
          <p:cNvPr id="6" name="">
            <a:extLst xmlns:a="http://schemas.openxmlformats.org/drawingml/2006/main">
              <a:ext uri="{FF2B5EF4-FFF2-40B4-BE49-F238E27FC236}">
                <a16:creationId xmlns:a16="http://schemas.microsoft.com/office/drawing/2014/main" id="{871DD4B3-2A00-4875-BE36-5538E7567726}"/>
              </a:ext>
            </a:extLst>
          </p:cNvPr>
          <p:cNvSpPr>
            <a:spLocks xmlns:a="http://schemas.openxmlformats.org/drawingml/2006/main" noGrp="1"/>
          </p:cNvSpPr>
          <p:nvPr/>
        </p:nvSpPr>
        <p:spPr>
          <a:xfrm xmlns:a="http://schemas.openxmlformats.org/drawingml/2006/main">
            <a:off x="609600" y="4391025"/>
            <a:ext cx="680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92524"/>
                </a:solidFill>
                <a:latin typeface="Inter"/>
                <a:ea typeface="Inter"/>
                <a:cs typeface="Inter"/>
              </a:defRPr>
            </a:defPPr>
          </a:lstStyle>
          <a:p xmlns:a="http://schemas.openxmlformats.org/drawingml/2006/main">
            <a:pPr>
              <a:defRPr sz="2850" b="1">
                <a:solidFill>
                  <a:srgbClr val="292524"/>
                </a:solidFill>
                <a:latin typeface="Inter"/>
                <a:ea typeface="Inter"/>
                <a:cs typeface="Inter"/>
              </a:defRPr>
            </a:pPr>
            <a:r>
              <a:rPr sz="2850" b="1">
                <a:solidFill>
                  <a:srgbClr val="292524"/>
                </a:solidFill>
                <a:latin typeface="Inter"/>
                <a:ea typeface="Inter"/>
                <a:cs typeface="Inter"/>
              </a:rPr>
              <a:t>+$2,000 onboarding</a:t>
            </a:r>
          </a:p>
        </p:txBody>
      </p:sp>
      <p:sp>
        <p:nvSpPr>
          <p:cNvPr id="7" name="">
            <a:extLst xmlns:a="http://schemas.openxmlformats.org/drawingml/2006/main">
              <a:ext uri="{FF2B5EF4-FFF2-40B4-BE49-F238E27FC236}">
                <a16:creationId xmlns:a16="http://schemas.microsoft.com/office/drawing/2014/main" id="{2193B34F-5E33-4EAA-A296-F91F3ECB270C}"/>
              </a:ext>
            </a:extLst>
          </p:cNvPr>
          <p:cNvSpPr>
            <a:spLocks xmlns:a="http://schemas.openxmlformats.org/drawingml/2006/main" noGrp="1"/>
          </p:cNvSpPr>
          <p:nvPr/>
        </p:nvSpPr>
        <p:spPr>
          <a:xfrm xmlns:a="http://schemas.openxmlformats.org/drawingml/2006/main">
            <a:off x="609600" y="5181600"/>
            <a:ext cx="6696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Training, setup and a tested recovery / exit route</a:t>
            </a:r>
          </a:p>
        </p:txBody>
      </p:sp>
      <p:sp>
        <p:nvSpPr>
          <p:cNvPr id="8" name="">
            <a:extLst xmlns:a="http://schemas.openxmlformats.org/drawingml/2006/main">
              <a:ext uri="{FF2B5EF4-FFF2-40B4-BE49-F238E27FC236}">
                <a16:creationId xmlns:a16="http://schemas.microsoft.com/office/drawing/2014/main" id="{EF5893A8-6115-4429-86D5-17F0D609500F}"/>
              </a:ext>
            </a:extLst>
          </p:cNvPr>
          <p:cNvSpPr>
            <a:spLocks xmlns:a="http://schemas.openxmlformats.org/drawingml/2006/main" noGrp="1"/>
          </p:cNvSpPr>
          <p:nvPr/>
        </p:nvSpPr>
        <p:spPr>
          <a:xfrm xmlns:a="http://schemas.openxmlformats.org/drawingml/2006/main">
            <a:off x="8077200" y="2009775"/>
            <a:ext cx="3400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A7544"/>
                </a:solidFill>
                <a:latin typeface="Inter"/>
                <a:ea typeface="Inter"/>
                <a:cs typeface="Inter"/>
              </a:defRPr>
            </a:defPPr>
          </a:lstStyle>
          <a:p xmlns:a="http://schemas.openxmlformats.org/drawingml/2006/main">
            <a:pPr>
              <a:defRPr sz="2250" b="1">
                <a:solidFill>
                  <a:srgbClr val="1A7544"/>
                </a:solidFill>
                <a:latin typeface="Inter"/>
                <a:ea typeface="Inter"/>
                <a:cs typeface="Inter"/>
              </a:defRPr>
            </a:pPr>
            <a:r>
              <a:rPr sz="2250" b="1">
                <a:solidFill>
                  <a:srgbClr val="1A7544"/>
                </a:solidFill>
                <a:latin typeface="Inter"/>
                <a:ea typeface="Inter"/>
                <a:cs typeface="Inter"/>
              </a:rPr>
              <a:t>The buyer pays for</a:t>
            </a:r>
          </a:p>
        </p:txBody>
      </p:sp>
      <p:sp>
        <p:nvSpPr>
          <p:cNvPr id="9" name="">
            <a:extLst xmlns:a="http://schemas.openxmlformats.org/drawingml/2006/main">
              <a:ext uri="{FF2B5EF4-FFF2-40B4-BE49-F238E27FC236}">
                <a16:creationId xmlns:a16="http://schemas.microsoft.com/office/drawing/2014/main" id="{D957B77F-B261-402E-88ED-C274B06B768A}"/>
              </a:ext>
            </a:extLst>
          </p:cNvPr>
          <p:cNvSpPr>
            <a:spLocks xmlns:a="http://schemas.openxmlformats.org/drawingml/2006/main" noGrp="1"/>
          </p:cNvSpPr>
          <p:nvPr/>
        </p:nvSpPr>
        <p:spPr>
          <a:xfrm xmlns:a="http://schemas.openxmlformats.org/drawingml/2006/main">
            <a:off x="8077200" y="2933700"/>
            <a:ext cx="33528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92524"/>
                </a:solidFill>
                <a:latin typeface="Inter"/>
                <a:ea typeface="Inter"/>
                <a:cs typeface="Inter"/>
              </a:defRPr>
            </a:defPPr>
          </a:lstStyle>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Reliable support</a:t>
            </a:r>
          </a:p>
          <a:p xmlns:a="http://schemas.openxmlformats.org/drawingml/2006/main">
            <a:r>
              <a:t/>
            </a:r>
          </a:p>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Knowledge curation</a:t>
            </a:r>
          </a:p>
          <a:p xmlns:a="http://schemas.openxmlformats.org/drawingml/2006/main">
            <a:r>
              <a:t/>
            </a:r>
          </a:p>
          <a:p xmlns:a="http://schemas.openxmlformats.org/drawingml/2006/main">
            <a:pPr>
              <a:defRPr sz="2175" b="0">
                <a:solidFill>
                  <a:srgbClr val="292524"/>
                </a:solidFill>
                <a:latin typeface="Inter"/>
                <a:ea typeface="Inter"/>
                <a:cs typeface="Inter"/>
              </a:defRPr>
            </a:pPr>
            <a:r>
              <a:rPr sz="2175" b="0">
                <a:solidFill>
                  <a:srgbClr val="292524"/>
                </a:solidFill>
                <a:latin typeface="Inter"/>
                <a:ea typeface="Inter"/>
                <a:cs typeface="Inter"/>
              </a:rPr>
              <a:t>Operational continuity</a:t>
            </a:r>
          </a:p>
        </p:txBody>
      </p:sp>
    </p:spTree>
    <p:extLst>
      <p:ext uri="{BB962C8B-B14F-4D97-AF65-F5344CB8AC3E}">
        <p14:creationId xmlns:p14="http://schemas.microsoft.com/office/powerpoint/2010/main" val="1091606751"/>
      </p:ext>
    </p:extLst>
  </p:cSld>
</p:sld>
</file>

<file path=ppt/slides/slide1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DA254D-5430-4E25-A3C8-F215C6CF0ABE}"/>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Reach farmers through trusted programs</a:t>
            </a:r>
          </a:p>
        </p:txBody>
      </p:sp>
      <p:sp>
        <p:nvSpPr>
          <p:cNvPr id="2" name="">
            <a:extLst xmlns:a="http://schemas.openxmlformats.org/drawingml/2006/main">
              <a:ext uri="{FF2B5EF4-FFF2-40B4-BE49-F238E27FC236}">
                <a16:creationId xmlns:a16="http://schemas.microsoft.com/office/drawing/2014/main" id="{02E6B4ED-8BB2-4B14-8767-E539A506D14F}"/>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First six-month funnel targets · Not existing traction or commitments</a:t>
            </a:r>
          </a:p>
        </p:txBody>
      </p:sp>
      <p:sp>
        <p:nvSpPr>
          <p:cNvPr id="3" name="">
            <a:extLst xmlns:a="http://schemas.openxmlformats.org/drawingml/2006/main">
              <a:ext uri="{FF2B5EF4-FFF2-40B4-BE49-F238E27FC236}">
                <a16:creationId xmlns:a16="http://schemas.microsoft.com/office/drawing/2014/main" id="{4C4E7006-71FF-478F-BAA8-AA39606F3866}"/>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14</a:t>
            </a:r>
          </a:p>
        </p:txBody>
      </p:sp>
      <p:sp>
        <p:nvSpPr>
          <p:cNvPr id="4" name="">
            <a:extLst xmlns:a="http://schemas.openxmlformats.org/drawingml/2006/main">
              <a:ext uri="{FF2B5EF4-FFF2-40B4-BE49-F238E27FC236}">
                <a16:creationId xmlns:a16="http://schemas.microsoft.com/office/drawing/2014/main" id="{D6631993-D432-4797-87C1-5A76A262CD69}"/>
              </a:ext>
            </a:extLst>
          </p:cNvPr>
          <p:cNvSpPr>
            <a:spLocks xmlns:a="http://schemas.openxmlformats.org/drawingml/2006/main" noGrp="1"/>
          </p:cNvSpPr>
          <p:nvPr/>
        </p:nvSpPr>
        <p:spPr>
          <a:xfrm xmlns:a="http://schemas.openxmlformats.org/drawingml/2006/main">
            <a:off x="6096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92524"/>
                </a:solidFill>
                <a:latin typeface="Inter"/>
                <a:ea typeface="Inter"/>
                <a:cs typeface="Inter"/>
              </a:defRPr>
            </a:defPPr>
          </a:lstStyle>
          <a:p xmlns:a="http://schemas.openxmlformats.org/drawingml/2006/main">
            <a:pPr>
              <a:defRPr sz="2325" b="1">
                <a:solidFill>
                  <a:srgbClr val="292524"/>
                </a:solidFill>
                <a:latin typeface="Inter"/>
                <a:ea typeface="Inter"/>
                <a:cs typeface="Inter"/>
              </a:defRPr>
            </a:pPr>
            <a:r>
              <a:rPr sz="2325" b="1">
                <a:solidFill>
                  <a:srgbClr val="292524"/>
                </a:solidFill>
                <a:latin typeface="Inter"/>
                <a:ea typeface="Inter"/>
                <a:cs typeface="Inter"/>
              </a:rPr>
              <a:t>1  Find the buyer</a:t>
            </a:r>
          </a:p>
        </p:txBody>
      </p:sp>
      <p:sp>
        <p:nvSpPr>
          <p:cNvPr id="5" name="">
            <a:extLst xmlns:a="http://schemas.openxmlformats.org/drawingml/2006/main">
              <a:ext uri="{FF2B5EF4-FFF2-40B4-BE49-F238E27FC236}">
                <a16:creationId xmlns:a16="http://schemas.microsoft.com/office/drawing/2014/main" id="{6174BABE-8842-4659-9C77-E121B79B9770}"/>
              </a:ext>
            </a:extLst>
          </p:cNvPr>
          <p:cNvSpPr>
            <a:spLocks xmlns:a="http://schemas.openxmlformats.org/drawingml/2006/main" noGrp="1"/>
          </p:cNvSpPr>
          <p:nvPr/>
        </p:nvSpPr>
        <p:spPr>
          <a:xfrm xmlns:a="http://schemas.openxmlformats.org/drawingml/2006/main">
            <a:off x="609600" y="2733675"/>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Conservation associations and adviser referrals. Qualify the workflow, budget and owner.</a:t>
            </a:r>
          </a:p>
        </p:txBody>
      </p:sp>
      <p:sp>
        <p:nvSpPr>
          <p:cNvPr id="6" name="">
            <a:extLst xmlns:a="http://schemas.openxmlformats.org/drawingml/2006/main">
              <a:ext uri="{FF2B5EF4-FFF2-40B4-BE49-F238E27FC236}">
                <a16:creationId xmlns:a16="http://schemas.microsoft.com/office/drawing/2014/main" id="{40F286BB-0185-49E4-BC41-ACF69D269A8A}"/>
              </a:ext>
            </a:extLst>
          </p:cNvPr>
          <p:cNvSpPr>
            <a:spLocks xmlns:a="http://schemas.openxmlformats.org/drawingml/2006/main" noGrp="1"/>
          </p:cNvSpPr>
          <p:nvPr/>
        </p:nvSpPr>
        <p:spPr>
          <a:xfrm xmlns:a="http://schemas.openxmlformats.org/drawingml/2006/main">
            <a:off x="43434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92524"/>
                </a:solidFill>
                <a:latin typeface="Inter"/>
                <a:ea typeface="Inter"/>
                <a:cs typeface="Inter"/>
              </a:defRPr>
            </a:defPPr>
          </a:lstStyle>
          <a:p xmlns:a="http://schemas.openxmlformats.org/drawingml/2006/main">
            <a:pPr>
              <a:defRPr sz="2325" b="1">
                <a:solidFill>
                  <a:srgbClr val="292524"/>
                </a:solidFill>
                <a:latin typeface="Inter"/>
                <a:ea typeface="Inter"/>
                <a:cs typeface="Inter"/>
              </a:defRPr>
            </a:pPr>
            <a:r>
              <a:rPr sz="2325" b="1">
                <a:solidFill>
                  <a:srgbClr val="292524"/>
                </a:solidFill>
                <a:latin typeface="Inter"/>
                <a:ea typeface="Inter"/>
                <a:cs typeface="Inter"/>
              </a:rPr>
              <a:t>2  Deliver a cohort</a:t>
            </a:r>
          </a:p>
        </p:txBody>
      </p:sp>
      <p:sp>
        <p:nvSpPr>
          <p:cNvPr id="7" name="">
            <a:extLst xmlns:a="http://schemas.openxmlformats.org/drawingml/2006/main">
              <a:ext uri="{FF2B5EF4-FFF2-40B4-BE49-F238E27FC236}">
                <a16:creationId xmlns:a16="http://schemas.microsoft.com/office/drawing/2014/main" id="{955A7AD4-E814-4F25-A5F9-CD97C30E46E3}"/>
              </a:ext>
            </a:extLst>
          </p:cNvPr>
          <p:cNvSpPr>
            <a:spLocks xmlns:a="http://schemas.openxmlformats.org/drawingml/2006/main" noGrp="1"/>
          </p:cNvSpPr>
          <p:nvPr/>
        </p:nvSpPr>
        <p:spPr>
          <a:xfrm xmlns:a="http://schemas.openxmlformats.org/drawingml/2006/main">
            <a:off x="4343400" y="2733675"/>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One workflow, paid facilitation and a comparison with current practice.</a:t>
            </a:r>
          </a:p>
        </p:txBody>
      </p:sp>
      <p:sp>
        <p:nvSpPr>
          <p:cNvPr id="8" name="">
            <a:extLst xmlns:a="http://schemas.openxmlformats.org/drawingml/2006/main">
              <a:ext uri="{FF2B5EF4-FFF2-40B4-BE49-F238E27FC236}">
                <a16:creationId xmlns:a16="http://schemas.microsoft.com/office/drawing/2014/main" id="{07828D78-0993-4CFF-ACD4-CCCADC277BAC}"/>
              </a:ext>
            </a:extLst>
          </p:cNvPr>
          <p:cNvSpPr>
            <a:spLocks xmlns:a="http://schemas.openxmlformats.org/drawingml/2006/main" noGrp="1"/>
          </p:cNvSpPr>
          <p:nvPr/>
        </p:nvSpPr>
        <p:spPr>
          <a:xfrm xmlns:a="http://schemas.openxmlformats.org/drawingml/2006/main">
            <a:off x="80772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92524"/>
                </a:solidFill>
                <a:latin typeface="Inter"/>
                <a:ea typeface="Inter"/>
                <a:cs typeface="Inter"/>
              </a:defRPr>
            </a:defPPr>
          </a:lstStyle>
          <a:p xmlns:a="http://schemas.openxmlformats.org/drawingml/2006/main">
            <a:pPr>
              <a:defRPr sz="2325" b="1">
                <a:solidFill>
                  <a:srgbClr val="292524"/>
                </a:solidFill>
                <a:latin typeface="Inter"/>
                <a:ea typeface="Inter"/>
                <a:cs typeface="Inter"/>
              </a:defRPr>
            </a:pPr>
            <a:r>
              <a:rPr sz="2325" b="1">
                <a:solidFill>
                  <a:srgbClr val="292524"/>
                </a:solidFill>
                <a:latin typeface="Inter"/>
                <a:ea typeface="Inter"/>
                <a:cs typeface="Inter"/>
              </a:rPr>
              <a:t>3  Earn renewal</a:t>
            </a:r>
          </a:p>
        </p:txBody>
      </p:sp>
      <p:sp>
        <p:nvSpPr>
          <p:cNvPr id="9" name="">
            <a:extLst xmlns:a="http://schemas.openxmlformats.org/drawingml/2006/main">
              <a:ext uri="{FF2B5EF4-FFF2-40B4-BE49-F238E27FC236}">
                <a16:creationId xmlns:a16="http://schemas.microsoft.com/office/drawing/2014/main" id="{69C6D5FB-EC69-4C78-A790-3719374A9197}"/>
              </a:ext>
            </a:extLst>
          </p:cNvPr>
          <p:cNvSpPr>
            <a:spLocks xmlns:a="http://schemas.openxmlformats.org/drawingml/2006/main" noGrp="1"/>
          </p:cNvSpPr>
          <p:nvPr/>
        </p:nvSpPr>
        <p:spPr>
          <a:xfrm xmlns:a="http://schemas.openxmlformats.org/drawingml/2006/main">
            <a:off x="8077200" y="2733675"/>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Demonstrate useful records, affordable support and peer referrals.</a:t>
            </a:r>
          </a:p>
        </p:txBody>
      </p:sp>
      <p:sp>
        <p:nvSpPr>
          <p:cNvPr id="10" name="">
            <a:extLst xmlns:a="http://schemas.openxmlformats.org/drawingml/2006/main">
              <a:ext uri="{FF2B5EF4-FFF2-40B4-BE49-F238E27FC236}">
                <a16:creationId xmlns:a16="http://schemas.microsoft.com/office/drawing/2014/main" id="{62E236EF-6842-42C4-9133-E6ED94E19421}"/>
              </a:ext>
            </a:extLst>
          </p:cNvPr>
          <p:cNvSpPr>
            <a:spLocks xmlns:a="http://schemas.openxmlformats.org/drawingml/2006/main" noGrp="1"/>
          </p:cNvSpPr>
          <p:nvPr/>
        </p:nvSpPr>
        <p:spPr>
          <a:xfrm xmlns:a="http://schemas.openxmlformats.org/drawingml/2006/main">
            <a:off x="609600" y="5219700"/>
            <a:ext cx="109442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A7544"/>
                </a:solidFill>
                <a:latin typeface="Inter"/>
                <a:ea typeface="Inter"/>
                <a:cs typeface="Inter"/>
              </a:defRPr>
            </a:defPPr>
          </a:lstStyle>
          <a:p xmlns:a="http://schemas.openxmlformats.org/drawingml/2006/main">
            <a:pPr>
              <a:defRPr sz="2325" b="1">
                <a:solidFill>
                  <a:srgbClr val="1A7544"/>
                </a:solidFill>
                <a:latin typeface="Inter"/>
                <a:ea typeface="Inter"/>
                <a:cs typeface="Inter"/>
              </a:defRPr>
            </a:pPr>
            <a:r>
              <a:rPr sz="2325" b="1">
                <a:solidFill>
                  <a:srgbClr val="1A7544"/>
                </a:solidFill>
                <a:latin typeface="Inter"/>
                <a:ea typeface="Inter"/>
                <a:cs typeface="Inter"/>
              </a:rPr>
              <a:t>30 conversations  →  6 proposals  →  3 paid pilots  →  2 continuations</a:t>
            </a:r>
          </a:p>
        </p:txBody>
      </p:sp>
    </p:spTree>
    <p:extLst>
      <p:ext uri="{BB962C8B-B14F-4D97-AF65-F5344CB8AC3E}">
        <p14:creationId xmlns:p14="http://schemas.microsoft.com/office/powerpoint/2010/main" val="510846791"/>
      </p:ext>
    </p:extLst>
  </p:cSld>
</p:sld>
</file>

<file path=ppt/slides/slide1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2792B2-0F44-4BDE-8861-A44539BB062B}"/>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Green Goods has foundations to build on</a:t>
            </a:r>
          </a:p>
        </p:txBody>
      </p:sp>
      <p:sp>
        <p:nvSpPr>
          <p:cNvPr id="2" name="">
            <a:extLst xmlns:a="http://schemas.openxmlformats.org/drawingml/2006/main">
              <a:ext uri="{FF2B5EF4-FFF2-40B4-BE49-F238E27FC236}">
                <a16:creationId xmlns:a16="http://schemas.microsoft.com/office/drawing/2014/main" id="{D65DB42D-9359-40DA-9777-2CF28EFEC1BF}"/>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Fraunces"/>
                <a:ea typeface="Fraunces"/>
                <a:cs typeface="Fraunces"/>
              </a:defRPr>
            </a:defPPr>
          </a:lstStyle>
          <a:p xmlns:a="http://schemas.openxmlformats.org/drawingml/2006/main">
            <a:pPr>
              <a:defRPr sz="1200" b="0">
                <a:solidFill>
                  <a:srgbClr val="78716C"/>
                </a:solidFill>
                <a:latin typeface="Fraunces"/>
                <a:ea typeface="Fraunces"/>
                <a:cs typeface="Fraunces"/>
              </a:defRPr>
            </a:pPr>
            <a:r>
              <a:rPr sz="1200" b="0">
                <a:solidFill>
                  <a:srgbClr val="78716C"/>
                </a:solidFill>
                <a:latin typeface="Fraunces"/>
                <a:ea typeface="Fraunces"/>
                <a:cs typeface="Fraunces"/>
              </a:rPr>
              <a:t>Green Goods OS</a:t>
            </a:r>
          </a:p>
        </p:txBody>
      </p:sp>
      <p:sp>
        <p:nvSpPr>
          <p:cNvPr id="3" name="">
            <a:extLst xmlns:a="http://schemas.openxmlformats.org/drawingml/2006/main">
              <a:ext uri="{FF2B5EF4-FFF2-40B4-BE49-F238E27FC236}">
                <a16:creationId xmlns:a16="http://schemas.microsoft.com/office/drawing/2014/main" id="{4D305A45-FE89-48F8-807C-1DA20DD3DC88}"/>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15</a:t>
            </a:r>
          </a:p>
        </p:txBody>
      </p:sp>
      <p:sp>
        <p:nvSpPr>
          <p:cNvPr id="4" name="">
            <a:extLst xmlns:a="http://schemas.openxmlformats.org/drawingml/2006/main">
              <a:ext uri="{FF2B5EF4-FFF2-40B4-BE49-F238E27FC236}">
                <a16:creationId xmlns:a16="http://schemas.microsoft.com/office/drawing/2014/main" id="{4A180550-A0FD-4626-917F-8D9D046387BD}"/>
              </a:ext>
            </a:extLst>
          </p:cNvPr>
          <p:cNvSpPr>
            <a:spLocks xmlns:a="http://schemas.openxmlformats.org/drawingml/2006/main" noGrp="1"/>
          </p:cNvSpPr>
          <p:nvPr/>
        </p:nvSpPr>
        <p:spPr>
          <a:xfrm xmlns:a="http://schemas.openxmlformats.org/drawingml/2006/main">
            <a:off x="609600" y="1876425"/>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92524"/>
                </a:solidFill>
                <a:latin typeface="Inter"/>
                <a:ea typeface="Inter"/>
                <a:cs typeface="Inter"/>
              </a:defRPr>
            </a:defPPr>
          </a:lstStyle>
          <a:p xmlns:a="http://schemas.openxmlformats.org/drawingml/2006/main">
            <a:pPr>
              <a:defRPr sz="2625" b="1">
                <a:solidFill>
                  <a:srgbClr val="292524"/>
                </a:solidFill>
                <a:latin typeface="Inter"/>
                <a:ea typeface="Inter"/>
                <a:cs typeface="Inter"/>
              </a:defRPr>
            </a:pPr>
            <a:r>
              <a:rPr sz="2625" b="1">
                <a:solidFill>
                  <a:srgbClr val="292524"/>
                </a:solidFill>
                <a:latin typeface="Inter"/>
                <a:ea typeface="Inter"/>
                <a:cs typeface="Inter"/>
              </a:rPr>
              <a:t>Existing Green Goods</a:t>
            </a:r>
          </a:p>
        </p:txBody>
      </p:sp>
      <p:sp>
        <p:nvSpPr>
          <p:cNvPr id="5" name="">
            <a:extLst xmlns:a="http://schemas.openxmlformats.org/drawingml/2006/main">
              <a:ext uri="{FF2B5EF4-FFF2-40B4-BE49-F238E27FC236}">
                <a16:creationId xmlns:a16="http://schemas.microsoft.com/office/drawing/2014/main" id="{2665685B-66EE-4FF2-9244-EB6C6BA5074C}"/>
              </a:ext>
            </a:extLst>
          </p:cNvPr>
          <p:cNvSpPr>
            <a:spLocks xmlns:a="http://schemas.openxmlformats.org/drawingml/2006/main" noGrp="1"/>
          </p:cNvSpPr>
          <p:nvPr/>
        </p:nvSpPr>
        <p:spPr>
          <a:xfrm xmlns:a="http://schemas.openxmlformats.org/drawingml/2006/main">
            <a:off x="609600" y="2695575"/>
            <a:ext cx="52768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92524"/>
                </a:solidFill>
                <a:latin typeface="Inter"/>
                <a:ea typeface="Inter"/>
                <a:cs typeface="Inter"/>
              </a:defRPr>
            </a:defPPr>
          </a:lstStyle>
          <a:p xmlns:a="http://schemas.openxmlformats.org/drawingml/2006/main">
            <a:pPr>
              <a:defRPr sz="2250" b="0">
                <a:solidFill>
                  <a:srgbClr val="292524"/>
                </a:solidFill>
                <a:latin typeface="Inter"/>
                <a:ea typeface="Inter"/>
                <a:cs typeface="Inter"/>
              </a:defRPr>
            </a:pPr>
            <a:r>
              <a:rPr sz="2250" b="0">
                <a:solidFill>
                  <a:srgbClr val="292524"/>
                </a:solidFill>
                <a:latin typeface="Inter"/>
                <a:ea typeface="Inter"/>
                <a:cs typeface="Inter"/>
              </a:rPr>
              <a:t>PWA and identities</a:t>
            </a:r>
          </a:p>
          <a:p xmlns:a="http://schemas.openxmlformats.org/drawingml/2006/main">
            <a:pPr>
              <a:defRPr sz="2250" b="0">
                <a:solidFill>
                  <a:srgbClr val="292524"/>
                </a:solidFill>
                <a:latin typeface="Inter"/>
                <a:ea typeface="Inter"/>
                <a:cs typeface="Inter"/>
              </a:defRPr>
            </a:pPr>
            <a:r>
              <a:rPr sz="2250" b="0">
                <a:solidFill>
                  <a:srgbClr val="292524"/>
                </a:solidFill>
                <a:latin typeface="Inter"/>
                <a:ea typeface="Inter"/>
                <a:cs typeface="Inter"/>
              </a:rPr>
              <a:t>Work records and community review</a:t>
            </a:r>
          </a:p>
          <a:p xmlns:a="http://schemas.openxmlformats.org/drawingml/2006/main">
            <a:pPr>
              <a:defRPr sz="2250" b="0">
                <a:solidFill>
                  <a:srgbClr val="292524"/>
                </a:solidFill>
                <a:latin typeface="Inter"/>
                <a:ea typeface="Inter"/>
                <a:cs typeface="Inter"/>
              </a:defRPr>
            </a:pPr>
            <a:r>
              <a:rPr sz="2250" b="0">
                <a:solidFill>
                  <a:srgbClr val="292524"/>
                </a:solidFill>
                <a:latin typeface="Inter"/>
                <a:ea typeface="Inter"/>
                <a:cs typeface="Inter"/>
              </a:rPr>
              <a:t>Protocol and funding modules</a:t>
            </a:r>
          </a:p>
        </p:txBody>
      </p:sp>
      <p:sp>
        <p:nvSpPr>
          <p:cNvPr id="6" name="">
            <a:extLst xmlns:a="http://schemas.openxmlformats.org/drawingml/2006/main">
              <a:ext uri="{FF2B5EF4-FFF2-40B4-BE49-F238E27FC236}">
                <a16:creationId xmlns:a16="http://schemas.microsoft.com/office/drawing/2014/main" id="{811B32B8-43C8-4296-BD79-86018C915B05}"/>
              </a:ext>
            </a:extLst>
          </p:cNvPr>
          <p:cNvSpPr>
            <a:spLocks xmlns:a="http://schemas.openxmlformats.org/drawingml/2006/main" noGrp="1"/>
          </p:cNvSpPr>
          <p:nvPr/>
        </p:nvSpPr>
        <p:spPr>
          <a:xfrm xmlns:a="http://schemas.openxmlformats.org/drawingml/2006/main">
            <a:off x="6753225" y="1876425"/>
            <a:ext cx="4819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A7544"/>
                </a:solidFill>
                <a:latin typeface="Inter"/>
                <a:ea typeface="Inter"/>
                <a:cs typeface="Inter"/>
              </a:defRPr>
            </a:defPPr>
          </a:lstStyle>
          <a:p xmlns:a="http://schemas.openxmlformats.org/drawingml/2006/main">
            <a:pPr>
              <a:defRPr sz="2625" b="1">
                <a:solidFill>
                  <a:srgbClr val="1A7544"/>
                </a:solidFill>
                <a:latin typeface="Inter"/>
                <a:ea typeface="Inter"/>
                <a:cs typeface="Inter"/>
              </a:defRPr>
            </a:pPr>
            <a:r>
              <a:rPr sz="2625" b="1">
                <a:solidFill>
                  <a:srgbClr val="1A7544"/>
                </a:solidFill>
                <a:latin typeface="Inter"/>
                <a:ea typeface="Inter"/>
                <a:cs typeface="Inter"/>
              </a:rPr>
              <a:t>Proposed OS layer</a:t>
            </a:r>
          </a:p>
        </p:txBody>
      </p:sp>
      <p:sp>
        <p:nvSpPr>
          <p:cNvPr id="7" name="">
            <a:extLst xmlns:a="http://schemas.openxmlformats.org/drawingml/2006/main">
              <a:ext uri="{FF2B5EF4-FFF2-40B4-BE49-F238E27FC236}">
                <a16:creationId xmlns:a16="http://schemas.microsoft.com/office/drawing/2014/main" id="{33AC5B4D-0EAB-46C0-9F62-FC6A10418C0A}"/>
              </a:ext>
            </a:extLst>
          </p:cNvPr>
          <p:cNvSpPr>
            <a:spLocks xmlns:a="http://schemas.openxmlformats.org/drawingml/2006/main" noGrp="1"/>
          </p:cNvSpPr>
          <p:nvPr/>
        </p:nvSpPr>
        <p:spPr>
          <a:xfrm xmlns:a="http://schemas.openxmlformats.org/drawingml/2006/main">
            <a:off x="6753225" y="2695575"/>
            <a:ext cx="48196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92524"/>
                </a:solidFill>
                <a:latin typeface="Inter"/>
                <a:ea typeface="Inter"/>
                <a:cs typeface="Inter"/>
              </a:defRPr>
            </a:defPPr>
          </a:lstStyle>
          <a:p xmlns:a="http://schemas.openxmlformats.org/drawingml/2006/main">
            <a:pPr>
              <a:defRPr sz="2250" b="0">
                <a:solidFill>
                  <a:srgbClr val="292524"/>
                </a:solidFill>
                <a:latin typeface="Inter"/>
                <a:ea typeface="Inter"/>
                <a:cs typeface="Inter"/>
              </a:defRPr>
            </a:pPr>
            <a:r>
              <a:rPr sz="2250" b="0">
                <a:solidFill>
                  <a:srgbClr val="292524"/>
                </a:solidFill>
                <a:latin typeface="Inter"/>
                <a:ea typeface="Inter"/>
                <a:cs typeface="Inter"/>
              </a:rPr>
              <a:t>Browser capture and local AI</a:t>
            </a:r>
          </a:p>
          <a:p xmlns:a="http://schemas.openxmlformats.org/drawingml/2006/main">
            <a:pPr>
              <a:defRPr sz="2250" b="0">
                <a:solidFill>
                  <a:srgbClr val="292524"/>
                </a:solidFill>
                <a:latin typeface="Inter"/>
                <a:ea typeface="Inter"/>
                <a:cs typeface="Inter"/>
              </a:defRPr>
            </a:pPr>
            <a:r>
              <a:rPr sz="2250" b="0">
                <a:solidFill>
                  <a:srgbClr val="292524"/>
                </a:solidFill>
                <a:latin typeface="Inter"/>
                <a:ea typeface="Inter"/>
                <a:cs typeface="Inter"/>
              </a:rPr>
              <a:t>Sensor imports and private memory</a:t>
            </a:r>
          </a:p>
          <a:p xmlns:a="http://schemas.openxmlformats.org/drawingml/2006/main">
            <a:pPr>
              <a:defRPr sz="2250" b="0">
                <a:solidFill>
                  <a:srgbClr val="292524"/>
                </a:solidFill>
                <a:latin typeface="Inter"/>
                <a:ea typeface="Inter"/>
                <a:cs typeface="Inter"/>
              </a:defRPr>
            </a:pPr>
            <a:r>
              <a:rPr sz="2250" b="0">
                <a:solidFill>
                  <a:srgbClr val="292524"/>
                </a:solidFill>
                <a:latin typeface="Inter"/>
                <a:ea typeface="Inter"/>
                <a:cs typeface="Inter"/>
              </a:rPr>
              <a:t>Deliberate sharing and retrieval</a:t>
            </a:r>
          </a:p>
        </p:txBody>
      </p:sp>
      <p:sp>
        <p:nvSpPr>
          <p:cNvPr id="8" name="">
            <a:extLst xmlns:a="http://schemas.openxmlformats.org/drawingml/2006/main">
              <a:ext uri="{FF2B5EF4-FFF2-40B4-BE49-F238E27FC236}">
                <a16:creationId xmlns:a16="http://schemas.microsoft.com/office/drawing/2014/main" id="{D8E51022-E59F-4DE7-8B2C-555A05FCD071}"/>
              </a:ext>
            </a:extLst>
          </p:cNvPr>
          <p:cNvSpPr>
            <a:spLocks xmlns:a="http://schemas.openxmlformats.org/drawingml/2006/main" noGrp="1"/>
          </p:cNvSpPr>
          <p:nvPr/>
        </p:nvSpPr>
        <p:spPr>
          <a:xfrm xmlns:a="http://schemas.openxmlformats.org/drawingml/2006/main">
            <a:off x="609600" y="542925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92524"/>
                </a:solidFill>
                <a:latin typeface="Inter"/>
                <a:ea typeface="Inter"/>
                <a:cs typeface="Inter"/>
              </a:defRPr>
            </a:defPPr>
          </a:lstStyle>
          <a:p xmlns:a="http://schemas.openxmlformats.org/drawingml/2006/main">
            <a:pPr>
              <a:defRPr sz="2400" b="1">
                <a:solidFill>
                  <a:srgbClr val="292524"/>
                </a:solidFill>
                <a:latin typeface="Inter"/>
                <a:ea typeface="Inter"/>
                <a:cs typeface="Inter"/>
              </a:defRPr>
            </a:pPr>
            <a:r>
              <a:rPr sz="2400" b="1">
                <a:solidFill>
                  <a:srgbClr val="292524"/>
                </a:solidFill>
                <a:latin typeface="Inter"/>
                <a:ea typeface="Inter"/>
                <a:cs typeface="Inter"/>
              </a:rPr>
              <a:t>Next evidence: a useful field task, a paying buyer and repeat use</a:t>
            </a:r>
          </a:p>
        </p:txBody>
      </p:sp>
    </p:spTree>
    <p:extLst>
      <p:ext uri="{BB962C8B-B14F-4D97-AF65-F5344CB8AC3E}">
        <p14:creationId xmlns:p14="http://schemas.microsoft.com/office/powerpoint/2010/main" val="954079439"/>
      </p:ext>
    </p:extLst>
  </p:cSld>
</p:sld>
</file>

<file path=ppt/slides/slide1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B49F42-693C-4AF5-B71E-640353D2E9BE}"/>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Useful knowledge can support collective action</a:t>
            </a:r>
          </a:p>
        </p:txBody>
      </p:sp>
      <p:sp>
        <p:nvSpPr>
          <p:cNvPr id="2" name="">
            <a:extLst xmlns:a="http://schemas.openxmlformats.org/drawingml/2006/main">
              <a:ext uri="{FF2B5EF4-FFF2-40B4-BE49-F238E27FC236}">
                <a16:creationId xmlns:a16="http://schemas.microsoft.com/office/drawing/2014/main" id="{1D68B688-69DF-4369-809B-B38EC26CEB2F}"/>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Fraunces"/>
                <a:ea typeface="Fraunces"/>
                <a:cs typeface="Fraunces"/>
              </a:defRPr>
            </a:defPPr>
          </a:lstStyle>
          <a:p xmlns:a="http://schemas.openxmlformats.org/drawingml/2006/main">
            <a:pPr>
              <a:defRPr sz="1200" b="0">
                <a:solidFill>
                  <a:srgbClr val="78716C"/>
                </a:solidFill>
                <a:latin typeface="Fraunces"/>
                <a:ea typeface="Fraunces"/>
                <a:cs typeface="Fraunces"/>
              </a:defRPr>
            </a:pPr>
            <a:r>
              <a:rPr sz="1200" b="0">
                <a:solidFill>
                  <a:srgbClr val="78716C"/>
                </a:solidFill>
                <a:latin typeface="Fraunces"/>
                <a:ea typeface="Fraunces"/>
                <a:cs typeface="Fraunces"/>
              </a:rPr>
              <a:t>Green Goods OS</a:t>
            </a:r>
          </a:p>
        </p:txBody>
      </p:sp>
      <p:sp>
        <p:nvSpPr>
          <p:cNvPr id="3" name="">
            <a:extLst xmlns:a="http://schemas.openxmlformats.org/drawingml/2006/main">
              <a:ext uri="{FF2B5EF4-FFF2-40B4-BE49-F238E27FC236}">
                <a16:creationId xmlns:a16="http://schemas.microsoft.com/office/drawing/2014/main" id="{106A097E-DABC-4365-B5A3-675A1C322CD0}"/>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16</a:t>
            </a:r>
          </a:p>
        </p:txBody>
      </p:sp>
      <p:sp>
        <p:nvSpPr>
          <p:cNvPr id="4" name="">
            <a:extLst xmlns:a="http://schemas.openxmlformats.org/drawingml/2006/main">
              <a:ext uri="{FF2B5EF4-FFF2-40B4-BE49-F238E27FC236}">
                <a16:creationId xmlns:a16="http://schemas.microsoft.com/office/drawing/2014/main" id="{35C28630-0BDA-4469-9FA8-B5CD36244CF2}"/>
              </a:ext>
            </a:extLst>
          </p:cNvPr>
          <p:cNvSpPr>
            <a:spLocks xmlns:a="http://schemas.openxmlformats.org/drawingml/2006/main" noGrp="1"/>
          </p:cNvSpPr>
          <p:nvPr/>
        </p:nvSpPr>
        <p:spPr>
          <a:xfrm xmlns:a="http://schemas.openxmlformats.org/drawingml/2006/main">
            <a:off x="609600" y="1790700"/>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292524"/>
                </a:solidFill>
                <a:latin typeface="Inter"/>
                <a:ea typeface="Inter"/>
                <a:cs typeface="Inter"/>
              </a:defRPr>
            </a:defPPr>
          </a:lstStyle>
          <a:p xmlns:a="http://schemas.openxmlformats.org/drawingml/2006/main">
            <a:pPr>
              <a:defRPr sz="2775" b="1">
                <a:solidFill>
                  <a:srgbClr val="292524"/>
                </a:solidFill>
                <a:latin typeface="Inter"/>
                <a:ea typeface="Inter"/>
                <a:cs typeface="Inter"/>
              </a:defRPr>
            </a:pPr>
            <a:r>
              <a:rPr sz="2775" b="1">
                <a:solidFill>
                  <a:srgbClr val="292524"/>
                </a:solidFill>
                <a:latin typeface="Inter"/>
                <a:ea typeface="Inter"/>
                <a:cs typeface="Inter"/>
              </a:rPr>
              <a:t>Local memory  →  Reciprocal learning  →  Better decisions</a:t>
            </a:r>
          </a:p>
        </p:txBody>
      </p:sp>
      <p:sp>
        <p:nvSpPr>
          <p:cNvPr id="5" name="">
            <a:extLst xmlns:a="http://schemas.openxmlformats.org/drawingml/2006/main">
              <a:ext uri="{FF2B5EF4-FFF2-40B4-BE49-F238E27FC236}">
                <a16:creationId xmlns:a16="http://schemas.microsoft.com/office/drawing/2014/main" id="{6AF20C94-DA38-4DFF-B42F-9989C1576694}"/>
              </a:ext>
            </a:extLst>
          </p:cNvPr>
          <p:cNvSpPr>
            <a:spLocks xmlns:a="http://schemas.openxmlformats.org/drawingml/2006/main" noGrp="1"/>
          </p:cNvSpPr>
          <p:nvPr/>
        </p:nvSpPr>
        <p:spPr>
          <a:xfrm xmlns:a="http://schemas.openxmlformats.org/drawingml/2006/main">
            <a:off x="609600" y="294322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1A7544"/>
                </a:solidFill>
                <a:latin typeface="Inter"/>
                <a:ea typeface="Inter"/>
                <a:cs typeface="Inter"/>
              </a:defRPr>
            </a:defPPr>
          </a:lstStyle>
          <a:p xmlns:a="http://schemas.openxmlformats.org/drawingml/2006/main">
            <a:pPr>
              <a:defRPr sz="2775" b="1">
                <a:solidFill>
                  <a:srgbClr val="1A7544"/>
                </a:solidFill>
                <a:latin typeface="Inter"/>
                <a:ea typeface="Inter"/>
                <a:cs typeface="Inter"/>
              </a:defRPr>
            </a:pPr>
            <a:r>
              <a:rPr sz="2775" b="1">
                <a:solidFill>
                  <a:srgbClr val="1A7544"/>
                </a:solidFill>
                <a:latin typeface="Inter"/>
                <a:ea typeface="Inter"/>
                <a:cs typeface="Inter"/>
              </a:rPr>
              <a:t>Accountable commitments  →  Potential long-term support</a:t>
            </a:r>
          </a:p>
        </p:txBody>
      </p:sp>
      <p:sp>
        <p:nvSpPr>
          <p:cNvPr id="6" name="">
            <a:extLst xmlns:a="http://schemas.openxmlformats.org/drawingml/2006/main">
              <a:ext uri="{FF2B5EF4-FFF2-40B4-BE49-F238E27FC236}">
                <a16:creationId xmlns:a16="http://schemas.microsoft.com/office/drawing/2014/main" id="{600CFDD3-4B12-4396-9532-6663F6A4352F}"/>
              </a:ext>
            </a:extLst>
          </p:cNvPr>
          <p:cNvSpPr>
            <a:spLocks xmlns:a="http://schemas.openxmlformats.org/drawingml/2006/main" noGrp="1"/>
          </p:cNvSpPr>
          <p:nvPr/>
        </p:nvSpPr>
        <p:spPr>
          <a:xfrm xmlns:a="http://schemas.openxmlformats.org/drawingml/2006/main">
            <a:off x="609600" y="4210050"/>
            <a:ext cx="5038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92524"/>
                </a:solidFill>
                <a:latin typeface="Inter"/>
                <a:ea typeface="Inter"/>
                <a:cs typeface="Inter"/>
              </a:defRPr>
            </a:defPPr>
          </a:lstStyle>
          <a:p xmlns:a="http://schemas.openxmlformats.org/drawingml/2006/main">
            <a:pPr>
              <a:defRPr sz="2250" b="1">
                <a:solidFill>
                  <a:srgbClr val="292524"/>
                </a:solidFill>
                <a:latin typeface="Inter"/>
                <a:ea typeface="Inter"/>
                <a:cs typeface="Inter"/>
              </a:defRPr>
            </a:pPr>
            <a:r>
              <a:rPr sz="2250" b="1">
                <a:solidFill>
                  <a:srgbClr val="292524"/>
                </a:solidFill>
                <a:latin typeface="Inter"/>
                <a:ea typeface="Inter"/>
                <a:cs typeface="Inter"/>
              </a:rPr>
              <a:t>Commitment pooling</a:t>
            </a:r>
          </a:p>
        </p:txBody>
      </p:sp>
      <p:sp>
        <p:nvSpPr>
          <p:cNvPr id="7" name="">
            <a:extLst xmlns:a="http://schemas.openxmlformats.org/drawingml/2006/main">
              <a:ext uri="{FF2B5EF4-FFF2-40B4-BE49-F238E27FC236}">
                <a16:creationId xmlns:a16="http://schemas.microsoft.com/office/drawing/2014/main" id="{AD5591F2-74EC-409B-BEA2-B83A4798CD48}"/>
              </a:ext>
            </a:extLst>
          </p:cNvPr>
          <p:cNvSpPr>
            <a:spLocks xmlns:a="http://schemas.openxmlformats.org/drawingml/2006/main" noGrp="1"/>
          </p:cNvSpPr>
          <p:nvPr/>
        </p:nvSpPr>
        <p:spPr>
          <a:xfrm xmlns:a="http://schemas.openxmlformats.org/drawingml/2006/main">
            <a:off x="609600" y="4829175"/>
            <a:ext cx="50387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Agree who will do what, with what evidence and review.</a:t>
            </a:r>
          </a:p>
        </p:txBody>
      </p:sp>
      <p:sp>
        <p:nvSpPr>
          <p:cNvPr id="8" name="">
            <a:extLst xmlns:a="http://schemas.openxmlformats.org/drawingml/2006/main">
              <a:ext uri="{FF2B5EF4-FFF2-40B4-BE49-F238E27FC236}">
                <a16:creationId xmlns:a16="http://schemas.microsoft.com/office/drawing/2014/main" id="{343C552F-FB1C-49A8-9624-22795B503EA3}"/>
              </a:ext>
            </a:extLst>
          </p:cNvPr>
          <p:cNvSpPr>
            <a:spLocks xmlns:a="http://schemas.openxmlformats.org/drawingml/2006/main" noGrp="1"/>
          </p:cNvSpPr>
          <p:nvPr/>
        </p:nvSpPr>
        <p:spPr>
          <a:xfrm xmlns:a="http://schemas.openxmlformats.org/drawingml/2006/main">
            <a:off x="6791325" y="4210050"/>
            <a:ext cx="4781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92524"/>
                </a:solidFill>
                <a:latin typeface="Inter"/>
                <a:ea typeface="Inter"/>
                <a:cs typeface="Inter"/>
              </a:defRPr>
            </a:defPPr>
          </a:lstStyle>
          <a:p xmlns:a="http://schemas.openxmlformats.org/drawingml/2006/main">
            <a:pPr>
              <a:defRPr sz="2250" b="1">
                <a:solidFill>
                  <a:srgbClr val="292524"/>
                </a:solidFill>
                <a:latin typeface="Inter"/>
                <a:ea typeface="Inter"/>
                <a:cs typeface="Inter"/>
              </a:defRPr>
            </a:pPr>
            <a:r>
              <a:rPr sz="2250" b="1">
                <a:solidFill>
                  <a:srgbClr val="292524"/>
                </a:solidFill>
                <a:latin typeface="Inter"/>
                <a:ea typeface="Inter"/>
                <a:cs typeface="Inter"/>
              </a:rPr>
              <a:t>Endowments</a:t>
            </a:r>
          </a:p>
        </p:txBody>
      </p:sp>
      <p:sp>
        <p:nvSpPr>
          <p:cNvPr id="9" name="">
            <a:extLst xmlns:a="http://schemas.openxmlformats.org/drawingml/2006/main">
              <a:ext uri="{FF2B5EF4-FFF2-40B4-BE49-F238E27FC236}">
                <a16:creationId xmlns:a16="http://schemas.microsoft.com/office/drawing/2014/main" id="{EE3B6685-26A1-47EE-B4DE-B3433D58E0F8}"/>
              </a:ext>
            </a:extLst>
          </p:cNvPr>
          <p:cNvSpPr>
            <a:spLocks xmlns:a="http://schemas.openxmlformats.org/drawingml/2006/main" noGrp="1"/>
          </p:cNvSpPr>
          <p:nvPr/>
        </p:nvSpPr>
        <p:spPr>
          <a:xfrm xmlns:a="http://schemas.openxmlformats.org/drawingml/2006/main">
            <a:off x="6791325" y="4829175"/>
            <a:ext cx="47815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92524"/>
                </a:solidFill>
                <a:latin typeface="Inter"/>
                <a:ea typeface="Inter"/>
                <a:cs typeface="Inter"/>
              </a:defRPr>
            </a:defPPr>
          </a:lstStyle>
          <a:p xmlns:a="http://schemas.openxmlformats.org/drawingml/2006/main">
            <a:pPr>
              <a:defRPr sz="2100" b="0">
                <a:solidFill>
                  <a:srgbClr val="292524"/>
                </a:solidFill>
                <a:latin typeface="Inter"/>
                <a:ea typeface="Inter"/>
                <a:cs typeface="Inter"/>
              </a:defRPr>
            </a:pPr>
            <a:r>
              <a:rPr sz="2100" b="0">
                <a:solidFill>
                  <a:srgbClr val="292524"/>
                </a:solidFill>
                <a:latin typeface="Inter"/>
                <a:ea typeface="Inter"/>
                <a:cs typeface="Inter"/>
              </a:rPr>
              <a:t>Support ongoing stewardship from actual returns, where suitable.</a:t>
            </a:r>
          </a:p>
        </p:txBody>
      </p:sp>
      <p:sp>
        <p:nvSpPr>
          <p:cNvPr id="10" name="">
            <a:extLst xmlns:a="http://schemas.openxmlformats.org/drawingml/2006/main">
              <a:ext uri="{FF2B5EF4-FFF2-40B4-BE49-F238E27FC236}">
                <a16:creationId xmlns:a16="http://schemas.microsoft.com/office/drawing/2014/main" id="{59B56EC2-E565-40D3-99E9-5F3E5E136388}"/>
              </a:ext>
            </a:extLst>
          </p:cNvPr>
          <p:cNvSpPr>
            <a:spLocks xmlns:a="http://schemas.openxmlformats.org/drawingml/2006/main" noGrp="1"/>
          </p:cNvSpPr>
          <p:nvPr/>
        </p:nvSpPr>
        <p:spPr>
          <a:xfrm xmlns:a="http://schemas.openxmlformats.org/drawingml/2006/main">
            <a:off x="609600" y="60388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78716C"/>
                </a:solidFill>
                <a:latin typeface="Inter"/>
                <a:ea typeface="Inter"/>
                <a:cs typeface="Inter"/>
              </a:defRPr>
            </a:defPPr>
          </a:lstStyle>
          <a:p xmlns:a="http://schemas.openxmlformats.org/drawingml/2006/main">
            <a:pPr>
              <a:defRPr sz="1500" b="0">
                <a:solidFill>
                  <a:srgbClr val="78716C"/>
                </a:solidFill>
                <a:latin typeface="Inter"/>
                <a:ea typeface="Inter"/>
                <a:cs typeface="Inter"/>
              </a:defRPr>
            </a:pPr>
            <a:r>
              <a:rPr sz="1500" b="0">
                <a:solidFill>
                  <a:srgbClr val="78716C"/>
                </a:solidFill>
                <a:latin typeface="Inter"/>
                <a:ea typeface="Inter"/>
                <a:cs typeface="Inter"/>
              </a:rPr>
              <a:t>Value includes knowledge, relationships, culture, experience and money. No return guarantees.</a:t>
            </a:r>
          </a:p>
        </p:txBody>
      </p:sp>
    </p:spTree>
    <p:extLst>
      <p:ext uri="{BB962C8B-B14F-4D97-AF65-F5344CB8AC3E}">
        <p14:creationId xmlns:p14="http://schemas.microsoft.com/office/powerpoint/2010/main" val="1091533884"/>
      </p:ext>
    </p:extLst>
  </p:cSld>
</p:sld>
</file>

<file path=ppt/slides/slide17.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AF5E1F0-BCE3-40E5-9F26-593B4157616F}"/>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Ten weeks to test usefulness and willingness to pay</a:t>
            </a:r>
          </a:p>
        </p:txBody>
      </p:sp>
      <p:sp>
        <p:nvSpPr>
          <p:cNvPr id="2" name="">
            <a:extLst xmlns:a="http://schemas.openxmlformats.org/drawingml/2006/main">
              <a:ext uri="{FF2B5EF4-FFF2-40B4-BE49-F238E27FC236}">
                <a16:creationId xmlns:a16="http://schemas.microsoft.com/office/drawing/2014/main" id="{9B3DFBAB-20E5-4910-8CC3-BE1409E41422}"/>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Proposed budgets and acceptance targets · Prototype and pilot require separate go / no-go decisions</a:t>
            </a:r>
          </a:p>
        </p:txBody>
      </p:sp>
      <p:sp>
        <p:nvSpPr>
          <p:cNvPr id="3" name="">
            <a:extLst xmlns:a="http://schemas.openxmlformats.org/drawingml/2006/main">
              <a:ext uri="{FF2B5EF4-FFF2-40B4-BE49-F238E27FC236}">
                <a16:creationId xmlns:a16="http://schemas.microsoft.com/office/drawing/2014/main" id="{F2415D93-6041-48F8-B165-1DD066DEF3DC}"/>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17</a:t>
            </a:r>
          </a:p>
        </p:txBody>
      </p:sp>
      <p:sp>
        <p:nvSpPr>
          <p:cNvPr id="4" name="">
            <a:extLst xmlns:a="http://schemas.openxmlformats.org/drawingml/2006/main">
              <a:ext uri="{FF2B5EF4-FFF2-40B4-BE49-F238E27FC236}">
                <a16:creationId xmlns:a16="http://schemas.microsoft.com/office/drawing/2014/main" id="{985BAB8A-4A7D-4479-9D16-F07BD31D07ED}"/>
              </a:ext>
            </a:extLst>
          </p:cNvPr>
          <p:cNvSpPr>
            <a:spLocks xmlns:a="http://schemas.openxmlformats.org/drawingml/2006/main" noGrp="1"/>
          </p:cNvSpPr>
          <p:nvPr/>
        </p:nvSpPr>
        <p:spPr>
          <a:xfrm xmlns:a="http://schemas.openxmlformats.org/drawingml/2006/main">
            <a:off x="6096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92524"/>
                </a:solidFill>
                <a:latin typeface="Inter"/>
                <a:ea typeface="Inter"/>
                <a:cs typeface="Inter"/>
              </a:defRPr>
            </a:defPPr>
          </a:lstStyle>
          <a:p xmlns:a="http://schemas.openxmlformats.org/drawingml/2006/main">
            <a:pPr>
              <a:defRPr sz="2250" b="1">
                <a:solidFill>
                  <a:srgbClr val="292524"/>
                </a:solidFill>
                <a:latin typeface="Inter"/>
                <a:ea typeface="Inter"/>
                <a:cs typeface="Inter"/>
              </a:defRPr>
            </a:pPr>
            <a:r>
              <a:rPr sz="2250" b="1">
                <a:solidFill>
                  <a:srgbClr val="292524"/>
                </a:solidFill>
                <a:latin typeface="Inter"/>
                <a:ea typeface="Inter"/>
                <a:cs typeface="Inter"/>
              </a:rPr>
              <a:t>Weeks 1–2 · $12k</a:t>
            </a:r>
          </a:p>
        </p:txBody>
      </p:sp>
      <p:sp>
        <p:nvSpPr>
          <p:cNvPr id="5" name="">
            <a:extLst xmlns:a="http://schemas.openxmlformats.org/drawingml/2006/main">
              <a:ext uri="{FF2B5EF4-FFF2-40B4-BE49-F238E27FC236}">
                <a16:creationId xmlns:a16="http://schemas.microsoft.com/office/drawing/2014/main" id="{554F45AD-CD09-44EF-A3D8-AB7F8C5EF2AD}"/>
              </a:ext>
            </a:extLst>
          </p:cNvPr>
          <p:cNvSpPr>
            <a:spLocks xmlns:a="http://schemas.openxmlformats.org/drawingml/2006/main" noGrp="1"/>
          </p:cNvSpPr>
          <p:nvPr/>
        </p:nvSpPr>
        <p:spPr>
          <a:xfrm xmlns:a="http://schemas.openxmlformats.org/drawingml/2006/main">
            <a:off x="609600" y="2838450"/>
            <a:ext cx="333375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Synthetic recording</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Manual + local AI test</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Review, export and retrieval</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Privacy and recovery proof</a:t>
            </a:r>
          </a:p>
        </p:txBody>
      </p:sp>
      <p:sp>
        <p:nvSpPr>
          <p:cNvPr id="6" name="">
            <a:extLst xmlns:a="http://schemas.openxmlformats.org/drawingml/2006/main">
              <a:ext uri="{FF2B5EF4-FFF2-40B4-BE49-F238E27FC236}">
                <a16:creationId xmlns:a16="http://schemas.microsoft.com/office/drawing/2014/main" id="{6C1A076F-1DB1-4BEF-9E14-A28FD576D333}"/>
              </a:ext>
            </a:extLst>
          </p:cNvPr>
          <p:cNvSpPr>
            <a:spLocks xmlns:a="http://schemas.openxmlformats.org/drawingml/2006/main" noGrp="1"/>
          </p:cNvSpPr>
          <p:nvPr/>
        </p:nvSpPr>
        <p:spPr>
          <a:xfrm xmlns:a="http://schemas.openxmlformats.org/drawingml/2006/main">
            <a:off x="43434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92524"/>
                </a:solidFill>
                <a:latin typeface="Inter"/>
                <a:ea typeface="Inter"/>
                <a:cs typeface="Inter"/>
              </a:defRPr>
            </a:defPPr>
          </a:lstStyle>
          <a:p xmlns:a="http://schemas.openxmlformats.org/drawingml/2006/main">
            <a:pPr>
              <a:defRPr sz="2250" b="1">
                <a:solidFill>
                  <a:srgbClr val="292524"/>
                </a:solidFill>
                <a:latin typeface="Inter"/>
                <a:ea typeface="Inter"/>
                <a:cs typeface="Inter"/>
              </a:defRPr>
            </a:pPr>
            <a:r>
              <a:rPr sz="2250" b="1">
                <a:solidFill>
                  <a:srgbClr val="292524"/>
                </a:solidFill>
                <a:latin typeface="Inter"/>
                <a:ea typeface="Inter"/>
                <a:cs typeface="Inter"/>
              </a:rPr>
              <a:t>Weeks 3–10 · $30k</a:t>
            </a:r>
          </a:p>
        </p:txBody>
      </p:sp>
      <p:sp>
        <p:nvSpPr>
          <p:cNvPr id="7" name="">
            <a:extLst xmlns:a="http://schemas.openxmlformats.org/drawingml/2006/main">
              <a:ext uri="{FF2B5EF4-FFF2-40B4-BE49-F238E27FC236}">
                <a16:creationId xmlns:a16="http://schemas.microsoft.com/office/drawing/2014/main" id="{DC69B02F-C6A4-45BB-A1D8-3777F4BD1E25}"/>
              </a:ext>
            </a:extLst>
          </p:cNvPr>
          <p:cNvSpPr>
            <a:spLocks xmlns:a="http://schemas.openxmlformats.org/drawingml/2006/main" noGrp="1"/>
          </p:cNvSpPr>
          <p:nvPr/>
        </p:nvSpPr>
        <p:spPr>
          <a:xfrm xmlns:a="http://schemas.openxmlformats.org/drawingml/2006/main">
            <a:off x="4343400" y="2838450"/>
            <a:ext cx="333375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Three field workspaces</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A paid local facilitator</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One recurring field question</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A paid continuation test</a:t>
            </a:r>
          </a:p>
        </p:txBody>
      </p:sp>
      <p:sp>
        <p:nvSpPr>
          <p:cNvPr id="8" name="">
            <a:extLst xmlns:a="http://schemas.openxmlformats.org/drawingml/2006/main">
              <a:ext uri="{FF2B5EF4-FFF2-40B4-BE49-F238E27FC236}">
                <a16:creationId xmlns:a16="http://schemas.microsoft.com/office/drawing/2014/main" id="{456A7E2F-957E-4DCD-9170-7880A79D1998}"/>
              </a:ext>
            </a:extLst>
          </p:cNvPr>
          <p:cNvSpPr>
            <a:spLocks xmlns:a="http://schemas.openxmlformats.org/drawingml/2006/main" noGrp="1"/>
          </p:cNvSpPr>
          <p:nvPr/>
        </p:nvSpPr>
        <p:spPr>
          <a:xfrm xmlns:a="http://schemas.openxmlformats.org/drawingml/2006/main">
            <a:off x="80772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92524"/>
                </a:solidFill>
                <a:latin typeface="Inter"/>
                <a:ea typeface="Inter"/>
                <a:cs typeface="Inter"/>
              </a:defRPr>
            </a:defPPr>
          </a:lstStyle>
          <a:p xmlns:a="http://schemas.openxmlformats.org/drawingml/2006/main">
            <a:pPr>
              <a:defRPr sz="2250" b="1">
                <a:solidFill>
                  <a:srgbClr val="292524"/>
                </a:solidFill>
                <a:latin typeface="Inter"/>
                <a:ea typeface="Inter"/>
                <a:cs typeface="Inter"/>
              </a:defRPr>
            </a:pPr>
            <a:r>
              <a:rPr sz="2250" b="1">
                <a:solidFill>
                  <a:srgbClr val="292524"/>
                </a:solidFill>
                <a:latin typeface="Inter"/>
                <a:ea typeface="Inter"/>
                <a:cs typeface="Inter"/>
              </a:rPr>
              <a:t>Evidence to advance</a:t>
            </a:r>
          </a:p>
        </p:txBody>
      </p:sp>
      <p:sp>
        <p:nvSpPr>
          <p:cNvPr id="9" name="">
            <a:extLst xmlns:a="http://schemas.openxmlformats.org/drawingml/2006/main">
              <a:ext uri="{FF2B5EF4-FFF2-40B4-BE49-F238E27FC236}">
                <a16:creationId xmlns:a16="http://schemas.microsoft.com/office/drawing/2014/main" id="{E55D24F8-B95E-4E20-9532-451DE28BF5B5}"/>
              </a:ext>
            </a:extLst>
          </p:cNvPr>
          <p:cNvSpPr>
            <a:spLocks xmlns:a="http://schemas.openxmlformats.org/drawingml/2006/main" noGrp="1"/>
          </p:cNvSpPr>
          <p:nvPr/>
        </p:nvSpPr>
        <p:spPr>
          <a:xfrm xmlns:a="http://schemas.openxmlformats.org/drawingml/2006/main">
            <a:off x="8077200" y="2838450"/>
            <a:ext cx="333375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Useful weekly retrieval</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Less total task effort</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Helpful exchange both ways</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No severe privacy defect</a:t>
            </a:r>
          </a:p>
        </p:txBody>
      </p:sp>
      <p:sp>
        <p:nvSpPr>
          <p:cNvPr id="10" name="">
            <a:extLst xmlns:a="http://schemas.openxmlformats.org/drawingml/2006/main">
              <a:ext uri="{FF2B5EF4-FFF2-40B4-BE49-F238E27FC236}">
                <a16:creationId xmlns:a16="http://schemas.microsoft.com/office/drawing/2014/main" id="{952BA5B9-C336-4329-86BC-041B7B1972C7}"/>
              </a:ext>
            </a:extLst>
          </p:cNvPr>
          <p:cNvSpPr>
            <a:spLocks xmlns:a="http://schemas.openxmlformats.org/drawingml/2006/main" noGrp="1"/>
          </p:cNvSpPr>
          <p:nvPr/>
        </p:nvSpPr>
        <p:spPr>
          <a:xfrm xmlns:a="http://schemas.openxmlformats.org/drawingml/2006/main">
            <a:off x="609600" y="5600700"/>
            <a:ext cx="109251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A7544"/>
                </a:solidFill>
                <a:latin typeface="Inter"/>
                <a:ea typeface="Inter"/>
                <a:cs typeface="Inter"/>
              </a:defRPr>
            </a:defPPr>
          </a:lstStyle>
          <a:p xmlns:a="http://schemas.openxmlformats.org/drawingml/2006/main">
            <a:pPr>
              <a:defRPr sz="2400" b="1">
                <a:solidFill>
                  <a:srgbClr val="1A7544"/>
                </a:solidFill>
                <a:latin typeface="Inter"/>
                <a:ea typeface="Inter"/>
                <a:cs typeface="Inter"/>
              </a:defRPr>
            </a:pPr>
            <a:r>
              <a:rPr sz="2400" b="1">
                <a:solidFill>
                  <a:srgbClr val="1A7544"/>
                </a:solidFill>
                <a:latin typeface="Inter"/>
                <a:ea typeface="Inter"/>
                <a:cs typeface="Inter"/>
              </a:rPr>
              <a:t>Keep AI only if source quality holds and review effort falls</a:t>
            </a:r>
          </a:p>
        </p:txBody>
      </p:sp>
    </p:spTree>
    <p:extLst>
      <p:ext uri="{BB962C8B-B14F-4D97-AF65-F5344CB8AC3E}">
        <p14:creationId xmlns:p14="http://schemas.microsoft.com/office/powerpoint/2010/main" val="991772552"/>
      </p:ext>
    </p:extLst>
  </p:cSld>
</p:sld>
</file>

<file path=ppt/slides/slide18.xml><?xml version="1.0" encoding="utf-8"?>
<p:sld xmlns:p="http://schemas.openxmlformats.org/presentationml/2006/main">
  <p:cSld>
    <p:bg>
      <p:bgPr>
        <a:solidFill xmlns:a="http://schemas.openxmlformats.org/drawingml/2006/main">
          <a:srgbClr val="29252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11FC0C-41B5-452A-A465-295C2E35FABC}"/>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FAF8F5"/>
                </a:solidFill>
                <a:latin typeface="Fraunces"/>
                <a:ea typeface="Fraunces"/>
                <a:cs typeface="Fraunces"/>
              </a:defRPr>
            </a:defPPr>
          </a:lstStyle>
          <a:p xmlns:a="http://schemas.openxmlformats.org/drawingml/2006/main">
            <a:pPr>
              <a:defRPr sz="3375" b="0">
                <a:solidFill>
                  <a:srgbClr val="FAF8F5"/>
                </a:solidFill>
                <a:latin typeface="Fraunces"/>
                <a:ea typeface="Fraunces"/>
                <a:cs typeface="Fraunces"/>
              </a:defRPr>
            </a:pPr>
            <a:r>
              <a:rPr sz="3375" b="0">
                <a:solidFill>
                  <a:srgbClr val="FAF8F5"/>
                </a:solidFill>
                <a:latin typeface="Fraunces"/>
                <a:ea typeface="Fraunces"/>
                <a:cs typeface="Fraunces"/>
              </a:rPr>
              <a:t>Help build a knowledge commons for regeneration</a:t>
            </a:r>
          </a:p>
        </p:txBody>
      </p:sp>
      <p:sp>
        <p:nvSpPr>
          <p:cNvPr id="2" name="">
            <a:extLst xmlns:a="http://schemas.openxmlformats.org/drawingml/2006/main">
              <a:ext uri="{FF2B5EF4-FFF2-40B4-BE49-F238E27FC236}">
                <a16:creationId xmlns:a16="http://schemas.microsoft.com/office/drawing/2014/main" id="{6B28FCE7-76CC-4311-89CB-1E9536E0947C}"/>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E7E5E4"/>
                </a:solidFill>
                <a:latin typeface="Inter"/>
                <a:ea typeface="Inter"/>
                <a:cs typeface="Inter"/>
              </a:defRPr>
            </a:defPPr>
          </a:lstStyle>
          <a:p xmlns:a="http://schemas.openxmlformats.org/drawingml/2006/main">
            <a:pPr>
              <a:defRPr sz="1200" b="0">
                <a:solidFill>
                  <a:srgbClr val="E7E5E4"/>
                </a:solidFill>
                <a:latin typeface="Inter"/>
                <a:ea typeface="Inter"/>
                <a:cs typeface="Inter"/>
              </a:defRPr>
            </a:pPr>
            <a:r>
              <a:rPr sz="1200" b="0">
                <a:solidFill>
                  <a:srgbClr val="E7E5E4"/>
                </a:solidFill>
                <a:latin typeface="Inter"/>
                <a:ea typeface="Inter"/>
                <a:cs typeface="Inter"/>
              </a:rPr>
              <a:t>Proposed ask · US dollars · No funds secured, partner interest assumed or spending authorized</a:t>
            </a:r>
          </a:p>
        </p:txBody>
      </p:sp>
      <p:sp>
        <p:nvSpPr>
          <p:cNvPr id="3" name="">
            <a:extLst xmlns:a="http://schemas.openxmlformats.org/drawingml/2006/main">
              <a:ext uri="{FF2B5EF4-FFF2-40B4-BE49-F238E27FC236}">
                <a16:creationId xmlns:a16="http://schemas.microsoft.com/office/drawing/2014/main" id="{D33698B3-F6D8-47C5-95B2-FE1B36DF4225}"/>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E7E5E4"/>
                </a:solidFill>
                <a:latin typeface="Inter"/>
                <a:ea typeface="Inter"/>
                <a:cs typeface="Inter"/>
              </a:defRPr>
            </a:defPPr>
          </a:lstStyle>
          <a:p xmlns:a="http://schemas.openxmlformats.org/drawingml/2006/main">
            <a:pPr>
              <a:defRPr sz="1200" b="0">
                <a:solidFill>
                  <a:srgbClr val="E7E5E4"/>
                </a:solidFill>
                <a:latin typeface="Inter"/>
                <a:ea typeface="Inter"/>
                <a:cs typeface="Inter"/>
              </a:defRPr>
            </a:pPr>
            <a:r>
              <a:rPr sz="1200" b="0">
                <a:solidFill>
                  <a:srgbClr val="E7E5E4"/>
                </a:solidFill>
                <a:latin typeface="Inter"/>
                <a:ea typeface="Inter"/>
                <a:cs typeface="Inter"/>
              </a:rPr>
              <a:t>18</a:t>
            </a:r>
          </a:p>
        </p:txBody>
      </p:sp>
      <p:sp>
        <p:nvSpPr>
          <p:cNvPr id="4" name="">
            <a:extLst xmlns:a="http://schemas.openxmlformats.org/drawingml/2006/main">
              <a:ext uri="{FF2B5EF4-FFF2-40B4-BE49-F238E27FC236}">
                <a16:creationId xmlns:a16="http://schemas.microsoft.com/office/drawing/2014/main" id="{B322FBBC-6238-457C-8433-A74125D3B63D}"/>
              </a:ext>
            </a:extLst>
          </p:cNvPr>
          <p:cNvSpPr>
            <a:spLocks xmlns:a="http://schemas.openxmlformats.org/drawingml/2006/main" noGrp="1"/>
          </p:cNvSpPr>
          <p:nvPr/>
        </p:nvSpPr>
        <p:spPr>
          <a:xfrm xmlns:a="http://schemas.openxmlformats.org/drawingml/2006/main">
            <a:off x="609600" y="2009775"/>
            <a:ext cx="67056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0">
                <a:solidFill>
                  <a:srgbClr val="FAF8F5"/>
                </a:solidFill>
                <a:latin typeface="Fraunces"/>
                <a:ea typeface="Fraunces"/>
                <a:cs typeface="Fraunces"/>
              </a:defRPr>
            </a:defPPr>
          </a:lstStyle>
          <a:p xmlns:a="http://schemas.openxmlformats.org/drawingml/2006/main">
            <a:pPr>
              <a:defRPr sz="7200" b="0">
                <a:solidFill>
                  <a:srgbClr val="FAF8F5"/>
                </a:solidFill>
                <a:latin typeface="Fraunces"/>
                <a:ea typeface="Fraunces"/>
                <a:cs typeface="Fraunces"/>
              </a:defRPr>
            </a:pPr>
            <a:r>
              <a:rPr sz="7200" b="0">
                <a:solidFill>
                  <a:srgbClr val="FAF8F5"/>
                </a:solidFill>
                <a:latin typeface="Fraunces"/>
                <a:ea typeface="Fraunces"/>
                <a:cs typeface="Fraunces"/>
              </a:rPr>
              <a:t>$42,000</a:t>
            </a:r>
          </a:p>
        </p:txBody>
      </p:sp>
      <p:sp>
        <p:nvSpPr>
          <p:cNvPr id="5" name="">
            <a:extLst xmlns:a="http://schemas.openxmlformats.org/drawingml/2006/main">
              <a:ext uri="{FF2B5EF4-FFF2-40B4-BE49-F238E27FC236}">
                <a16:creationId xmlns:a16="http://schemas.microsoft.com/office/drawing/2014/main" id="{0B88DFFF-3562-4FE0-A493-4DA0EBF1E595}"/>
              </a:ext>
            </a:extLst>
          </p:cNvPr>
          <p:cNvSpPr>
            <a:spLocks xmlns:a="http://schemas.openxmlformats.org/drawingml/2006/main" noGrp="1"/>
          </p:cNvSpPr>
          <p:nvPr/>
        </p:nvSpPr>
        <p:spPr>
          <a:xfrm xmlns:a="http://schemas.openxmlformats.org/drawingml/2006/main">
            <a:off x="609600" y="3476625"/>
            <a:ext cx="68008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0">
                <a:solidFill>
                  <a:srgbClr val="FAF8F5"/>
                </a:solidFill>
                <a:latin typeface="Fraunces"/>
                <a:ea typeface="Fraunces"/>
                <a:cs typeface="Fraunces"/>
              </a:defRPr>
            </a:defPPr>
          </a:lstStyle>
          <a:p xmlns:a="http://schemas.openxmlformats.org/drawingml/2006/main">
            <a:pPr>
              <a:defRPr sz="3000" b="0">
                <a:solidFill>
                  <a:srgbClr val="FAF8F5"/>
                </a:solidFill>
                <a:latin typeface="Fraunces"/>
                <a:ea typeface="Fraunces"/>
                <a:cs typeface="Fraunces"/>
              </a:defRPr>
            </a:pPr>
            <a:r>
              <a:rPr sz="3000" b="0">
                <a:solidFill>
                  <a:srgbClr val="FAF8F5"/>
                </a:solidFill>
                <a:latin typeface="Fraunces"/>
                <a:ea typeface="Fraunces"/>
                <a:cs typeface="Fraunces"/>
              </a:rPr>
              <a:t>Ten weeks. Three workspaces.</a:t>
            </a:r>
          </a:p>
          <a:p xmlns:a="http://schemas.openxmlformats.org/drawingml/2006/main">
            <a:pPr>
              <a:defRPr sz="3000" b="0">
                <a:solidFill>
                  <a:srgbClr val="FAF8F5"/>
                </a:solidFill>
                <a:latin typeface="Fraunces"/>
                <a:ea typeface="Fraunces"/>
                <a:cs typeface="Fraunces"/>
              </a:defRPr>
            </a:pPr>
            <a:r>
              <a:rPr sz="3000" b="0">
                <a:solidFill>
                  <a:srgbClr val="FAF8F5"/>
                </a:solidFill>
                <a:latin typeface="Fraunces"/>
                <a:ea typeface="Fraunces"/>
                <a:cs typeface="Fraunces"/>
              </a:rPr>
              <a:t>One lead delivery partner.</a:t>
            </a:r>
          </a:p>
        </p:txBody>
      </p:sp>
      <p:sp>
        <p:nvSpPr>
          <p:cNvPr id="6" name="">
            <a:extLst xmlns:a="http://schemas.openxmlformats.org/drawingml/2006/main">
              <a:ext uri="{FF2B5EF4-FFF2-40B4-BE49-F238E27FC236}">
                <a16:creationId xmlns:a16="http://schemas.microsoft.com/office/drawing/2014/main" id="{40E8ACCF-2D32-410E-A948-8844DB1DCDF2}"/>
              </a:ext>
            </a:extLst>
          </p:cNvPr>
          <p:cNvSpPr>
            <a:spLocks xmlns:a="http://schemas.openxmlformats.org/drawingml/2006/main" noGrp="1"/>
          </p:cNvSpPr>
          <p:nvPr/>
        </p:nvSpPr>
        <p:spPr>
          <a:xfrm xmlns:a="http://schemas.openxmlformats.org/drawingml/2006/main">
            <a:off x="609600" y="5248275"/>
            <a:ext cx="10610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AF8F5"/>
                </a:solidFill>
                <a:latin typeface="Inter"/>
                <a:ea typeface="Inter"/>
                <a:cs typeface="Inter"/>
              </a:defRPr>
            </a:defPPr>
          </a:lstStyle>
          <a:p xmlns:a="http://schemas.openxmlformats.org/drawingml/2006/main">
            <a:pPr>
              <a:defRPr sz="2550" b="0">
                <a:solidFill>
                  <a:srgbClr val="FAF8F5"/>
                </a:solidFill>
                <a:latin typeface="Inter"/>
                <a:ea typeface="Inter"/>
                <a:cs typeface="Inter"/>
              </a:defRPr>
            </a:pPr>
            <a:r>
              <a:rPr sz="2550" b="0">
                <a:solidFill>
                  <a:srgbClr val="FAF8F5"/>
                </a:solidFill>
                <a:latin typeface="Inter"/>
                <a:ea typeface="Inter"/>
                <a:cs typeface="Inter"/>
              </a:rPr>
              <a:t>Make each season’s learning useful</a:t>
            </a:r>
          </a:p>
          <a:p xmlns:a="http://schemas.openxmlformats.org/drawingml/2006/main">
            <a:pPr>
              <a:defRPr sz="2550" b="0">
                <a:solidFill>
                  <a:srgbClr val="FAF8F5"/>
                </a:solidFill>
                <a:latin typeface="Inter"/>
                <a:ea typeface="Inter"/>
                <a:cs typeface="Inter"/>
              </a:defRPr>
            </a:pPr>
            <a:r>
              <a:rPr sz="2550" b="0">
                <a:solidFill>
                  <a:srgbClr val="FAF8F5"/>
                </a:solidFill>
                <a:latin typeface="Inter"/>
                <a:ea typeface="Inter"/>
                <a:cs typeface="Inter"/>
              </a:rPr>
              <a:t>to the next steward—and another community.</a:t>
            </a:r>
          </a:p>
        </p:txBody>
      </p:sp>
      <p:sp>
        <p:nvSpPr>
          <p:cNvPr id="7" name="">
            <a:extLst xmlns:a="http://schemas.openxmlformats.org/drawingml/2006/main">
              <a:ext uri="{FF2B5EF4-FFF2-40B4-BE49-F238E27FC236}">
                <a16:creationId xmlns:a16="http://schemas.microsoft.com/office/drawing/2014/main" id="{EC2CE6EC-2999-419D-8409-4BE0264FB091}"/>
              </a:ext>
            </a:extLst>
          </p:cNvPr>
          <p:cNvSpPr>
            <a:spLocks xmlns:a="http://schemas.openxmlformats.org/drawingml/2006/main" noGrp="1"/>
          </p:cNvSpPr>
          <p:nvPr/>
        </p:nvSpPr>
        <p:spPr>
          <a:xfrm xmlns:a="http://schemas.openxmlformats.org/drawingml/2006/main">
            <a:off x="8591550" y="21240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AF8F5"/>
                </a:solidFill>
                <a:latin typeface="Inter"/>
                <a:ea typeface="Inter"/>
                <a:cs typeface="Inter"/>
              </a:defRPr>
            </a:defPPr>
          </a:lstStyle>
          <a:p xmlns:a="http://schemas.openxmlformats.org/drawingml/2006/main">
            <a:pPr>
              <a:defRPr sz="2250" b="1">
                <a:solidFill>
                  <a:srgbClr val="FAF8F5"/>
                </a:solidFill>
                <a:latin typeface="Inter"/>
                <a:ea typeface="Inter"/>
                <a:cs typeface="Inter"/>
              </a:defRPr>
            </a:pPr>
            <a:r>
              <a:rPr sz="2250" b="1">
                <a:solidFill>
                  <a:srgbClr val="FAF8F5"/>
                </a:solidFill>
                <a:latin typeface="Inter"/>
                <a:ea typeface="Inter"/>
                <a:cs typeface="Inter"/>
              </a:rPr>
              <a:t>Funders</a:t>
            </a:r>
          </a:p>
        </p:txBody>
      </p:sp>
      <p:sp>
        <p:nvSpPr>
          <p:cNvPr id="8" name="">
            <a:extLst xmlns:a="http://schemas.openxmlformats.org/drawingml/2006/main">
              <a:ext uri="{FF2B5EF4-FFF2-40B4-BE49-F238E27FC236}">
                <a16:creationId xmlns:a16="http://schemas.microsoft.com/office/drawing/2014/main" id="{90F36D40-F8BF-40F6-9799-B8B36CA55329}"/>
              </a:ext>
            </a:extLst>
          </p:cNvPr>
          <p:cNvSpPr>
            <a:spLocks xmlns:a="http://schemas.openxmlformats.org/drawingml/2006/main" noGrp="1"/>
          </p:cNvSpPr>
          <p:nvPr/>
        </p:nvSpPr>
        <p:spPr>
          <a:xfrm xmlns:a="http://schemas.openxmlformats.org/drawingml/2006/main">
            <a:off x="8591550" y="2676525"/>
            <a:ext cx="2914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AF8F5"/>
                </a:solidFill>
                <a:latin typeface="Inter"/>
                <a:ea typeface="Inter"/>
                <a:cs typeface="Inter"/>
              </a:defRPr>
            </a:defPPr>
          </a:lstStyle>
          <a:p xmlns:a="http://schemas.openxmlformats.org/drawingml/2006/main">
            <a:pPr>
              <a:defRPr sz="1950" b="0">
                <a:solidFill>
                  <a:srgbClr val="FAF8F5"/>
                </a:solidFill>
                <a:latin typeface="Inter"/>
                <a:ea typeface="Inter"/>
                <a:cs typeface="Inter"/>
              </a:defRPr>
            </a:pPr>
            <a:r>
              <a:rPr sz="1950" b="0">
                <a:solidFill>
                  <a:srgbClr val="FAF8F5"/>
                </a:solidFill>
                <a:latin typeface="Inter"/>
                <a:ea typeface="Inter"/>
                <a:cs typeface="Inter"/>
              </a:rPr>
              <a:t>Fund portable, reusable</a:t>
            </a:r>
          </a:p>
          <a:p xmlns:a="http://schemas.openxmlformats.org/drawingml/2006/main">
            <a:pPr>
              <a:defRPr sz="1950" b="0">
                <a:solidFill>
                  <a:srgbClr val="FAF8F5"/>
                </a:solidFill>
                <a:latin typeface="Inter"/>
                <a:ea typeface="Inter"/>
                <a:cs typeface="Inter"/>
              </a:defRPr>
            </a:pPr>
            <a:r>
              <a:rPr sz="1950" b="0">
                <a:solidFill>
                  <a:srgbClr val="FAF8F5"/>
                </a:solidFill>
                <a:latin typeface="Inter"/>
                <a:ea typeface="Inter"/>
                <a:cs typeface="Inter"/>
              </a:rPr>
              <a:t>public infrastructure.</a:t>
            </a:r>
          </a:p>
        </p:txBody>
      </p:sp>
      <p:sp>
        <p:nvSpPr>
          <p:cNvPr id="9" name="">
            <a:extLst xmlns:a="http://schemas.openxmlformats.org/drawingml/2006/main">
              <a:ext uri="{FF2B5EF4-FFF2-40B4-BE49-F238E27FC236}">
                <a16:creationId xmlns:a16="http://schemas.microsoft.com/office/drawing/2014/main" id="{17B402A2-6C29-4A40-86F9-D8B3BDFCB6D5}"/>
              </a:ext>
            </a:extLst>
          </p:cNvPr>
          <p:cNvSpPr>
            <a:spLocks xmlns:a="http://schemas.openxmlformats.org/drawingml/2006/main" noGrp="1"/>
          </p:cNvSpPr>
          <p:nvPr/>
        </p:nvSpPr>
        <p:spPr>
          <a:xfrm xmlns:a="http://schemas.openxmlformats.org/drawingml/2006/main">
            <a:off x="8591550" y="4000500"/>
            <a:ext cx="2886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AF8F5"/>
                </a:solidFill>
                <a:latin typeface="Inter"/>
                <a:ea typeface="Inter"/>
                <a:cs typeface="Inter"/>
              </a:defRPr>
            </a:defPPr>
          </a:lstStyle>
          <a:p xmlns:a="http://schemas.openxmlformats.org/drawingml/2006/main">
            <a:pPr>
              <a:defRPr sz="2250" b="1">
                <a:solidFill>
                  <a:srgbClr val="FAF8F5"/>
                </a:solidFill>
                <a:latin typeface="Inter"/>
                <a:ea typeface="Inter"/>
                <a:cs typeface="Inter"/>
              </a:defRPr>
            </a:pPr>
            <a:r>
              <a:rPr sz="2250" b="1">
                <a:solidFill>
                  <a:srgbClr val="FAF8F5"/>
                </a:solidFill>
                <a:latin typeface="Inter"/>
                <a:ea typeface="Inter"/>
                <a:cs typeface="Inter"/>
              </a:rPr>
              <a:t>Partners</a:t>
            </a:r>
          </a:p>
        </p:txBody>
      </p:sp>
      <p:sp>
        <p:nvSpPr>
          <p:cNvPr id="10" name="">
            <a:extLst xmlns:a="http://schemas.openxmlformats.org/drawingml/2006/main">
              <a:ext uri="{FF2B5EF4-FFF2-40B4-BE49-F238E27FC236}">
                <a16:creationId xmlns:a16="http://schemas.microsoft.com/office/drawing/2014/main" id="{20167A75-B75B-4F72-83BB-A6861FBFB6E9}"/>
              </a:ext>
            </a:extLst>
          </p:cNvPr>
          <p:cNvSpPr>
            <a:spLocks xmlns:a="http://schemas.openxmlformats.org/drawingml/2006/main" noGrp="1"/>
          </p:cNvSpPr>
          <p:nvPr/>
        </p:nvSpPr>
        <p:spPr>
          <a:xfrm xmlns:a="http://schemas.openxmlformats.org/drawingml/2006/main">
            <a:off x="8591550" y="4591050"/>
            <a:ext cx="2905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AF8F5"/>
                </a:solidFill>
                <a:latin typeface="Inter"/>
                <a:ea typeface="Inter"/>
                <a:cs typeface="Inter"/>
              </a:defRPr>
            </a:defPPr>
          </a:lstStyle>
          <a:p xmlns:a="http://schemas.openxmlformats.org/drawingml/2006/main">
            <a:pPr>
              <a:defRPr sz="1950" b="0">
                <a:solidFill>
                  <a:srgbClr val="FAF8F5"/>
                </a:solidFill>
                <a:latin typeface="Inter"/>
                <a:ea typeface="Inter"/>
                <a:cs typeface="Inter"/>
              </a:defRPr>
            </a:pPr>
            <a:r>
              <a:rPr sz="1950" b="0">
                <a:solidFill>
                  <a:srgbClr val="FAF8F5"/>
                </a:solidFill>
                <a:latin typeface="Inter"/>
                <a:ea typeface="Inter"/>
                <a:cs typeface="Inter"/>
              </a:rPr>
              <a:t>Co-design a service</a:t>
            </a:r>
          </a:p>
          <a:p xmlns:a="http://schemas.openxmlformats.org/drawingml/2006/main">
            <a:pPr>
              <a:defRPr sz="1950" b="0">
                <a:solidFill>
                  <a:srgbClr val="FAF8F5"/>
                </a:solidFill>
                <a:latin typeface="Inter"/>
                <a:ea typeface="Inter"/>
                <a:cs typeface="Inter"/>
              </a:defRPr>
            </a:pPr>
            <a:r>
              <a:rPr sz="1950" b="0">
                <a:solidFill>
                  <a:srgbClr val="FAF8F5"/>
                </a:solidFill>
                <a:latin typeface="Inter"/>
                <a:ea typeface="Inter"/>
                <a:cs typeface="Inter"/>
              </a:rPr>
              <a:t>people choose to keep.</a:t>
            </a:r>
          </a:p>
        </p:txBody>
      </p:sp>
    </p:spTree>
    <p:extLst>
      <p:ext uri="{BB962C8B-B14F-4D97-AF65-F5344CB8AC3E}">
        <p14:creationId xmlns:p14="http://schemas.microsoft.com/office/powerpoint/2010/main" val="1309530727"/>
      </p:ext>
    </p:extLst>
  </p:cSld>
</p:sld>
</file>

<file path=ppt/slides/slide19.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DFD973-DC76-4CEF-B10D-5F4A7ED0CFF9}"/>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Architecture: local work, optional assistance</a:t>
            </a:r>
          </a:p>
        </p:txBody>
      </p:sp>
      <p:sp>
        <p:nvSpPr>
          <p:cNvPr id="2" name="">
            <a:extLst xmlns:a="http://schemas.openxmlformats.org/drawingml/2006/main">
              <a:ext uri="{FF2B5EF4-FFF2-40B4-BE49-F238E27FC236}">
                <a16:creationId xmlns:a16="http://schemas.microsoft.com/office/drawing/2014/main" id="{6A95A9EC-2F0E-4A72-9C95-9A32E62AD559}"/>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Appendix · Proposed design and assumptions</a:t>
            </a:r>
          </a:p>
        </p:txBody>
      </p:sp>
      <p:sp>
        <p:nvSpPr>
          <p:cNvPr id="3" name="">
            <a:extLst xmlns:a="http://schemas.openxmlformats.org/drawingml/2006/main">
              <a:ext uri="{FF2B5EF4-FFF2-40B4-BE49-F238E27FC236}">
                <a16:creationId xmlns:a16="http://schemas.microsoft.com/office/drawing/2014/main" id="{775C588A-618D-49CF-867C-81252632E4BB}"/>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19</a:t>
            </a:r>
          </a:p>
        </p:txBody>
      </p:sp>
      <p:graphicFrame>
        <p:nvGraphicFramePr>
          <p:cNvPr id="4" name="">
            <a:extLst xmlns:a="http://schemas.openxmlformats.org/drawingml/2006/main">
              <a:ext uri="{FF2B5EF4-FFF2-40B4-BE49-F238E27FC236}">
                <a16:creationId xmlns:a16="http://schemas.microsoft.com/office/drawing/2014/main" id="{7622CAA4-0A04-4F3A-BA1D-9EDDE3EC9264}"/>
              </a:ext>
            </a:extLst>
          </p:cNvPr>
          <p:cNvGraphicFramePr/>
          <p:nvPr/>
        </p:nvGraphicFramePr>
        <p:xfrm>
          <a:off xmlns:a="http://schemas.openxmlformats.org/drawingml/2006/main" x="609600" y="1790700"/>
          <a:ext xmlns:a="http://schemas.openxmlformats.org/drawingml/2006/main" cx="10972800" cy="3781425"/>
        </p:xfrm>
        <a:graphic xmlns:a="http://schemas.openxmlformats.org/drawingml/2006/main">
          <a:graphicData uri="http://schemas.openxmlformats.org/drawingml/2006/table">
            <a:tbl>
              <a:tblPr/>
              <a:tblGrid>
                <a:gridCol w="4191000"/>
                <a:gridCol w="6781800"/>
              </a:tblGrid>
              <a:tr h="756285">
                <a:tc>
                  <a:txBody>
                    <a:bodyPr wrap="square" lIns="152400" tIns="95250" rIns="152400" bIns="95250">
                      <a:noAutofit/>
                    </a:bodyPr>
                    <a:lstStyle/>
                    <a:p>
                      <a:r>
                        <a:rPr sz="1875" b="1">
                          <a:solidFill>
                            <a:srgbClr val="1A7544"/>
                          </a:solidFill>
                          <a:latin typeface="Inter"/>
                          <a:ea typeface="Inter"/>
                          <a:cs typeface="Inter"/>
                        </a:rPr>
                        <a:t>Who / layer</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75" b="1">
                          <a:solidFill>
                            <a:srgbClr val="1A7544"/>
                          </a:solidFill>
                          <a:latin typeface="Inter"/>
                          <a:ea typeface="Inter"/>
                          <a:cs typeface="Inter"/>
                        </a:rPr>
                        <a:t>Proposed responsibility</a:t>
                      </a:r>
                    </a:p>
                  </a:txBody>
                  <a:tcPr marL="91440" marR="91440" marT="45720" marB="45720" anchor="ctr">
                    <a:lnB w="6350">
                      <a:solidFill>
                        <a:srgbClr val="78716C"/>
                      </a:solidFill>
                    </a:lnB>
                    <a:lnT w="6350">
                      <a:noFill/>
                    </a:lnT>
                    <a:lnR w="6350">
                      <a:noFill/>
                    </a:lnR>
                    <a:lnL w="6350">
                      <a:noFill/>
                    </a:lnL>
                    <a:solidFill>
                      <a:srgbClr val="FAF8F5"/>
                    </a:solidFill>
                  </a:tcPr>
                </a:tc>
              </a:tr>
              <a:tr h="756285">
                <a:tc>
                  <a:txBody>
                    <a:bodyPr wrap="square" lIns="152400" tIns="95250" rIns="152400" bIns="95250">
                      <a:noAutofit/>
                    </a:bodyPr>
                    <a:lstStyle/>
                    <a:p>
                      <a:r>
                        <a:rPr sz="1875" b="0">
                          <a:solidFill>
                            <a:srgbClr val="292524"/>
                          </a:solidFill>
                          <a:latin typeface="Inter"/>
                          <a:ea typeface="Inter"/>
                          <a:cs typeface="Inter"/>
                        </a:rPr>
                        <a:t>Member: browser + optional extension</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Capture, inspect sources, correct and approve; work offline</a:t>
                      </a:r>
                    </a:p>
                  </a:txBody>
                  <a:tcPr marL="91440" marR="91440" marT="45720" marB="45720" anchor="ctr">
                    <a:lnB w="6350">
                      <a:solidFill>
                        <a:srgbClr val="E7E5E4"/>
                      </a:solidFill>
                    </a:lnB>
                    <a:lnT w="6350">
                      <a:noFill/>
                    </a:lnT>
                    <a:lnR w="6350">
                      <a:noFill/>
                    </a:lnR>
                    <a:lnL w="6350">
                      <a:noFill/>
                    </a:lnL>
                    <a:solidFill>
                      <a:srgbClr val="FAF8F5"/>
                    </a:solidFill>
                  </a:tcPr>
                </a:tc>
              </a:tr>
              <a:tr h="756285">
                <a:tc>
                  <a:txBody>
                    <a:bodyPr wrap="square" lIns="152400" tIns="95250" rIns="152400" bIns="95250">
                      <a:noAutofit/>
                    </a:bodyPr>
                    <a:lstStyle/>
                    <a:p>
                      <a:r>
                        <a:rPr sz="1875" b="0">
                          <a:solidFill>
                            <a:srgbClr val="292524"/>
                          </a:solidFill>
                          <a:latin typeface="Inter"/>
                          <a:ea typeface="Inter"/>
                          <a:cs typeface="Inter"/>
                        </a:rPr>
                        <a:t>Local AI: optional</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Summarize with citations; abstain; manual path always works</a:t>
                      </a:r>
                    </a:p>
                  </a:txBody>
                  <a:tcPr marL="91440" marR="91440" marT="45720" marB="45720" anchor="ctr">
                    <a:lnB w="6350">
                      <a:solidFill>
                        <a:srgbClr val="E7E5E4"/>
                      </a:solidFill>
                    </a:lnB>
                    <a:lnT w="6350">
                      <a:noFill/>
                    </a:lnT>
                    <a:lnR w="6350">
                      <a:noFill/>
                    </a:lnR>
                    <a:lnL w="6350">
                      <a:noFill/>
                    </a:lnL>
                    <a:solidFill>
                      <a:srgbClr val="FAF8F5"/>
                    </a:solidFill>
                  </a:tcPr>
                </a:tc>
              </a:tr>
              <a:tr h="756285">
                <a:tc>
                  <a:txBody>
                    <a:bodyPr wrap="square" lIns="152400" tIns="95250" rIns="152400" bIns="95250">
                      <a:noAutofit/>
                    </a:bodyPr>
                    <a:lstStyle/>
                    <a:p>
                      <a:r>
                        <a:rPr sz="1875" b="0">
                          <a:solidFill>
                            <a:srgbClr val="292524"/>
                          </a:solidFill>
                          <a:latin typeface="Inter"/>
                          <a:ea typeface="Inter"/>
                          <a:cs typeface="Inter"/>
                        </a:rPr>
                        <a:t>Operator: supported services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Backups, recovery, private sync and optional sensor gateway</a:t>
                      </a:r>
                    </a:p>
                  </a:txBody>
                  <a:tcPr marL="91440" marR="91440" marT="45720" marB="45720" anchor="ctr">
                    <a:lnB w="6350">
                      <a:solidFill>
                        <a:srgbClr val="E7E5E4"/>
                      </a:solidFill>
                    </a:lnB>
                    <a:lnT w="6350">
                      <a:noFill/>
                    </a:lnT>
                    <a:lnR w="6350">
                      <a:noFill/>
                    </a:lnR>
                    <a:lnL w="6350">
                      <a:noFill/>
                    </a:lnL>
                    <a:solidFill>
                      <a:srgbClr val="FAF8F5"/>
                    </a:solidFill>
                  </a:tcPr>
                </a:tc>
              </a:tr>
              <a:tr h="756285">
                <a:tc>
                  <a:txBody>
                    <a:bodyPr wrap="square" lIns="152400" tIns="95250" rIns="152400" bIns="95250">
                      <a:noAutofit/>
                    </a:bodyPr>
                    <a:lstStyle/>
                    <a:p>
                      <a:r>
                        <a:rPr sz="1875" b="0">
                          <a:solidFill>
                            <a:srgbClr val="292524"/>
                          </a:solidFill>
                          <a:latin typeface="Inter"/>
                          <a:ea typeface="Inter"/>
                          <a:cs typeface="Inter"/>
                        </a:rPr>
                        <a:t>External infrastructure</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75" b="0">
                          <a:solidFill>
                            <a:srgbClr val="292524"/>
                          </a:solidFill>
                          <a:latin typeface="Inter"/>
                          <a:ea typeface="Inter"/>
                          <a:cs typeface="Inter"/>
                        </a:rPr>
                        <a:t>Public AT PDS, permitted gateways, Green Goods chain / readers</a:t>
                      </a:r>
                    </a:p>
                  </a:txBody>
                  <a:tcPr marL="91440" marR="91440" marT="45720" marB="45720" anchor="ctr">
                    <a:lnB w="6350">
                      <a:solidFill>
                        <a:srgbClr val="E7E5E4"/>
                      </a:solidFill>
                    </a:lnB>
                    <a:lnT w="6350">
                      <a:noFill/>
                    </a:lnT>
                    <a:lnR w="6350">
                      <a:noFill/>
                    </a:lnR>
                    <a:lnL w="6350">
                      <a:noFill/>
                    </a:lnL>
                    <a:solidFill>
                      <a:srgbClr val="FAF8F5"/>
                    </a:solidFill>
                  </a:tcPr>
                </a:tc>
              </a:tr>
            </a:tbl>
          </a:graphicData>
        </a:graphic>
      </p:graphicFrame>
      <p:sp>
        <p:nvSpPr>
          <p:cNvPr id="5" name="">
            <a:extLst xmlns:a="http://schemas.openxmlformats.org/drawingml/2006/main">
              <a:ext uri="{FF2B5EF4-FFF2-40B4-BE49-F238E27FC236}">
                <a16:creationId xmlns:a16="http://schemas.microsoft.com/office/drawing/2014/main" id="{D5F86BB8-D45F-4CBE-956D-1EA012C91429}"/>
              </a:ext>
            </a:extLst>
          </p:cNvPr>
          <p:cNvSpPr>
            <a:spLocks xmlns:a="http://schemas.openxmlformats.org/drawingml/2006/main" noGrp="1"/>
          </p:cNvSpPr>
          <p:nvPr/>
        </p:nvSpPr>
        <p:spPr>
          <a:xfrm xmlns:a="http://schemas.openxmlformats.org/drawingml/2006/main">
            <a:off x="609600" y="5781675"/>
            <a:ext cx="10877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A7544"/>
                </a:solidFill>
                <a:latin typeface="Inter"/>
                <a:ea typeface="Inter"/>
                <a:cs typeface="Inter"/>
              </a:defRPr>
            </a:defPPr>
          </a:lstStyle>
          <a:p xmlns:a="http://schemas.openxmlformats.org/drawingml/2006/main">
            <a:pPr>
              <a:defRPr sz="1875" b="1">
                <a:solidFill>
                  <a:srgbClr val="1A7544"/>
                </a:solidFill>
                <a:latin typeface="Inter"/>
                <a:ea typeface="Inter"/>
                <a:cs typeface="Inter"/>
              </a:defRPr>
            </a:pPr>
            <a:r>
              <a:rPr sz="1875" b="1">
                <a:solidFill>
                  <a:srgbClr val="1A7544"/>
                </a:solidFill>
                <a:latin typeface="Inter"/>
                <a:ea typeface="Inter"/>
                <a:cs typeface="Inter"/>
              </a:rPr>
              <a:t>4–8 GB is a benchmark target; total memory and review effort must be measured.</a:t>
            </a:r>
          </a:p>
        </p:txBody>
      </p:sp>
    </p:spTree>
    <p:extLst>
      <p:ext uri="{BB962C8B-B14F-4D97-AF65-F5344CB8AC3E}">
        <p14:creationId xmlns:p14="http://schemas.microsoft.com/office/powerpoint/2010/main" val="1046925462"/>
      </p:ext>
    </p:extLst>
  </p:cSld>
</p:sld>
</file>

<file path=ppt/slides/slide20.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A89153-642A-4365-833E-D9850BF9E36C}"/>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Private collaboration and public AT are separate</a:t>
            </a:r>
          </a:p>
        </p:txBody>
      </p:sp>
      <p:sp>
        <p:nvSpPr>
          <p:cNvPr id="2" name="">
            <a:extLst xmlns:a="http://schemas.openxmlformats.org/drawingml/2006/main">
              <a:ext uri="{FF2B5EF4-FFF2-40B4-BE49-F238E27FC236}">
                <a16:creationId xmlns:a16="http://schemas.microsoft.com/office/drawing/2014/main" id="{92D3EEC9-A8DA-4E34-A975-8C829495ED2A}"/>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Appendix · Proposed design and assumptions</a:t>
            </a:r>
          </a:p>
        </p:txBody>
      </p:sp>
      <p:sp>
        <p:nvSpPr>
          <p:cNvPr id="3" name="">
            <a:extLst xmlns:a="http://schemas.openxmlformats.org/drawingml/2006/main">
              <a:ext uri="{FF2B5EF4-FFF2-40B4-BE49-F238E27FC236}">
                <a16:creationId xmlns:a16="http://schemas.microsoft.com/office/drawing/2014/main" id="{8B1FD6AF-97DF-4CCD-BBC5-982C58B1FAD2}"/>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20</a:t>
            </a:r>
          </a:p>
        </p:txBody>
      </p:sp>
      <p:sp>
        <p:nvSpPr>
          <p:cNvPr id="4" name="">
            <a:extLst xmlns:a="http://schemas.openxmlformats.org/drawingml/2006/main">
              <a:ext uri="{FF2B5EF4-FFF2-40B4-BE49-F238E27FC236}">
                <a16:creationId xmlns:a16="http://schemas.microsoft.com/office/drawing/2014/main" id="{1E905A7D-7D58-4077-8D2C-AF887BDB00FB}"/>
              </a:ext>
            </a:extLst>
          </p:cNvPr>
          <p:cNvSpPr>
            <a:spLocks xmlns:a="http://schemas.openxmlformats.org/drawingml/2006/main" noGrp="1"/>
          </p:cNvSpPr>
          <p:nvPr/>
        </p:nvSpPr>
        <p:spPr>
          <a:xfrm xmlns:a="http://schemas.openxmlformats.org/drawingml/2006/main">
            <a:off x="609600" y="19716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92524"/>
                </a:solidFill>
                <a:latin typeface="Inter"/>
                <a:ea typeface="Inter"/>
                <a:cs typeface="Inter"/>
              </a:defRPr>
            </a:defPPr>
          </a:lstStyle>
          <a:p xmlns:a="http://schemas.openxmlformats.org/drawingml/2006/main">
            <a:pPr>
              <a:defRPr sz="2250" b="1">
                <a:solidFill>
                  <a:srgbClr val="292524"/>
                </a:solidFill>
                <a:latin typeface="Inter"/>
                <a:ea typeface="Inter"/>
                <a:cs typeface="Inter"/>
              </a:defRPr>
            </a:pPr>
            <a:r>
              <a:rPr sz="2250" b="1">
                <a:solidFill>
                  <a:srgbClr val="292524"/>
                </a:solidFill>
                <a:latin typeface="Inter"/>
                <a:ea typeface="Inter"/>
                <a:cs typeface="Inter"/>
              </a:rPr>
              <a:t>Private workspace</a:t>
            </a:r>
          </a:p>
        </p:txBody>
      </p:sp>
      <p:sp>
        <p:nvSpPr>
          <p:cNvPr id="5" name="">
            <a:extLst xmlns:a="http://schemas.openxmlformats.org/drawingml/2006/main">
              <a:ext uri="{FF2B5EF4-FFF2-40B4-BE49-F238E27FC236}">
                <a16:creationId xmlns:a16="http://schemas.microsoft.com/office/drawing/2014/main" id="{85884C0C-EFD1-44E4-A552-0038D77E758D}"/>
              </a:ext>
            </a:extLst>
          </p:cNvPr>
          <p:cNvSpPr>
            <a:spLocks xmlns:a="http://schemas.openxmlformats.org/drawingml/2006/main" noGrp="1"/>
          </p:cNvSpPr>
          <p:nvPr/>
        </p:nvSpPr>
        <p:spPr>
          <a:xfrm xmlns:a="http://schemas.openxmlformats.org/drawingml/2006/main">
            <a:off x="609600" y="2838450"/>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Original records</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Encrypted backup</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Scoped community access</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Human corrections</a:t>
            </a:r>
          </a:p>
        </p:txBody>
      </p:sp>
      <p:sp>
        <p:nvSpPr>
          <p:cNvPr id="6" name="">
            <a:extLst xmlns:a="http://schemas.openxmlformats.org/drawingml/2006/main">
              <a:ext uri="{FF2B5EF4-FFF2-40B4-BE49-F238E27FC236}">
                <a16:creationId xmlns:a16="http://schemas.microsoft.com/office/drawing/2014/main" id="{0F1FF341-32B7-447F-A15E-785E748353C2}"/>
              </a:ext>
            </a:extLst>
          </p:cNvPr>
          <p:cNvSpPr>
            <a:spLocks xmlns:a="http://schemas.openxmlformats.org/drawingml/2006/main" noGrp="1"/>
          </p:cNvSpPr>
          <p:nvPr/>
        </p:nvSpPr>
        <p:spPr>
          <a:xfrm xmlns:a="http://schemas.openxmlformats.org/drawingml/2006/main">
            <a:off x="4343400" y="19716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92524"/>
                </a:solidFill>
                <a:latin typeface="Inter"/>
                <a:ea typeface="Inter"/>
                <a:cs typeface="Inter"/>
              </a:defRPr>
            </a:defPPr>
          </a:lstStyle>
          <a:p xmlns:a="http://schemas.openxmlformats.org/drawingml/2006/main">
            <a:pPr>
              <a:defRPr sz="2250" b="1">
                <a:solidFill>
                  <a:srgbClr val="292524"/>
                </a:solidFill>
                <a:latin typeface="Inter"/>
                <a:ea typeface="Inter"/>
                <a:cs typeface="Inter"/>
              </a:defRPr>
            </a:pPr>
            <a:r>
              <a:rPr sz="2250" b="1">
                <a:solidFill>
                  <a:srgbClr val="292524"/>
                </a:solidFill>
                <a:latin typeface="Inter"/>
                <a:ea typeface="Inter"/>
                <a:cs typeface="Inter"/>
              </a:rPr>
              <a:t>Deliberate boundary</a:t>
            </a:r>
          </a:p>
        </p:txBody>
      </p:sp>
      <p:sp>
        <p:nvSpPr>
          <p:cNvPr id="7" name="">
            <a:extLst xmlns:a="http://schemas.openxmlformats.org/drawingml/2006/main">
              <a:ext uri="{FF2B5EF4-FFF2-40B4-BE49-F238E27FC236}">
                <a16:creationId xmlns:a16="http://schemas.microsoft.com/office/drawing/2014/main" id="{527A9C2B-43A7-4DAC-A67E-DB38739B4EF9}"/>
              </a:ext>
            </a:extLst>
          </p:cNvPr>
          <p:cNvSpPr>
            <a:spLocks xmlns:a="http://schemas.openxmlformats.org/drawingml/2006/main" noGrp="1"/>
          </p:cNvSpPr>
          <p:nvPr/>
        </p:nvSpPr>
        <p:spPr>
          <a:xfrm xmlns:a="http://schemas.openxmlformats.org/drawingml/2006/main">
            <a:off x="4343400" y="2838450"/>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Review exact outgoing text</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Choose identity and audience</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Approve this version</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Invalidate on any change</a:t>
            </a:r>
          </a:p>
        </p:txBody>
      </p:sp>
      <p:sp>
        <p:nvSpPr>
          <p:cNvPr id="8" name="">
            <a:extLst xmlns:a="http://schemas.openxmlformats.org/drawingml/2006/main">
              <a:ext uri="{FF2B5EF4-FFF2-40B4-BE49-F238E27FC236}">
                <a16:creationId xmlns:a16="http://schemas.microsoft.com/office/drawing/2014/main" id="{7FB598B4-6584-4EAE-84AE-30C5C611CE7B}"/>
              </a:ext>
            </a:extLst>
          </p:cNvPr>
          <p:cNvSpPr>
            <a:spLocks xmlns:a="http://schemas.openxmlformats.org/drawingml/2006/main" noGrp="1"/>
          </p:cNvSpPr>
          <p:nvPr/>
        </p:nvSpPr>
        <p:spPr>
          <a:xfrm xmlns:a="http://schemas.openxmlformats.org/drawingml/2006/main">
            <a:off x="8077200" y="19716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92524"/>
                </a:solidFill>
                <a:latin typeface="Inter"/>
                <a:ea typeface="Inter"/>
                <a:cs typeface="Inter"/>
              </a:defRPr>
            </a:defPPr>
          </a:lstStyle>
          <a:p xmlns:a="http://schemas.openxmlformats.org/drawingml/2006/main">
            <a:pPr>
              <a:defRPr sz="2250" b="1">
                <a:solidFill>
                  <a:srgbClr val="292524"/>
                </a:solidFill>
                <a:latin typeface="Inter"/>
                <a:ea typeface="Inter"/>
                <a:cs typeface="Inter"/>
              </a:defRPr>
            </a:pPr>
            <a:r>
              <a:rPr sz="2250" b="1">
                <a:solidFill>
                  <a:srgbClr val="292524"/>
                </a:solidFill>
                <a:latin typeface="Inter"/>
                <a:ea typeface="Inter"/>
                <a:cs typeface="Inter"/>
              </a:rPr>
              <a:t>Public record</a:t>
            </a:r>
          </a:p>
        </p:txBody>
      </p:sp>
      <p:sp>
        <p:nvSpPr>
          <p:cNvPr id="9" name="">
            <a:extLst xmlns:a="http://schemas.openxmlformats.org/drawingml/2006/main">
              <a:ext uri="{FF2B5EF4-FFF2-40B4-BE49-F238E27FC236}">
                <a16:creationId xmlns:a16="http://schemas.microsoft.com/office/drawing/2014/main" id="{579DD269-EF65-4772-9EDB-12E2EFEFB6D9}"/>
              </a:ext>
            </a:extLst>
          </p:cNvPr>
          <p:cNvSpPr>
            <a:spLocks xmlns:a="http://schemas.openxmlformats.org/drawingml/2006/main" noGrp="1"/>
          </p:cNvSpPr>
          <p:nvPr/>
        </p:nvSpPr>
        <p:spPr>
          <a:xfrm xmlns:a="http://schemas.openxmlformats.org/drawingml/2006/main">
            <a:off x="8077200" y="2838450"/>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92524"/>
                </a:solidFill>
                <a:latin typeface="Inter"/>
                <a:ea typeface="Inter"/>
                <a:cs typeface="Inter"/>
              </a:defRPr>
            </a:defPPr>
          </a:lstStyle>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Minimum approved fields</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Persistent PDS publisher</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Attribution and limitations</a:t>
            </a:r>
          </a:p>
          <a:p xmlns:a="http://schemas.openxmlformats.org/drawingml/2006/main">
            <a:pPr>
              <a:defRPr sz="2025" b="0">
                <a:solidFill>
                  <a:srgbClr val="292524"/>
                </a:solidFill>
                <a:latin typeface="Inter"/>
                <a:ea typeface="Inter"/>
                <a:cs typeface="Inter"/>
              </a:defRPr>
            </a:pPr>
            <a:r>
              <a:rPr sz="2025" b="0">
                <a:solidFill>
                  <a:srgbClr val="292524"/>
                </a:solidFill>
                <a:latin typeface="Inter"/>
                <a:ea typeface="Inter"/>
                <a:cs typeface="Inter"/>
              </a:rPr>
              <a:t>Copies can persist</a:t>
            </a:r>
          </a:p>
        </p:txBody>
      </p:sp>
      <p:sp>
        <p:nvSpPr>
          <p:cNvPr id="10" name="">
            <a:extLst xmlns:a="http://schemas.openxmlformats.org/drawingml/2006/main">
              <a:ext uri="{FF2B5EF4-FFF2-40B4-BE49-F238E27FC236}">
                <a16:creationId xmlns:a16="http://schemas.microsoft.com/office/drawing/2014/main" id="{E1DA49A5-FE32-4301-A348-C0686879A60D}"/>
              </a:ext>
            </a:extLst>
          </p:cNvPr>
          <p:cNvSpPr>
            <a:spLocks xmlns:a="http://schemas.openxmlformats.org/drawingml/2006/main" noGrp="1"/>
          </p:cNvSpPr>
          <p:nvPr/>
        </p:nvSpPr>
        <p:spPr>
          <a:xfrm xmlns:a="http://schemas.openxmlformats.org/drawingml/2006/main">
            <a:off x="609600" y="565785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A7544"/>
                </a:solidFill>
                <a:latin typeface="Inter"/>
                <a:ea typeface="Inter"/>
                <a:cs typeface="Inter"/>
              </a:defRPr>
            </a:defPPr>
          </a:lstStyle>
          <a:p xmlns:a="http://schemas.openxmlformats.org/drawingml/2006/main">
            <a:pPr>
              <a:defRPr sz="1875" b="1">
                <a:solidFill>
                  <a:srgbClr val="1A7544"/>
                </a:solidFill>
                <a:latin typeface="Inter"/>
                <a:ea typeface="Inter"/>
                <a:cs typeface="Inter"/>
              </a:defRPr>
            </a:pPr>
            <a:r>
              <a:rPr sz="1875" b="1">
                <a:solidFill>
                  <a:srgbClr val="1A7544"/>
                </a:solidFill>
                <a:latin typeface="Inter"/>
                <a:ea typeface="Inter"/>
                <a:cs typeface="Inter"/>
              </a:rPr>
              <a:t>A cooperating extension mesh is a later experiment—not a radio mesh or a shared signing key.</a:t>
            </a:r>
          </a:p>
        </p:txBody>
      </p:sp>
    </p:spTree>
    <p:extLst>
      <p:ext uri="{BB962C8B-B14F-4D97-AF65-F5344CB8AC3E}">
        <p14:creationId xmlns:p14="http://schemas.microsoft.com/office/powerpoint/2010/main" val="450589397"/>
      </p:ext>
    </p:extLst>
  </p:cSld>
</p:sld>
</file>

<file path=ppt/slides/slide2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38066A-27AB-4E24-8FFD-5B5253A7014E}"/>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Govern reciprocity without taking people’s knowledge</a:t>
            </a:r>
          </a:p>
        </p:txBody>
      </p:sp>
      <p:sp>
        <p:nvSpPr>
          <p:cNvPr id="2" name="">
            <a:extLst xmlns:a="http://schemas.openxmlformats.org/drawingml/2006/main">
              <a:ext uri="{FF2B5EF4-FFF2-40B4-BE49-F238E27FC236}">
                <a16:creationId xmlns:a16="http://schemas.microsoft.com/office/drawing/2014/main" id="{C1708478-0B14-439D-BE67-3701FF8358DE}"/>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Appendix · Proposed design and assumptions</a:t>
            </a:r>
          </a:p>
        </p:txBody>
      </p:sp>
      <p:sp>
        <p:nvSpPr>
          <p:cNvPr id="3" name="">
            <a:extLst xmlns:a="http://schemas.openxmlformats.org/drawingml/2006/main">
              <a:ext uri="{FF2B5EF4-FFF2-40B4-BE49-F238E27FC236}">
                <a16:creationId xmlns:a16="http://schemas.microsoft.com/office/drawing/2014/main" id="{6659AE75-0475-4DDE-97A8-CDEEE490EE22}"/>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21</a:t>
            </a:r>
          </a:p>
        </p:txBody>
      </p:sp>
      <p:graphicFrame>
        <p:nvGraphicFramePr>
          <p:cNvPr id="4" name="">
            <a:extLst xmlns:a="http://schemas.openxmlformats.org/drawingml/2006/main">
              <a:ext uri="{FF2B5EF4-FFF2-40B4-BE49-F238E27FC236}">
                <a16:creationId xmlns:a16="http://schemas.microsoft.com/office/drawing/2014/main" id="{E2E6C565-E50C-485A-AA52-74D8DA1D4584}"/>
              </a:ext>
            </a:extLst>
          </p:cNvPr>
          <p:cNvGraphicFramePr/>
          <p:nvPr/>
        </p:nvGraphicFramePr>
        <p:xfrm>
          <a:off xmlns:a="http://schemas.openxmlformats.org/drawingml/2006/main" x="609600" y="1771650"/>
          <a:ext xmlns:a="http://schemas.openxmlformats.org/drawingml/2006/main" cx="10972800" cy="3924300"/>
        </p:xfrm>
        <a:graphic xmlns:a="http://schemas.openxmlformats.org/drawingml/2006/main">
          <a:graphicData uri="http://schemas.openxmlformats.org/drawingml/2006/table">
            <a:tbl>
              <a:tblPr/>
              <a:tblGrid>
                <a:gridCol w="4057650"/>
                <a:gridCol w="6915150"/>
              </a:tblGrid>
              <a:tr h="784860">
                <a:tc>
                  <a:txBody>
                    <a:bodyPr wrap="square" lIns="152400" tIns="95250" rIns="152400" bIns="95250">
                      <a:noAutofit/>
                    </a:bodyPr>
                    <a:lstStyle/>
                    <a:p>
                      <a:r>
                        <a:rPr sz="1800" b="1">
                          <a:solidFill>
                            <a:srgbClr val="1A7544"/>
                          </a:solidFill>
                          <a:latin typeface="Inter"/>
                          <a:ea typeface="Inter"/>
                          <a:cs typeface="Inter"/>
                        </a:rPr>
                        <a:t>Layer</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00" b="1">
                          <a:solidFill>
                            <a:srgbClr val="1A7544"/>
                          </a:solidFill>
                          <a:latin typeface="Inter"/>
                          <a:ea typeface="Inter"/>
                          <a:cs typeface="Inter"/>
                        </a:rPr>
                        <a:t>Recommended stance for this proposal</a:t>
                      </a:r>
                    </a:p>
                  </a:txBody>
                  <a:tcPr marL="91440" marR="91440" marT="45720" marB="45720" anchor="ctr">
                    <a:lnB w="6350">
                      <a:solidFill>
                        <a:srgbClr val="78716C"/>
                      </a:solidFill>
                    </a:lnB>
                    <a:lnT w="6350">
                      <a:noFill/>
                    </a:lnT>
                    <a:lnR w="6350">
                      <a:noFill/>
                    </a:lnR>
                    <a:lnL w="6350">
                      <a:noFill/>
                    </a:lnL>
                    <a:solidFill>
                      <a:srgbClr val="FAF8F5"/>
                    </a:solidFill>
                  </a:tcPr>
                </a:tc>
              </a:tr>
              <a:tr h="784860">
                <a:tc>
                  <a:txBody>
                    <a:bodyPr wrap="square" lIns="152400" tIns="95250" rIns="152400" bIns="95250">
                      <a:noAutofit/>
                    </a:bodyPr>
                    <a:lstStyle/>
                    <a:p>
                      <a:r>
                        <a:rPr sz="1800" b="0">
                          <a:solidFill>
                            <a:srgbClr val="292524"/>
                          </a:solidFill>
                          <a:latin typeface="Inter"/>
                          <a:ea typeface="Inter"/>
                          <a:cs typeface="Inter"/>
                        </a:rPr>
                        <a:t>Software and dependencies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Keep current licenses; review rights before copying or relicensing</a:t>
                      </a:r>
                    </a:p>
                  </a:txBody>
                  <a:tcPr marL="91440" marR="91440" marT="45720" marB="45720" anchor="ctr">
                    <a:lnB w="6350">
                      <a:solidFill>
                        <a:srgbClr val="E7E5E4"/>
                      </a:solidFill>
                    </a:lnB>
                    <a:lnT w="6350">
                      <a:noFill/>
                    </a:lnT>
                    <a:lnR w="6350">
                      <a:noFill/>
                    </a:lnR>
                    <a:lnL w="6350">
                      <a:noFill/>
                    </a:lnL>
                    <a:solidFill>
                      <a:srgbClr val="FAF8F5"/>
                    </a:solidFill>
                  </a:tcPr>
                </a:tc>
              </a:tr>
              <a:tr h="784860">
                <a:tc>
                  <a:txBody>
                    <a:bodyPr wrap="square" lIns="152400" tIns="95250" rIns="152400" bIns="95250">
                      <a:noAutofit/>
                    </a:bodyPr>
                    <a:lstStyle/>
                    <a:p>
                      <a:r>
                        <a:rPr sz="1800" b="0">
                          <a:solidFill>
                            <a:srgbClr val="292524"/>
                          </a:solidFill>
                          <a:latin typeface="Inter"/>
                          <a:ea typeface="Inter"/>
                          <a:cs typeface="Inter"/>
                        </a:rPr>
                        <a:t>Data, knowledge and AI training</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Separate consent and rights; membership grants no blanket ownership</a:t>
                      </a:r>
                    </a:p>
                  </a:txBody>
                  <a:tcPr marL="91440" marR="91440" marT="45720" marB="45720" anchor="ctr">
                    <a:lnB w="6350">
                      <a:solidFill>
                        <a:srgbClr val="E7E5E4"/>
                      </a:solidFill>
                    </a:lnB>
                    <a:lnT w="6350">
                      <a:noFill/>
                    </a:lnT>
                    <a:lnR w="6350">
                      <a:noFill/>
                    </a:lnR>
                    <a:lnL w="6350">
                      <a:noFill/>
                    </a:lnL>
                    <a:solidFill>
                      <a:srgbClr val="FAF8F5"/>
                    </a:solidFill>
                  </a:tcPr>
                </a:tc>
              </a:tr>
              <a:tr h="784860">
                <a:tc>
                  <a:txBody>
                    <a:bodyPr wrap="square" lIns="152400" tIns="95250" rIns="152400" bIns="95250">
                      <a:noAutofit/>
                    </a:bodyPr>
                    <a:lstStyle/>
                    <a:p>
                      <a:r>
                        <a:rPr sz="1800" b="0">
                          <a:solidFill>
                            <a:srgbClr val="292524"/>
                          </a:solidFill>
                          <a:latin typeface="Inter"/>
                          <a:ea typeface="Inter"/>
                          <a:cs typeface="Inter"/>
                        </a:rPr>
                        <a:t>Membership and contribution</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Sell curation / services; allow noncash routes, appeals and exit</a:t>
                      </a:r>
                    </a:p>
                  </a:txBody>
                  <a:tcPr marL="91440" marR="91440" marT="45720" marB="45720" anchor="ctr">
                    <a:lnB w="6350">
                      <a:solidFill>
                        <a:srgbClr val="E7E5E4"/>
                      </a:solidFill>
                    </a:lnB>
                    <a:lnT w="6350">
                      <a:noFill/>
                    </a:lnT>
                    <a:lnR w="6350">
                      <a:noFill/>
                    </a:lnR>
                    <a:lnL w="6350">
                      <a:noFill/>
                    </a:lnL>
                    <a:solidFill>
                      <a:srgbClr val="FAF8F5"/>
                    </a:solidFill>
                  </a:tcPr>
                </a:tc>
              </a:tr>
              <a:tr h="784860">
                <a:tc>
                  <a:txBody>
                    <a:bodyPr wrap="square" lIns="152400" tIns="95250" rIns="152400" bIns="95250">
                      <a:noAutofit/>
                    </a:bodyPr>
                    <a:lstStyle/>
                    <a:p>
                      <a:r>
                        <a:rPr sz="1800" b="0">
                          <a:solidFill>
                            <a:srgbClr val="292524"/>
                          </a:solidFill>
                          <a:latin typeface="Inter"/>
                          <a:ea typeface="Inter"/>
                          <a:cs typeface="Inter"/>
                        </a:rPr>
                        <a:t>Brand, certification and hosting</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Govern separately; Regen Commons drafts are not an adopted license</a:t>
                      </a:r>
                    </a:p>
                  </a:txBody>
                  <a:tcPr marL="91440" marR="91440" marT="45720" marB="45720" anchor="ctr">
                    <a:lnB w="6350">
                      <a:solidFill>
                        <a:srgbClr val="E7E5E4"/>
                      </a:solidFill>
                    </a:lnB>
                    <a:lnT w="6350">
                      <a:noFill/>
                    </a:lnT>
                    <a:lnR w="6350">
                      <a:noFill/>
                    </a:lnR>
                    <a:lnL w="6350">
                      <a:noFill/>
                    </a:lnL>
                    <a:solidFill>
                      <a:srgbClr val="FAF8F5"/>
                    </a:solidFill>
                  </a:tcPr>
                </a:tc>
              </a:tr>
            </a:tbl>
          </a:graphicData>
        </a:graphic>
      </p:graphicFrame>
      <p:sp>
        <p:nvSpPr>
          <p:cNvPr id="5" name="">
            <a:extLst xmlns:a="http://schemas.openxmlformats.org/drawingml/2006/main">
              <a:ext uri="{FF2B5EF4-FFF2-40B4-BE49-F238E27FC236}">
                <a16:creationId xmlns:a16="http://schemas.microsoft.com/office/drawing/2014/main" id="{F44B392F-B47E-4F0C-A216-E224443AE289}"/>
              </a:ext>
            </a:extLst>
          </p:cNvPr>
          <p:cNvSpPr>
            <a:spLocks xmlns:a="http://schemas.openxmlformats.org/drawingml/2006/main" noGrp="1"/>
          </p:cNvSpPr>
          <p:nvPr/>
        </p:nvSpPr>
        <p:spPr>
          <a:xfrm xmlns:a="http://schemas.openxmlformats.org/drawingml/2006/main">
            <a:off x="609600" y="5876925"/>
            <a:ext cx="1090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A7544"/>
                </a:solidFill>
                <a:latin typeface="Inter"/>
                <a:ea typeface="Inter"/>
                <a:cs typeface="Inter"/>
              </a:defRPr>
            </a:defPPr>
          </a:lstStyle>
          <a:p xmlns:a="http://schemas.openxmlformats.org/drawingml/2006/main">
            <a:pPr>
              <a:defRPr sz="1800" b="1">
                <a:solidFill>
                  <a:srgbClr val="1A7544"/>
                </a:solidFill>
                <a:latin typeface="Inter"/>
                <a:ea typeface="Inter"/>
                <a:cs typeface="Inter"/>
              </a:defRPr>
            </a:pPr>
            <a:r>
              <a:rPr sz="1800" b="1">
                <a:solidFill>
                  <a:srgbClr val="1A7544"/>
                </a:solidFill>
                <a:latin typeface="Inter"/>
                <a:ea typeface="Inter"/>
                <a:cs typeface="Inter"/>
              </a:rPr>
              <a:t>Retain MIT + governed services is a recommendation, not a legally cleared transition.</a:t>
            </a:r>
          </a:p>
        </p:txBody>
      </p:sp>
    </p:spTree>
    <p:extLst>
      <p:ext uri="{BB962C8B-B14F-4D97-AF65-F5344CB8AC3E}">
        <p14:creationId xmlns:p14="http://schemas.microsoft.com/office/powerpoint/2010/main" val="112416580"/>
      </p:ext>
    </p:extLst>
  </p:cSld>
</p:sld>
</file>

<file path=ppt/slides/slide2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9A9414-7107-4AC8-85B0-7C104A9E01B1}"/>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Revenue sequence: services before speculative fees</a:t>
            </a:r>
          </a:p>
        </p:txBody>
      </p:sp>
      <p:sp>
        <p:nvSpPr>
          <p:cNvPr id="2" name="">
            <a:extLst xmlns:a="http://schemas.openxmlformats.org/drawingml/2006/main">
              <a:ext uri="{FF2B5EF4-FFF2-40B4-BE49-F238E27FC236}">
                <a16:creationId xmlns:a16="http://schemas.microsoft.com/office/drawing/2014/main" id="{E4A156F1-304F-4DBB-ADE7-2BA2A838C3E2}"/>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Appendix · Proposed design and assumptions</a:t>
            </a:r>
          </a:p>
        </p:txBody>
      </p:sp>
      <p:sp>
        <p:nvSpPr>
          <p:cNvPr id="3" name="">
            <a:extLst xmlns:a="http://schemas.openxmlformats.org/drawingml/2006/main">
              <a:ext uri="{FF2B5EF4-FFF2-40B4-BE49-F238E27FC236}">
                <a16:creationId xmlns:a16="http://schemas.microsoft.com/office/drawing/2014/main" id="{C71F2631-C56F-4181-BD5C-5630E2D5326B}"/>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22</a:t>
            </a:r>
          </a:p>
        </p:txBody>
      </p:sp>
      <p:graphicFrame>
        <p:nvGraphicFramePr>
          <p:cNvPr id="4" name="">
            <a:extLst xmlns:a="http://schemas.openxmlformats.org/drawingml/2006/main">
              <a:ext uri="{FF2B5EF4-FFF2-40B4-BE49-F238E27FC236}">
                <a16:creationId xmlns:a16="http://schemas.microsoft.com/office/drawing/2014/main" id="{D54D2F84-D6C5-4EA0-B1C1-46F7C4A55AC0}"/>
              </a:ext>
            </a:extLst>
          </p:cNvPr>
          <p:cNvGraphicFramePr/>
          <p:nvPr/>
        </p:nvGraphicFramePr>
        <p:xfrm>
          <a:off xmlns:a="http://schemas.openxmlformats.org/drawingml/2006/main" x="609600" y="1685925"/>
          <a:ext xmlns:a="http://schemas.openxmlformats.org/drawingml/2006/main" cx="10972800" cy="4457700"/>
        </p:xfrm>
        <a:graphic xmlns:a="http://schemas.openxmlformats.org/drawingml/2006/main">
          <a:graphicData uri="http://schemas.openxmlformats.org/drawingml/2006/table">
            <a:tbl>
              <a:tblPr/>
              <a:tblGrid>
                <a:gridCol w="3190875"/>
                <a:gridCol w="4257675"/>
                <a:gridCol w="3524250"/>
              </a:tblGrid>
              <a:tr h="636814">
                <a:tc>
                  <a:txBody>
                    <a:bodyPr wrap="square" lIns="152400" tIns="95250" rIns="152400" bIns="95250">
                      <a:noAutofit/>
                    </a:bodyPr>
                    <a:lstStyle/>
                    <a:p>
                      <a:r>
                        <a:rPr sz="1650" b="1">
                          <a:solidFill>
                            <a:srgbClr val="1A7544"/>
                          </a:solidFill>
                          <a:latin typeface="Inter"/>
                          <a:ea typeface="Inter"/>
                          <a:cs typeface="Inter"/>
                        </a:rPr>
                        <a:t>Revenue route</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650" b="1">
                          <a:solidFill>
                            <a:srgbClr val="1A7544"/>
                          </a:solidFill>
                          <a:latin typeface="Inter"/>
                          <a:ea typeface="Inter"/>
                          <a:cs typeface="Inter"/>
                        </a:rPr>
                        <a:t>Payer / benefit</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650" b="1">
                          <a:solidFill>
                            <a:srgbClr val="1A7544"/>
                          </a:solidFill>
                          <a:latin typeface="Inter"/>
                          <a:ea typeface="Inter"/>
                          <a:cs typeface="Inter"/>
                        </a:rPr>
                        <a:t>First evidence required</a:t>
                      </a:r>
                    </a:p>
                  </a:txBody>
                  <a:tcPr marL="91440" marR="91440" marT="45720" marB="45720" anchor="ctr">
                    <a:lnB w="6350">
                      <a:solidFill>
                        <a:srgbClr val="78716C"/>
                      </a:solidFill>
                    </a:lnB>
                    <a:lnT w="6350">
                      <a:noFill/>
                    </a:lnT>
                    <a:lnR w="6350">
                      <a:noFill/>
                    </a:lnR>
                    <a:lnL w="6350">
                      <a:noFill/>
                    </a:lnL>
                    <a:solidFill>
                      <a:srgbClr val="FAF8F5"/>
                    </a:solidFill>
                  </a:tcPr>
                </a:tc>
              </a:tr>
              <a:tr h="636814">
                <a:tc>
                  <a:txBody>
                    <a:bodyPr wrap="square" lIns="152400" tIns="95250" rIns="152400" bIns="95250">
                      <a:noAutofit/>
                    </a:bodyPr>
                    <a:lstStyle/>
                    <a:p>
                      <a:r>
                        <a:rPr sz="1650" b="0">
                          <a:solidFill>
                            <a:srgbClr val="292524"/>
                          </a:solidFill>
                          <a:latin typeface="Inter"/>
                          <a:ea typeface="Inter"/>
                          <a:cs typeface="Inter"/>
                        </a:rPr>
                        <a:t>Services &amp; education</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Program: setup and skills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Paid package; delivery hours</a:t>
                      </a:r>
                    </a:p>
                  </a:txBody>
                  <a:tcPr marL="91440" marR="91440" marT="45720" marB="45720" anchor="ctr">
                    <a:lnB w="6350">
                      <a:solidFill>
                        <a:srgbClr val="E7E5E4"/>
                      </a:solidFill>
                    </a:lnB>
                    <a:lnT w="6350">
                      <a:noFill/>
                    </a:lnT>
                    <a:lnR w="6350">
                      <a:noFill/>
                    </a:lnR>
                    <a:lnL w="6350">
                      <a:noFill/>
                    </a:lnL>
                    <a:solidFill>
                      <a:srgbClr val="FAF8F5"/>
                    </a:solidFill>
                  </a:tcPr>
                </a:tc>
              </a:tr>
              <a:tr h="636814">
                <a:tc>
                  <a:txBody>
                    <a:bodyPr wrap="square" lIns="152400" tIns="95250" rIns="152400" bIns="95250">
                      <a:noAutofit/>
                    </a:bodyPr>
                    <a:lstStyle/>
                    <a:p>
                      <a:r>
                        <a:rPr sz="1650" b="0">
                          <a:solidFill>
                            <a:srgbClr val="292524"/>
                          </a:solidFill>
                          <a:latin typeface="Inter"/>
                          <a:ea typeface="Inter"/>
                          <a:cs typeface="Inter"/>
                        </a:rPr>
                        <a:t>Recurring support</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Operations: continuity</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Paid renewal; actual support cost</a:t>
                      </a:r>
                    </a:p>
                  </a:txBody>
                  <a:tcPr marL="91440" marR="91440" marT="45720" marB="45720" anchor="ctr">
                    <a:lnB w="6350">
                      <a:solidFill>
                        <a:srgbClr val="E7E5E4"/>
                      </a:solidFill>
                    </a:lnB>
                    <a:lnT w="6350">
                      <a:noFill/>
                    </a:lnT>
                    <a:lnR w="6350">
                      <a:noFill/>
                    </a:lnR>
                    <a:lnL w="6350">
                      <a:noFill/>
                    </a:lnL>
                    <a:solidFill>
                      <a:srgbClr val="FAF8F5"/>
                    </a:solidFill>
                  </a:tcPr>
                </a:tc>
              </a:tr>
              <a:tr h="636814">
                <a:tc>
                  <a:txBody>
                    <a:bodyPr wrap="square" lIns="152400" tIns="95250" rIns="152400" bIns="95250">
                      <a:noAutofit/>
                    </a:bodyPr>
                    <a:lstStyle/>
                    <a:p>
                      <a:r>
                        <a:rPr sz="1650" b="0">
                          <a:solidFill>
                            <a:srgbClr val="292524"/>
                          </a:solidFill>
                          <a:latin typeface="Inter"/>
                          <a:ea typeface="Inter"/>
                          <a:cs typeface="Inter"/>
                        </a:rPr>
                        <a:t>Knowledge membership</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Learning lead: curation / expertise</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Useful paid cohort; contributor benefit</a:t>
                      </a:r>
                    </a:p>
                  </a:txBody>
                  <a:tcPr marL="91440" marR="91440" marT="45720" marB="45720" anchor="ctr">
                    <a:lnB w="6350">
                      <a:solidFill>
                        <a:srgbClr val="E7E5E4"/>
                      </a:solidFill>
                    </a:lnB>
                    <a:lnT w="6350">
                      <a:noFill/>
                    </a:lnT>
                    <a:lnR w="6350">
                      <a:noFill/>
                    </a:lnR>
                    <a:lnL w="6350">
                      <a:noFill/>
                    </a:lnL>
                    <a:solidFill>
                      <a:srgbClr val="FAF8F5"/>
                    </a:solidFill>
                  </a:tcPr>
                </a:tc>
              </a:tr>
              <a:tr h="636814">
                <a:tc>
                  <a:txBody>
                    <a:bodyPr wrap="square" lIns="152400" tIns="95250" rIns="152400" bIns="95250">
                      <a:noAutofit/>
                    </a:bodyPr>
                    <a:lstStyle/>
                    <a:p>
                      <a:r>
                        <a:rPr sz="1650" b="0">
                          <a:solidFill>
                            <a:srgbClr val="292524"/>
                          </a:solidFill>
                          <a:latin typeface="Inter"/>
                          <a:ea typeface="Inter"/>
                          <a:cs typeface="Inter"/>
                        </a:rPr>
                        <a:t>Compatible sensor / infrastructure kits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Steward: working installation</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Paid order; full maintenance cost</a:t>
                      </a:r>
                    </a:p>
                  </a:txBody>
                  <a:tcPr marL="91440" marR="91440" marT="45720" marB="45720" anchor="ctr">
                    <a:lnB w="6350">
                      <a:solidFill>
                        <a:srgbClr val="E7E5E4"/>
                      </a:solidFill>
                    </a:lnB>
                    <a:lnT w="6350">
                      <a:noFill/>
                    </a:lnT>
                    <a:lnR w="6350">
                      <a:noFill/>
                    </a:lnR>
                    <a:lnL w="6350">
                      <a:noFill/>
                    </a:lnL>
                    <a:solidFill>
                      <a:srgbClr val="FAF8F5"/>
                    </a:solidFill>
                  </a:tcPr>
                </a:tc>
              </a:tr>
              <a:tr h="636814">
                <a:tc>
                  <a:txBody>
                    <a:bodyPr wrap="square" lIns="152400" tIns="95250" rIns="152400" bIns="95250">
                      <a:noAutofit/>
                    </a:bodyPr>
                    <a:lstStyle/>
                    <a:p>
                      <a:r>
                        <a:rPr sz="1650" b="0">
                          <a:solidFill>
                            <a:srgbClr val="292524"/>
                          </a:solidFill>
                          <a:latin typeface="Inter"/>
                          <a:ea typeface="Inter"/>
                          <a:cs typeface="Inter"/>
                        </a:rPr>
                        <a:t>Protocol fees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Defined transaction / service payer</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Clear incidence and viable volume</a:t>
                      </a:r>
                    </a:p>
                  </a:txBody>
                  <a:tcPr marL="91440" marR="91440" marT="45720" marB="45720" anchor="ctr">
                    <a:lnB w="6350">
                      <a:solidFill>
                        <a:srgbClr val="E7E5E4"/>
                      </a:solidFill>
                    </a:lnB>
                    <a:lnT w="6350">
                      <a:noFill/>
                    </a:lnT>
                    <a:lnR w="6350">
                      <a:noFill/>
                    </a:lnR>
                    <a:lnL w="6350">
                      <a:noFill/>
                    </a:lnL>
                    <a:solidFill>
                      <a:srgbClr val="FAF8F5"/>
                    </a:solidFill>
                  </a:tcPr>
                </a:tc>
              </a:tr>
              <a:tr h="636814">
                <a:tc>
                  <a:txBody>
                    <a:bodyPr wrap="square" lIns="152400" tIns="95250" rIns="152400" bIns="95250">
                      <a:noAutofit/>
                    </a:bodyPr>
                    <a:lstStyle/>
                    <a:p>
                      <a:r>
                        <a:rPr sz="1650" b="0">
                          <a:solidFill>
                            <a:srgbClr val="292524"/>
                          </a:solidFill>
                          <a:latin typeface="Inter"/>
                          <a:ea typeface="Inter"/>
                          <a:cs typeface="Inter"/>
                        </a:rPr>
                        <a:t>Commercial licensing</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Integrator: alternative valid rights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650" b="0">
                          <a:solidFill>
                            <a:srgbClr val="292524"/>
                          </a:solidFill>
                          <a:latin typeface="Inter"/>
                          <a:ea typeface="Inter"/>
                          <a:cs typeface="Inter"/>
                        </a:rPr>
                        <a:t>Rights audit and demonstrated demand</a:t>
                      </a:r>
                    </a:p>
                  </a:txBody>
                  <a:tcPr marL="91440" marR="91440" marT="45720" marB="45720" anchor="ctr">
                    <a:lnB w="6350">
                      <a:solidFill>
                        <a:srgbClr val="E7E5E4"/>
                      </a:solidFill>
                    </a:lnB>
                    <a:lnT w="6350">
                      <a:noFill/>
                    </a:lnT>
                    <a:lnR w="6350">
                      <a:noFill/>
                    </a:lnR>
                    <a:lnL w="6350">
                      <a:noFill/>
                    </a:lnL>
                    <a:solidFill>
                      <a:srgbClr val="FAF8F5"/>
                    </a:solidFill>
                  </a:tcPr>
                </a:tc>
              </a:tr>
            </a:tbl>
          </a:graphicData>
        </a:graphic>
      </p:graphicFrame>
    </p:spTree>
    <p:extLst>
      <p:ext uri="{BB962C8B-B14F-4D97-AF65-F5344CB8AC3E}">
        <p14:creationId xmlns:p14="http://schemas.microsoft.com/office/powerpoint/2010/main" val="98873139"/>
      </p:ext>
    </p:extLst>
  </p:cSld>
</p:sld>
</file>

<file path=ppt/slides/slide2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6385CA-0C41-4C24-9916-11026CD4F734}"/>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Unit economics depend on the support burden</a:t>
            </a:r>
          </a:p>
        </p:txBody>
      </p:sp>
      <p:sp>
        <p:nvSpPr>
          <p:cNvPr id="2" name="">
            <a:extLst xmlns:a="http://schemas.openxmlformats.org/drawingml/2006/main">
              <a:ext uri="{FF2B5EF4-FFF2-40B4-BE49-F238E27FC236}">
                <a16:creationId xmlns:a16="http://schemas.microsoft.com/office/drawing/2014/main" id="{87AB420A-760C-4821-A29D-E0AE3B9CD6C5}"/>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Illustrative annualized US-dollar scenarios · No grants, donations, principal or protocol volume included</a:t>
            </a:r>
          </a:p>
        </p:txBody>
      </p:sp>
      <p:sp>
        <p:nvSpPr>
          <p:cNvPr id="3" name="">
            <a:extLst xmlns:a="http://schemas.openxmlformats.org/drawingml/2006/main">
              <a:ext uri="{FF2B5EF4-FFF2-40B4-BE49-F238E27FC236}">
                <a16:creationId xmlns:a16="http://schemas.microsoft.com/office/drawing/2014/main" id="{97E3C86C-A8D7-4EEB-A7BB-FCB1470D09DD}"/>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23</a:t>
            </a:r>
          </a:p>
        </p:txBody>
      </p:sp>
      <p:graphicFrame>
        <p:nvGraphicFramePr>
          <p:cNvPr id="4" name="">
            <a:extLst xmlns:a="http://schemas.openxmlformats.org/drawingml/2006/main">
              <a:ext uri="{FF2B5EF4-FFF2-40B4-BE49-F238E27FC236}">
                <a16:creationId xmlns:a16="http://schemas.microsoft.com/office/drawing/2014/main" id="{C33926A4-B0E7-4914-8FED-34830716C6BE}"/>
              </a:ext>
            </a:extLst>
          </p:cNvPr>
          <p:cNvGraphicFramePr/>
          <p:nvPr/>
        </p:nvGraphicFramePr>
        <p:xfrm>
          <a:off xmlns:a="http://schemas.openxmlformats.org/drawingml/2006/main" x="609600" y="1809750"/>
          <a:ext xmlns:a="http://schemas.openxmlformats.org/drawingml/2006/main" cx="10972800" cy="3295650"/>
        </p:xfrm>
        <a:graphic xmlns:a="http://schemas.openxmlformats.org/drawingml/2006/main">
          <a:graphicData uri="http://schemas.openxmlformats.org/drawingml/2006/table">
            <a:tbl>
              <a:tblPr/>
              <a:tblGrid>
                <a:gridCol w="4457700"/>
                <a:gridCol w="2171700"/>
                <a:gridCol w="2171700"/>
                <a:gridCol w="2171700"/>
              </a:tblGrid>
              <a:tr h="659130">
                <a:tc>
                  <a:txBody>
                    <a:bodyPr wrap="square" lIns="152400" tIns="95250" rIns="152400" bIns="95250">
                      <a:noAutofit/>
                    </a:bodyPr>
                    <a:lstStyle/>
                    <a:p>
                      <a:r>
                        <a:rPr sz="1800" b="1">
                          <a:solidFill>
                            <a:srgbClr val="1A7544"/>
                          </a:solidFill>
                          <a:latin typeface="Inter"/>
                          <a:ea typeface="Inter"/>
                          <a:cs typeface="Inter"/>
                        </a:rPr>
                        <a:t>At $6k / program / year</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00" b="1">
                          <a:solidFill>
                            <a:srgbClr val="1A7544"/>
                          </a:solidFill>
                          <a:latin typeface="Inter"/>
                          <a:ea typeface="Inter"/>
                          <a:cs typeface="Inter"/>
                        </a:rPr>
                        <a:t>Downside</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00" b="1">
                          <a:solidFill>
                            <a:srgbClr val="1A7544"/>
                          </a:solidFill>
                          <a:latin typeface="Inter"/>
                          <a:ea typeface="Inter"/>
                          <a:cs typeface="Inter"/>
                        </a:rPr>
                        <a:t>Base</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00" b="1">
                          <a:solidFill>
                            <a:srgbClr val="1A7544"/>
                          </a:solidFill>
                          <a:latin typeface="Inter"/>
                          <a:ea typeface="Inter"/>
                          <a:cs typeface="Inter"/>
                        </a:rPr>
                        <a:t>Upside</a:t>
                      </a:r>
                    </a:p>
                  </a:txBody>
                  <a:tcPr marL="91440" marR="91440" marT="45720" marB="45720" anchor="ctr">
                    <a:lnB w="6350">
                      <a:solidFill>
                        <a:srgbClr val="78716C"/>
                      </a:solidFill>
                    </a:lnB>
                    <a:lnT w="6350">
                      <a:noFill/>
                    </a:lnT>
                    <a:lnR w="6350">
                      <a:noFill/>
                    </a:lnR>
                    <a:lnL w="6350">
                      <a:noFill/>
                    </a:lnL>
                    <a:solidFill>
                      <a:srgbClr val="FAF8F5"/>
                    </a:solidFill>
                  </a:tcPr>
                </a:tc>
              </a:tr>
              <a:tr h="659130">
                <a:tc>
                  <a:txBody>
                    <a:bodyPr wrap="square" lIns="152400" tIns="95250" rIns="152400" bIns="95250">
                      <a:noAutofit/>
                    </a:bodyPr>
                    <a:lstStyle/>
                    <a:p>
                      <a:r>
                        <a:rPr sz="1800" b="0">
                          <a:solidFill>
                            <a:srgbClr val="292524"/>
                          </a:solidFill>
                          <a:latin typeface="Inter"/>
                          <a:ea typeface="Inter"/>
                          <a:cs typeface="Inter"/>
                        </a:rPr>
                        <a:t>Active programs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5</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15</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30</a:t>
                      </a:r>
                    </a:p>
                  </a:txBody>
                  <a:tcPr marL="91440" marR="91440" marT="45720" marB="45720" anchor="ctr">
                    <a:lnB w="6350">
                      <a:solidFill>
                        <a:srgbClr val="E7E5E4"/>
                      </a:solidFill>
                    </a:lnB>
                    <a:lnT w="6350">
                      <a:noFill/>
                    </a:lnT>
                    <a:lnR w="6350">
                      <a:noFill/>
                    </a:lnR>
                    <a:lnL w="6350">
                      <a:noFill/>
                    </a:lnL>
                    <a:solidFill>
                      <a:srgbClr val="FAF8F5"/>
                    </a:solidFill>
                  </a:tcPr>
                </a:tc>
              </a:tr>
              <a:tr h="659130">
                <a:tc>
                  <a:txBody>
                    <a:bodyPr wrap="square" lIns="152400" tIns="95250" rIns="152400" bIns="95250">
                      <a:noAutofit/>
                    </a:bodyPr>
                    <a:lstStyle/>
                    <a:p>
                      <a:r>
                        <a:rPr sz="1800" b="0">
                          <a:solidFill>
                            <a:srgbClr val="292524"/>
                          </a:solidFill>
                          <a:latin typeface="Inter"/>
                          <a:ea typeface="Inter"/>
                          <a:cs typeface="Inter"/>
                        </a:rPr>
                        <a:t>Recurring revenue</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$30,000</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$90,000</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$180,000</a:t>
                      </a:r>
                    </a:p>
                  </a:txBody>
                  <a:tcPr marL="91440" marR="91440" marT="45720" marB="45720" anchor="ctr">
                    <a:lnB w="6350">
                      <a:solidFill>
                        <a:srgbClr val="E7E5E4"/>
                      </a:solidFill>
                    </a:lnB>
                    <a:lnT w="6350">
                      <a:noFill/>
                    </a:lnT>
                    <a:lnR w="6350">
                      <a:noFill/>
                    </a:lnR>
                    <a:lnL w="6350">
                      <a:noFill/>
                    </a:lnL>
                    <a:solidFill>
                      <a:srgbClr val="FAF8F5"/>
                    </a:solidFill>
                  </a:tcPr>
                </a:tc>
              </a:tr>
              <a:tr h="659130">
                <a:tc>
                  <a:txBody>
                    <a:bodyPr wrap="square" lIns="152400" tIns="95250" rIns="152400" bIns="95250">
                      <a:noAutofit/>
                    </a:bodyPr>
                    <a:lstStyle/>
                    <a:p>
                      <a:r>
                        <a:rPr sz="1800" b="0">
                          <a:solidFill>
                            <a:srgbClr val="292524"/>
                          </a:solidFill>
                          <a:latin typeface="Inter"/>
                          <a:ea typeface="Inter"/>
                          <a:cs typeface="Inter"/>
                        </a:rPr>
                        <a:t>Contribution before fixed costs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$13,500</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$40,500</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$81,000</a:t>
                      </a:r>
                    </a:p>
                  </a:txBody>
                  <a:tcPr marL="91440" marR="91440" marT="45720" marB="45720" anchor="ctr">
                    <a:lnB w="6350">
                      <a:solidFill>
                        <a:srgbClr val="E7E5E4"/>
                      </a:solidFill>
                    </a:lnB>
                    <a:lnT w="6350">
                      <a:noFill/>
                    </a:lnT>
                    <a:lnR w="6350">
                      <a:noFill/>
                    </a:lnR>
                    <a:lnL w="6350">
                      <a:noFill/>
                    </a:lnL>
                    <a:solidFill>
                      <a:srgbClr val="FAF8F5"/>
                    </a:solidFill>
                  </a:tcPr>
                </a:tc>
              </a:tr>
              <a:tr h="659130">
                <a:tc>
                  <a:txBody>
                    <a:bodyPr wrap="square" lIns="152400" tIns="95250" rIns="152400" bIns="95250">
                      <a:noAutofit/>
                    </a:bodyPr>
                    <a:lstStyle/>
                    <a:p>
                      <a:r>
                        <a:rPr sz="1800" b="0">
                          <a:solidFill>
                            <a:srgbClr val="292524"/>
                          </a:solidFill>
                          <a:latin typeface="Inter"/>
                          <a:ea typeface="Inter"/>
                          <a:cs typeface="Inter"/>
                        </a:rPr>
                        <a:t>After assumed $60k fixed costs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−$46,500</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−$19,500</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$21,000</a:t>
                      </a:r>
                    </a:p>
                  </a:txBody>
                  <a:tcPr marL="91440" marR="91440" marT="45720" marB="45720" anchor="ctr">
                    <a:lnB w="6350">
                      <a:solidFill>
                        <a:srgbClr val="E7E5E4"/>
                      </a:solidFill>
                    </a:lnB>
                    <a:lnT w="6350">
                      <a:noFill/>
                    </a:lnT>
                    <a:lnR w="6350">
                      <a:noFill/>
                    </a:lnR>
                    <a:lnL w="6350">
                      <a:noFill/>
                    </a:lnL>
                    <a:solidFill>
                      <a:srgbClr val="FAF8F5"/>
                    </a:solidFill>
                  </a:tcPr>
                </a:tc>
              </a:tr>
            </a:tbl>
          </a:graphicData>
        </a:graphic>
      </p:graphicFrame>
      <p:sp>
        <p:nvSpPr>
          <p:cNvPr id="5" name="">
            <a:extLst xmlns:a="http://schemas.openxmlformats.org/drawingml/2006/main">
              <a:ext uri="{FF2B5EF4-FFF2-40B4-BE49-F238E27FC236}">
                <a16:creationId xmlns:a16="http://schemas.microsoft.com/office/drawing/2014/main" id="{840FFFEF-525E-4712-993C-D51596C4B75A}"/>
              </a:ext>
            </a:extLst>
          </p:cNvPr>
          <p:cNvSpPr>
            <a:spLocks xmlns:a="http://schemas.openxmlformats.org/drawingml/2006/main" noGrp="1"/>
          </p:cNvSpPr>
          <p:nvPr/>
        </p:nvSpPr>
        <p:spPr>
          <a:xfrm xmlns:a="http://schemas.openxmlformats.org/drawingml/2006/main">
            <a:off x="609600" y="537210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A7544"/>
                </a:solidFill>
                <a:latin typeface="Inter"/>
                <a:ea typeface="Inter"/>
                <a:cs typeface="Inter"/>
              </a:defRPr>
            </a:defPPr>
          </a:lstStyle>
          <a:p xmlns:a="http://schemas.openxmlformats.org/drawingml/2006/main">
            <a:pPr>
              <a:defRPr sz="2400" b="1">
                <a:solidFill>
                  <a:srgbClr val="1A7544"/>
                </a:solidFill>
                <a:latin typeface="Inter"/>
                <a:ea typeface="Inter"/>
                <a:cs typeface="Inter"/>
              </a:defRPr>
            </a:pPr>
            <a:r>
              <a:rPr sz="2400" b="1">
                <a:solidFill>
                  <a:srgbClr val="1A7544"/>
                </a:solidFill>
                <a:latin typeface="Inter"/>
                <a:ea typeface="Inter"/>
                <a:cs typeface="Inter"/>
              </a:rPr>
              <a:t>Base unit: 45% contribution. Double service labor: 5%.</a:t>
            </a:r>
          </a:p>
        </p:txBody>
      </p:sp>
      <p:sp>
        <p:nvSpPr>
          <p:cNvPr id="6" name="">
            <a:extLst xmlns:a="http://schemas.openxmlformats.org/drawingml/2006/main">
              <a:ext uri="{FF2B5EF4-FFF2-40B4-BE49-F238E27FC236}">
                <a16:creationId xmlns:a16="http://schemas.microsoft.com/office/drawing/2014/main" id="{EFEA1F0C-79BA-4368-BCE4-5A77DD7C5E1B}"/>
              </a:ext>
            </a:extLst>
          </p:cNvPr>
          <p:cNvSpPr>
            <a:spLocks xmlns:a="http://schemas.openxmlformats.org/drawingml/2006/main" noGrp="1"/>
          </p:cNvSpPr>
          <p:nvPr/>
        </p:nvSpPr>
        <p:spPr>
          <a:xfrm xmlns:a="http://schemas.openxmlformats.org/drawingml/2006/main">
            <a:off x="609600" y="5934075"/>
            <a:ext cx="1090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92524"/>
                </a:solidFill>
                <a:latin typeface="Inter"/>
                <a:ea typeface="Inter"/>
                <a:cs typeface="Inter"/>
              </a:defRPr>
            </a:defPPr>
          </a:lstStyle>
          <a:p xmlns:a="http://schemas.openxmlformats.org/drawingml/2006/main">
            <a:pPr>
              <a:defRPr sz="1800" b="0">
                <a:solidFill>
                  <a:srgbClr val="292524"/>
                </a:solidFill>
                <a:latin typeface="Inter"/>
                <a:ea typeface="Inter"/>
                <a:cs typeface="Inter"/>
              </a:defRPr>
            </a:pPr>
            <a:r>
              <a:rPr sz="1800" b="0">
                <a:solidFill>
                  <a:srgbClr val="292524"/>
                </a:solidFill>
                <a:latin typeface="Inter"/>
                <a:ea typeface="Inter"/>
                <a:cs typeface="Inter"/>
              </a:rPr>
              <a:t>Time-only buyer value threshold: 12.5 staff hours saved per month at $40/hour.</a:t>
            </a:r>
          </a:p>
        </p:txBody>
      </p:sp>
    </p:spTree>
    <p:extLst>
      <p:ext uri="{BB962C8B-B14F-4D97-AF65-F5344CB8AC3E}">
        <p14:creationId xmlns:p14="http://schemas.microsoft.com/office/powerpoint/2010/main" val="1251465362"/>
      </p:ext>
    </p:extLst>
  </p:cSld>
</p:sld>
</file>

<file path=ppt/slides/slide2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FDCE23-D47A-490A-BB08-A637D2D5207F}"/>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Adjacent workflows and funding routes</a:t>
            </a:r>
          </a:p>
        </p:txBody>
      </p:sp>
      <p:sp>
        <p:nvSpPr>
          <p:cNvPr id="2" name="">
            <a:extLst xmlns:a="http://schemas.openxmlformats.org/drawingml/2006/main">
              <a:ext uri="{FF2B5EF4-FFF2-40B4-BE49-F238E27FC236}">
                <a16:creationId xmlns:a16="http://schemas.microsoft.com/office/drawing/2014/main" id="{1F549E50-04A0-4E74-BB80-94D47FAB176B}"/>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Status checked 8 October 2026 · Candidates and routes, not committed partners or secured funding</a:t>
            </a:r>
          </a:p>
        </p:txBody>
      </p:sp>
      <p:sp>
        <p:nvSpPr>
          <p:cNvPr id="3" name="">
            <a:extLst xmlns:a="http://schemas.openxmlformats.org/drawingml/2006/main">
              <a:ext uri="{FF2B5EF4-FFF2-40B4-BE49-F238E27FC236}">
                <a16:creationId xmlns:a16="http://schemas.microsoft.com/office/drawing/2014/main" id="{3679F5D7-CAB4-4F39-8AC1-CFC0196B5DD6}"/>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24</a:t>
            </a:r>
          </a:p>
        </p:txBody>
      </p:sp>
      <p:graphicFrame>
        <p:nvGraphicFramePr>
          <p:cNvPr id="4" name="">
            <a:extLst xmlns:a="http://schemas.openxmlformats.org/drawingml/2006/main">
              <a:ext uri="{FF2B5EF4-FFF2-40B4-BE49-F238E27FC236}">
                <a16:creationId xmlns:a16="http://schemas.microsoft.com/office/drawing/2014/main" id="{713736A4-CFC6-42A4-8DF7-EE0D9483634E}"/>
              </a:ext>
            </a:extLst>
          </p:cNvPr>
          <p:cNvGraphicFramePr/>
          <p:nvPr/>
        </p:nvGraphicFramePr>
        <p:xfrm>
          <a:off xmlns:a="http://schemas.openxmlformats.org/drawingml/2006/main" x="609600" y="1828800"/>
          <a:ext xmlns:a="http://schemas.openxmlformats.org/drawingml/2006/main" cx="10972800" cy="3933825"/>
        </p:xfrm>
        <a:graphic xmlns:a="http://schemas.openxmlformats.org/drawingml/2006/main">
          <a:graphicData uri="http://schemas.openxmlformats.org/drawingml/2006/table">
            <a:tbl>
              <a:tblPr/>
              <a:tblGrid>
                <a:gridCol w="3238500"/>
                <a:gridCol w="3667125"/>
                <a:gridCol w="4067175"/>
              </a:tblGrid>
              <a:tr h="786765">
                <a:tc>
                  <a:txBody>
                    <a:bodyPr wrap="square" lIns="152400" tIns="95250" rIns="152400" bIns="95250">
                      <a:noAutofit/>
                    </a:bodyPr>
                    <a:lstStyle/>
                    <a:p>
                      <a:r>
                        <a:rPr sz="1800" b="1">
                          <a:solidFill>
                            <a:srgbClr val="1A7544"/>
                          </a:solidFill>
                          <a:latin typeface="Inter"/>
                          <a:ea typeface="Inter"/>
                          <a:cs typeface="Inter"/>
                        </a:rPr>
                        <a:t>Organization / route</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00" b="1">
                          <a:solidFill>
                            <a:srgbClr val="1A7544"/>
                          </a:solidFill>
                          <a:latin typeface="Inter"/>
                          <a:ea typeface="Inter"/>
                          <a:cs typeface="Inter"/>
                        </a:rPr>
                        <a:t>Actual role</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00" b="1">
                          <a:solidFill>
                            <a:srgbClr val="1A7544"/>
                          </a:solidFill>
                          <a:latin typeface="Inter"/>
                          <a:ea typeface="Inter"/>
                          <a:cs typeface="Inter"/>
                        </a:rPr>
                        <a:t>Green Goods implication</a:t>
                      </a:r>
                    </a:p>
                  </a:txBody>
                  <a:tcPr marL="91440" marR="91440" marT="45720" marB="45720" anchor="ctr">
                    <a:lnB w="6350">
                      <a:solidFill>
                        <a:srgbClr val="78716C"/>
                      </a:solidFill>
                    </a:lnB>
                    <a:lnT w="6350">
                      <a:noFill/>
                    </a:lnT>
                    <a:lnR w="6350">
                      <a:noFill/>
                    </a:lnR>
                    <a:lnL w="6350">
                      <a:noFill/>
                    </a:lnL>
                    <a:solidFill>
                      <a:srgbClr val="FAF8F5"/>
                    </a:solidFill>
                  </a:tcPr>
                </a:tc>
              </a:tr>
              <a:tr h="786765">
                <a:tc>
                  <a:txBody>
                    <a:bodyPr wrap="square" lIns="152400" tIns="95250" rIns="152400" bIns="95250">
                      <a:noAutofit/>
                    </a:bodyPr>
                    <a:lstStyle/>
                    <a:p>
                      <a:r>
                        <a:rPr sz="1800" b="0">
                          <a:solidFill>
                            <a:srgbClr val="292524"/>
                          </a:solidFill>
                          <a:latin typeface="Inter"/>
                          <a:ea typeface="Inter"/>
                          <a:cs typeface="Inter"/>
                        </a:rPr>
                        <a:t>5th World</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Professional regenerative services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Possible service comparator; no API assumed</a:t>
                      </a:r>
                    </a:p>
                  </a:txBody>
                  <a:tcPr marL="91440" marR="91440" marT="45720" marB="45720" anchor="ctr">
                    <a:lnB w="6350">
                      <a:solidFill>
                        <a:srgbClr val="E7E5E4"/>
                      </a:solidFill>
                    </a:lnB>
                    <a:lnT w="6350">
                      <a:noFill/>
                    </a:lnT>
                    <a:lnR w="6350">
                      <a:noFill/>
                    </a:lnR>
                    <a:lnL w="6350">
                      <a:noFill/>
                    </a:lnL>
                    <a:solidFill>
                      <a:srgbClr val="FAF8F5"/>
                    </a:solidFill>
                  </a:tcPr>
                </a:tc>
              </a:tr>
              <a:tr h="786765">
                <a:tc>
                  <a:txBody>
                    <a:bodyPr wrap="square" lIns="152400" tIns="95250" rIns="152400" bIns="95250">
                      <a:noAutofit/>
                    </a:bodyPr>
                    <a:lstStyle/>
                    <a:p>
                      <a:r>
                        <a:rPr sz="1800" b="0">
                          <a:solidFill>
                            <a:srgbClr val="292524"/>
                          </a:solidFill>
                          <a:latin typeface="Inter"/>
                          <a:ea typeface="Inter"/>
                          <a:cs typeface="Inter"/>
                        </a:rPr>
                        <a:t>Ma Earth</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Community crowdfunding and matching</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Downstream delivery funding; round 3 closed</a:t>
                      </a:r>
                    </a:p>
                  </a:txBody>
                  <a:tcPr marL="91440" marR="91440" marT="45720" marB="45720" anchor="ctr">
                    <a:lnB w="6350">
                      <a:solidFill>
                        <a:srgbClr val="E7E5E4"/>
                      </a:solidFill>
                    </a:lnB>
                    <a:lnT w="6350">
                      <a:noFill/>
                    </a:lnT>
                    <a:lnR w="6350">
                      <a:noFill/>
                    </a:lnR>
                    <a:lnL w="6350">
                      <a:noFill/>
                    </a:lnL>
                    <a:solidFill>
                      <a:srgbClr val="FAF8F5"/>
                    </a:solidFill>
                  </a:tcPr>
                </a:tc>
              </a:tr>
              <a:tr h="786765">
                <a:tc>
                  <a:txBody>
                    <a:bodyPr wrap="square" lIns="152400" tIns="95250" rIns="152400" bIns="95250">
                      <a:noAutofit/>
                    </a:bodyPr>
                    <a:lstStyle/>
                    <a:p>
                      <a:r>
                        <a:rPr sz="1800" b="0">
                          <a:solidFill>
                            <a:srgbClr val="292524"/>
                          </a:solidFill>
                          <a:latin typeface="Inter"/>
                          <a:ea typeface="Inter"/>
                          <a:cs typeface="Inter"/>
                        </a:rPr>
                        <a:t>NLnet Restack</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Open infrastructure grants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Possible narrow fit; 3 Nov deadline, eligibility gates</a:t>
                      </a:r>
                    </a:p>
                  </a:txBody>
                  <a:tcPr marL="91440" marR="91440" marT="45720" marB="45720" anchor="ctr">
                    <a:lnB w="6350">
                      <a:solidFill>
                        <a:srgbClr val="E7E5E4"/>
                      </a:solidFill>
                    </a:lnB>
                    <a:lnT w="6350">
                      <a:noFill/>
                    </a:lnT>
                    <a:lnR w="6350">
                      <a:noFill/>
                    </a:lnR>
                    <a:lnL w="6350">
                      <a:noFill/>
                    </a:lnL>
                    <a:solidFill>
                      <a:srgbClr val="FAF8F5"/>
                    </a:solidFill>
                  </a:tcPr>
                </a:tc>
              </a:tr>
              <a:tr h="786765">
                <a:tc>
                  <a:txBody>
                    <a:bodyPr wrap="square" lIns="152400" tIns="95250" rIns="152400" bIns="95250">
                      <a:noAutofit/>
                    </a:bodyPr>
                    <a:lstStyle/>
                    <a:p>
                      <a:r>
                        <a:rPr sz="1800" b="0">
                          <a:solidFill>
                            <a:srgbClr val="292524"/>
                          </a:solidFill>
                          <a:latin typeface="Inter"/>
                          <a:ea typeface="Inter"/>
                          <a:cs typeface="Inter"/>
                        </a:rPr>
                        <a:t>Conservation programs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Local advice, plans and evidence</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Buyer discovery; no procurement access assumed</a:t>
                      </a:r>
                    </a:p>
                  </a:txBody>
                  <a:tcPr marL="91440" marR="91440" marT="45720" marB="45720" anchor="ctr">
                    <a:lnB w="6350">
                      <a:solidFill>
                        <a:srgbClr val="E7E5E4"/>
                      </a:solidFill>
                    </a:lnB>
                    <a:lnT w="6350">
                      <a:noFill/>
                    </a:lnT>
                    <a:lnR w="6350">
                      <a:noFill/>
                    </a:lnR>
                    <a:lnL w="6350">
                      <a:noFill/>
                    </a:lnL>
                    <a:solidFill>
                      <a:srgbClr val="FAF8F5"/>
                    </a:solidFill>
                  </a:tcPr>
                </a:tc>
              </a:tr>
            </a:tbl>
          </a:graphicData>
        </a:graphic>
      </p:graphicFrame>
    </p:spTree>
    <p:extLst>
      <p:ext uri="{BB962C8B-B14F-4D97-AF65-F5344CB8AC3E}">
        <p14:creationId xmlns:p14="http://schemas.microsoft.com/office/powerpoint/2010/main" val="1576537124"/>
      </p:ext>
    </p:extLst>
  </p:cSld>
</p:sld>
</file>

<file path=ppt/slides/slide2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D9B2443-4EFC-4222-8023-4959B6C7C6C2}"/>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Risks and the evidence that changes the decision</a:t>
            </a:r>
          </a:p>
        </p:txBody>
      </p:sp>
      <p:sp>
        <p:nvSpPr>
          <p:cNvPr id="2" name="">
            <a:extLst xmlns:a="http://schemas.openxmlformats.org/drawingml/2006/main">
              <a:ext uri="{FF2B5EF4-FFF2-40B4-BE49-F238E27FC236}">
                <a16:creationId xmlns:a16="http://schemas.microsoft.com/office/drawing/2014/main" id="{87B6E55A-A78A-4735-AD19-87E43C52A233}"/>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Appendix · Proposed design and assumptions</a:t>
            </a:r>
          </a:p>
        </p:txBody>
      </p:sp>
      <p:sp>
        <p:nvSpPr>
          <p:cNvPr id="3" name="">
            <a:extLst xmlns:a="http://schemas.openxmlformats.org/drawingml/2006/main">
              <a:ext uri="{FF2B5EF4-FFF2-40B4-BE49-F238E27FC236}">
                <a16:creationId xmlns:a16="http://schemas.microsoft.com/office/drawing/2014/main" id="{A2C27E1F-1917-4B2B-96AD-6D7C8A0160D3}"/>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25</a:t>
            </a:r>
          </a:p>
        </p:txBody>
      </p:sp>
      <p:graphicFrame>
        <p:nvGraphicFramePr>
          <p:cNvPr id="4" name="">
            <a:extLst xmlns:a="http://schemas.openxmlformats.org/drawingml/2006/main">
              <a:ext uri="{FF2B5EF4-FFF2-40B4-BE49-F238E27FC236}">
                <a16:creationId xmlns:a16="http://schemas.microsoft.com/office/drawing/2014/main" id="{CB96BDA1-7109-408C-A185-A8E65BE7A68C}"/>
              </a:ext>
            </a:extLst>
          </p:cNvPr>
          <p:cNvGraphicFramePr/>
          <p:nvPr/>
        </p:nvGraphicFramePr>
        <p:xfrm>
          <a:off xmlns:a="http://schemas.openxmlformats.org/drawingml/2006/main" x="609600" y="1743075"/>
          <a:ext xmlns:a="http://schemas.openxmlformats.org/drawingml/2006/main" cx="10972800" cy="4067175"/>
        </p:xfrm>
        <a:graphic xmlns:a="http://schemas.openxmlformats.org/drawingml/2006/main">
          <a:graphicData uri="http://schemas.openxmlformats.org/drawingml/2006/table">
            <a:tbl>
              <a:tblPr/>
              <a:tblGrid>
                <a:gridCol w="4048125"/>
                <a:gridCol w="6924675"/>
              </a:tblGrid>
              <a:tr h="677863">
                <a:tc>
                  <a:txBody>
                    <a:bodyPr wrap="square" lIns="152400" tIns="95250" rIns="152400" bIns="95250">
                      <a:noAutofit/>
                    </a:bodyPr>
                    <a:lstStyle/>
                    <a:p>
                      <a:r>
                        <a:rPr sz="1800" b="1">
                          <a:solidFill>
                            <a:srgbClr val="1A7544"/>
                          </a:solidFill>
                          <a:latin typeface="Inter"/>
                          <a:ea typeface="Inter"/>
                          <a:cs typeface="Inter"/>
                        </a:rPr>
                        <a:t>Risk</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00" b="1">
                          <a:solidFill>
                            <a:srgbClr val="1A7544"/>
                          </a:solidFill>
                          <a:latin typeface="Inter"/>
                          <a:ea typeface="Inter"/>
                          <a:cs typeface="Inter"/>
                        </a:rPr>
                        <a:t>Evidence required before expansion</a:t>
                      </a:r>
                    </a:p>
                  </a:txBody>
                  <a:tcPr marL="91440" marR="91440" marT="45720" marB="45720" anchor="ctr">
                    <a:lnB w="6350">
                      <a:solidFill>
                        <a:srgbClr val="78716C"/>
                      </a:solidFill>
                    </a:lnB>
                    <a:lnT w="6350">
                      <a:noFill/>
                    </a:lnT>
                    <a:lnR w="6350">
                      <a:noFill/>
                    </a:lnR>
                    <a:lnL w="6350">
                      <a:noFill/>
                    </a:lnL>
                    <a:solidFill>
                      <a:srgbClr val="FAF8F5"/>
                    </a:solidFill>
                  </a:tcPr>
                </a:tc>
              </a:tr>
              <a:tr h="677863">
                <a:tc>
                  <a:txBody>
                    <a:bodyPr wrap="square" lIns="152400" tIns="95250" rIns="152400" bIns="95250">
                      <a:noAutofit/>
                    </a:bodyPr>
                    <a:lstStyle/>
                    <a:p>
                      <a:r>
                        <a:rPr sz="1800" b="0">
                          <a:solidFill>
                            <a:srgbClr val="292524"/>
                          </a:solidFill>
                          <a:latin typeface="Inter"/>
                          <a:ea typeface="Inter"/>
                          <a:cs typeface="Inter"/>
                        </a:rPr>
                        <a:t>People do not find it useful</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Baseline comparison, weekly use and paid continuation</a:t>
                      </a:r>
                    </a:p>
                  </a:txBody>
                  <a:tcPr marL="91440" marR="91440" marT="45720" marB="45720" anchor="ctr">
                    <a:lnB w="6350">
                      <a:solidFill>
                        <a:srgbClr val="E7E5E4"/>
                      </a:solidFill>
                    </a:lnB>
                    <a:lnT w="6350">
                      <a:noFill/>
                    </a:lnT>
                    <a:lnR w="6350">
                      <a:noFill/>
                    </a:lnR>
                    <a:lnL w="6350">
                      <a:noFill/>
                    </a:lnL>
                    <a:solidFill>
                      <a:srgbClr val="FAF8F5"/>
                    </a:solidFill>
                  </a:tcPr>
                </a:tc>
              </a:tr>
              <a:tr h="677863">
                <a:tc>
                  <a:txBody>
                    <a:bodyPr wrap="square" lIns="152400" tIns="95250" rIns="152400" bIns="95250">
                      <a:noAutofit/>
                    </a:bodyPr>
                    <a:lstStyle/>
                    <a:p>
                      <a:r>
                        <a:rPr sz="1800" b="0">
                          <a:solidFill>
                            <a:srgbClr val="292524"/>
                          </a:solidFill>
                          <a:latin typeface="Inter"/>
                          <a:ea typeface="Inter"/>
                          <a:cs typeface="Inter"/>
                        </a:rPr>
                        <a:t>AI / sensors add false confidence</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Source fidelity, calibrated inputs and human review; manual fallback</a:t>
                      </a:r>
                    </a:p>
                  </a:txBody>
                  <a:tcPr marL="91440" marR="91440" marT="45720" marB="45720" anchor="ctr">
                    <a:lnB w="6350">
                      <a:solidFill>
                        <a:srgbClr val="E7E5E4"/>
                      </a:solidFill>
                    </a:lnB>
                    <a:lnT w="6350">
                      <a:noFill/>
                    </a:lnT>
                    <a:lnR w="6350">
                      <a:noFill/>
                    </a:lnR>
                    <a:lnL w="6350">
                      <a:noFill/>
                    </a:lnL>
                    <a:solidFill>
                      <a:srgbClr val="FAF8F5"/>
                    </a:solidFill>
                  </a:tcPr>
                </a:tc>
              </a:tr>
              <a:tr h="677863">
                <a:tc>
                  <a:txBody>
                    <a:bodyPr wrap="square" lIns="152400" tIns="95250" rIns="152400" bIns="95250">
                      <a:noAutofit/>
                    </a:bodyPr>
                    <a:lstStyle/>
                    <a:p>
                      <a:r>
                        <a:rPr sz="1800" b="0">
                          <a:solidFill>
                            <a:srgbClr val="292524"/>
                          </a:solidFill>
                          <a:latin typeface="Inter"/>
                          <a:ea typeface="Inter"/>
                          <a:cs typeface="Inter"/>
                        </a:rPr>
                        <a:t>Private knowledge is disclosed or lost</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Exact preview, canary tests, backup / recovery and exit drills</a:t>
                      </a:r>
                    </a:p>
                  </a:txBody>
                  <a:tcPr marL="91440" marR="91440" marT="45720" marB="45720" anchor="ctr">
                    <a:lnB w="6350">
                      <a:solidFill>
                        <a:srgbClr val="E7E5E4"/>
                      </a:solidFill>
                    </a:lnB>
                    <a:lnT w="6350">
                      <a:noFill/>
                    </a:lnT>
                    <a:lnR w="6350">
                      <a:noFill/>
                    </a:lnR>
                    <a:lnL w="6350">
                      <a:noFill/>
                    </a:lnL>
                    <a:solidFill>
                      <a:srgbClr val="FAF8F5"/>
                    </a:solidFill>
                  </a:tcPr>
                </a:tc>
              </a:tr>
              <a:tr h="677863">
                <a:tc>
                  <a:txBody>
                    <a:bodyPr wrap="square" lIns="152400" tIns="95250" rIns="152400" bIns="95250">
                      <a:noAutofit/>
                    </a:bodyPr>
                    <a:lstStyle/>
                    <a:p>
                      <a:r>
                        <a:rPr sz="1800" b="0">
                          <a:solidFill>
                            <a:srgbClr val="292524"/>
                          </a:solidFill>
                          <a:latin typeface="Inter"/>
                          <a:ea typeface="Inter"/>
                          <a:cs typeface="Inter"/>
                        </a:rPr>
                        <a:t>Service costs defeat affordability</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Measured setup, support, language and review labor</a:t>
                      </a:r>
                    </a:p>
                  </a:txBody>
                  <a:tcPr marL="91440" marR="91440" marT="45720" marB="45720" anchor="ctr">
                    <a:lnB w="6350">
                      <a:solidFill>
                        <a:srgbClr val="E7E5E4"/>
                      </a:solidFill>
                    </a:lnB>
                    <a:lnT w="6350">
                      <a:noFill/>
                    </a:lnT>
                    <a:lnR w="6350">
                      <a:noFill/>
                    </a:lnR>
                    <a:lnL w="6350">
                      <a:noFill/>
                    </a:lnL>
                    <a:solidFill>
                      <a:srgbClr val="FAF8F5"/>
                    </a:solidFill>
                  </a:tcPr>
                </a:tc>
              </a:tr>
              <a:tr h="677863">
                <a:tc>
                  <a:txBody>
                    <a:bodyPr wrap="square" lIns="152400" tIns="95250" rIns="152400" bIns="95250">
                      <a:noAutofit/>
                    </a:bodyPr>
                    <a:lstStyle/>
                    <a:p>
                      <a:r>
                        <a:rPr sz="1800" b="0">
                          <a:solidFill>
                            <a:srgbClr val="292524"/>
                          </a:solidFill>
                          <a:latin typeface="Inter"/>
                          <a:ea typeface="Inter"/>
                          <a:cs typeface="Inter"/>
                        </a:rPr>
                        <a:t>Protocol / governance overreach</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Human authority, confirmed writes, rights review and fair appeals</a:t>
                      </a:r>
                    </a:p>
                  </a:txBody>
                  <a:tcPr marL="91440" marR="91440" marT="45720" marB="45720" anchor="ctr">
                    <a:lnB w="6350">
                      <a:solidFill>
                        <a:srgbClr val="E7E5E4"/>
                      </a:solidFill>
                    </a:lnB>
                    <a:lnT w="6350">
                      <a:noFill/>
                    </a:lnT>
                    <a:lnR w="6350">
                      <a:noFill/>
                    </a:lnR>
                    <a:lnL w="6350">
                      <a:noFill/>
                    </a:lnL>
                    <a:solidFill>
                      <a:srgbClr val="FAF8F5"/>
                    </a:solidFill>
                  </a:tcPr>
                </a:tc>
              </a:tr>
            </a:tbl>
          </a:graphicData>
        </a:graphic>
      </p:graphicFrame>
    </p:spTree>
    <p:extLst>
      <p:ext uri="{BB962C8B-B14F-4D97-AF65-F5344CB8AC3E}">
        <p14:creationId xmlns:p14="http://schemas.microsoft.com/office/powerpoint/2010/main" val="781379187"/>
      </p:ext>
    </p:extLst>
  </p:cSld>
</p:sld>
</file>

<file path=ppt/slides/slide2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13640B-6808-4A8B-9F33-3EFF9FE56196}"/>
              </a:ext>
            </a:extLst>
          </p:cNvPr>
          <p:cNvSpPr>
            <a:spLocks xmlns:a="http://schemas.openxmlformats.org/drawingml/2006/main" noGrp="1"/>
          </p:cNvSpPr>
          <p:nvPr/>
        </p:nvSpPr>
        <p:spPr>
          <a:xfrm xmlns:a="http://schemas.openxmlformats.org/drawingml/2006/main">
            <a:off x="609600" y="466725"/>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292524"/>
                </a:solidFill>
                <a:latin typeface="Fraunces"/>
                <a:ea typeface="Fraunces"/>
                <a:cs typeface="Fraunces"/>
              </a:defRPr>
            </a:defPPr>
          </a:lstStyle>
          <a:p xmlns:a="http://schemas.openxmlformats.org/drawingml/2006/main">
            <a:pPr>
              <a:defRPr sz="3375" b="0">
                <a:solidFill>
                  <a:srgbClr val="292524"/>
                </a:solidFill>
                <a:latin typeface="Fraunces"/>
                <a:ea typeface="Fraunces"/>
                <a:cs typeface="Fraunces"/>
              </a:defRPr>
            </a:pPr>
            <a:r>
              <a:rPr sz="3375" b="0">
                <a:solidFill>
                  <a:srgbClr val="292524"/>
                </a:solidFill>
                <a:latin typeface="Fraunces"/>
                <a:ea typeface="Fraunces"/>
                <a:cs typeface="Fraunces"/>
              </a:rPr>
              <a:t>Market assumptions and evidence boundaries</a:t>
            </a:r>
          </a:p>
        </p:txBody>
      </p:sp>
      <p:sp>
        <p:nvSpPr>
          <p:cNvPr id="2" name="">
            <a:extLst xmlns:a="http://schemas.openxmlformats.org/drawingml/2006/main">
              <a:ext uri="{FF2B5EF4-FFF2-40B4-BE49-F238E27FC236}">
                <a16:creationId xmlns:a16="http://schemas.microsoft.com/office/drawing/2014/main" id="{0A4CDDA2-3C96-4707-9F8B-7C6B0BE6A7D9}"/>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Appendix · Proposed design and assumptions</a:t>
            </a:r>
          </a:p>
        </p:txBody>
      </p:sp>
      <p:sp>
        <p:nvSpPr>
          <p:cNvPr id="3" name="">
            <a:extLst xmlns:a="http://schemas.openxmlformats.org/drawingml/2006/main">
              <a:ext uri="{FF2B5EF4-FFF2-40B4-BE49-F238E27FC236}">
                <a16:creationId xmlns:a16="http://schemas.microsoft.com/office/drawing/2014/main" id="{E09388EF-32BD-4355-B87E-23C0EAFE2345}"/>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716C"/>
                </a:solidFill>
                <a:latin typeface="Inter"/>
                <a:ea typeface="Inter"/>
                <a:cs typeface="Inter"/>
              </a:defRPr>
            </a:defPPr>
          </a:lstStyle>
          <a:p xmlns:a="http://schemas.openxmlformats.org/drawingml/2006/main">
            <a:pPr>
              <a:defRPr sz="1200" b="0">
                <a:solidFill>
                  <a:srgbClr val="78716C"/>
                </a:solidFill>
                <a:latin typeface="Inter"/>
                <a:ea typeface="Inter"/>
                <a:cs typeface="Inter"/>
              </a:defRPr>
            </a:pPr>
            <a:r>
              <a:rPr sz="1200" b="0">
                <a:solidFill>
                  <a:srgbClr val="78716C"/>
                </a:solidFill>
                <a:latin typeface="Inter"/>
                <a:ea typeface="Inter"/>
                <a:cs typeface="Inter"/>
              </a:rPr>
              <a:t>26</a:t>
            </a:r>
          </a:p>
        </p:txBody>
      </p:sp>
      <p:graphicFrame>
        <p:nvGraphicFramePr>
          <p:cNvPr id="4" name="">
            <a:extLst xmlns:a="http://schemas.openxmlformats.org/drawingml/2006/main">
              <a:ext uri="{FF2B5EF4-FFF2-40B4-BE49-F238E27FC236}">
                <a16:creationId xmlns:a16="http://schemas.microsoft.com/office/drawing/2014/main" id="{1C980910-B5F1-4828-9C14-2F4A710B4A90}"/>
              </a:ext>
            </a:extLst>
          </p:cNvPr>
          <p:cNvGraphicFramePr/>
          <p:nvPr/>
        </p:nvGraphicFramePr>
        <p:xfrm>
          <a:off xmlns:a="http://schemas.openxmlformats.org/drawingml/2006/main" x="609600" y="1809750"/>
          <a:ext xmlns:a="http://schemas.openxmlformats.org/drawingml/2006/main" cx="10972800" cy="3895725"/>
        </p:xfrm>
        <a:graphic xmlns:a="http://schemas.openxmlformats.org/drawingml/2006/main">
          <a:graphicData uri="http://schemas.openxmlformats.org/drawingml/2006/table">
            <a:tbl>
              <a:tblPr/>
              <a:tblGrid>
                <a:gridCol w="3571875"/>
                <a:gridCol w="3990975"/>
                <a:gridCol w="3409950"/>
              </a:tblGrid>
              <a:tr h="779145">
                <a:tc>
                  <a:txBody>
                    <a:bodyPr wrap="square" lIns="152400" tIns="95250" rIns="152400" bIns="95250">
                      <a:noAutofit/>
                    </a:bodyPr>
                    <a:lstStyle/>
                    <a:p>
                      <a:r>
                        <a:rPr sz="1800" b="1">
                          <a:solidFill>
                            <a:srgbClr val="1A7544"/>
                          </a:solidFill>
                          <a:latin typeface="Inter"/>
                          <a:ea typeface="Inter"/>
                          <a:cs typeface="Inter"/>
                        </a:rPr>
                        <a:t>Input</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00" b="1">
                          <a:solidFill>
                            <a:srgbClr val="1A7544"/>
                          </a:solidFill>
                          <a:latin typeface="Inter"/>
                          <a:ea typeface="Inter"/>
                          <a:cs typeface="Inter"/>
                        </a:rPr>
                        <a:t>Evidence class</a:t>
                      </a:r>
                    </a:p>
                  </a:txBody>
                  <a:tcPr marL="91440" marR="91440" marT="45720" marB="45720" anchor="ctr">
                    <a:lnB w="6350">
                      <a:solidFill>
                        <a:srgbClr val="78716C"/>
                      </a:solidFill>
                    </a:lnB>
                    <a:lnT w="6350">
                      <a:noFill/>
                    </a:lnT>
                    <a:lnR w="6350">
                      <a:noFill/>
                    </a:lnR>
                    <a:lnL w="6350">
                      <a:noFill/>
                    </a:lnL>
                    <a:solidFill>
                      <a:srgbClr val="FAF8F5"/>
                    </a:solidFill>
                  </a:tcPr>
                </a:tc>
                <a:tc>
                  <a:txBody>
                    <a:bodyPr wrap="square" lIns="152400" tIns="95250" rIns="152400" bIns="95250">
                      <a:noAutofit/>
                    </a:bodyPr>
                    <a:lstStyle/>
                    <a:p>
                      <a:r>
                        <a:rPr sz="1800" b="1">
                          <a:solidFill>
                            <a:srgbClr val="1A7544"/>
                          </a:solidFill>
                          <a:latin typeface="Inter"/>
                          <a:ea typeface="Inter"/>
                          <a:cs typeface="Inter"/>
                        </a:rPr>
                        <a:t>Effect on the estimate</a:t>
                      </a:r>
                    </a:p>
                  </a:txBody>
                  <a:tcPr marL="91440" marR="91440" marT="45720" marB="45720" anchor="ctr">
                    <a:lnB w="6350">
                      <a:solidFill>
                        <a:srgbClr val="78716C"/>
                      </a:solidFill>
                    </a:lnB>
                    <a:lnT w="6350">
                      <a:noFill/>
                    </a:lnT>
                    <a:lnR w="6350">
                      <a:noFill/>
                    </a:lnR>
                    <a:lnL w="6350">
                      <a:noFill/>
                    </a:lnL>
                    <a:solidFill>
                      <a:srgbClr val="FAF8F5"/>
                    </a:solidFill>
                  </a:tcPr>
                </a:tc>
              </a:tr>
              <a:tr h="779145">
                <a:tc>
                  <a:txBody>
                    <a:bodyPr wrap="square" lIns="152400" tIns="95250" rIns="152400" bIns="95250">
                      <a:noAutofit/>
                    </a:bodyPr>
                    <a:lstStyle/>
                    <a:p>
                      <a:r>
                        <a:rPr sz="1800" b="0">
                          <a:solidFill>
                            <a:srgbClr val="292524"/>
                          </a:solidFill>
                          <a:latin typeface="Inter"/>
                          <a:ea typeface="Inter"/>
                          <a:cs typeface="Inter"/>
                        </a:rPr>
                        <a:t>~3,000 U.S. districts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Primary-source count, rounded</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Defines one channel ceiling</a:t>
                      </a:r>
                    </a:p>
                  </a:txBody>
                  <a:tcPr marL="91440" marR="91440" marT="45720" marB="45720" anchor="ctr">
                    <a:lnB w="6350">
                      <a:solidFill>
                        <a:srgbClr val="E7E5E4"/>
                      </a:solidFill>
                    </a:lnB>
                    <a:lnT w="6350">
                      <a:noFill/>
                    </a:lnT>
                    <a:lnR w="6350">
                      <a:noFill/>
                    </a:lnR>
                    <a:lnL w="6350">
                      <a:noFill/>
                    </a:lnL>
                    <a:solidFill>
                      <a:srgbClr val="FAF8F5"/>
                    </a:solidFill>
                  </a:tcPr>
                </a:tc>
              </a:tr>
              <a:tr h="779145">
                <a:tc>
                  <a:txBody>
                    <a:bodyPr wrap="square" lIns="152400" tIns="95250" rIns="152400" bIns="95250">
                      <a:noAutofit/>
                    </a:bodyPr>
                    <a:lstStyle/>
                    <a:p>
                      <a:r>
                        <a:rPr sz="1800" b="0">
                          <a:solidFill>
                            <a:srgbClr val="292524"/>
                          </a:solidFill>
                          <a:latin typeface="Inter"/>
                          <a:ea typeface="Inter"/>
                          <a:cs typeface="Inter"/>
                        </a:rPr>
                        <a:t>$3k / $6k / $9k per year</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Unvalidated service-price assumptions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$9m / $18m / $27m ceiling</a:t>
                      </a:r>
                    </a:p>
                  </a:txBody>
                  <a:tcPr marL="91440" marR="91440" marT="45720" marB="45720" anchor="ctr">
                    <a:lnB w="6350">
                      <a:solidFill>
                        <a:srgbClr val="E7E5E4"/>
                      </a:solidFill>
                    </a:lnB>
                    <a:lnT w="6350">
                      <a:noFill/>
                    </a:lnT>
                    <a:lnR w="6350">
                      <a:noFill/>
                    </a:lnR>
                    <a:lnL w="6350">
                      <a:noFill/>
                    </a:lnL>
                    <a:solidFill>
                      <a:srgbClr val="FAF8F5"/>
                    </a:solidFill>
                  </a:tcPr>
                </a:tc>
              </a:tr>
              <a:tr h="779145">
                <a:tc>
                  <a:txBody>
                    <a:bodyPr wrap="square" lIns="152400" tIns="95250" rIns="152400" bIns="95250">
                      <a:noAutofit/>
                    </a:bodyPr>
                    <a:lstStyle/>
                    <a:p>
                      <a:r>
                        <a:rPr sz="1800" b="0">
                          <a:solidFill>
                            <a:srgbClr val="292524"/>
                          </a:solidFill>
                          <a:latin typeface="Inter"/>
                          <a:ea typeface="Inter"/>
                          <a:cs typeface="Inter"/>
                        </a:rPr>
                        <a:t>5% / 10% / 20% qualified fit</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Unvalidated buyer filter</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$0.9m / $1.8m / $3.6m SAM at $6k</a:t>
                      </a:r>
                    </a:p>
                  </a:txBody>
                  <a:tcPr marL="91440" marR="91440" marT="45720" marB="45720" anchor="ctr">
                    <a:lnB w="6350">
                      <a:solidFill>
                        <a:srgbClr val="E7E5E4"/>
                      </a:solidFill>
                    </a:lnB>
                    <a:lnT w="6350">
                      <a:noFill/>
                    </a:lnT>
                    <a:lnR w="6350">
                      <a:noFill/>
                    </a:lnR>
                    <a:lnL w="6350">
                      <a:noFill/>
                    </a:lnL>
                    <a:solidFill>
                      <a:srgbClr val="FAF8F5"/>
                    </a:solidFill>
                  </a:tcPr>
                </a:tc>
              </a:tr>
              <a:tr h="779145">
                <a:tc>
                  <a:txBody>
                    <a:bodyPr wrap="square" lIns="152400" tIns="95250" rIns="152400" bIns="95250">
                      <a:noAutofit/>
                    </a:bodyPr>
                    <a:lstStyle/>
                    <a:p>
                      <a:r>
                        <a:rPr sz="1800" b="0">
                          <a:solidFill>
                            <a:srgbClr val="292524"/>
                          </a:solidFill>
                          <a:latin typeface="Inter"/>
                          <a:ea typeface="Inter"/>
                          <a:cs typeface="Inter"/>
                        </a:rPr>
                        <a:t>5 / 15 / 30 programs in 24 months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Acquisition / delivery targets</a:t>
                      </a:r>
                    </a:p>
                  </a:txBody>
                  <a:tcPr marL="91440" marR="91440" marT="45720" marB="45720" anchor="ctr">
                    <a:lnB w="6350">
                      <a:solidFill>
                        <a:srgbClr val="E7E5E4"/>
                      </a:solidFill>
                    </a:lnB>
                    <a:lnT w="6350">
                      <a:noFill/>
                    </a:lnT>
                    <a:lnR w="6350">
                      <a:noFill/>
                    </a:lnR>
                    <a:lnL w="6350">
                      <a:noFill/>
                    </a:lnL>
                    <a:solidFill>
                      <a:srgbClr val="FAF8F5"/>
                    </a:solidFill>
                  </a:tcPr>
                </a:tc>
                <a:tc>
                  <a:txBody>
                    <a:bodyPr wrap="square" lIns="152400" tIns="95250" rIns="152400" bIns="95250">
                      <a:noAutofit/>
                    </a:bodyPr>
                    <a:lstStyle/>
                    <a:p>
                      <a:r>
                        <a:rPr sz="1800" b="0">
                          <a:solidFill>
                            <a:srgbClr val="292524"/>
                          </a:solidFill>
                          <a:latin typeface="Inter"/>
                          <a:ea typeface="Inter"/>
                          <a:cs typeface="Inter"/>
                        </a:rPr>
                        <a:t>$30k / $90k / $180k ARR at $6k</a:t>
                      </a:r>
                    </a:p>
                  </a:txBody>
                  <a:tcPr marL="91440" marR="91440" marT="45720" marB="45720" anchor="ctr">
                    <a:lnB w="6350">
                      <a:solidFill>
                        <a:srgbClr val="E7E5E4"/>
                      </a:solidFill>
                    </a:lnB>
                    <a:lnT w="6350">
                      <a:noFill/>
                    </a:lnT>
                    <a:lnR w="6350">
                      <a:noFill/>
                    </a:lnR>
                    <a:lnL w="6350">
                      <a:noFill/>
                    </a:lnL>
                    <a:solidFill>
                      <a:srgbClr val="FAF8F5"/>
                    </a:solidFill>
                  </a:tcPr>
                </a:tc>
              </a:tr>
            </a:tbl>
          </a:graphicData>
        </a:graphic>
      </p:graphicFrame>
      <p:sp>
        <p:nvSpPr>
          <p:cNvPr id="5" name="">
            <a:extLst xmlns:a="http://schemas.openxmlformats.org/drawingml/2006/main">
              <a:ext uri="{FF2B5EF4-FFF2-40B4-BE49-F238E27FC236}">
                <a16:creationId xmlns:a16="http://schemas.microsoft.com/office/drawing/2014/main" id="{5BC04F87-B569-4A9B-BC66-9657E8105071}"/>
              </a:ext>
            </a:extLst>
          </p:cNvPr>
          <p:cNvSpPr>
            <a:spLocks xmlns:a="http://schemas.openxmlformats.org/drawingml/2006/main" noGrp="1"/>
          </p:cNvSpPr>
          <p:nvPr/>
        </p:nvSpPr>
        <p:spPr>
          <a:xfrm xmlns:a="http://schemas.openxmlformats.org/drawingml/2006/main">
            <a:off x="609600" y="5895975"/>
            <a:ext cx="1090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A7544"/>
                </a:solidFill>
                <a:latin typeface="Inter"/>
                <a:ea typeface="Inter"/>
                <a:cs typeface="Inter"/>
              </a:defRPr>
            </a:defPPr>
          </a:lstStyle>
          <a:p xmlns:a="http://schemas.openxmlformats.org/drawingml/2006/main">
            <a:pPr>
              <a:defRPr sz="1875" b="1">
                <a:solidFill>
                  <a:srgbClr val="1A7544"/>
                </a:solidFill>
                <a:latin typeface="Inter"/>
                <a:ea typeface="Inter"/>
                <a:cs typeface="Inter"/>
              </a:defRPr>
            </a:pPr>
            <a:r>
              <a:rPr sz="1875" b="1">
                <a:solidFill>
                  <a:srgbClr val="1A7544"/>
                </a:solidFill>
                <a:latin typeface="Inter"/>
                <a:ea typeface="Inter"/>
                <a:cs typeface="Inter"/>
              </a:rPr>
              <a:t>Next evidence: real budgets, procurement constraints, delivery hours and renewals.</a:t>
            </a:r>
          </a:p>
        </p:txBody>
      </p:sp>
    </p:spTree>
    <p:extLst>
      <p:ext uri="{BB962C8B-B14F-4D97-AF65-F5344CB8AC3E}">
        <p14:creationId xmlns:p14="http://schemas.microsoft.com/office/powerpoint/2010/main" val="11038106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Fraunces"/>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2026-10-09T03:50:31.6820000Z</dcterms:created>
  <dcterms:modified xsi:type="dcterms:W3CDTF">2026-10-09T03:50:31.6830000Z</dcterms:modified>
</coreProperties>
</file>