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3b3f20b8384f33" /><Relationship Type="http://schemas.openxmlformats.org/officeDocument/2006/relationships/extended-properties" Target="/docProps/app.xml" Id="R60b78dda590c4994" /><Relationship Type="http://schemas.openxmlformats.org/officeDocument/2006/relationships/officeDocument" Target="/ppt/presentation.xml" Id="R8221339d194f4f90" /></Relationships>
</file>

<file path=ppt/presentation.xml><?xml version="1.0" encoding="utf-8"?>
<p:presentation xmlns:p="http://schemas.openxmlformats.org/presentationml/2006/main">
  <p:sldMasterIdLst>
    <p:sldMasterId xmlns:r="http://schemas.openxmlformats.org/officeDocument/2006/relationships" id="2147483648" r:id="R389b2d5dd62f42b6"/>
  </p:sldMasterIdLst>
  <p:notesMasterIdLst>
    <p:notesMasterId xmlns:r="http://schemas.openxmlformats.org/officeDocument/2006/relationships" r:id="Rf074fd5a8c2f4efd"/>
  </p:notesMasterIdLst>
  <p:sldIdLst>
    <p:sldId xmlns:r="http://schemas.openxmlformats.org/officeDocument/2006/relationships" id="256" r:id="Rc5b2b9534bda43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bfa4c2dd672a45f4" /><Relationship Type="http://schemas.openxmlformats.org/officeDocument/2006/relationships/slideMaster" Target="/ppt/slideMasters/slideMaster1.xml" Id="R389b2d5dd62f42b6" /><Relationship Type="http://schemas.openxmlformats.org/officeDocument/2006/relationships/notesMaster" Target="/ppt/notesMasters/notesMaster1.xml" Id="Rf074fd5a8c2f4efd" /><Relationship Type="http://schemas.openxmlformats.org/officeDocument/2006/relationships/presProps" Target="/ppt/presProps.xml" Id="Ra25243a8ddf34fb4" /><Relationship Type="http://schemas.openxmlformats.org/officeDocument/2006/relationships/tableStyles" Target="/ppt/tableStyles.xml" Id="R8b9c98e89bfa4fe0" /><Relationship Type="http://schemas.openxmlformats.org/officeDocument/2006/relationships/slide" Target="/ppt/slides/slide1.xml" Id="Rc5b2b9534bda43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a3305a0eb645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88319d95408e4446" /><Relationship Type="http://schemas.openxmlformats.org/officeDocument/2006/relationships/notesMaster" Target="/ppt/notesMasters/notesMaster1.xml" Id="Rcc66e35168e041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Goods brings practical tools, shared learning and coordinated support into one product and ecosystem. The proposed OS is an accessible browser workspace, with optional capture, local assistance and bounded sensor/import integrations. Manual participation must remain useful without new hardware, AI or public sharing.</a:t>
            </a:r>
          </a:p>
          <a:p xmlns:a="http://schemas.openxmlformats.org/drawingml/2006/main">
            <a:r>
              <a:t/>
            </a:r>
          </a:p>
          <a:p xmlns:a="http://schemas.openxmlformats.org/drawingml/2006/main">
            <a:r>
              <a:t>The intended participant experience is to keep a useful observation, find and review its context, decide what to share, learn from another community and coordinate needed support. Financial, social, intellectual, cultural and experiential value can all matter. These forms of value are not automatically interchangeable or tokenized.</a:t>
            </a:r>
          </a:p>
          <a:p xmlns:a="http://schemas.openxmlformats.org/drawingml/2006/main">
            <a:r>
              <a:t/>
            </a:r>
          </a:p>
          <a:p xmlns:a="http://schemas.openxmlformats.org/drawingml/2006/main">
            <a:r>
              <a:t>Current foundations: the inspected Green Goods capability ledger and work modules describe Garden records, work capture/review and support paths with availability limits. Proposed extensions: the connected OS workspace, source-linked local assistance, deliberate knowledge exchange and compatible infrastructure services. Later gated work: broader mesh behavior and expanded protocol integration. The commitment-pooling ledger distinguishes deployed infrastructure from an available product flow. No guarantee of ecological outcome, principal, yield or funding follows.</a:t>
            </a:r>
          </a:p>
          <a:p xmlns:a="http://schemas.openxmlformats.org/drawingml/2006/main">
            <a:r>
              <a:t/>
            </a:r>
          </a:p>
          <a:p xmlns:a="http://schemas.openxmlformats.org/drawingml/2006/main">
            <a:r>
              <a:t>Sovereignty means meaningful permissions, community authority, portability, recovery and exit. The sharing decision must show exactly what leaves the private workspace. Supporters receive only deliberately shared material; their funding does not confer ownership or AI-training permission.</a:t>
            </a:r>
          </a:p>
          <a:p xmlns:a="http://schemas.openxmlformats.org/drawingml/2006/main">
            <a:r>
              <a:t/>
            </a:r>
          </a:p>
          <a:p xmlns:a="http://schemas.openxmlformats.org/drawingml/2006/main">
            <a:r>
              <a:t>Sources inspected in the research package: https://github.com/greenpill-dev-guild/green-goods/blob/0350b1bd287db542d6b4d07a662ba28c744e203b/docs/docs/community/green-goods-claims.generated.mdx ; https://github.com/greenpill-dev-guild/green-goods/blob/0350b1bd287db542d6b4d07a662ba28c744e203b/packages/shared/src/modules/work/submit-work-command.ts ; https://github.com/greenpill-dev-guild/green-goods/blob/0350b1bd287db542d6b4d07a662ba28c744e203b/packages/shared/src/modules/work/work-confirmation.ts . The current checkout is source evidence, not fresh live deployment certification. Proposed requirements and limits: .plans/ideas/green-goods-os/spec.md and research.md.</a:t>
            </a:r>
          </a:p>
          <a:p xmlns:a="http://schemas.openxmlformats.org/drawingml/2006/main">
            <a:r>
              <a:t/>
            </a:r>
          </a:p>
          <a:p xmlns:a="http://schemas.openxmlformats.org/drawingml/2006/main">
            <a:r>
              <a:t>Image: newly generated fictional learning scene using hero-actions.webp and hero-cookie.webp as style references; only cropped forearms and hands are visible, with no faces or heads. It is not a screenshot, customer or field outcome. Full prompts accompany the file.</a:t>
            </a:r>
          </a:p>
          <a:p xmlns:a="http://schemas.openxmlformats.org/drawingml/2006/main">
            <a:r>
              <a:t/>
            </a:r>
          </a:p>
          <a:p xmlns:a="http://schemas.openxmlformats.org/drawingml/2006/main">
            <a:r>
              <a:t>Typography and status labels, 9 October 2026 Pacific, 10 October UTC: Fraunces Medium headings at 41.25 and 22.5 pt with the second title line in the website accent green 1A7544, Inter body at 20 and 18 pt, eyebrow status labels at 10.5 pt in stone 78716C, and the closing line in Fraunces Medium 20 pt charcoal so the slide carries one green accent. This is a sample for review before full-deck expansion; see .plans/ideas/green-goods-os/artifacts/visual-direction-v3/README.md.</a:t>
            </a:r>
          </a:p>
          <a:p xmlns:a="http://schemas.openxmlformats.org/drawingml/2006/main">
            <a:r>
              <a:t/>
            </a:r>
          </a:p>
          <a:p xmlns:a="http://schemas.openxmlformats.org/drawingml/2006/main">
            <a:r>
              <a:t>Status labels follow the inspected capability ledger (R03). Keeping a record is available today through work capture with notes and photos and steward review (R06, R07, R09), so the record line names reviews rather than readings; sensor readings and imports remain proposed. Learning with other land stewards is a proposed extension of the workspace. Organizing work and funding is available today through work approvals, donations and vault endowments (R09, R13, R14), while commitment pooling is deployed but not yet an available product flow (R11, R12). Labels describe inspected source at the pinned commit, not a live deployment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728b5668e540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31045504734d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6d3209d14849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27a8e843be45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222916866d4f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4a8518ccfa43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23976A-1CA4-42A4-BC16-07B5CB6E33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357E325-3003-45E1-98AC-A36BCB69D7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8F0E69-36C6-49EE-9183-7A92522439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C1F552-D5E2-43C0-B9B0-26ADFDF2F9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B41F9F-CB08-43D8-B4B3-4146D015CC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CD32AE-A842-4C07-B914-C406E61271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2117D8-173E-4233-89F7-EF0C64F72C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AB68CE-B2AF-47B2-8E57-3DB96B6A51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8BBE86-9435-4056-B34E-98ABC9D90A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6DC82A-06F5-4E62-8BC6-82CD5A0AE5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3a139da9074d29" /><Relationship Type="http://schemas.openxmlformats.org/officeDocument/2006/relationships/slideLayout" Target="/ppt/slideLayouts/slideLayout1.xml" Id="R22e6a5ea24ed48c7" /><Relationship Type="http://schemas.openxmlformats.org/officeDocument/2006/relationships/slideLayout" Target="/ppt/slideLayouts/slideLayout2.xml" Id="R252a54606ad145a4" /><Relationship Type="http://schemas.openxmlformats.org/officeDocument/2006/relationships/slideLayout" Target="/ppt/slideLayouts/slideLayout3.xml" Id="R691a63f6f829437d" /><Relationship Type="http://schemas.openxmlformats.org/officeDocument/2006/relationships/slideLayout" Target="/ppt/slideLayouts/slideLayout4.xml" Id="Rb10fa9b869354e44" /><Relationship Type="http://schemas.openxmlformats.org/officeDocument/2006/relationships/slideLayout" Target="/ppt/slideLayouts/slideLayout5.xml" Id="Ra46741da4cb543f2" /><Relationship Type="http://schemas.openxmlformats.org/officeDocument/2006/relationships/slideLayout" Target="/ppt/slideLayouts/slideLayout6.xml" Id="R2f372ab889fc40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e6a5ea24ed48c7"/>
    <p:sldLayoutId xmlns:r="http://schemas.openxmlformats.org/officeDocument/2006/relationships" id="2147483650" r:id="R252a54606ad145a4"/>
    <p:sldLayoutId xmlns:r="http://schemas.openxmlformats.org/officeDocument/2006/relationships" id="2147483651" r:id="R691a63f6f829437d"/>
    <p:sldLayoutId xmlns:r="http://schemas.openxmlformats.org/officeDocument/2006/relationships" id="2147483652" r:id="Rb10fa9b869354e44"/>
    <p:sldLayoutId xmlns:r="http://schemas.openxmlformats.org/officeDocument/2006/relationships" id="2147483653" r:id="Ra46741da4cb543f2"/>
    <p:sldLayoutId xmlns:r="http://schemas.openxmlformats.org/officeDocument/2006/relationships" id="2147483654" r:id="R2f372ab889fc40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6.xml" Id="Rb804726a266a4330" /><Relationship Type="http://schemas.openxmlformats.org/officeDocument/2006/relationships/image" Target="/ppt/media/image3.png" Id="R5afab0b8a640466a" /><Relationship Type="http://schemas.openxmlformats.org/officeDocument/2006/relationships/notesSlide" Target="/ppt/notesSlides/notesSlide1.xml" Id="R9b13e6e1ac0543ab" /></Relationships>
</file>

<file path=ppt/slides/slide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7D091EA8-25B2-4280-AD21-872D2A7B487D}"/>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A browser workspace</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for land stewardship</a:t>
            </a:r>
          </a:p>
        </p:txBody>
      </p:sp>
      <p:sp>
        <p:nvSpPr>
          <p:cNvPr id="3" name="lede">
            <a:extLst xmlns:a="http://schemas.openxmlformats.org/drawingml/2006/main">
              <a:ext uri="{FF2B5EF4-FFF2-40B4-BE49-F238E27FC236}">
                <a16:creationId xmlns:a16="http://schemas.microsoft.com/office/drawing/2014/main" id="{FF5EE3F4-FD64-4548-8E69-338E1B9E9DC2}"/>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Record work, learn from peers and organize support.</a:t>
            </a:r>
          </a:p>
        </p:txBody>
      </p:sp>
      <p:sp>
        <p:nvSpPr>
          <p:cNvPr id="4" name="label-1">
            <a:extLst xmlns:a="http://schemas.openxmlformats.org/drawingml/2006/main">
              <a:ext uri="{FF2B5EF4-FFF2-40B4-BE49-F238E27FC236}">
                <a16:creationId xmlns:a16="http://schemas.microsoft.com/office/drawing/2014/main" id="{3026793B-36B2-4EEF-B7FD-909115129BC8}"/>
              </a:ext>
            </a:extLst>
          </p:cNvPr>
          <p:cNvSpPr txBox="1">
            <a:spLocks xmlns:a="http://schemas.openxmlformats.org/drawingml/2006/main" noGrp="1"/>
          </p:cNvSpPr>
          <p:nvPr/>
        </p:nvSpPr>
        <p:spPr>
          <a:xfrm xmlns:a="http://schemas.openxmlformats.org/drawingml/2006/main">
            <a:off x="609905" y="2514600"/>
            <a:ext cx="544068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AVAILABLE TODAY</a:t>
            </a:r>
          </a:p>
        </p:txBody>
      </p:sp>
      <p:sp>
        <p:nvSpPr>
          <p:cNvPr id="5" name="head-1">
            <a:extLst xmlns:a="http://schemas.openxmlformats.org/drawingml/2006/main">
              <a:ext uri="{FF2B5EF4-FFF2-40B4-BE49-F238E27FC236}">
                <a16:creationId xmlns:a16="http://schemas.microsoft.com/office/drawing/2014/main" id="{F4A61860-A0E3-4992-92F0-088B5C9D28EF}"/>
              </a:ext>
            </a:extLst>
          </p:cNvPr>
          <p:cNvSpPr txBox="1">
            <a:spLocks xmlns:a="http://schemas.openxmlformats.org/drawingml/2006/main" noGrp="1"/>
          </p:cNvSpPr>
          <p:nvPr/>
        </p:nvSpPr>
        <p:spPr>
          <a:xfrm xmlns:a="http://schemas.openxmlformats.org/drawingml/2006/main">
            <a:off x="609905" y="2734056"/>
            <a:ext cx="5438851"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Keep a useful record</a:t>
            </a:r>
          </a:p>
        </p:txBody>
      </p:sp>
      <p:sp>
        <p:nvSpPr>
          <p:cNvPr id="6" name="body-1">
            <a:extLst xmlns:a="http://schemas.openxmlformats.org/drawingml/2006/main">
              <a:ext uri="{FF2B5EF4-FFF2-40B4-BE49-F238E27FC236}">
                <a16:creationId xmlns:a16="http://schemas.microsoft.com/office/drawing/2014/main" id="{C0D564B1-503D-42E8-A782-699E623580DC}"/>
              </a:ext>
            </a:extLst>
          </p:cNvPr>
          <p:cNvSpPr txBox="1">
            <a:spLocks xmlns:a="http://schemas.openxmlformats.org/drawingml/2006/main" noGrp="1"/>
          </p:cNvSpPr>
          <p:nvPr/>
        </p:nvSpPr>
        <p:spPr>
          <a:xfrm xmlns:a="http://schemas.openxmlformats.org/drawingml/2006/main">
            <a:off x="609905" y="3154680"/>
            <a:ext cx="533369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Inter"/>
                <a:ea typeface="Inter"/>
                <a:cs typeface="Inter"/>
              </a:defRPr>
            </a:defPPr>
          </a:lstStyle>
          <a:p xmlns:a="http://schemas.openxmlformats.org/drawingml/2006/main">
            <a:pPr>
              <a:lnSpc>
                <a:spcPts val="24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Bring notes, photos and reviews together.</a:t>
            </a:r>
          </a:p>
        </p:txBody>
      </p:sp>
      <p:sp>
        <p:nvSpPr>
          <p:cNvPr id="7" name="label-2">
            <a:extLst xmlns:a="http://schemas.openxmlformats.org/drawingml/2006/main">
              <a:ext uri="{FF2B5EF4-FFF2-40B4-BE49-F238E27FC236}">
                <a16:creationId xmlns:a16="http://schemas.microsoft.com/office/drawing/2014/main" id="{7E143AED-8581-4A48-B513-DDBDDB1B80CE}"/>
              </a:ext>
            </a:extLst>
          </p:cNvPr>
          <p:cNvSpPr txBox="1">
            <a:spLocks xmlns:a="http://schemas.openxmlformats.org/drawingml/2006/main" noGrp="1"/>
          </p:cNvSpPr>
          <p:nvPr/>
        </p:nvSpPr>
        <p:spPr>
          <a:xfrm xmlns:a="http://schemas.openxmlformats.org/drawingml/2006/main">
            <a:off x="609905" y="3584448"/>
            <a:ext cx="544068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PROPOSED</a:t>
            </a:r>
          </a:p>
        </p:txBody>
      </p:sp>
      <p:sp>
        <p:nvSpPr>
          <p:cNvPr id="8" name="head-2">
            <a:extLst xmlns:a="http://schemas.openxmlformats.org/drawingml/2006/main">
              <a:ext uri="{FF2B5EF4-FFF2-40B4-BE49-F238E27FC236}">
                <a16:creationId xmlns:a16="http://schemas.microsoft.com/office/drawing/2014/main" id="{544B5DF8-8B5D-4BE0-85CF-7C2BAFA7E15A}"/>
              </a:ext>
            </a:extLst>
          </p:cNvPr>
          <p:cNvSpPr txBox="1">
            <a:spLocks xmlns:a="http://schemas.openxmlformats.org/drawingml/2006/main" noGrp="1"/>
          </p:cNvSpPr>
          <p:nvPr/>
        </p:nvSpPr>
        <p:spPr>
          <a:xfrm xmlns:a="http://schemas.openxmlformats.org/drawingml/2006/main">
            <a:off x="609905" y="3803904"/>
            <a:ext cx="5438851"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Learn with other land stewards</a:t>
            </a:r>
          </a:p>
        </p:txBody>
      </p:sp>
      <p:sp>
        <p:nvSpPr>
          <p:cNvPr id="9" name="body-2">
            <a:extLst xmlns:a="http://schemas.openxmlformats.org/drawingml/2006/main">
              <a:ext uri="{FF2B5EF4-FFF2-40B4-BE49-F238E27FC236}">
                <a16:creationId xmlns:a16="http://schemas.microsoft.com/office/drawing/2014/main" id="{5AAB58ED-9A02-4F0A-A2D0-C1C07112F98C}"/>
              </a:ext>
            </a:extLst>
          </p:cNvPr>
          <p:cNvSpPr txBox="1">
            <a:spLocks xmlns:a="http://schemas.openxmlformats.org/drawingml/2006/main" noGrp="1"/>
          </p:cNvSpPr>
          <p:nvPr/>
        </p:nvSpPr>
        <p:spPr>
          <a:xfrm xmlns:a="http://schemas.openxmlformats.org/drawingml/2006/main">
            <a:off x="609905" y="4224528"/>
            <a:ext cx="533369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Inter"/>
                <a:ea typeface="Inter"/>
                <a:cs typeface="Inter"/>
              </a:defRPr>
            </a:defPPr>
          </a:lstStyle>
          <a:p xmlns:a="http://schemas.openxmlformats.org/drawingml/2006/main">
            <a:pPr>
              <a:lnSpc>
                <a:spcPts val="24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Share chosen lessons and ask for advice.</a:t>
            </a:r>
          </a:p>
        </p:txBody>
      </p:sp>
      <p:sp>
        <p:nvSpPr>
          <p:cNvPr id="10" name="label-3">
            <a:extLst xmlns:a="http://schemas.openxmlformats.org/drawingml/2006/main">
              <a:ext uri="{FF2B5EF4-FFF2-40B4-BE49-F238E27FC236}">
                <a16:creationId xmlns:a16="http://schemas.microsoft.com/office/drawing/2014/main" id="{B22E4F59-EF9C-45A1-9BAC-9C1549724356}"/>
              </a:ext>
            </a:extLst>
          </p:cNvPr>
          <p:cNvSpPr txBox="1">
            <a:spLocks xmlns:a="http://schemas.openxmlformats.org/drawingml/2006/main" noGrp="1"/>
          </p:cNvSpPr>
          <p:nvPr/>
        </p:nvSpPr>
        <p:spPr>
          <a:xfrm xmlns:a="http://schemas.openxmlformats.org/drawingml/2006/main">
            <a:off x="609905" y="4654296"/>
            <a:ext cx="544068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AVAILABLE TODAY, POOLING IN PROGRESS</a:t>
            </a:r>
          </a:p>
        </p:txBody>
      </p:sp>
      <p:sp>
        <p:nvSpPr>
          <p:cNvPr id="11" name="head-3">
            <a:extLst xmlns:a="http://schemas.openxmlformats.org/drawingml/2006/main">
              <a:ext uri="{FF2B5EF4-FFF2-40B4-BE49-F238E27FC236}">
                <a16:creationId xmlns:a16="http://schemas.microsoft.com/office/drawing/2014/main" id="{0DC1FE5C-7D18-4553-B986-D625E3506D85}"/>
              </a:ext>
            </a:extLst>
          </p:cNvPr>
          <p:cNvSpPr txBox="1">
            <a:spLocks xmlns:a="http://schemas.openxmlformats.org/drawingml/2006/main" noGrp="1"/>
          </p:cNvSpPr>
          <p:nvPr/>
        </p:nvSpPr>
        <p:spPr>
          <a:xfrm xmlns:a="http://schemas.openxmlformats.org/drawingml/2006/main">
            <a:off x="609905" y="4873752"/>
            <a:ext cx="5438851"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Organize work and funding</a:t>
            </a:r>
          </a:p>
        </p:txBody>
      </p:sp>
      <p:sp>
        <p:nvSpPr>
          <p:cNvPr id="12" name="body-3">
            <a:extLst xmlns:a="http://schemas.openxmlformats.org/drawingml/2006/main">
              <a:ext uri="{FF2B5EF4-FFF2-40B4-BE49-F238E27FC236}">
                <a16:creationId xmlns:a16="http://schemas.microsoft.com/office/drawing/2014/main" id="{A85B32CC-087F-42CF-8D79-118A30908EFC}"/>
              </a:ext>
            </a:extLst>
          </p:cNvPr>
          <p:cNvSpPr txBox="1">
            <a:spLocks xmlns:a="http://schemas.openxmlformats.org/drawingml/2006/main" noGrp="1"/>
          </p:cNvSpPr>
          <p:nvPr/>
        </p:nvSpPr>
        <p:spPr>
          <a:xfrm xmlns:a="http://schemas.openxmlformats.org/drawingml/2006/main">
            <a:off x="609905" y="5294376"/>
            <a:ext cx="533369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Inter"/>
                <a:ea typeface="Inter"/>
                <a:cs typeface="Inter"/>
              </a:defRPr>
            </a:defPPr>
          </a:lstStyle>
          <a:p xmlns:a="http://schemas.openxmlformats.org/drawingml/2006/main">
            <a:pPr>
              <a:lnSpc>
                <a:spcPts val="24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Coordinate tasks, contributions and support.</a:t>
            </a:r>
          </a:p>
        </p:txBody>
      </p:sp>
      <p:pic>
        <p:nvPicPr>
          <p:cNvPr id="13" name="">
            <a:extLst xmlns:a="http://schemas.openxmlformats.org/drawingml/2006/main">
              <a:ext uri="{FF2B5EF4-FFF2-40B4-BE49-F238E27FC236}">
                <a16:creationId xmlns:a16="http://schemas.microsoft.com/office/drawing/2014/main" id="{21505561-6057-4F45-B53A-D8D558C134A4}"/>
              </a:ext>
            </a:extLst>
          </p:cNvPr>
          <p:cNvPicPr>
            <a:picLocks xmlns:a="http://schemas.openxmlformats.org/drawingml/2006/main" noChangeAspect="1"/>
          </p:cNvPicPr>
          <p:nvPr/>
        </p:nvPicPr>
        <p:blipFill>
          <a:blip xmlns:r="http://schemas.openxmlformats.org/officeDocument/2006/relationships" xmlns:a="http://schemas.openxmlformats.org/drawingml/2006/main" r:embed="R5afab0b8a640466a"/>
          <a:srcRect xmlns:a="http://schemas.openxmlformats.org/drawingml/2006/main" l="0" t="8038" r="0" b="8038"/>
          <a:stretch xmlns:a="http://schemas.openxmlformats.org/drawingml/2006/main">
            <a:fillRect l="0" t="0" r="0" b="0"/>
          </a:stretch>
        </p:blipFill>
        <p:spPr>
          <a:xfrm xmlns:a="http://schemas.openxmlformats.org/drawingml/2006/main">
            <a:off x="6467551" y="2514600"/>
            <a:ext cx="5115154" cy="3219602"/>
          </a:xfrm>
          <a:prstGeom xmlns:a="http://schemas.openxmlformats.org/drawingml/2006/main" prst="rect">
            <a:avLst/>
          </a:prstGeom>
        </p:spPr>
      </p:pic>
      <p:sp>
        <p:nvSpPr>
          <p:cNvPr id="14" name="caption">
            <a:extLst xmlns:a="http://schemas.openxmlformats.org/drawingml/2006/main">
              <a:ext uri="{FF2B5EF4-FFF2-40B4-BE49-F238E27FC236}">
                <a16:creationId xmlns:a16="http://schemas.microsoft.com/office/drawing/2014/main" id="{C29CF6FD-A110-483E-8D6C-7B52CD981144}"/>
              </a:ext>
            </a:extLst>
          </p:cNvPr>
          <p:cNvSpPr txBox="1">
            <a:spLocks xmlns:a="http://schemas.openxmlformats.org/drawingml/2006/main" noGrp="1"/>
          </p:cNvSpPr>
          <p:nvPr/>
        </p:nvSpPr>
        <p:spPr>
          <a:xfrm xmlns:a="http://schemas.openxmlformats.org/drawingml/2006/main">
            <a:off x="6467551" y="5824728"/>
            <a:ext cx="5115154"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Conceptual scene</a:t>
            </a:r>
          </a:p>
        </p:txBody>
      </p:sp>
      <p:sp>
        <p:nvSpPr>
          <p:cNvPr id="15" name="closing">
            <a:extLst xmlns:a="http://schemas.openxmlformats.org/drawingml/2006/main">
              <a:ext uri="{FF2B5EF4-FFF2-40B4-BE49-F238E27FC236}">
                <a16:creationId xmlns:a16="http://schemas.microsoft.com/office/drawing/2014/main" id="{816FD786-DDD8-4DB0-847B-8D710F003560}"/>
              </a:ext>
            </a:extLst>
          </p:cNvPr>
          <p:cNvSpPr txBox="1">
            <a:spLocks xmlns:a="http://schemas.openxmlformats.org/drawingml/2006/main" noGrp="1"/>
          </p:cNvSpPr>
          <p:nvPr/>
        </p:nvSpPr>
        <p:spPr>
          <a:xfrm xmlns:a="http://schemas.openxmlformats.org/drawingml/2006/main">
            <a:off x="609905" y="5943600"/>
            <a:ext cx="570585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Choose what stays private and what you share.</a:t>
            </a:r>
          </a:p>
        </p:txBody>
      </p:sp>
      <p:sp>
        <p:nvSpPr>
          <p:cNvPr id="16" name="footnote">
            <a:extLst xmlns:a="http://schemas.openxmlformats.org/drawingml/2006/main">
              <a:ext uri="{FF2B5EF4-FFF2-40B4-BE49-F238E27FC236}">
                <a16:creationId xmlns:a16="http://schemas.microsoft.com/office/drawing/2014/main" id="{7A10AFB8-CC2A-49C3-97CF-834472EB0DCF}"/>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Proposed Green Goods workspace building on existing work and funding features; status labels follow the inspected capability ledger.</a:t>
            </a:r>
          </a:p>
        </p:txBody>
      </p:sp>
    </p:spTree>
    <p:extLst>
      <p:ext uri="{BB962C8B-B14F-4D97-AF65-F5344CB8AC3E}">
        <p14:creationId xmlns:p14="http://schemas.microsoft.com/office/powerpoint/2010/main" val="11854696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ap:Slides>
  <ap:Notes>1</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2026-10-09T05:12:31.2870000Z</dcterms:created>
  <dcterms:modified xsi:type="dcterms:W3CDTF">2026-10-09T05:12:31.2870000Z</dcterms:modified>
</coreProperties>
</file>