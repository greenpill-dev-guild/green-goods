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63b3f20b8384f33" /><Relationship Type="http://schemas.openxmlformats.org/officeDocument/2006/relationships/extended-properties" Target="/docProps/app.xml" Id="R60b78dda590c4994" /><Relationship Type="http://schemas.openxmlformats.org/officeDocument/2006/relationships/officeDocument" Target="/ppt/presentation.xml" Id="R8221339d194f4f90" /></Relationships>
</file>

<file path=ppt/presentation.xml><?xml version="1.0" encoding="utf-8"?>
<p:presentation xmlns:p="http://schemas.openxmlformats.org/presentationml/2006/main">
  <p:sldMasterIdLst>
    <p:sldMasterId xmlns:r="http://schemas.openxmlformats.org/officeDocument/2006/relationships" id="2147483648" r:id="R389b2d5dd62f42b6"/>
  </p:sldMasterIdLst>
  <p:notesMasterIdLst>
    <p:notesMasterId xmlns:r="http://schemas.openxmlformats.org/officeDocument/2006/relationships" r:id="Rf074fd5a8c2f4efd"/>
  </p:notesMasterIdLst>
  <p:sldIdLst>
    <p:sldId xmlns:r="http://schemas.openxmlformats.org/officeDocument/2006/relationships" id="256" r:id="rIdSlide1"/>
    <p:sldId xmlns:r="http://schemas.openxmlformats.org/officeDocument/2006/relationships" id="257" r:id="rIdSlide2"/>
    <p:sldId xmlns:r="http://schemas.openxmlformats.org/officeDocument/2006/relationships" id="258" r:id="rIdSlide3"/>
    <p:sldId xmlns:r="http://schemas.openxmlformats.org/officeDocument/2006/relationships" id="259" r:id="rIdSlide4"/>
    <p:sldId xmlns:r="http://schemas.openxmlformats.org/officeDocument/2006/relationships" id="260" r:id="rIdSlide5"/>
    <p:sldId xmlns:r="http://schemas.openxmlformats.org/officeDocument/2006/relationships" id="261" r:id="rIdSlide6"/>
    <p:sldId xmlns:r="http://schemas.openxmlformats.org/officeDocument/2006/relationships" id="262" r:id="rIdSlide7"/>
    <p:sldId xmlns:r="http://schemas.openxmlformats.org/officeDocument/2006/relationships" id="263" r:id="rIdSlide8"/>
    <p:sldId xmlns:r="http://schemas.openxmlformats.org/officeDocument/2006/relationships" id="264" r:id="rIdSlide9"/>
    <p:sldId xmlns:r="http://schemas.openxmlformats.org/officeDocument/2006/relationships" id="265" r:id="rIdSlide10"/>
    <p:sldId xmlns:r="http://schemas.openxmlformats.org/officeDocument/2006/relationships" id="266" r:id="rIdSlide11"/>
    <p:sldId xmlns:r="http://schemas.openxmlformats.org/officeDocument/2006/relationships" id="267" r:id="rIdSlide12"/>
    <p:sldId xmlns:r="http://schemas.openxmlformats.org/officeDocument/2006/relationships" id="268" r:id="rIdSlide13"/>
    <p:sldId xmlns:r="http://schemas.openxmlformats.org/officeDocument/2006/relationships" id="269" r:id="rIdSlide14"/>
    <p:sldId xmlns:r="http://schemas.openxmlformats.org/officeDocument/2006/relationships" id="270" r:id="rIdSlide15"/>
    <p:sldId xmlns:r="http://schemas.openxmlformats.org/officeDocument/2006/relationships" id="271" r:id="rIdSlide1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bfa4c2dd672a45f4" /><Relationship Type="http://schemas.openxmlformats.org/officeDocument/2006/relationships/slideMaster" Target="/ppt/slideMasters/slideMaster1.xml" Id="R389b2d5dd62f42b6" /><Relationship Type="http://schemas.openxmlformats.org/officeDocument/2006/relationships/notesMaster" Target="/ppt/notesMasters/notesMaster1.xml" Id="Rf074fd5a8c2f4efd" /><Relationship Type="http://schemas.openxmlformats.org/officeDocument/2006/relationships/presProps" Target="/ppt/presProps.xml" Id="Ra25243a8ddf34fb4" /><Relationship Type="http://schemas.openxmlformats.org/officeDocument/2006/relationships/tableStyles" Target="/ppt/tableStyles.xml" Id="R8b9c98e89bfa4fe0" /><Relationship Type="http://schemas.openxmlformats.org/officeDocument/2006/relationships/slide" Target="/ppt/slides/slide1.xml" Id="rIdSlide1" /><Relationship Type="http://schemas.openxmlformats.org/officeDocument/2006/relationships/slide" Target="/ppt/slides/slide2.xml" Id="rIdSlide2" /><Relationship Type="http://schemas.openxmlformats.org/officeDocument/2006/relationships/slide" Target="/ppt/slides/slide3.xml" Id="rIdSlide3" /><Relationship Type="http://schemas.openxmlformats.org/officeDocument/2006/relationships/slide" Target="/ppt/slides/slide4.xml" Id="rIdSlide4" /><Relationship Type="http://schemas.openxmlformats.org/officeDocument/2006/relationships/slide" Target="/ppt/slides/slide5.xml" Id="rIdSlide5" /><Relationship Type="http://schemas.openxmlformats.org/officeDocument/2006/relationships/slide" Target="/ppt/slides/slide6.xml" Id="rIdSlide6" /><Relationship Type="http://schemas.openxmlformats.org/officeDocument/2006/relationships/slide" Target="/ppt/slides/slide7.xml" Id="rIdSlide7" /><Relationship Type="http://schemas.openxmlformats.org/officeDocument/2006/relationships/slide" Target="/ppt/slides/slide8.xml" Id="rIdSlide8" /><Relationship Type="http://schemas.openxmlformats.org/officeDocument/2006/relationships/slide" Target="/ppt/slides/slide9.xml" Id="rIdSlide9" /><Relationship Type="http://schemas.openxmlformats.org/officeDocument/2006/relationships/slide" Target="/ppt/slides/slide10.xml" Id="rIdSlide10" /><Relationship Type="http://schemas.openxmlformats.org/officeDocument/2006/relationships/slide" Target="/ppt/slides/slide11.xml" Id="rIdSlide11" /><Relationship Type="http://schemas.openxmlformats.org/officeDocument/2006/relationships/slide" Target="/ppt/slides/slide12.xml" Id="rIdSlide12" /><Relationship Type="http://schemas.openxmlformats.org/officeDocument/2006/relationships/slide" Target="/ppt/slides/slide13.xml" Id="rIdSlide13" /><Relationship Type="http://schemas.openxmlformats.org/officeDocument/2006/relationships/slide" Target="/ppt/slides/slide14.xml" Id="rIdSlide14" /><Relationship Type="http://schemas.openxmlformats.org/officeDocument/2006/relationships/slide" Target="/ppt/slides/slide15.xml" Id="rIdSlide15" /><Relationship Type="http://schemas.openxmlformats.org/officeDocument/2006/relationships/slide" Target="/ppt/slides/slide16.xml" Id="rIdSlide1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a3305a0eb6457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IdSlide" /><Relationship Type="http://schemas.openxmlformats.org/officeDocument/2006/relationships/notesMaster" Target="/ppt/notesMasters/notesMaster1.xml" Id="rIdNotesMaster" /></Relationships>
</file>

<file path=ppt/notesSlides/_rels/notesSlide2.xml.rels><?xml version="1.0" encoding="utf-8"?><Relationships xmlns="http://schemas.openxmlformats.org/package/2006/relationships"><Relationship Type="http://schemas.openxmlformats.org/officeDocument/2006/relationships/slide" Target="/ppt/slides/slide2.xml" Id="rIdSlide" /><Relationship Type="http://schemas.openxmlformats.org/officeDocument/2006/relationships/notesMaster" Target="/ppt/notesMasters/notesMaster1.xml" Id="rIdNotesMaster" /></Relationships>
</file>

<file path=ppt/notesSlides/_rels/notesSlide3.xml.rels><?xml version="1.0" encoding="utf-8"?><Relationships xmlns="http://schemas.openxmlformats.org/package/2006/relationships"><Relationship Type="http://schemas.openxmlformats.org/officeDocument/2006/relationships/slide" Target="/ppt/slides/slide3.xml" Id="rIdSlide" /><Relationship Type="http://schemas.openxmlformats.org/officeDocument/2006/relationships/notesMaster" Target="/ppt/notesMasters/notesMaster1.xml" Id="rIdNotesMaster" /></Relationships>
</file>

<file path=ppt/notesSlides/_rels/notesSlide4.xml.rels><?xml version="1.0" encoding="utf-8"?><Relationships xmlns="http://schemas.openxmlformats.org/package/2006/relationships"><Relationship Type="http://schemas.openxmlformats.org/officeDocument/2006/relationships/slide" Target="/ppt/slides/slide4.xml" Id="rIdSlide" /><Relationship Type="http://schemas.openxmlformats.org/officeDocument/2006/relationships/notesMaster" Target="/ppt/notesMasters/notesMaster1.xml" Id="rIdNotesMaster" /></Relationships>
</file>

<file path=ppt/notesSlides/_rels/notesSlide5.xml.rels><?xml version="1.0" encoding="utf-8"?><Relationships xmlns="http://schemas.openxmlformats.org/package/2006/relationships"><Relationship Type="http://schemas.openxmlformats.org/officeDocument/2006/relationships/slide" Target="/ppt/slides/slide5.xml" Id="rIdSlide" /><Relationship Type="http://schemas.openxmlformats.org/officeDocument/2006/relationships/notesMaster" Target="/ppt/notesMasters/notesMaster1.xml" Id="rIdNotesMaster" /></Relationships>
</file>

<file path=ppt/notesSlides/_rels/notesSlide6.xml.rels><?xml version="1.0" encoding="utf-8"?><Relationships xmlns="http://schemas.openxmlformats.org/package/2006/relationships"><Relationship Type="http://schemas.openxmlformats.org/officeDocument/2006/relationships/slide" Target="/ppt/slides/slide6.xml" Id="rIdSlide" /><Relationship Type="http://schemas.openxmlformats.org/officeDocument/2006/relationships/notesMaster" Target="/ppt/notesMasters/notesMaster1.xml" Id="rIdNotesMaster" /></Relationships>
</file>

<file path=ppt/notesSlides/_rels/notesSlide7.xml.rels><?xml version="1.0" encoding="utf-8"?><Relationships xmlns="http://schemas.openxmlformats.org/package/2006/relationships"><Relationship Type="http://schemas.openxmlformats.org/officeDocument/2006/relationships/slide" Target="/ppt/slides/slide7.xml" Id="rIdSlide" /><Relationship Type="http://schemas.openxmlformats.org/officeDocument/2006/relationships/notesMaster" Target="/ppt/notesMasters/notesMaster1.xml" Id="rIdNotesMaster" /></Relationships>
</file>

<file path=ppt/notesSlides/_rels/notesSlide8.xml.rels><?xml version="1.0" encoding="utf-8"?><Relationships xmlns="http://schemas.openxmlformats.org/package/2006/relationships"><Relationship Type="http://schemas.openxmlformats.org/officeDocument/2006/relationships/slide" Target="/ppt/slides/slide8.xml" Id="rIdSlide" /><Relationship Type="http://schemas.openxmlformats.org/officeDocument/2006/relationships/notesMaster" Target="/ppt/notesMasters/notesMaster1.xml" Id="rIdNotesMaster" /></Relationships>
</file>

<file path=ppt/notesSlides/_rels/notesSlide9.xml.rels><?xml version="1.0" encoding="utf-8"?><Relationships xmlns="http://schemas.openxmlformats.org/package/2006/relationships"><Relationship Type="http://schemas.openxmlformats.org/officeDocument/2006/relationships/slide" Target="/ppt/slides/slide9.xml" Id="rIdSlide" /><Relationship Type="http://schemas.openxmlformats.org/officeDocument/2006/relationships/notesMaster" Target="/ppt/notesMasters/notesMaster1.xml" Id="rIdNotesMaster" /></Relationships>
</file>

<file path=ppt/notesSlides/_rels/notesSlide10.xml.rels><?xml version="1.0" encoding="utf-8"?><Relationships xmlns="http://schemas.openxmlformats.org/package/2006/relationships"><Relationship Type="http://schemas.openxmlformats.org/officeDocument/2006/relationships/slide" Target="/ppt/slides/slide10.xml" Id="rIdSlide" /><Relationship Type="http://schemas.openxmlformats.org/officeDocument/2006/relationships/notesMaster" Target="/ppt/notesMasters/notesMaster1.xml" Id="rIdNotesMaster" /></Relationships>
</file>

<file path=ppt/notesSlides/_rels/notesSlide11.xml.rels><?xml version="1.0" encoding="utf-8"?><Relationships xmlns="http://schemas.openxmlformats.org/package/2006/relationships"><Relationship Type="http://schemas.openxmlformats.org/officeDocument/2006/relationships/slide" Target="/ppt/slides/slide11.xml" Id="rIdSlide" /><Relationship Type="http://schemas.openxmlformats.org/officeDocument/2006/relationships/notesMaster" Target="/ppt/notesMasters/notesMaster1.xml" Id="rIdNotesMaster" /></Relationships>
</file>

<file path=ppt/notesSlides/_rels/notesSlide12.xml.rels><?xml version="1.0" encoding="utf-8"?><Relationships xmlns="http://schemas.openxmlformats.org/package/2006/relationships"><Relationship Type="http://schemas.openxmlformats.org/officeDocument/2006/relationships/slide" Target="/ppt/slides/slide12.xml" Id="rIdSlide" /><Relationship Type="http://schemas.openxmlformats.org/officeDocument/2006/relationships/notesMaster" Target="/ppt/notesMasters/notesMaster1.xml" Id="rIdNotesMaster" /></Relationships>
</file>

<file path=ppt/notesSlides/_rels/notesSlide13.xml.rels><?xml version="1.0" encoding="utf-8"?><Relationships xmlns="http://schemas.openxmlformats.org/package/2006/relationships"><Relationship Type="http://schemas.openxmlformats.org/officeDocument/2006/relationships/slide" Target="/ppt/slides/slide13.xml" Id="rIdSlide" /><Relationship Type="http://schemas.openxmlformats.org/officeDocument/2006/relationships/notesMaster" Target="/ppt/notesMasters/notesMaster1.xml" Id="rIdNotesMaster" /></Relationships>
</file>

<file path=ppt/notesSlides/_rels/notesSlide14.xml.rels><?xml version="1.0" encoding="utf-8"?><Relationships xmlns="http://schemas.openxmlformats.org/package/2006/relationships"><Relationship Type="http://schemas.openxmlformats.org/officeDocument/2006/relationships/slide" Target="/ppt/slides/slide14.xml" Id="rIdSlide" /><Relationship Type="http://schemas.openxmlformats.org/officeDocument/2006/relationships/notesMaster" Target="/ppt/notesMasters/notesMaster1.xml" Id="rIdNotesMaster" /></Relationships>
</file>

<file path=ppt/notesSlides/_rels/notesSlide15.xml.rels><?xml version="1.0" encoding="utf-8"?><Relationships xmlns="http://schemas.openxmlformats.org/package/2006/relationships"><Relationship Type="http://schemas.openxmlformats.org/officeDocument/2006/relationships/slide" Target="/ppt/slides/slide15.xml" Id="rIdSlide" /><Relationship Type="http://schemas.openxmlformats.org/officeDocument/2006/relationships/notesMaster" Target="/ppt/notesMasters/notesMaster1.xml" Id="rIdNotesMaster" /></Relationships>
</file>

<file path=ppt/notesSlides/_rels/notesSlide16.xml.rels><?xml version="1.0" encoding="utf-8"?><Relationships xmlns="http://schemas.openxmlformats.org/package/2006/relationships"><Relationship Type="http://schemas.openxmlformats.org/officeDocument/2006/relationships/slide" Target="/ppt/slides/slide16.xml" Id="rIdSlide" /><Relationship Type="http://schemas.openxmlformats.org/officeDocument/2006/relationships/notesMaster" Target="/ppt/notesMasters/notesMaster1.xml" Id="rIdNotesMaster"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helps communities caring for land and each other access useful tools at a low cost, learn from one another and coordinate support while retaining sovereignty over their knowledge.</a:t>
            </a:r>
          </a:p>
          <a:p xmlns:a="http://schemas.openxmlformats.org/drawingml/2006/main">
            <a:r>
              <a:t/>
            </a:r>
          </a:p>
          <a:p xmlns:a="http://schemas.openxmlformats.org/drawingml/2006/main">
            <a:r>
              <a:t/>
            </a:r>
          </a:p>
          <a:p xmlns:a="http://schemas.openxmlformats.org/drawingml/2006/main">
            <a:r>
              <a:t/>
            </a:r>
          </a:p>
          <a:p xmlns:a="http://schemas.openxmlformats.org/drawingml/2006/main">
            <a:r>
              <a:t>Our global vision is that every community, regardless of economic circumstances, can access the tools, infrastructure, knowledge and support to care for land and each other. Local language, governance, ability, connectivity and time matter alongside money. Green Goods is the product, protocol and ecosystem. The proposed OS is a workspace within that wider offer.</a:t>
            </a:r>
          </a:p>
          <a:p xmlns:a="http://schemas.openxmlformats.org/drawingml/2006/main">
            <a:r>
              <a:t/>
            </a:r>
          </a:p>
          <a:p xmlns:a="http://schemas.openxmlformats.org/drawingml/2006/main">
            <a:r>
              <a:t/>
            </a:r>
          </a:p>
          <a:p xmlns:a="http://schemas.openxmlformats.org/drawingml/2006/main">
            <a:r>
              <a:t/>
            </a:r>
          </a:p>
          <a:p xmlns:a="http://schemas.openxmlformats.org/drawingml/2006/main">
            <a:r>
              <a:t>Affordability and practical sovereignty are commitments to deliver and test. They are not measured savings or a promise of control over copies already shared. The four agreed pillars are Accessibility, Sovereignty, Trust and Reciprocity, with Privacy, Interoperability and Verifiability essential throughout.</a:t>
            </a:r>
          </a:p>
          <a:p xmlns:a="http://schemas.openxmlformats.org/drawingml/2006/main">
            <a:r>
              <a:t/>
            </a:r>
          </a:p>
          <a:p xmlns:a="http://schemas.openxmlformats.org/drawingml/2006/main">
            <a:r>
              <a:t/>
            </a:r>
          </a:p>
          <a:p xmlns:a="http://schemas.openxmlformats.org/drawingml/2006/main">
            <a:r>
              <a:t/>
            </a:r>
          </a:p>
          <a:p xmlns:a="http://schemas.openxmlformats.org/drawingml/2006/main">
            <a:r>
              <a:t>Sources: user-supplied proposition and accepted direction, 8 October 2026 Pacific; .plans/ideas/green-goods-os/pitch-revision.md. Design references: https://github.com/greenpill-dev-guild/green-goods/blob/0350b1bd287db542d6b4d07a662ba28c744e203b/DESIGN.md and https://github.com/greenpill-dev-guild/green-goods/blob/0350b1bd287db542d6b4d07a662ba28c744e203b/packages/client/DESIGN.browser.md.</a:t>
            </a:r>
          </a:p>
          <a:p xmlns:a="http://schemas.openxmlformats.org/drawingml/2006/main">
            <a:r>
              <a:t/>
            </a:r>
          </a:p>
          <a:p xmlns:a="http://schemas.openxmlformats.org/drawingml/2006/main">
            <a:r>
              <a:t/>
            </a:r>
          </a:p>
          <a:p xmlns:a="http://schemas.openxmlformats.org/drawingml/2006/main">
            <a:r>
              <a:t/>
            </a:r>
          </a:p>
          <a:p xmlns:a="http://schemas.openxmlformats.org/drawingml/2006/main">
            <a:r>
              <a:t>Image: newly generated fictional concept using the website's hero-home.webp as a visual reference, with no people or faces. It depicts no identified community, customer, pilot or measured outcome. Created with the built-in image tool on 8 October 2026 Pacific. Full prompts and provenance accompany this file.</a:t>
            </a:r>
          </a:p>
          <a:p xmlns:a="http://schemas.openxmlformats.org/drawingml/2006/main">
            <a:r>
              <a:t/>
            </a:r>
          </a:p>
          <a:p xmlns:a="http://schemas.openxmlformats.org/drawingml/2006/main">
            <a:r>
              <a:t/>
            </a:r>
          </a:p>
          <a:p xmlns:a="http://schemas.openxmlformats.org/drawingml/2006/main">
            <a:r>
              <a:t/>
            </a:r>
          </a:p>
          <a:p xmlns:a="http://schemas.openxmlformats.org/drawingml/2006/main">
            <a:r>
              <a:t>Typography and copy, decided 9 October 2026 Pacific, 10 October UTC: Fraunces Medium 500 upright title at 50 pt with 54 pt leading, Land care in charcoal and within reach in the website accent green 1A7544, upright, no italic. Regular 400 was rendered alongside and not chosen. Inter Regular 20 pt subtitle over three lines carries the subtitle chosen from measured shorter options on 9 October 2026 Pacific, 10 October UTC: Affordable tools for land stewards to learn from one another, coordinate support and keep sovereignty over their knowledge. Composition C1 keeps the v2 linen panel on the left and the conceptual garden scene on the right. The title weight is settled at Medium 500. Source: .plans/ideas/green-goods-os/artifacts/visual-direction-v3/README.md.</a:t>
            </a:r>
          </a:p>
          <a:p xmlns:a="http://schemas.openxmlformats.org/drawingml/2006/main">
            <a:r>
              <a:t/>
            </a:r>
          </a:p>
          <a:p xmlns:a="http://schemas.openxmlformats.org/drawingml/2006/main">
            <a:r>
              <a:t/>
            </a:r>
          </a:p>
          <a:p xmlns:a="http://schemas.openxmlformats.org/drawingml/2006/main">
            <a:r>
              <a:t/>
            </a:r>
          </a:p>
          <a:p xmlns:a="http://schemas.openxmlformats.org/drawingml/2006/main">
            <a:r>
              <a:t>The title face is Fraunces Medium, a static 500 instance fetched from Google Fonts on 10 October 2026 UTC under the SIL Open Font License 1.1; the wordmark stays Fraunces Regular and supporting copy stays Inter Regular.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Cost, complex setup and knowledge silos can leave communities spending scarce time managing systems. Knowledge silos leave useful experience scattered across tools and communities, making it harder to find, carry forward and adapt elsewhere.</a:t>
            </a:r>
          </a:p>
          <a:p xmlns:a="http://schemas.openxmlformats.org/drawingml/2006/main">
            <a:r>
              <a:t/>
            </a:r>
          </a:p>
          <a:p xmlns:a="http://schemas.openxmlformats.org/drawingml/2006/main">
            <a:r>
              <a:t>FAO's Near East and North Africa regional overview identifies affordability, connectivity, skills, infrastructure and fragmented digital-solution markets as barriers. This supports investigating these mechanisms; it does not quantify their prevalence among Green Goods users or establish a global rate. The consequences shown are a problem hypothesis for participant discovery, not customer testimony or observed product savings.</a:t>
            </a:r>
          </a:p>
          <a:p xmlns:a="http://schemas.openxmlformats.org/drawingml/2006/main">
            <a:r>
              <a:t/>
            </a:r>
          </a:p>
          <a:p xmlns:a="http://schemas.openxmlformats.org/drawingml/2006/main">
            <a:r>
              <a:t>Different tools are not inherently a problem. The concern is where inaccessible services, incompatible records or missing context create avoidable effort. Existing notebooks, conversations and community practices may work well and should remain part of the comparison.</a:t>
            </a:r>
          </a:p>
          <a:p xmlns:a="http://schemas.openxmlformats.org/drawingml/2006/main">
            <a:r>
              <a:t/>
            </a:r>
          </a:p>
          <a:p xmlns:a="http://schemas.openxmlformats.org/drawingml/2006/main">
            <a:r>
              <a:t>Source, accessed 9 October 2026 UTC: https://www.fao.org/neareast/main-topics/action-areas/digital-transformation/ (P07 in the evidence register). No financial, market-size or impact statistic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stewards is the umbrella. Farmers stay in two examples because they make the work concrete. The four settings are settings to investigate, not validated market segments or a hierarchy of expertise. Every setting can contribute and receive; wealth does not determine the direction of knowledge transfer.</a:t>
            </a:r>
          </a:p>
          <a:p xmlns:a="http://schemas.openxmlformats.org/drawingml/2006/main">
            <a:r>
              <a:t/>
            </a:r>
          </a:p>
          <a:p xmlns:a="http://schemas.openxmlformats.org/drawingml/2006/main">
            <a:r>
              <a:t>These are illustrative descriptions written for the proposal. They are not customers, testimonials or discovery findings. Discovery must establish the repeated local question, who does setup and maintenance, and what people already use.</a:t>
            </a:r>
          </a:p>
          <a:p xmlns:a="http://schemas.openxmlformats.org/drawingml/2006/main">
            <a:r>
              <a:t/>
            </a:r>
          </a:p>
          <a:p xmlns:a="http://schemas.openxmlformats.org/drawingml/2006/main">
            <a:r>
              <a:t>Source: .plans/ideas/green-goods-os/pitch-revision.md, section People, first user and buyer (accepted direction, 8 October 2026 Pacific).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knowledge should preserve local context, attribution, consent and differences, and help relationships grow within and across bioregions. A lesson travels as a record with its context, a question elsewhere finds it by choice, and feedback returns to the contributor, including what did not transfer.</a:t>
            </a:r>
          </a:p>
          <a:p xmlns:a="http://schemas.openxmlformats.org/drawingml/2006/main">
            <a:r>
              <a:t/>
            </a:r>
          </a:p>
          <a:p xmlns:a="http://schemas.openxmlformats.org/drawingml/2006/main">
            <a:r>
              <a:t>Reciprocal value is a hypothesis. The pilot gate requires at least one documented useful exchange in each direction for each matched pair. Curation, translation and facilitation are paid work in the plan, not assumed volunteer effort.</a:t>
            </a:r>
          </a:p>
          <a:p xmlns:a="http://schemas.openxmlformats.org/drawingml/2006/main">
            <a:r>
              <a:t/>
            </a:r>
          </a:p>
          <a:p xmlns:a="http://schemas.openxmlformats.org/drawingml/2006/main">
            <a:r>
              <a:t>Sources: .plans/ideas/green-goods-os/pitch-revision.md (agreed pillars and narrative); .plans/ideas/green-goods-os/spec.md, Pilot and production gates; .plans/ideas/green-goods-os/strategy.md, Bootstrapping reciprocity and knowledge governance.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Green Goods brings practical tools, shared learning and coordinated support into one product and ecosystem. The proposed OS is an accessible browser workspace, with optional capture, local assistance and bounded sensor/import integrations. Manual participation must remain useful without new hardware, AI or public sharing.</a:t>
            </a:r>
          </a:p>
          <a:p xmlns:a="http://schemas.openxmlformats.org/drawingml/2006/main">
            <a:r>
              <a:t/>
            </a:r>
          </a:p>
          <a:p xmlns:a="http://schemas.openxmlformats.org/drawingml/2006/main">
            <a:r>
              <a:t/>
            </a:r>
          </a:p>
          <a:p xmlns:a="http://schemas.openxmlformats.org/drawingml/2006/main">
            <a:r>
              <a:t/>
            </a:r>
          </a:p>
          <a:p xmlns:a="http://schemas.openxmlformats.org/drawingml/2006/main">
            <a:r>
              <a:t>The intended participant experience is to keep a useful observation, find and review its context, decide what to share, learn from another community and coordinate needed support. Financial, social, intellectual, cultural and experiential value can all matter. These forms of value are not automatically interchangeable or tokenized.</a:t>
            </a:r>
          </a:p>
          <a:p xmlns:a="http://schemas.openxmlformats.org/drawingml/2006/main">
            <a:r>
              <a:t/>
            </a:r>
          </a:p>
          <a:p xmlns:a="http://schemas.openxmlformats.org/drawingml/2006/main">
            <a:r>
              <a:t/>
            </a:r>
          </a:p>
          <a:p xmlns:a="http://schemas.openxmlformats.org/drawingml/2006/main">
            <a:r>
              <a:t/>
            </a:r>
          </a:p>
          <a:p xmlns:a="http://schemas.openxmlformats.org/drawingml/2006/main">
            <a:r>
              <a:t>Current foundations: the inspected Green Goods capability ledger and work modules describe Garden records, work capture/review and support paths with availability limits. Proposed extensions: the connected OS workspace, source-linked local assistance, deliberate knowledge exchange and compatible infrastructure services. Later gated work: broader mesh behavior and expanded protocol integration. The commitment-pooling ledger distinguishes deployed infrastructure from an available product flow. No guarantee of ecological outcome, principal, yield or funding follows.</a:t>
            </a:r>
          </a:p>
          <a:p xmlns:a="http://schemas.openxmlformats.org/drawingml/2006/main">
            <a:r>
              <a:t/>
            </a:r>
          </a:p>
          <a:p xmlns:a="http://schemas.openxmlformats.org/drawingml/2006/main">
            <a:r>
              <a:t/>
            </a:r>
          </a:p>
          <a:p xmlns:a="http://schemas.openxmlformats.org/drawingml/2006/main">
            <a:r>
              <a:t/>
            </a:r>
          </a:p>
          <a:p xmlns:a="http://schemas.openxmlformats.org/drawingml/2006/main">
            <a:r>
              <a:t>Sovereignty means meaningful permissions, community authority, portability, recovery and exit. The sharing decision must show exactly what leaves the private workspace. Supporters receive only deliberately shared material; their funding does not confer ownership or AI-training permission.</a:t>
            </a:r>
          </a:p>
          <a:p xmlns:a="http://schemas.openxmlformats.org/drawingml/2006/main">
            <a:r>
              <a:t/>
            </a:r>
          </a:p>
          <a:p xmlns:a="http://schemas.openxmlformats.org/drawingml/2006/main">
            <a:r>
              <a:t/>
            </a:r>
          </a:p>
          <a:p xmlns:a="http://schemas.openxmlformats.org/drawingml/2006/main">
            <a:r>
              <a:t/>
            </a:r>
          </a:p>
          <a:p xmlns:a="http://schemas.openxmlformats.org/drawingml/2006/main">
            <a:r>
              <a:t>Sources inspected in the research package: https://github.com/greenpill-dev-guild/green-goods/blob/0350b1bd287db542d6b4d07a662ba28c744e203b/docs/docs/community/green-goods-claims.generated.mdx ; https://github.com/greenpill-dev-guild/green-goods/blob/0350b1bd287db542d6b4d07a662ba28c744e203b/packages/shared/src/modules/work/submit-work-command.ts ; https://github.com/greenpill-dev-guild/green-goods/blob/0350b1bd287db542d6b4d07a662ba28c744e203b/packages/shared/src/modules/work/work-confirmation.ts . The current checkout is source evidence, not fresh live deployment certification. Proposed requirements and limits: .plans/ideas/green-goods-os/spec.md and research.md.</a:t>
            </a:r>
          </a:p>
          <a:p xmlns:a="http://schemas.openxmlformats.org/drawingml/2006/main">
            <a:r>
              <a:t/>
            </a:r>
          </a:p>
          <a:p xmlns:a="http://schemas.openxmlformats.org/drawingml/2006/main">
            <a:r>
              <a:t/>
            </a:r>
          </a:p>
          <a:p xmlns:a="http://schemas.openxmlformats.org/drawingml/2006/main">
            <a:r>
              <a:t/>
            </a:r>
          </a:p>
          <a:p xmlns:a="http://schemas.openxmlformats.org/drawingml/2006/main">
            <a:r>
              <a:t>Image: newly generated fictional learning scene using hero-actions.webp and hero-cookie.webp as style references; only cropped forearms and hands are visible, with no faces or heads. It is not a screenshot, customer or field outcome. Full prompts accompany the file.</a:t>
            </a:r>
          </a:p>
          <a:p xmlns:a="http://schemas.openxmlformats.org/drawingml/2006/main">
            <a:r>
              <a:t/>
            </a:r>
          </a:p>
          <a:p xmlns:a="http://schemas.openxmlformats.org/drawingml/2006/main">
            <a:r>
              <a:t/>
            </a:r>
          </a:p>
          <a:p xmlns:a="http://schemas.openxmlformats.org/drawingml/2006/main">
            <a:r>
              <a:t/>
            </a:r>
          </a:p>
          <a:p xmlns:a="http://schemas.openxmlformats.org/drawingml/2006/main">
            <a:r>
              <a:t>Typography and status labels, 9 October 2026 Pacific, 10 October UTC: Fraunces Medium headings at 41.25 and 22.5 pt with the second title line in the website accent green 1A7544, Inter body at 20 and 18 pt, eyebrow status labels at 10.5 pt in stone 78716C, and the closing line in Fraunces Medium 20 pt charcoal so the slide carries one green accent. This is a sample for review before full-deck expansion; see .plans/ideas/green-goods-os/artifacts/visual-direction-v3/README.md.</a:t>
            </a:r>
          </a:p>
          <a:p xmlns:a="http://schemas.openxmlformats.org/drawingml/2006/main">
            <a:r>
              <a:t/>
            </a:r>
          </a:p>
          <a:p xmlns:a="http://schemas.openxmlformats.org/drawingml/2006/main">
            <a:r>
              <a:t/>
            </a:r>
          </a:p>
          <a:p xmlns:a="http://schemas.openxmlformats.org/drawingml/2006/main">
            <a:r>
              <a:t/>
            </a:r>
          </a:p>
          <a:p xmlns:a="http://schemas.openxmlformats.org/drawingml/2006/main">
            <a:r>
              <a:t>Status labels follow the inspected capability ledger (R03). Keeping a record is available today through work capture with notes and photos and steward review (R06, R07, R09), so the record line names reviews rather than readings; sensor readings and imports remain proposed. Learning with other land stewards is a proposed extension of the workspace. Organizing work and funding is available today through work approvals, donations and vault endowments (R09, R13, R14), while commitment pooling is deployed but not yet an available product flow (R11, R12). Labels describe inspected source at the pinned commit, not a live deployment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intended participant experience is to keep a useful observation, find and review its context, decide what to share, learn from another community and coordinate needed support. Observe and Review build on capture and steward review that exist in the Green Goods app today (R03, R06, R07, R09); Understand and Choose are proposed workspace extensions, including the disclosure preview that must reveal exactly what leaves the private workspace.</a:t>
            </a:r>
          </a:p>
          <a:p xmlns:a="http://schemas.openxmlformats.org/drawingml/2006/main">
            <a:r>
              <a:t/>
            </a:r>
          </a:p>
          <a:p xmlns:a="http://schemas.openxmlformats.org/drawingml/2006/main">
            <a:r>
              <a:t>Readings are included only where a device is in place; manual participation must remain useful without new hardware, AI or public sharing. The specific repeated task is chosen with the first cohort, not assumed here.</a:t>
            </a:r>
          </a:p>
          <a:p xmlns:a="http://schemas.openxmlformats.org/drawingml/2006/main">
            <a:r>
              <a:t/>
            </a:r>
          </a:p>
          <a:p xmlns:a="http://schemas.openxmlformats.org/drawingml/2006/main">
            <a:r>
              <a:t>Sources: inspected work modules at the pinned commit (https://github.com/greenpill-dev-guild/green-goods/blob/0350b1bd287db542d6b4d07a662ba28c744e203b/packages/shared/src/modules/work/submit-work-command.ts and work-confirmation.ts); proposed requirements in .plans/ideas/green-goods-os/spec.md, Proposed workflow and Permissions, consent and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proposition is continuity: less reconstruction, informed choices, continuity across people and seasons, control over disclosure, and work that a supporter can assess. These are benefits to measure, not measured savings. The pilot compares effort and decision usefulness against the simpler baseline and requires no net increase in median task effort.</a:t>
            </a:r>
          </a:p>
          <a:p xmlns:a="http://schemas.openxmlformats.org/drawingml/2006/main">
            <a:r>
              <a:t/>
            </a:r>
          </a:p>
          <a:p xmlns:a="http://schemas.openxmlformats.org/drawingml/2006/main">
            <a:r>
              <a:t>The handover example is illustrative. Financial, social, intellectual, cultural and experiential value are distinct forms; the deck does not force them into tokens or equivalents.</a:t>
            </a:r>
          </a:p>
          <a:p xmlns:a="http://schemas.openxmlformats.org/drawingml/2006/main">
            <a:r>
              <a:t/>
            </a:r>
          </a:p>
          <a:p xmlns:a="http://schemas.openxmlformats.org/drawingml/2006/main">
            <a:r>
              <a:t>Image: website photography from packages/client/public/images/hero-actions.webp, used as the website's visual language, with no people shown; its documentary provenance is not assumed. Sources: .plans/ideas/green-goods-os/strategy.md, Causal chain and Multiple forms of value; .plans/ideas/green-goods-os/spec.md, Measurable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accepted Accessibility, Sovereignty, Trust and Reciprocity as the four pillars on 8 October 2026 Pacific; Privacy, Interoperability and Verifiability remain essential across all four. Affordability supports access, defined rights support sovereignty, and appropriate transparency supports trust. Transparency never requires sensitive disclosure.</a:t>
            </a:r>
          </a:p>
          <a:p xmlns:a="http://schemas.openxmlformats.org/drawingml/2006/main">
            <a:r>
              <a:t/>
            </a:r>
          </a:p>
          <a:p xmlns:a="http://schemas.openxmlformats.org/drawingml/2006/main">
            <a:r>
              <a:t>Sovereignty means effective community authority, permissions, attribution, portability, recovery and exit. It does not promise exclusive ownership of every contribution or control over copies already disclosed.</a:t>
            </a:r>
          </a:p>
          <a:p xmlns:a="http://schemas.openxmlformats.org/drawingml/2006/main">
            <a:r>
              <a:t/>
            </a:r>
          </a:p>
          <a:p xmlns:a="http://schemas.openxmlformats.org/drawingml/2006/main">
            <a:r>
              <a:t>Source: .plans/ideas/green-goods-os/pitch-revision.md, Agreed pillars.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Knowledge grows through relationships within and across bioregions. The diagram shows deliberate exchanges between distinct places rather than a global data cloud. Contributors should receive useful learning, skills, relationships or resources, with attribution; curation, translation and facilitation are costed.</a:t>
            </a:r>
          </a:p>
          <a:p xmlns:a="http://schemas.openxmlformats.org/drawingml/2006/main">
            <a:r>
              <a:t/>
            </a:r>
          </a:p>
          <a:p xmlns:a="http://schemas.openxmlformats.org/drawingml/2006/main">
            <a:r>
              <a:t>The network effect is unproven. The pilot measures at least one documented useful exchange in each direction for each matched pair. Node names are setting types from the proposal, not organizations.</a:t>
            </a:r>
          </a:p>
          <a:p xmlns:a="http://schemas.openxmlformats.org/drawingml/2006/main">
            <a:r>
              <a:t/>
            </a:r>
          </a:p>
          <a:p xmlns:a="http://schemas.openxmlformats.org/drawingml/2006/main">
            <a:r>
              <a:t>Sources: .plans/ideas/green-goods-os/pitch-revision.md (slide 9 boundary); .plans/ideas/green-goods-os/strategy.md, Bootstrapping reciprocity and knowledge governance; .plans/ideas/green-goods-os/spec.md, Pilot and production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understanding becomes collective action when a concrete task gathers time, skills, resources and funding. The rain-tank example is illustrative. Financial, social, intellectual, cultural and experiential value are distinct; the deck does not force them into tokens or equivalents.</a:t>
            </a:r>
          </a:p>
          <a:p xmlns:a="http://schemas.openxmlformats.org/drawingml/2006/main">
            <a:r>
              <a:t/>
            </a:r>
          </a:p>
          <a:p xmlns:a="http://schemas.openxmlformats.org/drawingml/2006/main">
            <a:r>
              <a:t>Status: donations and vault endowments are available product flows (R13, R14), with liquidity limits and no principal or yield guarantee. Commitment pooling contracts are deployed with lifecycle and capacity rules (R11) but release truth keeps product and QA lanes blocked (R12), so pooling is in progress, not available. Commitments help only if the parties agree on units, completion evidence, authority and appeal.</a:t>
            </a:r>
          </a:p>
          <a:p xmlns:a="http://schemas.openxmlformats.org/drawingml/2006/main">
            <a:r>
              <a:t/>
            </a:r>
          </a:p>
          <a:p xmlns:a="http://schemas.openxmlformats.org/drawingml/2006/main">
            <a:r>
              <a:t>Image: website photography from packages/client/public/images/hero-cookie.webp (cropped hands only), used as visual language; not a customer or field outcome. Sources: inspected contracts at the pinned commit (CommitmentPooling Lifecycle and Operations, Octant module, Yield resolver) and .plans/ideas/green-goods-os/strategy.md, Protocol contribution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entry point: one locally led stewardship cohort supported by a trusted coordinator. Primary users are participating land stewards; the coordinator supports onboarding, review and useful exchange. The buyer hypothesis is the delivery organization's program or operations lead. A separate sponsor may fund access with no automatic right to community records. A farmer and adviser cohort remains a concrete candidate.</a:t>
            </a:r>
          </a:p>
          <a:p xmlns:a="http://schemas.openxmlformats.org/drawingml/2006/main">
            <a:r>
              <a:t/>
            </a:r>
          </a:p>
          <a:p xmlns:a="http://schemas.openxmlformats.org/drawingml/2006/main">
            <a:r>
              <a:t>No market size is asserted. The earlier U.S. conservation-district count does not select the market; TAM, SAM and SOM figures from earlier drafts are withdrawn. Market size requires an agreed buyer, geography, denominator, qualification and delivery capacity.</a:t>
            </a:r>
          </a:p>
          <a:p xmlns:a="http://schemas.openxmlformats.org/drawingml/2006/main">
            <a:r>
              <a:t/>
            </a:r>
          </a:p>
          <a:p xmlns:a="http://schemas.openxmlformats.org/drawingml/2006/main">
            <a:r>
              <a:t>Sources: .plans/ideas/green-goods-os/pitch-revision.md, People, first user and buyer; .plans/ideas/green-goods-os/market-sizing.md (historical sensitivity analysis only); .plans/ideas/green-goods-os/strategy.md, Funding and design-partner opportunities.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to test is continuity between useful private stewardship knowledge, voluntary reciprocal learning, community review and accountable support. OpenTEAM and GainForest or Taina overlap significantly; Ma Earth and Hypercerts already work on portability and funding records. Integration and contribution are substantive options, and the simpler baseline may win.</a:t>
            </a:r>
          </a:p>
          <a:p xmlns:a="http://schemas.openxmlformats.org/drawingml/2006/main">
            <a:r>
              <a:t/>
            </a:r>
          </a:p>
          <a:p xmlns:a="http://schemas.openxmlformats.org/drawingml/2006/main">
            <a:r>
              <a:t>farmOS: open farm records, API and sensor data streams (W20); do not present the historical Field Kit as a current certified offline product. OpenTEAM: tool ecosystem, farmer data governance and interoperability at multiple maturity levels (W21). Hylo: community coordination and knowledge exchange; its federation roadmap is not delivered proof (W22). ODK Collect and Central, KoboToolbox: offline field forms and server administration (W23, W24); do not quote historical quotas as current entitlement. GainForest and Taina: field records to public certificates and supporter funding, community-governed archive, no independent accuracy or privacy audit here (W25). 5th World's professional workflow (W26) and Ma Earth's round toolkit (W27) are compared on the audience slide.</a:t>
            </a:r>
          </a:p>
          <a:p xmlns:a="http://schemas.openxmlformats.org/drawingml/2006/main">
            <a:r>
              <a:t/>
            </a:r>
          </a:p>
          <a:p xmlns:a="http://schemas.openxmlformats.org/drawingml/2006/main">
            <a:r>
              <a:t>Sources: https://farmos.org/ ; https://openteam.community/ ; https://www.hylo.com/features ; https://docs.getodk.org/collect-intro/ ; https://www.kobotoolbox.org/ ; https://www.gainforest.earth/ . Accessed as recorded in .plans/ideas/green-goods-os/evidence-register.md.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sequence: fixed-scope service, then paid support, then a curated knowledge service if reciprocal use exists, then compatible kits through local partners if installation pain is proven. Protocol fees and commercial licensing stay out of the initial revenue model. Each hypothesis has its own payer, demand evidence and validation experiment.</a:t>
            </a:r>
          </a:p>
          <a:p xmlns:a="http://schemas.openxmlformats.org/drawingml/2006/main">
            <a:r>
              <a:t/>
            </a:r>
          </a:p>
          <a:p xmlns:a="http://schemas.openxmlformats.org/drawingml/2006/main">
            <a:r>
              <a:t>The earlier subscription price, fit percentage, ARR and margins were authored assumptions and are withdrawn from this core pitch. Access funding for communities is distinct from company revenue; a sponsor paying for access does not buy community records.</a:t>
            </a:r>
          </a:p>
          <a:p xmlns:a="http://schemas.openxmlformats.org/drawingml/2006/main">
            <a:r>
              <a:t/>
            </a:r>
          </a:p>
          <a:p xmlns:a="http://schemas.openxmlformats.org/drawingml/2006/main">
            <a:r>
              <a:t>Source: .plans/ideas/green-goods-os/strategy.md, Revenue hypotheses, evaluated separately, and Illustrative scenarios (historical, withdrawn).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Growth comes through trusted delivery and useful exchange: a coordinator onboards one cohort, weekly use becomes routine, the buyer renews after a measured pilot, and participants introduce the next cohort. Convert a successful pilot rather than mass advertising. Maintenance ownership is named before anything is installed.</a:t>
            </a:r>
          </a:p>
          <a:p xmlns:a="http://schemas.openxmlformats.org/drawingml/2006/main">
            <a:r>
              <a:t/>
            </a:r>
          </a:p>
          <a:p xmlns:a="http://schemas.openxmlformats.org/drawingml/2006/main">
            <a:r>
              <a:t>This is a proposed go-to-market, not measured acquisition. No renewal evidence exists yet; the pilot requires at least one buyer willing to sign a defined paid continuation.</a:t>
            </a:r>
          </a:p>
          <a:p xmlns:a="http://schemas.openxmlformats.org/drawingml/2006/main">
            <a:r>
              <a:t/>
            </a:r>
          </a:p>
          <a:p xmlns:a="http://schemas.openxmlformats.org/drawingml/2006/main">
            <a:r>
              <a:t>Sources: .plans/ideas/green-goods-os/strategy.md, Revenue hypotheses (acquisition paths) and Proposed ask and sequencing; .plans/ideas/green-goods-os/spec.md, Pilot and production gates.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Exists today, per the inspected capability ledger and modules at the pinned commit: Garden records, work capture and steward review (R03, R06, R07), donations and vault endowments (R13, R14), the installed app with service worker and offline work queue (R04, R06), and attestation schemas with role and time rules (R09). Deployment evidence is dated, not a live check.</a:t>
            </a:r>
          </a:p>
          <a:p xmlns:a="http://schemas.openxmlformats.org/drawingml/2006/main">
            <a:r>
              <a:t/>
            </a:r>
          </a:p>
          <a:p xmlns:a="http://schemas.openxmlformats.org/drawingml/2006/main">
            <a:r>
              <a:t>Proposed: the private workspace with a disclosure preview, deliberate knowledge exchange, source-linked local assistance and compatible infrastructure services (PRD). Unproven, to test in the pilot: usefulness without added effort, real control through recovery and exit drills, useful exchange in each direction for each matched pair, and a buyer who signs a defined paid continuation.</a:t>
            </a:r>
          </a:p>
          <a:p xmlns:a="http://schemas.openxmlformats.org/drawingml/2006/main">
            <a:r>
              <a:t/>
            </a:r>
          </a:p>
          <a:p xmlns:a="http://schemas.openxmlformats.org/drawingml/2006/main">
            <a:r>
              <a:t>Pilot: eight weeks, three communities doing the same workflow, ideally two resource-constrained sites and one better-resourced learning peer, with compensated facilitation and translation. Advancement requires zero unresolved severe privacy or recovery defects, at least two communities using the workflow weekly through week six, no net increase in median task effort, and the exchange and buyer thresholds above. Source: .plans/ideas/green-goods-os/spec.md, Pilot and production gates; .plans/ideas/green-goods-os/evidence-register.md, Material claims carried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core story with tailored final asks. Ma Earth: collective funding and education for community-led regeneration, with existing work with Hypercerts and Certified (P01); the ask is a design conversation and a scoped cohort. Hypercerts: open records connecting work, evidence, assessments and support; the SDK is marked under development (P02, P03); the ask is a record-compatibility review that avoids duplicating identity or evidence standards. 5th World: site analysis, design and implementation for regenerative properties (P04); the ask is a bounded delivery-workflow review, with no API or demand established. The BioFi Project at biofi.earth: support for Bioregional Financing Facilities, learning and technical coordination, with design principles that include commitment pooling (P05, P06); the ask is one community-defined use case, and software does not replace a financing facility. Confirm the organization before any outreach.</a:t>
            </a:r>
          </a:p>
          <a:p xmlns:a="http://schemas.openxmlformats.org/drawingml/2006/main">
            <a:r>
              <a:t/>
            </a:r>
          </a:p>
          <a:p xmlns:a="http://schemas.openxmlformats.org/drawingml/2006/main">
            <a:r>
              <a:t>These organizations already have tools and relationships; the deck demonstrates a useful additional role. They are not customers, and logos are not endorsements. No outreach is authorized. The earlier funding ask is withdrawn; a funding request needs a scoped workplan and reviewed costs.</a:t>
            </a:r>
          </a:p>
          <a:p xmlns:a="http://schemas.openxmlformats.org/drawingml/2006/main">
            <a:r>
              <a:t/>
            </a:r>
          </a:p>
          <a:p xmlns:a="http://schemas.openxmlformats.org/drawingml/2006/main">
            <a:r>
              <a:t>Sources: https://maearth.com/about ; https://hypercerts.org/blog/3mvru46xfus2r ; https://docs.hypercerts.org/ ; https://5thworld.com/ ; https://www.biofi.earth/ ; https://www.biofi.earth/biofi-design-principles . Checked 9 October 2026 UTC; see .plans/ideas/green-goods-os/evidence-register.md, Partner audience research. Vision statement: .plans/ideas/green-goods-os/pitch-revision.md.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728b5668e540c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31045504734d5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6d3209d148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27a8e843be459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7222916866d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4a8518ccfa43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23976A-1CA4-42A4-BC16-07B5CB6E330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357E325-3003-45E1-98AC-A36BCB69D71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58F0E69-36C6-49EE-9183-7A925224392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C1F552-D5E2-43C0-B9B0-26ADFDF2F9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B41F9F-CB08-43D8-B4B3-4146D015CC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CD32AE-A842-4C07-B914-C406E61271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2117D8-173E-4233-89F7-EF0C64F72C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AB68CE-B2AF-47B2-8E57-3DB96B6A513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BBE86-9435-4056-B34E-98ABC9D90A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6DC82A-06F5-4E62-8BC6-82CD5A0AE5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3a139da9074d29" /><Relationship Type="http://schemas.openxmlformats.org/officeDocument/2006/relationships/slideLayout" Target="/ppt/slideLayouts/slideLayout1.xml" Id="R22e6a5ea24ed48c7" /><Relationship Type="http://schemas.openxmlformats.org/officeDocument/2006/relationships/slideLayout" Target="/ppt/slideLayouts/slideLayout2.xml" Id="R252a54606ad145a4" /><Relationship Type="http://schemas.openxmlformats.org/officeDocument/2006/relationships/slideLayout" Target="/ppt/slideLayouts/slideLayout3.xml" Id="R691a63f6f829437d" /><Relationship Type="http://schemas.openxmlformats.org/officeDocument/2006/relationships/slideLayout" Target="/ppt/slideLayouts/slideLayout4.xml" Id="Rb10fa9b869354e44" /><Relationship Type="http://schemas.openxmlformats.org/officeDocument/2006/relationships/slideLayout" Target="/ppt/slideLayouts/slideLayout5.xml" Id="Ra46741da4cb543f2" /><Relationship Type="http://schemas.openxmlformats.org/officeDocument/2006/relationships/slideLayout" Target="/ppt/slideLayouts/slideLayout6.xml" Id="R2f372ab889fc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6a5ea24ed48c7"/>
    <p:sldLayoutId xmlns:r="http://schemas.openxmlformats.org/officeDocument/2006/relationships" id="2147483650" r:id="R252a54606ad145a4"/>
    <p:sldLayoutId xmlns:r="http://schemas.openxmlformats.org/officeDocument/2006/relationships" id="2147483651" r:id="R691a63f6f829437d"/>
    <p:sldLayoutId xmlns:r="http://schemas.openxmlformats.org/officeDocument/2006/relationships" id="2147483652" r:id="Rb10fa9b869354e44"/>
    <p:sldLayoutId xmlns:r="http://schemas.openxmlformats.org/officeDocument/2006/relationships" id="2147483653" r:id="Ra46741da4cb543f2"/>
    <p:sldLayoutId xmlns:r="http://schemas.openxmlformats.org/officeDocument/2006/relationships" id="2147483654" r:id="R2f372ab889fc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1.jpeg" Id="rIdImg1" /><Relationship Type="http://schemas.openxmlformats.org/officeDocument/2006/relationships/image" Target="/ppt/media/image2.png" Id="rIdImg2" /><Relationship Type="http://schemas.openxmlformats.org/officeDocument/2006/relationships/notesSlide" Target="/ppt/notesSlides/notesSlide1.xml" Id="rIdNotes" /></Relationships>
</file>

<file path=ppt/slides/_rels/slide2.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2.xml" Id="rIdNotes" /></Relationships>
</file>

<file path=ppt/slides/_rels/slide3.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3.xml" Id="rIdNotes" /></Relationships>
</file>

<file path=ppt/slides/_rels/slide4.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4.xml" Id="rIdNotes" /></Relationships>
</file>

<file path=ppt/slides/_rels/slide5.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3.jpeg" Id="rIdImg1" /><Relationship Type="http://schemas.openxmlformats.org/officeDocument/2006/relationships/notesSlide" Target="/ppt/notesSlides/notesSlide5.xml" Id="rIdNotes" /></Relationships>
</file>

<file path=ppt/slides/_rels/slide6.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6.xml" Id="rIdNotes" /></Relationships>
</file>

<file path=ppt/slides/_rels/slide7.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4.jpeg" Id="rIdImg1" /><Relationship Type="http://schemas.openxmlformats.org/officeDocument/2006/relationships/notesSlide" Target="/ppt/notesSlides/notesSlide7.xml" Id="rIdNotes" /></Relationships>
</file>

<file path=ppt/slides/_rels/slide8.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8.xml" Id="rIdNotes" /></Relationships>
</file>

<file path=ppt/slides/_rels/slide9.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9.xml" Id="rIdNotes" /></Relationships>
</file>

<file path=ppt/slides/_rels/slide10.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image" Target="/ppt/media/image5.jpeg" Id="rIdImg1" /><Relationship Type="http://schemas.openxmlformats.org/officeDocument/2006/relationships/notesSlide" Target="/ppt/notesSlides/notesSlide10.xml" Id="rIdNotes" /></Relationships>
</file>

<file path=ppt/slides/_rels/slide11.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1.xml" Id="rIdNotes" /></Relationships>
</file>

<file path=ppt/slides/_rels/slide12.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2.xml" Id="rIdNotes" /></Relationships>
</file>

<file path=ppt/slides/_rels/slide13.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3.xml" Id="rIdNotes" /></Relationships>
</file>

<file path=ppt/slides/_rels/slide14.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4.xml" Id="rIdNotes" /></Relationships>
</file>

<file path=ppt/slides/_rels/slide15.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5.xml" Id="rIdNotes" /></Relationships>
</file>

<file path=ppt/slides/_rels/slide16.xml.rels><?xml version="1.0" encoding="utf-8"?><Relationships xmlns="http://schemas.openxmlformats.org/package/2006/relationships"><Relationship Type="http://schemas.openxmlformats.org/officeDocument/2006/relationships/slideLayout" Target="/ppt/slideLayouts/slideLayout6.xml" Id="R217dce6988bd4310" /><Relationship Type="http://schemas.openxmlformats.org/officeDocument/2006/relationships/notesSlide" Target="/ppt/notesSlides/notesSlide16.xml" Id="rIdNotes" /></Relationships>
</file>

<file path=ppt/slides/slide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pic>
        <p:nvPicPr>
          <p:cNvPr id="2" name="scene">
            <a:extLst xmlns:a="http://schemas.openxmlformats.org/drawingml/2006/main">
              <a:ext uri="{FF2B5EF4-FFF2-40B4-BE49-F238E27FC236}">
                <a16:creationId xmlns:a16="http://schemas.microsoft.com/office/drawing/2014/main" id="{2977B982-6CB2-477C-85C9-99D60EAB333E}"/>
              </a:ext>
            </a:extLst>
          </p:cNvPr>
          <p:cNvPicPr>
            <a:picLocks xmlns:a="http://schemas.openxmlformats.org/drawingml/2006/main" noChangeAspect="1"/>
          </p:cNvPicPr>
          <p:nvPr/>
        </p:nvPicPr>
        <p:blipFill>
          <a:blip xmlns:a="http://schemas.openxmlformats.org/drawingml/2006/main" xmlns:r="http://schemas.openxmlformats.org/officeDocument/2006/relationships" r:embed="rIdImg1"/>
          <a:stretch xmlns:a="http://schemas.openxmlformats.org/drawingml/2006/main">
            <a:fillRect/>
          </a:stretch>
        </p:blipFill>
        <p:spPr>
          <a:xfrm xmlns:a="http://schemas.openxmlformats.org/drawingml/2006/main">
            <a:off x="0" y="0"/>
            <a:ext cx="12191970" cy="6858000"/>
          </a:xfrm>
          <a:prstGeom xmlns:a="http://schemas.openxmlformats.org/drawingml/2006/main" prst="rect">
            <a:avLst/>
          </a:prstGeom>
        </p:spPr>
      </p:pic>
      <p:sp>
        <p:nvSpPr>
          <p:cNvPr id="3" name="panel">
            <a:extLst xmlns:a="http://schemas.openxmlformats.org/drawingml/2006/main">
              <a:ext uri="{FF2B5EF4-FFF2-40B4-BE49-F238E27FC236}">
                <a16:creationId xmlns:a16="http://schemas.microsoft.com/office/drawing/2014/main" id="{5984288D-D9A1-40E3-BE21-B66BA69C4D4A}"/>
              </a:ext>
            </a:extLst>
          </p:cNvPr>
          <p:cNvSpPr>
            <a:spLocks xmlns:a="http://schemas.openxmlformats.org/drawingml/2006/main" noGrp="1"/>
          </p:cNvSpPr>
          <p:nvPr/>
        </p:nvSpPr>
        <p:spPr>
          <a:xfrm xmlns:a="http://schemas.openxmlformats.org/drawingml/2006/main">
            <a:off x="381305" y="685800"/>
            <a:ext cx="6000293" cy="5410505"/>
          </a:xfrm>
          <a:prstGeom xmlns:a="http://schemas.openxmlformats.org/drawingml/2006/main" prst="rect">
            <a:avLst/>
          </a:prstGeom>
          <a:solidFill xmlns:a="http://schemas.openxmlformats.org/drawingml/2006/main">
            <a:srgbClr val="FAF8F5"/>
          </a:solidFill>
          <a:ln xmlns:a="http://schemas.openxmlformats.org/drawingml/2006/main" w="0">
            <a:noFill/>
          </a:ln>
        </p:spPr>
      </p:sp>
      <p:pic>
        <p:nvPicPr>
          <p:cNvPr id="4" name="logo">
            <a:extLst xmlns:a="http://schemas.openxmlformats.org/drawingml/2006/main">
              <a:ext uri="{FF2B5EF4-FFF2-40B4-BE49-F238E27FC236}">
                <a16:creationId xmlns:a16="http://schemas.microsoft.com/office/drawing/2014/main" id="{9FBF67A7-F593-4EED-8BF6-CEFE2DBDE34A}"/>
              </a:ext>
            </a:extLst>
          </p:cNvPr>
          <p:cNvPicPr>
            <a:picLocks xmlns:a="http://schemas.openxmlformats.org/drawingml/2006/main" noChangeAspect="1"/>
          </p:cNvPicPr>
          <p:nvPr/>
        </p:nvPicPr>
        <p:blipFill>
          <a:blip xmlns:a="http://schemas.openxmlformats.org/drawingml/2006/main" xmlns:r="http://schemas.openxmlformats.org/officeDocument/2006/relationships" r:embed="rIdImg2"/>
          <a:stretch xmlns:a="http://schemas.openxmlformats.org/drawingml/2006/main">
            <a:fillRect/>
          </a:stretch>
        </p:blipFill>
        <p:spPr>
          <a:xfrm xmlns:a="http://schemas.openxmlformats.org/drawingml/2006/main">
            <a:off x="761695" y="1098194"/>
            <a:ext cx="562356" cy="318211"/>
          </a:xfrm>
          <a:prstGeom xmlns:a="http://schemas.openxmlformats.org/drawingml/2006/main" prst="rect">
            <a:avLst/>
          </a:prstGeom>
        </p:spPr>
      </p:pic>
      <p:sp>
        <p:nvSpPr>
          <p:cNvPr id="5" name="wordmark">
            <a:extLst xmlns:a="http://schemas.openxmlformats.org/drawingml/2006/main">
              <a:ext uri="{FF2B5EF4-FFF2-40B4-BE49-F238E27FC236}">
                <a16:creationId xmlns:a16="http://schemas.microsoft.com/office/drawing/2014/main" id="{5CB7A0EC-01A5-484B-A9FE-795D4B8FED58}"/>
              </a:ext>
            </a:extLst>
          </p:cNvPr>
          <p:cNvSpPr txBox="1">
            <a:spLocks xmlns:a="http://schemas.openxmlformats.org/drawingml/2006/main" noGrp="1"/>
          </p:cNvSpPr>
          <p:nvPr/>
        </p:nvSpPr>
        <p:spPr>
          <a:xfrm xmlns:a="http://schemas.openxmlformats.org/drawingml/2006/main">
            <a:off x="1485900" y="1009498"/>
            <a:ext cx="4343400" cy="4855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i="0" kern="1200">
                <a:solidFill>
                  <a:srgbClr val="292524"/>
                </a:solidFill>
                <a:latin typeface="Fraunces"/>
                <a:ea typeface="Fraunces"/>
                <a:cs typeface="Fraunces"/>
              </a:defRPr>
            </a:defPPr>
          </a:lstStyle>
          <a:p xmlns:a="http://schemas.openxmlformats.org/drawingml/2006/main">
            <a:pPr>
              <a:lnSpc>
                <a:spcPts val="3100"/>
              </a:lnSpc>
              <a:defRPr sz="2550" b="0" i="0" kern="1200">
                <a:solidFill>
                  <a:srgbClr val="292524"/>
                </a:solidFill>
                <a:latin typeface="Fraunces"/>
                <a:ea typeface="Fraunces"/>
                <a:cs typeface="Fraunces"/>
              </a:defRPr>
            </a:pPr>
            <a:r>
              <a:rPr sz="2550" b="0" i="0" kern="1200">
                <a:solidFill>
                  <a:srgbClr val="292524"/>
                </a:solidFill>
                <a:latin typeface="Fraunces"/>
                <a:ea typeface="Fraunces"/>
                <a:cs typeface="Fraunces"/>
              </a:rPr>
              <a:t>Green Goods</a:t>
            </a:r>
          </a:p>
        </p:txBody>
      </p:sp>
      <p:sp>
        <p:nvSpPr>
          <p:cNvPr id="6" name="title">
            <a:extLst xmlns:a="http://schemas.openxmlformats.org/drawingml/2006/main">
              <a:ext uri="{FF2B5EF4-FFF2-40B4-BE49-F238E27FC236}">
                <a16:creationId xmlns:a16="http://schemas.microsoft.com/office/drawing/2014/main" id="{C63BB78A-8A8F-4140-8D0B-D15DEFB33DD0}"/>
              </a:ext>
            </a:extLst>
          </p:cNvPr>
          <p:cNvSpPr txBox="1">
            <a:spLocks xmlns:a="http://schemas.openxmlformats.org/drawingml/2006/main" noGrp="1"/>
          </p:cNvSpPr>
          <p:nvPr/>
        </p:nvSpPr>
        <p:spPr>
          <a:xfrm xmlns:a="http://schemas.openxmlformats.org/drawingml/2006/main">
            <a:off x="761695" y="2257654"/>
            <a:ext cx="5266944"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000" b="0" i="0" kern="1200" spc="-90">
                <a:solidFill>
                  <a:srgbClr val="292524"/>
                </a:solidFill>
                <a:latin typeface="Fraunces Medium"/>
                <a:ea typeface="Fraunces Medium"/>
                <a:cs typeface="Fraunces Medium"/>
              </a:defRPr>
            </a:defPPr>
          </a:lstStyle>
          <a:p xmlns:a="http://schemas.openxmlformats.org/drawingml/2006/main">
            <a:pPr>
              <a:lnSpc>
                <a:spcPts val="5400"/>
              </a:lnSpc>
              <a:defRPr sz="5000" b="0" i="0" kern="1200" spc="-90">
                <a:solidFill>
                  <a:srgbClr val="292524"/>
                </a:solidFill>
                <a:latin typeface="Fraunces Medium"/>
                <a:ea typeface="Fraunces Medium"/>
                <a:cs typeface="Fraunces Medium"/>
              </a:defRPr>
            </a:pPr>
            <a:r>
              <a:rPr sz="5000" b="0" i="0" kern="1200" spc="-90">
                <a:solidFill>
                  <a:srgbClr val="292524"/>
                </a:solidFill>
                <a:latin typeface="Fraunces Medium"/>
                <a:ea typeface="Fraunces Medium"/>
                <a:cs typeface="Fraunces Medium"/>
              </a:rPr>
              <a:t>Land care</a:t>
            </a:r>
          </a:p>
          <a:p xmlns:a="http://schemas.openxmlformats.org/drawingml/2006/main">
            <a:pPr>
              <a:lnSpc>
                <a:spcPts val="5400"/>
              </a:lnSpc>
              <a:defRPr sz="5000" b="0" i="0" kern="1200" spc="-90">
                <a:solidFill>
                  <a:srgbClr val="292524"/>
                </a:solidFill>
                <a:latin typeface="Fraunces Medium"/>
                <a:ea typeface="Fraunces Medium"/>
                <a:cs typeface="Fraunces Medium"/>
              </a:defRPr>
            </a:pPr>
            <a:r>
              <a:rPr sz="5000" b="0" i="0" kern="1200" spc="-90">
                <a:solidFill>
                  <a:srgbClr val="1A7544"/>
                </a:solidFill>
                <a:latin typeface="Fraunces Medium"/>
                <a:ea typeface="Fraunces Medium"/>
                <a:cs typeface="Fraunces Medium"/>
              </a:rPr>
              <a:t>within reach</a:t>
            </a:r>
          </a:p>
        </p:txBody>
      </p:sp>
      <p:sp>
        <p:nvSpPr>
          <p:cNvPr id="7" name="subtitle">
            <a:extLst xmlns:a="http://schemas.openxmlformats.org/drawingml/2006/main">
              <a:ext uri="{FF2B5EF4-FFF2-40B4-BE49-F238E27FC236}">
                <a16:creationId xmlns:a16="http://schemas.microsoft.com/office/drawing/2014/main" id="{73D23406-CB14-4355-B8A0-E8BA4B1AAB5A}"/>
              </a:ext>
            </a:extLst>
          </p:cNvPr>
          <p:cNvSpPr txBox="1">
            <a:spLocks xmlns:a="http://schemas.openxmlformats.org/drawingml/2006/main" noGrp="1"/>
          </p:cNvSpPr>
          <p:nvPr/>
        </p:nvSpPr>
        <p:spPr>
          <a:xfrm xmlns:a="http://schemas.openxmlformats.org/drawingml/2006/main">
            <a:off x="761695" y="4187952"/>
            <a:ext cx="5394960" cy="10671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8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Affordable tools for land stewards to learn</a:t>
            </a:r>
          </a:p>
          <a:p xmlns:a="http://schemas.openxmlformats.org/drawingml/2006/main">
            <a:pPr>
              <a:lnSpc>
                <a:spcPts val="28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from one another, coordinate support and</a:t>
            </a:r>
          </a:p>
          <a:p xmlns:a="http://schemas.openxmlformats.org/drawingml/2006/main">
            <a:pPr>
              <a:lnSpc>
                <a:spcPts val="28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keep sovereignty over their knowledge.</a:t>
            </a:r>
          </a:p>
        </p:txBody>
      </p:sp>
      <p:sp>
        <p:nvSpPr>
          <p:cNvPr id="8" name="caption">
            <a:extLst xmlns:a="http://schemas.openxmlformats.org/drawingml/2006/main">
              <a:ext uri="{FF2B5EF4-FFF2-40B4-BE49-F238E27FC236}">
                <a16:creationId xmlns:a16="http://schemas.microsoft.com/office/drawing/2014/main" id="{F07FDCAC-48D9-4C9C-A866-0B1B0D916F97}"/>
              </a:ext>
            </a:extLst>
          </p:cNvPr>
          <p:cNvSpPr txBox="1">
            <a:spLocks xmlns:a="http://schemas.openxmlformats.org/drawingml/2006/main" noGrp="1"/>
          </p:cNvSpPr>
          <p:nvPr/>
        </p:nvSpPr>
        <p:spPr>
          <a:xfrm xmlns:a="http://schemas.openxmlformats.org/drawingml/2006/main">
            <a:off x="10382098" y="6448349"/>
            <a:ext cx="1428293"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FAF8F5"/>
                </a:solidFill>
                <a:latin typeface="Inter"/>
                <a:ea typeface="Inter"/>
                <a:cs typeface="Inter"/>
              </a:defRPr>
            </a:defPPr>
          </a:lstStyle>
          <a:p xmlns:a="http://schemas.openxmlformats.org/drawingml/2006/main">
            <a:pPr>
              <a:lnSpc>
                <a:spcPts val="1300"/>
              </a:lnSpc>
              <a:defRPr sz="1050" b="0" i="0" kern="1200">
                <a:solidFill>
                  <a:srgbClr val="FAF8F5"/>
                </a:solidFill>
                <a:latin typeface="Inter"/>
                <a:ea typeface="Inter"/>
                <a:cs typeface="Inter"/>
              </a:defRPr>
            </a:pPr>
            <a:r>
              <a:rPr sz="1050" b="0" i="0" kern="1200">
                <a:solidFill>
                  <a:srgbClr val="FAF8F5"/>
                </a:solidFill>
                <a:latin typeface="Inter"/>
                <a:ea typeface="Inter"/>
                <a:cs typeface="Inter"/>
              </a:rPr>
              <a:t>Conceptual scene</a:t>
            </a:r>
          </a:p>
        </p:txBody>
      </p:sp>
    </p:spTree>
    <p:extLst>
      <p:ext uri="{BB962C8B-B14F-4D97-AF65-F5344CB8AC3E}">
        <p14:creationId xmlns:p14="http://schemas.microsoft.com/office/powerpoint/2010/main" val="1440655531"/>
      </p:ext>
    </p:extLst>
  </p:cSld>
</p:sld>
</file>

<file path=ppt/slides/slide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8E4FB54C-23E6-4C3C-85E1-CB16BA61FB9D}"/>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Unequal access makes</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regenerative work harder</a:t>
            </a:r>
          </a:p>
        </p:txBody>
      </p:sp>
      <p:sp>
        <p:nvSpPr>
          <p:cNvPr id="3" name="lede">
            <a:extLst xmlns:a="http://schemas.openxmlformats.org/drawingml/2006/main">
              <a:ext uri="{FF2B5EF4-FFF2-40B4-BE49-F238E27FC236}">
                <a16:creationId xmlns:a16="http://schemas.microsoft.com/office/drawing/2014/main" id="{7AA0E87F-EC90-49DC-B1EC-82F3CE4447DD}"/>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Cost, complexity and knowledge silos consume the effort that should go to the land.</a:t>
            </a:r>
          </a:p>
        </p:txBody>
      </p:sp>
      <p:sp>
        <p:nvSpPr>
          <p:cNvPr id="4" name="rule-0">
            <a:extLst xmlns:a="http://schemas.openxmlformats.org/drawingml/2006/main">
              <a:ext uri="{FF2B5EF4-FFF2-40B4-BE49-F238E27FC236}">
                <a16:creationId xmlns:a16="http://schemas.microsoft.com/office/drawing/2014/main" id="{8E48EAEE-BA2D-446C-9D2E-4875BDE2C1B3}"/>
              </a:ext>
            </a:extLst>
          </p:cNvPr>
          <p:cNvSpPr>
            <a:spLocks xmlns:a="http://schemas.openxmlformats.org/drawingml/2006/main" noGrp="1"/>
          </p:cNvSpPr>
          <p:nvPr/>
        </p:nvSpPr>
        <p:spPr>
          <a:xfrm xmlns:a="http://schemas.openxmlformats.org/drawingml/2006/main">
            <a:off x="609905" y="2514600"/>
            <a:ext cx="3413760" cy="0"/>
          </a:xfrm>
          <a:prstGeom xmlns:a="http://schemas.openxmlformats.org/drawingml/2006/main" prst="line">
            <a:avLst/>
          </a:prstGeom>
          <a:ln xmlns:a="http://schemas.openxmlformats.org/drawingml/2006/main" w="9525">
            <a:solidFill>
              <a:srgbClr val="D6D3D1"/>
            </a:solidFill>
          </a:ln>
        </p:spPr>
      </p:sp>
      <p:sp>
        <p:nvSpPr>
          <p:cNvPr id="5" name="head-0">
            <a:extLst xmlns:a="http://schemas.openxmlformats.org/drawingml/2006/main">
              <a:ext uri="{FF2B5EF4-FFF2-40B4-BE49-F238E27FC236}">
                <a16:creationId xmlns:a16="http://schemas.microsoft.com/office/drawing/2014/main" id="{DF9E9AE3-5CF5-4DBA-87EC-5A991AE41F99}"/>
              </a:ext>
            </a:extLst>
          </p:cNvPr>
          <p:cNvSpPr txBox="1">
            <a:spLocks xmlns:a="http://schemas.openxmlformats.org/drawingml/2006/main" noGrp="1"/>
          </p:cNvSpPr>
          <p:nvPr/>
        </p:nvSpPr>
        <p:spPr>
          <a:xfrm xmlns:a="http://schemas.openxmlformats.org/drawingml/2006/main">
            <a:off x="609905" y="2651760"/>
            <a:ext cx="34137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Cost</a:t>
            </a:r>
          </a:p>
        </p:txBody>
      </p:sp>
      <p:sp>
        <p:nvSpPr>
          <p:cNvPr id="6" name="body-0">
            <a:extLst xmlns:a="http://schemas.openxmlformats.org/drawingml/2006/main">
              <a:ext uri="{FF2B5EF4-FFF2-40B4-BE49-F238E27FC236}">
                <a16:creationId xmlns:a16="http://schemas.microsoft.com/office/drawing/2014/main" id="{8719E60A-49E1-4E49-AB1B-B8084A3202D0}"/>
              </a:ext>
            </a:extLst>
          </p:cNvPr>
          <p:cNvSpPr txBox="1">
            <a:spLocks xmlns:a="http://schemas.openxmlformats.org/drawingml/2006/main" noGrp="1"/>
          </p:cNvSpPr>
          <p:nvPr/>
        </p:nvSpPr>
        <p:spPr>
          <a:xfrm xmlns:a="http://schemas.openxmlformats.org/drawingml/2006/main">
            <a:off x="609905" y="3200400"/>
            <a:ext cx="3413760" cy="998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Equipment, connectivity and</a:t>
            </a:r>
          </a:p>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support can exceed available</a:t>
            </a:r>
          </a:p>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budgets.</a:t>
            </a:r>
          </a:p>
        </p:txBody>
      </p:sp>
      <p:sp>
        <p:nvSpPr>
          <p:cNvPr id="7" name="rule-1">
            <a:extLst xmlns:a="http://schemas.openxmlformats.org/drawingml/2006/main">
              <a:ext uri="{FF2B5EF4-FFF2-40B4-BE49-F238E27FC236}">
                <a16:creationId xmlns:a16="http://schemas.microsoft.com/office/drawing/2014/main" id="{3A4482C7-91FB-4DEE-893B-8CEB91692849}"/>
              </a:ext>
            </a:extLst>
          </p:cNvPr>
          <p:cNvSpPr>
            <a:spLocks xmlns:a="http://schemas.openxmlformats.org/drawingml/2006/main" noGrp="1"/>
          </p:cNvSpPr>
          <p:nvPr/>
        </p:nvSpPr>
        <p:spPr>
          <a:xfrm xmlns:a="http://schemas.openxmlformats.org/drawingml/2006/main">
            <a:off x="4389425" y="2514600"/>
            <a:ext cx="3413760" cy="0"/>
          </a:xfrm>
          <a:prstGeom xmlns:a="http://schemas.openxmlformats.org/drawingml/2006/main" prst="line">
            <a:avLst/>
          </a:prstGeom>
          <a:ln xmlns:a="http://schemas.openxmlformats.org/drawingml/2006/main" w="9525">
            <a:solidFill>
              <a:srgbClr val="D6D3D1"/>
            </a:solidFill>
          </a:ln>
        </p:spPr>
      </p:sp>
      <p:sp>
        <p:nvSpPr>
          <p:cNvPr id="8" name="head-1">
            <a:extLst xmlns:a="http://schemas.openxmlformats.org/drawingml/2006/main">
              <a:ext uri="{FF2B5EF4-FFF2-40B4-BE49-F238E27FC236}">
                <a16:creationId xmlns:a16="http://schemas.microsoft.com/office/drawing/2014/main" id="{F1BB947C-B195-4BB0-8D19-83ED19962877}"/>
              </a:ext>
            </a:extLst>
          </p:cNvPr>
          <p:cNvSpPr txBox="1">
            <a:spLocks xmlns:a="http://schemas.openxmlformats.org/drawingml/2006/main" noGrp="1"/>
          </p:cNvSpPr>
          <p:nvPr/>
        </p:nvSpPr>
        <p:spPr>
          <a:xfrm xmlns:a="http://schemas.openxmlformats.org/drawingml/2006/main">
            <a:off x="4389425" y="2651760"/>
            <a:ext cx="34137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Complexity</a:t>
            </a:r>
          </a:p>
        </p:txBody>
      </p:sp>
      <p:sp>
        <p:nvSpPr>
          <p:cNvPr id="9" name="body-1">
            <a:extLst xmlns:a="http://schemas.openxmlformats.org/drawingml/2006/main">
              <a:ext uri="{FF2B5EF4-FFF2-40B4-BE49-F238E27FC236}">
                <a16:creationId xmlns:a16="http://schemas.microsoft.com/office/drawing/2014/main" id="{FC4B11C8-5FCB-4F15-A7BA-FA0BADFF2604}"/>
              </a:ext>
            </a:extLst>
          </p:cNvPr>
          <p:cNvSpPr txBox="1">
            <a:spLocks xmlns:a="http://schemas.openxmlformats.org/drawingml/2006/main" noGrp="1"/>
          </p:cNvSpPr>
          <p:nvPr/>
        </p:nvSpPr>
        <p:spPr>
          <a:xfrm xmlns:a="http://schemas.openxmlformats.org/drawingml/2006/main">
            <a:off x="4389425" y="3200400"/>
            <a:ext cx="3413760" cy="68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Setup and maintenance ask for</a:t>
            </a:r>
          </a:p>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scarce time and skills.</a:t>
            </a:r>
          </a:p>
        </p:txBody>
      </p:sp>
      <p:sp>
        <p:nvSpPr>
          <p:cNvPr id="10" name="rule-2">
            <a:extLst xmlns:a="http://schemas.openxmlformats.org/drawingml/2006/main">
              <a:ext uri="{FF2B5EF4-FFF2-40B4-BE49-F238E27FC236}">
                <a16:creationId xmlns:a16="http://schemas.microsoft.com/office/drawing/2014/main" id="{B18FC87A-5661-44AF-8A5F-AB81E7C2AF9D}"/>
              </a:ext>
            </a:extLst>
          </p:cNvPr>
          <p:cNvSpPr>
            <a:spLocks xmlns:a="http://schemas.openxmlformats.org/drawingml/2006/main" noGrp="1"/>
          </p:cNvSpPr>
          <p:nvPr/>
        </p:nvSpPr>
        <p:spPr>
          <a:xfrm xmlns:a="http://schemas.openxmlformats.org/drawingml/2006/main">
            <a:off x="8168945" y="2514600"/>
            <a:ext cx="3413760" cy="0"/>
          </a:xfrm>
          <a:prstGeom xmlns:a="http://schemas.openxmlformats.org/drawingml/2006/main" prst="line">
            <a:avLst/>
          </a:prstGeom>
          <a:ln xmlns:a="http://schemas.openxmlformats.org/drawingml/2006/main" w="9525">
            <a:solidFill>
              <a:srgbClr val="D6D3D1"/>
            </a:solidFill>
          </a:ln>
        </p:spPr>
      </p:sp>
      <p:sp>
        <p:nvSpPr>
          <p:cNvPr id="11" name="head-2">
            <a:extLst xmlns:a="http://schemas.openxmlformats.org/drawingml/2006/main">
              <a:ext uri="{FF2B5EF4-FFF2-40B4-BE49-F238E27FC236}">
                <a16:creationId xmlns:a16="http://schemas.microsoft.com/office/drawing/2014/main" id="{210897E2-6838-4BCB-858C-340C717812FE}"/>
              </a:ext>
            </a:extLst>
          </p:cNvPr>
          <p:cNvSpPr txBox="1">
            <a:spLocks xmlns:a="http://schemas.openxmlformats.org/drawingml/2006/main" noGrp="1"/>
          </p:cNvSpPr>
          <p:nvPr/>
        </p:nvSpPr>
        <p:spPr>
          <a:xfrm xmlns:a="http://schemas.openxmlformats.org/drawingml/2006/main">
            <a:off x="8168945" y="2651760"/>
            <a:ext cx="34137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Knowledge silos</a:t>
            </a:r>
          </a:p>
        </p:txBody>
      </p:sp>
      <p:sp>
        <p:nvSpPr>
          <p:cNvPr id="12" name="body-2">
            <a:extLst xmlns:a="http://schemas.openxmlformats.org/drawingml/2006/main">
              <a:ext uri="{FF2B5EF4-FFF2-40B4-BE49-F238E27FC236}">
                <a16:creationId xmlns:a16="http://schemas.microsoft.com/office/drawing/2014/main" id="{49A7BF81-3307-4200-A306-B74203E29A92}"/>
              </a:ext>
            </a:extLst>
          </p:cNvPr>
          <p:cNvSpPr txBox="1">
            <a:spLocks xmlns:a="http://schemas.openxmlformats.org/drawingml/2006/main" noGrp="1"/>
          </p:cNvSpPr>
          <p:nvPr/>
        </p:nvSpPr>
        <p:spPr>
          <a:xfrm xmlns:a="http://schemas.openxmlformats.org/drawingml/2006/main">
            <a:off x="8168945" y="3200400"/>
            <a:ext cx="3413760" cy="680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Experience stays scattered</a:t>
            </a:r>
          </a:p>
          <a:p xmlns:a="http://schemas.openxmlformats.org/drawingml/2006/main">
            <a:pPr>
              <a:lnSpc>
                <a:spcPts val="25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across tools and communities.</a:t>
            </a:r>
          </a:p>
        </p:txBody>
      </p:sp>
      <p:sp>
        <p:nvSpPr>
          <p:cNvPr id="13" name="closing">
            <a:extLst xmlns:a="http://schemas.openxmlformats.org/drawingml/2006/main">
              <a:ext uri="{FF2B5EF4-FFF2-40B4-BE49-F238E27FC236}">
                <a16:creationId xmlns:a16="http://schemas.microsoft.com/office/drawing/2014/main" id="{62C8B6F5-8CBA-45E7-A2D0-2D8D03A24A5E}"/>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Less time for the land. Fewer chances to learn together.</a:t>
            </a:r>
          </a:p>
        </p:txBody>
      </p:sp>
      <p:sp>
        <p:nvSpPr>
          <p:cNvPr id="14" name="footnote">
            <a:extLst xmlns:a="http://schemas.openxmlformats.org/drawingml/2006/main">
              <a:ext uri="{FF2B5EF4-FFF2-40B4-BE49-F238E27FC236}">
                <a16:creationId xmlns:a16="http://schemas.microsoft.com/office/drawing/2014/main" id="{CA8992BF-967B-4854-B213-06BDFBBC41AD}"/>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Problem hypothesis informed by FAO regional evidence; local frequency and severity need discovery.</a:t>
            </a:r>
          </a:p>
        </p:txBody>
      </p:sp>
    </p:spTree>
    <p:extLst>
      <p:ext uri="{BB962C8B-B14F-4D97-AF65-F5344CB8AC3E}">
        <p14:creationId xmlns:p14="http://schemas.microsoft.com/office/powerpoint/2010/main" val="1440655531"/>
      </p:ext>
    </p:extLst>
  </p:cSld>
</p:sld>
</file>

<file path=ppt/slides/slide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F024671-5A5A-4F58-8A76-869A3A58EE9E}"/>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Different circumstances.</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Knowledge worth sharing in every setting.</a:t>
            </a:r>
          </a:p>
        </p:txBody>
      </p:sp>
      <p:sp>
        <p:nvSpPr>
          <p:cNvPr id="3" name="lede">
            <a:extLst xmlns:a="http://schemas.openxmlformats.org/drawingml/2006/main">
              <a:ext uri="{FF2B5EF4-FFF2-40B4-BE49-F238E27FC236}">
                <a16:creationId xmlns:a16="http://schemas.microsoft.com/office/drawing/2014/main" id="{9500B022-4746-4A3C-9F76-14B0AEAA8E30}"/>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Four settings to investigate as peers. Every one of them can contribute and receive.</a:t>
            </a:r>
          </a:p>
        </p:txBody>
      </p:sp>
      <p:sp>
        <p:nvSpPr>
          <p:cNvPr id="4" name="rule-0">
            <a:extLst xmlns:a="http://schemas.openxmlformats.org/drawingml/2006/main">
              <a:ext uri="{FF2B5EF4-FFF2-40B4-BE49-F238E27FC236}">
                <a16:creationId xmlns:a16="http://schemas.microsoft.com/office/drawing/2014/main" id="{B6D3BB5C-70B5-4003-B588-C7384D3BBF25}"/>
              </a:ext>
            </a:extLst>
          </p:cNvPr>
          <p:cNvSpPr>
            <a:spLocks xmlns:a="http://schemas.openxmlformats.org/drawingml/2006/main" noGrp="1"/>
          </p:cNvSpPr>
          <p:nvPr/>
        </p:nvSpPr>
        <p:spPr>
          <a:xfrm xmlns:a="http://schemas.openxmlformats.org/drawingml/2006/main">
            <a:off x="609905" y="2423160"/>
            <a:ext cx="5303520" cy="0"/>
          </a:xfrm>
          <a:prstGeom xmlns:a="http://schemas.openxmlformats.org/drawingml/2006/main" prst="line">
            <a:avLst/>
          </a:prstGeom>
          <a:ln xmlns:a="http://schemas.openxmlformats.org/drawingml/2006/main" w="9525">
            <a:solidFill>
              <a:srgbClr val="D6D3D1"/>
            </a:solidFill>
          </a:ln>
        </p:spPr>
      </p:sp>
      <p:sp>
        <p:nvSpPr>
          <p:cNvPr id="5" name="head-0">
            <a:extLst xmlns:a="http://schemas.openxmlformats.org/drawingml/2006/main">
              <a:ext uri="{FF2B5EF4-FFF2-40B4-BE49-F238E27FC236}">
                <a16:creationId xmlns:a16="http://schemas.microsoft.com/office/drawing/2014/main" id="{6D1D346D-3BE0-419D-83F3-6EB95202604F}"/>
              </a:ext>
            </a:extLst>
          </p:cNvPr>
          <p:cNvSpPr txBox="1">
            <a:spLocks xmlns:a="http://schemas.openxmlformats.org/drawingml/2006/main" noGrp="1"/>
          </p:cNvSpPr>
          <p:nvPr/>
        </p:nvSpPr>
        <p:spPr>
          <a:xfrm xmlns:a="http://schemas.openxmlformats.org/drawingml/2006/main">
            <a:off x="609905" y="2560320"/>
            <a:ext cx="530352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mid-sized farmer transitioning</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toward regenerative practices</a:t>
            </a:r>
          </a:p>
        </p:txBody>
      </p:sp>
      <p:sp>
        <p:nvSpPr>
          <p:cNvPr id="6" name="body-0">
            <a:extLst xmlns:a="http://schemas.openxmlformats.org/drawingml/2006/main">
              <a:ext uri="{FF2B5EF4-FFF2-40B4-BE49-F238E27FC236}">
                <a16:creationId xmlns:a16="http://schemas.microsoft.com/office/drawing/2014/main" id="{325D8761-E60B-4B3C-BC5E-45629F834645}"/>
              </a:ext>
            </a:extLst>
          </p:cNvPr>
          <p:cNvSpPr txBox="1">
            <a:spLocks xmlns:a="http://schemas.openxmlformats.org/drawingml/2006/main" noGrp="1"/>
          </p:cNvSpPr>
          <p:nvPr/>
        </p:nvSpPr>
        <p:spPr>
          <a:xfrm xmlns:a="http://schemas.openxmlformats.org/drawingml/2006/main">
            <a:off x="609905" y="3410712"/>
            <a:ext cx="5303520" cy="60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Needs records that survive a change of practice.</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Offers scale, equipment and seasonal comparison.</a:t>
            </a:r>
          </a:p>
        </p:txBody>
      </p:sp>
      <p:sp>
        <p:nvSpPr>
          <p:cNvPr id="7" name="rule-1">
            <a:extLst xmlns:a="http://schemas.openxmlformats.org/drawingml/2006/main">
              <a:ext uri="{FF2B5EF4-FFF2-40B4-BE49-F238E27FC236}">
                <a16:creationId xmlns:a16="http://schemas.microsoft.com/office/drawing/2014/main" id="{AA7910F3-35A2-4A96-94CA-E8E5818E54BA}"/>
              </a:ext>
            </a:extLst>
          </p:cNvPr>
          <p:cNvSpPr>
            <a:spLocks xmlns:a="http://schemas.openxmlformats.org/drawingml/2006/main" noGrp="1"/>
          </p:cNvSpPr>
          <p:nvPr/>
        </p:nvSpPr>
        <p:spPr>
          <a:xfrm xmlns:a="http://schemas.openxmlformats.org/drawingml/2006/main">
            <a:off x="6279185" y="2423160"/>
            <a:ext cx="5303520" cy="0"/>
          </a:xfrm>
          <a:prstGeom xmlns:a="http://schemas.openxmlformats.org/drawingml/2006/main" prst="line">
            <a:avLst/>
          </a:prstGeom>
          <a:ln xmlns:a="http://schemas.openxmlformats.org/drawingml/2006/main" w="9525">
            <a:solidFill>
              <a:srgbClr val="D6D3D1"/>
            </a:solidFill>
          </a:ln>
        </p:spPr>
      </p:sp>
      <p:sp>
        <p:nvSpPr>
          <p:cNvPr id="8" name="head-1">
            <a:extLst xmlns:a="http://schemas.openxmlformats.org/drawingml/2006/main">
              <a:ext uri="{FF2B5EF4-FFF2-40B4-BE49-F238E27FC236}">
                <a16:creationId xmlns:a16="http://schemas.microsoft.com/office/drawing/2014/main" id="{FEAFDC38-9262-446A-B9DB-71CA7B0C222B}"/>
              </a:ext>
            </a:extLst>
          </p:cNvPr>
          <p:cNvSpPr txBox="1">
            <a:spLocks xmlns:a="http://schemas.openxmlformats.org/drawingml/2006/main" noGrp="1"/>
          </p:cNvSpPr>
          <p:nvPr/>
        </p:nvSpPr>
        <p:spPr>
          <a:xfrm xmlns:a="http://schemas.openxmlformats.org/drawingml/2006/main">
            <a:off x="6279185" y="2560320"/>
            <a:ext cx="530352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small regenerative farmer</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maintaining a viable livelihood</a:t>
            </a:r>
          </a:p>
        </p:txBody>
      </p:sp>
      <p:sp>
        <p:nvSpPr>
          <p:cNvPr id="9" name="body-1">
            <a:extLst xmlns:a="http://schemas.openxmlformats.org/drawingml/2006/main">
              <a:ext uri="{FF2B5EF4-FFF2-40B4-BE49-F238E27FC236}">
                <a16:creationId xmlns:a16="http://schemas.microsoft.com/office/drawing/2014/main" id="{947141F0-411E-47D0-AE03-6452B1304F1F}"/>
              </a:ext>
            </a:extLst>
          </p:cNvPr>
          <p:cNvSpPr txBox="1">
            <a:spLocks xmlns:a="http://schemas.openxmlformats.org/drawingml/2006/main" noGrp="1"/>
          </p:cNvSpPr>
          <p:nvPr/>
        </p:nvSpPr>
        <p:spPr>
          <a:xfrm xmlns:a="http://schemas.openxmlformats.org/drawingml/2006/main">
            <a:off x="6279185" y="3410712"/>
            <a:ext cx="5303520" cy="60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Needs low-cost tools that do not add work.</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Offers practical know-how and tested adaptations.</a:t>
            </a:r>
          </a:p>
        </p:txBody>
      </p:sp>
      <p:sp>
        <p:nvSpPr>
          <p:cNvPr id="10" name="rule-2">
            <a:extLst xmlns:a="http://schemas.openxmlformats.org/drawingml/2006/main">
              <a:ext uri="{FF2B5EF4-FFF2-40B4-BE49-F238E27FC236}">
                <a16:creationId xmlns:a16="http://schemas.microsoft.com/office/drawing/2014/main" id="{FF3D795F-6DB2-4A0C-AA28-3542C94BE734}"/>
              </a:ext>
            </a:extLst>
          </p:cNvPr>
          <p:cNvSpPr>
            <a:spLocks xmlns:a="http://schemas.openxmlformats.org/drawingml/2006/main" noGrp="1"/>
          </p:cNvSpPr>
          <p:nvPr/>
        </p:nvSpPr>
        <p:spPr>
          <a:xfrm xmlns:a="http://schemas.openxmlformats.org/drawingml/2006/main">
            <a:off x="609905" y="4343400"/>
            <a:ext cx="5303520" cy="0"/>
          </a:xfrm>
          <a:prstGeom xmlns:a="http://schemas.openxmlformats.org/drawingml/2006/main" prst="line">
            <a:avLst/>
          </a:prstGeom>
          <a:ln xmlns:a="http://schemas.openxmlformats.org/drawingml/2006/main" w="9525">
            <a:solidFill>
              <a:srgbClr val="D6D3D1"/>
            </a:solidFill>
          </a:ln>
        </p:spPr>
      </p:sp>
      <p:sp>
        <p:nvSpPr>
          <p:cNvPr id="11" name="head-2">
            <a:extLst xmlns:a="http://schemas.openxmlformats.org/drawingml/2006/main">
              <a:ext uri="{FF2B5EF4-FFF2-40B4-BE49-F238E27FC236}">
                <a16:creationId xmlns:a16="http://schemas.microsoft.com/office/drawing/2014/main" id="{3DB45C48-E9D8-4FD8-A07C-4705326BBF0A}"/>
              </a:ext>
            </a:extLst>
          </p:cNvPr>
          <p:cNvSpPr txBox="1">
            <a:spLocks xmlns:a="http://schemas.openxmlformats.org/drawingml/2006/main" noGrp="1"/>
          </p:cNvSpPr>
          <p:nvPr/>
        </p:nvSpPr>
        <p:spPr>
          <a:xfrm xmlns:a="http://schemas.openxmlformats.org/drawingml/2006/main">
            <a:off x="609905" y="4480560"/>
            <a:ext cx="530352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community managing land</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in the Global South</a:t>
            </a:r>
          </a:p>
        </p:txBody>
      </p:sp>
      <p:sp>
        <p:nvSpPr>
          <p:cNvPr id="12" name="body-2">
            <a:extLst xmlns:a="http://schemas.openxmlformats.org/drawingml/2006/main">
              <a:ext uri="{FF2B5EF4-FFF2-40B4-BE49-F238E27FC236}">
                <a16:creationId xmlns:a16="http://schemas.microsoft.com/office/drawing/2014/main" id="{A1D16170-CE1E-4F06-B131-4D77AEF667C9}"/>
              </a:ext>
            </a:extLst>
          </p:cNvPr>
          <p:cNvSpPr txBox="1">
            <a:spLocks xmlns:a="http://schemas.openxmlformats.org/drawingml/2006/main" noGrp="1"/>
          </p:cNvSpPr>
          <p:nvPr/>
        </p:nvSpPr>
        <p:spPr>
          <a:xfrm xmlns:a="http://schemas.openxmlformats.org/drawingml/2006/main">
            <a:off x="609905" y="5330952"/>
            <a:ext cx="5303520" cy="883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Needs tools that fit its authority, languages and</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connectivity.</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Offers local expertise, priorities and context.</a:t>
            </a:r>
          </a:p>
        </p:txBody>
      </p:sp>
      <p:sp>
        <p:nvSpPr>
          <p:cNvPr id="13" name="rule-3">
            <a:extLst xmlns:a="http://schemas.openxmlformats.org/drawingml/2006/main">
              <a:ext uri="{FF2B5EF4-FFF2-40B4-BE49-F238E27FC236}">
                <a16:creationId xmlns:a16="http://schemas.microsoft.com/office/drawing/2014/main" id="{14BB73B5-672F-4392-ABD2-77913C52EB93}"/>
              </a:ext>
            </a:extLst>
          </p:cNvPr>
          <p:cNvSpPr>
            <a:spLocks xmlns:a="http://schemas.openxmlformats.org/drawingml/2006/main" noGrp="1"/>
          </p:cNvSpPr>
          <p:nvPr/>
        </p:nvSpPr>
        <p:spPr>
          <a:xfrm xmlns:a="http://schemas.openxmlformats.org/drawingml/2006/main">
            <a:off x="6279185" y="4343400"/>
            <a:ext cx="5303520" cy="0"/>
          </a:xfrm>
          <a:prstGeom xmlns:a="http://schemas.openxmlformats.org/drawingml/2006/main" prst="line">
            <a:avLst/>
          </a:prstGeom>
          <a:ln xmlns:a="http://schemas.openxmlformats.org/drawingml/2006/main" w="9525">
            <a:solidFill>
              <a:srgbClr val="D6D3D1"/>
            </a:solidFill>
          </a:ln>
        </p:spPr>
      </p:sp>
      <p:sp>
        <p:nvSpPr>
          <p:cNvPr id="14" name="head-3">
            <a:extLst xmlns:a="http://schemas.openxmlformats.org/drawingml/2006/main">
              <a:ext uri="{FF2B5EF4-FFF2-40B4-BE49-F238E27FC236}">
                <a16:creationId xmlns:a16="http://schemas.microsoft.com/office/drawing/2014/main" id="{6CE8108A-4D10-4104-A1F5-E1E66C5736DC}"/>
              </a:ext>
            </a:extLst>
          </p:cNvPr>
          <p:cNvSpPr txBox="1">
            <a:spLocks xmlns:a="http://schemas.openxmlformats.org/drawingml/2006/main" noGrp="1"/>
          </p:cNvSpPr>
          <p:nvPr/>
        </p:nvSpPr>
        <p:spPr>
          <a:xfrm xmlns:a="http://schemas.openxmlformats.org/drawingml/2006/main">
            <a:off x="6279185" y="4480560"/>
            <a:ext cx="530352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well-resourced land steward</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investing in restoration</a:t>
            </a:r>
          </a:p>
        </p:txBody>
      </p:sp>
      <p:sp>
        <p:nvSpPr>
          <p:cNvPr id="15" name="body-3">
            <a:extLst xmlns:a="http://schemas.openxmlformats.org/drawingml/2006/main">
              <a:ext uri="{FF2B5EF4-FFF2-40B4-BE49-F238E27FC236}">
                <a16:creationId xmlns:a16="http://schemas.microsoft.com/office/drawing/2014/main" id="{779A24AB-1467-4FA7-9585-47B8598F6991}"/>
              </a:ext>
            </a:extLst>
          </p:cNvPr>
          <p:cNvSpPr txBox="1">
            <a:spLocks xmlns:a="http://schemas.openxmlformats.org/drawingml/2006/main" noGrp="1"/>
          </p:cNvSpPr>
          <p:nvPr/>
        </p:nvSpPr>
        <p:spPr>
          <a:xfrm xmlns:a="http://schemas.openxmlformats.org/drawingml/2006/main">
            <a:off x="6279185" y="5330952"/>
            <a:ext cx="5303520" cy="883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Needs continuity between professionals and daily</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observation.</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Offers capacity, infrastructure and paid learning.</a:t>
            </a:r>
          </a:p>
        </p:txBody>
      </p:sp>
      <p:sp>
        <p:nvSpPr>
          <p:cNvPr id="16" name="footnote">
            <a:extLst xmlns:a="http://schemas.openxmlformats.org/drawingml/2006/main">
              <a:ext uri="{FF2B5EF4-FFF2-40B4-BE49-F238E27FC236}">
                <a16:creationId xmlns:a16="http://schemas.microsoft.com/office/drawing/2014/main" id="{5062A97A-B1F0-41C9-9B68-7549511BA3AD}"/>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Illustrative settings, not customers or testimonials. Constraints exist everywhere; wealth does not set the direction of knowledge transfer.</a:t>
            </a:r>
          </a:p>
        </p:txBody>
      </p:sp>
    </p:spTree>
    <p:extLst>
      <p:ext uri="{BB962C8B-B14F-4D97-AF65-F5344CB8AC3E}">
        <p14:creationId xmlns:p14="http://schemas.microsoft.com/office/powerpoint/2010/main" val="1440655531"/>
      </p:ext>
    </p:extLst>
  </p:cSld>
</p:sld>
</file>

<file path=ppt/slides/slide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0AF34715-4BCF-4560-BDFE-BEDD88AB5E74}"/>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A lesson learned in one place</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can help another.</a:t>
            </a:r>
          </a:p>
        </p:txBody>
      </p:sp>
      <p:sp>
        <p:nvSpPr>
          <p:cNvPr id="3" name="lede">
            <a:extLst xmlns:a="http://schemas.openxmlformats.org/drawingml/2006/main">
              <a:ext uri="{FF2B5EF4-FFF2-40B4-BE49-F238E27FC236}">
                <a16:creationId xmlns:a16="http://schemas.microsoft.com/office/drawing/2014/main" id="{6F38FA18-0B33-4987-B201-CB035FE70479}"/>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Exchange keeps the context, the attribution, the consent and the differences.</a:t>
            </a:r>
          </a:p>
        </p:txBody>
      </p:sp>
      <p:sp>
        <p:nvSpPr>
          <p:cNvPr id="4" name="card-0">
            <a:extLst xmlns:a="http://schemas.openxmlformats.org/drawingml/2006/main">
              <a:ext uri="{FF2B5EF4-FFF2-40B4-BE49-F238E27FC236}">
                <a16:creationId xmlns:a16="http://schemas.microsoft.com/office/drawing/2014/main" id="{32063809-F21E-4AEA-A83D-91EEE56D14AF}"/>
              </a:ext>
            </a:extLst>
          </p:cNvPr>
          <p:cNvSpPr>
            <a:spLocks xmlns:a="http://schemas.openxmlformats.org/drawingml/2006/main" noGrp="1"/>
          </p:cNvSpPr>
          <p:nvPr/>
        </p:nvSpPr>
        <p:spPr>
          <a:xfrm xmlns:a="http://schemas.openxmlformats.org/drawingml/2006/main">
            <a:off x="609905" y="2514600"/>
            <a:ext cx="3291840" cy="21488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5" name="label-0">
            <a:extLst xmlns:a="http://schemas.openxmlformats.org/drawingml/2006/main">
              <a:ext uri="{FF2B5EF4-FFF2-40B4-BE49-F238E27FC236}">
                <a16:creationId xmlns:a16="http://schemas.microsoft.com/office/drawing/2014/main" id="{C2585416-A5A1-4C3E-97F0-9C149B1E8EFA}"/>
              </a:ext>
            </a:extLst>
          </p:cNvPr>
          <p:cNvSpPr txBox="1">
            <a:spLocks xmlns:a="http://schemas.openxmlformats.org/drawingml/2006/main" noGrp="1"/>
          </p:cNvSpPr>
          <p:nvPr/>
        </p:nvSpPr>
        <p:spPr>
          <a:xfrm xmlns:a="http://schemas.openxmlformats.org/drawingml/2006/main">
            <a:off x="884225" y="2788920"/>
            <a:ext cx="274320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PLACE A</a:t>
            </a:r>
          </a:p>
        </p:txBody>
      </p:sp>
      <p:sp>
        <p:nvSpPr>
          <p:cNvPr id="6" name="head-0">
            <a:extLst xmlns:a="http://schemas.openxmlformats.org/drawingml/2006/main">
              <a:ext uri="{FF2B5EF4-FFF2-40B4-BE49-F238E27FC236}">
                <a16:creationId xmlns:a16="http://schemas.microsoft.com/office/drawing/2014/main" id="{A86CD7F4-B505-42EC-A8BF-7B0DF470B826}"/>
              </a:ext>
            </a:extLst>
          </p:cNvPr>
          <p:cNvSpPr txBox="1">
            <a:spLocks xmlns:a="http://schemas.openxmlformats.org/drawingml/2006/main" noGrp="1"/>
          </p:cNvSpPr>
          <p:nvPr/>
        </p:nvSpPr>
        <p:spPr>
          <a:xfrm xmlns:a="http://schemas.openxmlformats.org/drawingml/2006/main">
            <a:off x="884225" y="3063240"/>
            <a:ext cx="274320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lesson, recorded</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in its context</a:t>
            </a:r>
          </a:p>
        </p:txBody>
      </p:sp>
      <p:sp>
        <p:nvSpPr>
          <p:cNvPr id="7" name="body-0">
            <a:extLst xmlns:a="http://schemas.openxmlformats.org/drawingml/2006/main">
              <a:ext uri="{FF2B5EF4-FFF2-40B4-BE49-F238E27FC236}">
                <a16:creationId xmlns:a16="http://schemas.microsoft.com/office/drawing/2014/main" id="{BB3C77CA-58B7-477D-91AE-C1093C608622}"/>
              </a:ext>
            </a:extLst>
          </p:cNvPr>
          <p:cNvSpPr txBox="1">
            <a:spLocks xmlns:a="http://schemas.openxmlformats.org/drawingml/2006/main" noGrp="1"/>
          </p:cNvSpPr>
          <p:nvPr/>
        </p:nvSpPr>
        <p:spPr>
          <a:xfrm xmlns:a="http://schemas.openxmlformats.org/drawingml/2006/main">
            <a:off x="884225" y="3840480"/>
            <a:ext cx="2743200" cy="60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Where, when, what was</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tried and what changed.</a:t>
            </a:r>
          </a:p>
        </p:txBody>
      </p:sp>
      <p:sp>
        <p:nvSpPr>
          <p:cNvPr id="8" name="arrow-0">
            <a:extLst xmlns:a="http://schemas.openxmlformats.org/drawingml/2006/main">
              <a:ext uri="{FF2B5EF4-FFF2-40B4-BE49-F238E27FC236}">
                <a16:creationId xmlns:a16="http://schemas.microsoft.com/office/drawing/2014/main" id="{793133CB-29C2-40B9-A194-257DDB6245C2}"/>
              </a:ext>
            </a:extLst>
          </p:cNvPr>
          <p:cNvSpPr>
            <a:spLocks xmlns:a="http://schemas.openxmlformats.org/drawingml/2006/main" noGrp="1"/>
          </p:cNvSpPr>
          <p:nvPr/>
        </p:nvSpPr>
        <p:spPr>
          <a:xfrm xmlns:a="http://schemas.openxmlformats.org/drawingml/2006/main">
            <a:off x="3993185" y="3584448"/>
            <a:ext cx="365760" cy="0"/>
          </a:xfrm>
          <a:prstGeom xmlns:a="http://schemas.openxmlformats.org/drawingml/2006/main" prst="line">
            <a:avLst/>
          </a:prstGeom>
          <a:ln xmlns:a="http://schemas.openxmlformats.org/drawingml/2006/main" w="12700">
            <a:solidFill>
              <a:srgbClr val="78716C"/>
            </a:solidFill>
            <a:tailEnd type="triangle" w="med" len="med"/>
          </a:ln>
        </p:spPr>
      </p:sp>
      <p:sp>
        <p:nvSpPr>
          <p:cNvPr id="9" name="card-1">
            <a:extLst xmlns:a="http://schemas.openxmlformats.org/drawingml/2006/main">
              <a:ext uri="{FF2B5EF4-FFF2-40B4-BE49-F238E27FC236}">
                <a16:creationId xmlns:a16="http://schemas.microsoft.com/office/drawing/2014/main" id="{B79CF1AF-4D8D-40B0-8BA6-A2EAB9B7F88D}"/>
              </a:ext>
            </a:extLst>
          </p:cNvPr>
          <p:cNvSpPr>
            <a:spLocks xmlns:a="http://schemas.openxmlformats.org/drawingml/2006/main" noGrp="1"/>
          </p:cNvSpPr>
          <p:nvPr/>
        </p:nvSpPr>
        <p:spPr>
          <a:xfrm xmlns:a="http://schemas.openxmlformats.org/drawingml/2006/main">
            <a:off x="4450385" y="2514600"/>
            <a:ext cx="3291840" cy="21488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0" name="label-1">
            <a:extLst xmlns:a="http://schemas.openxmlformats.org/drawingml/2006/main">
              <a:ext uri="{FF2B5EF4-FFF2-40B4-BE49-F238E27FC236}">
                <a16:creationId xmlns:a16="http://schemas.microsoft.com/office/drawing/2014/main" id="{25FCEEE5-5A81-461E-AC5C-CAC09B877EF9}"/>
              </a:ext>
            </a:extLst>
          </p:cNvPr>
          <p:cNvSpPr txBox="1">
            <a:spLocks xmlns:a="http://schemas.openxmlformats.org/drawingml/2006/main" noGrp="1"/>
          </p:cNvSpPr>
          <p:nvPr/>
        </p:nvSpPr>
        <p:spPr>
          <a:xfrm xmlns:a="http://schemas.openxmlformats.org/drawingml/2006/main">
            <a:off x="4724705" y="2788920"/>
            <a:ext cx="274320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PLACE B</a:t>
            </a:r>
          </a:p>
        </p:txBody>
      </p:sp>
      <p:sp>
        <p:nvSpPr>
          <p:cNvPr id="11" name="head-1">
            <a:extLst xmlns:a="http://schemas.openxmlformats.org/drawingml/2006/main">
              <a:ext uri="{FF2B5EF4-FFF2-40B4-BE49-F238E27FC236}">
                <a16:creationId xmlns:a16="http://schemas.microsoft.com/office/drawing/2014/main" id="{95506556-E304-4280-AA03-1948C7D4DF35}"/>
              </a:ext>
            </a:extLst>
          </p:cNvPr>
          <p:cNvSpPr txBox="1">
            <a:spLocks xmlns:a="http://schemas.openxmlformats.org/drawingml/2006/main" noGrp="1"/>
          </p:cNvSpPr>
          <p:nvPr/>
        </p:nvSpPr>
        <p:spPr>
          <a:xfrm xmlns:a="http://schemas.openxmlformats.org/drawingml/2006/main">
            <a:off x="4724705" y="3063240"/>
            <a:ext cx="274320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 relevant question</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somewhere else</a:t>
            </a:r>
          </a:p>
        </p:txBody>
      </p:sp>
      <p:sp>
        <p:nvSpPr>
          <p:cNvPr id="12" name="body-1">
            <a:extLst xmlns:a="http://schemas.openxmlformats.org/drawingml/2006/main">
              <a:ext uri="{FF2B5EF4-FFF2-40B4-BE49-F238E27FC236}">
                <a16:creationId xmlns:a16="http://schemas.microsoft.com/office/drawing/2014/main" id="{E25FAFAC-3937-4150-BAC9-3793322EDB30}"/>
              </a:ext>
            </a:extLst>
          </p:cNvPr>
          <p:cNvSpPr txBox="1">
            <a:spLocks xmlns:a="http://schemas.openxmlformats.org/drawingml/2006/main" noGrp="1"/>
          </p:cNvSpPr>
          <p:nvPr/>
        </p:nvSpPr>
        <p:spPr>
          <a:xfrm xmlns:a="http://schemas.openxmlformats.org/drawingml/2006/main">
            <a:off x="4724705" y="3840480"/>
            <a:ext cx="2743200" cy="60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Shared only by choice,</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with its source named.</a:t>
            </a:r>
          </a:p>
        </p:txBody>
      </p:sp>
      <p:sp>
        <p:nvSpPr>
          <p:cNvPr id="13" name="arrow-1">
            <a:extLst xmlns:a="http://schemas.openxmlformats.org/drawingml/2006/main">
              <a:ext uri="{FF2B5EF4-FFF2-40B4-BE49-F238E27FC236}">
                <a16:creationId xmlns:a16="http://schemas.microsoft.com/office/drawing/2014/main" id="{93D11E7D-87F1-4BE6-86BF-71558633D766}"/>
              </a:ext>
            </a:extLst>
          </p:cNvPr>
          <p:cNvSpPr>
            <a:spLocks xmlns:a="http://schemas.openxmlformats.org/drawingml/2006/main" noGrp="1"/>
          </p:cNvSpPr>
          <p:nvPr/>
        </p:nvSpPr>
        <p:spPr>
          <a:xfrm xmlns:a="http://schemas.openxmlformats.org/drawingml/2006/main">
            <a:off x="7833665" y="3584448"/>
            <a:ext cx="365760" cy="0"/>
          </a:xfrm>
          <a:prstGeom xmlns:a="http://schemas.openxmlformats.org/drawingml/2006/main" prst="line">
            <a:avLst/>
          </a:prstGeom>
          <a:ln xmlns:a="http://schemas.openxmlformats.org/drawingml/2006/main" w="12700">
            <a:solidFill>
              <a:srgbClr val="78716C"/>
            </a:solidFill>
            <a:tailEnd type="triangle" w="med" len="med"/>
          </a:ln>
        </p:spPr>
      </p:sp>
      <p:sp>
        <p:nvSpPr>
          <p:cNvPr id="14" name="card-2">
            <a:extLst xmlns:a="http://schemas.openxmlformats.org/drawingml/2006/main">
              <a:ext uri="{FF2B5EF4-FFF2-40B4-BE49-F238E27FC236}">
                <a16:creationId xmlns:a16="http://schemas.microsoft.com/office/drawing/2014/main" id="{3E249EB1-6FEA-4EA5-A37E-589A2D76F99B}"/>
              </a:ext>
            </a:extLst>
          </p:cNvPr>
          <p:cNvSpPr>
            <a:spLocks xmlns:a="http://schemas.openxmlformats.org/drawingml/2006/main" noGrp="1"/>
          </p:cNvSpPr>
          <p:nvPr/>
        </p:nvSpPr>
        <p:spPr>
          <a:xfrm xmlns:a="http://schemas.openxmlformats.org/drawingml/2006/main">
            <a:off x="8290865" y="2514600"/>
            <a:ext cx="3291840" cy="21488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5" name="label-2">
            <a:extLst xmlns:a="http://schemas.openxmlformats.org/drawingml/2006/main">
              <a:ext uri="{FF2B5EF4-FFF2-40B4-BE49-F238E27FC236}">
                <a16:creationId xmlns:a16="http://schemas.microsoft.com/office/drawing/2014/main" id="{CE1354BF-8CFD-4B4E-8E35-B814CB696715}"/>
              </a:ext>
            </a:extLst>
          </p:cNvPr>
          <p:cNvSpPr txBox="1">
            <a:spLocks xmlns:a="http://schemas.openxmlformats.org/drawingml/2006/main" noGrp="1"/>
          </p:cNvSpPr>
          <p:nvPr/>
        </p:nvSpPr>
        <p:spPr>
          <a:xfrm xmlns:a="http://schemas.openxmlformats.org/drawingml/2006/main">
            <a:off x="8565185" y="2788920"/>
            <a:ext cx="274320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BACK TO PLACE A</a:t>
            </a:r>
          </a:p>
        </p:txBody>
      </p:sp>
      <p:sp>
        <p:nvSpPr>
          <p:cNvPr id="16" name="head-2">
            <a:extLst xmlns:a="http://schemas.openxmlformats.org/drawingml/2006/main">
              <a:ext uri="{FF2B5EF4-FFF2-40B4-BE49-F238E27FC236}">
                <a16:creationId xmlns:a16="http://schemas.microsoft.com/office/drawing/2014/main" id="{2F4377AC-F808-49CA-9980-9A00D8B35AEA}"/>
              </a:ext>
            </a:extLst>
          </p:cNvPr>
          <p:cNvSpPr txBox="1">
            <a:spLocks xmlns:a="http://schemas.openxmlformats.org/drawingml/2006/main" noGrp="1"/>
          </p:cNvSpPr>
          <p:nvPr/>
        </p:nvSpPr>
        <p:spPr>
          <a:xfrm xmlns:a="http://schemas.openxmlformats.org/drawingml/2006/main">
            <a:off x="8565185" y="3063240"/>
            <a:ext cx="274320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Feedback returns</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to its contributor</a:t>
            </a:r>
          </a:p>
        </p:txBody>
      </p:sp>
      <p:sp>
        <p:nvSpPr>
          <p:cNvPr id="17" name="body-2">
            <a:extLst xmlns:a="http://schemas.openxmlformats.org/drawingml/2006/main">
              <a:ext uri="{FF2B5EF4-FFF2-40B4-BE49-F238E27FC236}">
                <a16:creationId xmlns:a16="http://schemas.microsoft.com/office/drawing/2014/main" id="{6139EB18-CFB8-4591-A8EB-6E0970053DC4}"/>
              </a:ext>
            </a:extLst>
          </p:cNvPr>
          <p:cNvSpPr txBox="1">
            <a:spLocks xmlns:a="http://schemas.openxmlformats.org/drawingml/2006/main" noGrp="1"/>
          </p:cNvSpPr>
          <p:nvPr/>
        </p:nvSpPr>
        <p:spPr>
          <a:xfrm xmlns:a="http://schemas.openxmlformats.org/drawingml/2006/main">
            <a:off x="8565185" y="3840480"/>
            <a:ext cx="2743200" cy="60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Inter"/>
                <a:ea typeface="Inter"/>
                <a:cs typeface="Inter"/>
              </a:defRPr>
            </a:defPPr>
          </a:lstStyle>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What transferred, what did</a:t>
            </a:r>
          </a:p>
          <a:p xmlns:a="http://schemas.openxmlformats.org/drawingml/2006/main">
            <a:pPr>
              <a:lnSpc>
                <a:spcPts val="2200"/>
              </a:lnSpc>
              <a:defRPr sz="1600" b="0" i="0" kern="1200">
                <a:solidFill>
                  <a:srgbClr val="292524"/>
                </a:solidFill>
                <a:latin typeface="Inter"/>
                <a:ea typeface="Inter"/>
                <a:cs typeface="Inter"/>
              </a:defRPr>
            </a:pPr>
            <a:r>
              <a:rPr sz="1600" b="0" i="0" kern="1200">
                <a:solidFill>
                  <a:srgbClr val="292524"/>
                </a:solidFill>
                <a:latin typeface="Inter"/>
                <a:ea typeface="Inter"/>
                <a:cs typeface="Inter"/>
              </a:rPr>
              <a:t>not, and why.</a:t>
            </a:r>
          </a:p>
        </p:txBody>
      </p:sp>
      <p:sp>
        <p:nvSpPr>
          <p:cNvPr id="18" name="closing">
            <a:extLst xmlns:a="http://schemas.openxmlformats.org/drawingml/2006/main">
              <a:ext uri="{FF2B5EF4-FFF2-40B4-BE49-F238E27FC236}">
                <a16:creationId xmlns:a16="http://schemas.microsoft.com/office/drawing/2014/main" id="{E2DC5BA6-2983-4B75-944F-6F5C4DD19C51}"/>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Differences are part of the lesson.</a:t>
            </a:r>
          </a:p>
        </p:txBody>
      </p:sp>
      <p:sp>
        <p:nvSpPr>
          <p:cNvPr id="19" name="footnote">
            <a:extLst xmlns:a="http://schemas.openxmlformats.org/drawingml/2006/main">
              <a:ext uri="{FF2B5EF4-FFF2-40B4-BE49-F238E27FC236}">
                <a16:creationId xmlns:a16="http://schemas.microsoft.com/office/drawing/2014/main" id="{51BDD1EE-E730-4095-A532-BB4D891C9D24}"/>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Reciprocal value remains a hypothesis to test; curation, translation and facilitation have costs.</a:t>
            </a:r>
          </a:p>
        </p:txBody>
      </p:sp>
    </p:spTree>
    <p:extLst>
      <p:ext uri="{BB962C8B-B14F-4D97-AF65-F5344CB8AC3E}">
        <p14:creationId xmlns:p14="http://schemas.microsoft.com/office/powerpoint/2010/main" val="1440655531"/>
      </p:ext>
    </p:extLst>
  </p:cSld>
</p:sld>
</file>

<file path=ppt/slides/slide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35A2638-764B-4103-89B5-FA2B6684698C}"/>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A browser workspace</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for land stewardship</a:t>
            </a:r>
          </a:p>
        </p:txBody>
      </p:sp>
      <p:sp>
        <p:nvSpPr>
          <p:cNvPr id="3" name="lede">
            <a:extLst xmlns:a="http://schemas.openxmlformats.org/drawingml/2006/main">
              <a:ext uri="{FF2B5EF4-FFF2-40B4-BE49-F238E27FC236}">
                <a16:creationId xmlns:a16="http://schemas.microsoft.com/office/drawing/2014/main" id="{06143804-51B1-4663-BBA5-C4C859167767}"/>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Record work, learn from peers and organize support.</a:t>
            </a:r>
          </a:p>
        </p:txBody>
      </p:sp>
      <p:sp>
        <p:nvSpPr>
          <p:cNvPr id="4" name="label-1">
            <a:extLst xmlns:a="http://schemas.openxmlformats.org/drawingml/2006/main">
              <a:ext uri="{FF2B5EF4-FFF2-40B4-BE49-F238E27FC236}">
                <a16:creationId xmlns:a16="http://schemas.microsoft.com/office/drawing/2014/main" id="{73ACA308-2BCE-4C12-AADB-C53DDC970352}"/>
              </a:ext>
            </a:extLst>
          </p:cNvPr>
          <p:cNvSpPr txBox="1">
            <a:spLocks xmlns:a="http://schemas.openxmlformats.org/drawingml/2006/main" noGrp="1"/>
          </p:cNvSpPr>
          <p:nvPr/>
        </p:nvSpPr>
        <p:spPr>
          <a:xfrm xmlns:a="http://schemas.openxmlformats.org/drawingml/2006/main">
            <a:off x="609905" y="2514600"/>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a:t>
            </a:r>
          </a:p>
        </p:txBody>
      </p:sp>
      <p:sp>
        <p:nvSpPr>
          <p:cNvPr id="5" name="head-1">
            <a:extLst xmlns:a="http://schemas.openxmlformats.org/drawingml/2006/main">
              <a:ext uri="{FF2B5EF4-FFF2-40B4-BE49-F238E27FC236}">
                <a16:creationId xmlns:a16="http://schemas.microsoft.com/office/drawing/2014/main" id="{166711D4-AB2A-4085-8315-02D0735DD95E}"/>
              </a:ext>
            </a:extLst>
          </p:cNvPr>
          <p:cNvSpPr txBox="1">
            <a:spLocks xmlns:a="http://schemas.openxmlformats.org/drawingml/2006/main" noGrp="1"/>
          </p:cNvSpPr>
          <p:nvPr/>
        </p:nvSpPr>
        <p:spPr>
          <a:xfrm xmlns:a="http://schemas.openxmlformats.org/drawingml/2006/main">
            <a:off x="609905" y="2734056"/>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Keep a useful record</a:t>
            </a:r>
          </a:p>
        </p:txBody>
      </p:sp>
      <p:sp>
        <p:nvSpPr>
          <p:cNvPr id="6" name="body-1">
            <a:extLst xmlns:a="http://schemas.openxmlformats.org/drawingml/2006/main">
              <a:ext uri="{FF2B5EF4-FFF2-40B4-BE49-F238E27FC236}">
                <a16:creationId xmlns:a16="http://schemas.microsoft.com/office/drawing/2014/main" id="{0DF52F4E-16AB-4572-8ECB-AF15FD0B5203}"/>
              </a:ext>
            </a:extLst>
          </p:cNvPr>
          <p:cNvSpPr txBox="1">
            <a:spLocks xmlns:a="http://schemas.openxmlformats.org/drawingml/2006/main" noGrp="1"/>
          </p:cNvSpPr>
          <p:nvPr/>
        </p:nvSpPr>
        <p:spPr>
          <a:xfrm xmlns:a="http://schemas.openxmlformats.org/drawingml/2006/main">
            <a:off x="609905" y="3154680"/>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Bring notes, photos and reviews together.</a:t>
            </a:r>
          </a:p>
        </p:txBody>
      </p:sp>
      <p:sp>
        <p:nvSpPr>
          <p:cNvPr id="7" name="label-2">
            <a:extLst xmlns:a="http://schemas.openxmlformats.org/drawingml/2006/main">
              <a:ext uri="{FF2B5EF4-FFF2-40B4-BE49-F238E27FC236}">
                <a16:creationId xmlns:a16="http://schemas.microsoft.com/office/drawing/2014/main" id="{8109BB23-B12E-488D-B764-E2C771DE3188}"/>
              </a:ext>
            </a:extLst>
          </p:cNvPr>
          <p:cNvSpPr txBox="1">
            <a:spLocks xmlns:a="http://schemas.openxmlformats.org/drawingml/2006/main" noGrp="1"/>
          </p:cNvSpPr>
          <p:nvPr/>
        </p:nvSpPr>
        <p:spPr>
          <a:xfrm xmlns:a="http://schemas.openxmlformats.org/drawingml/2006/main">
            <a:off x="609905" y="3584448"/>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a:t>
            </a:r>
          </a:p>
        </p:txBody>
      </p:sp>
      <p:sp>
        <p:nvSpPr>
          <p:cNvPr id="8" name="head-2">
            <a:extLst xmlns:a="http://schemas.openxmlformats.org/drawingml/2006/main">
              <a:ext uri="{FF2B5EF4-FFF2-40B4-BE49-F238E27FC236}">
                <a16:creationId xmlns:a16="http://schemas.microsoft.com/office/drawing/2014/main" id="{DEF1BC67-29F8-4ED2-8D73-BE48004E7B51}"/>
              </a:ext>
            </a:extLst>
          </p:cNvPr>
          <p:cNvSpPr txBox="1">
            <a:spLocks xmlns:a="http://schemas.openxmlformats.org/drawingml/2006/main" noGrp="1"/>
          </p:cNvSpPr>
          <p:nvPr/>
        </p:nvSpPr>
        <p:spPr>
          <a:xfrm xmlns:a="http://schemas.openxmlformats.org/drawingml/2006/main">
            <a:off x="609905" y="3803904"/>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Learn with other land stewards</a:t>
            </a:r>
          </a:p>
        </p:txBody>
      </p:sp>
      <p:sp>
        <p:nvSpPr>
          <p:cNvPr id="9" name="body-2">
            <a:extLst xmlns:a="http://schemas.openxmlformats.org/drawingml/2006/main">
              <a:ext uri="{FF2B5EF4-FFF2-40B4-BE49-F238E27FC236}">
                <a16:creationId xmlns:a16="http://schemas.microsoft.com/office/drawing/2014/main" id="{A326FBC6-E159-4F16-B974-4029E87C08C0}"/>
              </a:ext>
            </a:extLst>
          </p:cNvPr>
          <p:cNvSpPr txBox="1">
            <a:spLocks xmlns:a="http://schemas.openxmlformats.org/drawingml/2006/main" noGrp="1"/>
          </p:cNvSpPr>
          <p:nvPr/>
        </p:nvSpPr>
        <p:spPr>
          <a:xfrm xmlns:a="http://schemas.openxmlformats.org/drawingml/2006/main">
            <a:off x="609905" y="4224528"/>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Share chosen lessons and ask for advice.</a:t>
            </a:r>
          </a:p>
        </p:txBody>
      </p:sp>
      <p:sp>
        <p:nvSpPr>
          <p:cNvPr id="10" name="label-3">
            <a:extLst xmlns:a="http://schemas.openxmlformats.org/drawingml/2006/main">
              <a:ext uri="{FF2B5EF4-FFF2-40B4-BE49-F238E27FC236}">
                <a16:creationId xmlns:a16="http://schemas.microsoft.com/office/drawing/2014/main" id="{CFE4AFAA-370D-4346-988D-F0417BC081CC}"/>
              </a:ext>
            </a:extLst>
          </p:cNvPr>
          <p:cNvSpPr txBox="1">
            <a:spLocks xmlns:a="http://schemas.openxmlformats.org/drawingml/2006/main" noGrp="1"/>
          </p:cNvSpPr>
          <p:nvPr/>
        </p:nvSpPr>
        <p:spPr>
          <a:xfrm xmlns:a="http://schemas.openxmlformats.org/drawingml/2006/main">
            <a:off x="609905" y="4654296"/>
            <a:ext cx="544068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 POOLING IN PROGRESS</a:t>
            </a:r>
          </a:p>
        </p:txBody>
      </p:sp>
      <p:sp>
        <p:nvSpPr>
          <p:cNvPr id="11" name="head-3">
            <a:extLst xmlns:a="http://schemas.openxmlformats.org/drawingml/2006/main">
              <a:ext uri="{FF2B5EF4-FFF2-40B4-BE49-F238E27FC236}">
                <a16:creationId xmlns:a16="http://schemas.microsoft.com/office/drawing/2014/main" id="{F1DA2CA7-2F39-4B8A-8CA9-D04BE878D0CF}"/>
              </a:ext>
            </a:extLst>
          </p:cNvPr>
          <p:cNvSpPr txBox="1">
            <a:spLocks xmlns:a="http://schemas.openxmlformats.org/drawingml/2006/main" noGrp="1"/>
          </p:cNvSpPr>
          <p:nvPr/>
        </p:nvSpPr>
        <p:spPr>
          <a:xfrm xmlns:a="http://schemas.openxmlformats.org/drawingml/2006/main">
            <a:off x="609905" y="4873752"/>
            <a:ext cx="5438851" cy="38404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Organize work and funding</a:t>
            </a:r>
          </a:p>
        </p:txBody>
      </p:sp>
      <p:sp>
        <p:nvSpPr>
          <p:cNvPr id="12" name="body-3">
            <a:extLst xmlns:a="http://schemas.openxmlformats.org/drawingml/2006/main">
              <a:ext uri="{FF2B5EF4-FFF2-40B4-BE49-F238E27FC236}">
                <a16:creationId xmlns:a16="http://schemas.microsoft.com/office/drawing/2014/main" id="{EEFE7E23-6017-4BF7-94E7-58FF3B352651}"/>
              </a:ext>
            </a:extLst>
          </p:cNvPr>
          <p:cNvSpPr txBox="1">
            <a:spLocks xmlns:a="http://schemas.openxmlformats.org/drawingml/2006/main" noGrp="1"/>
          </p:cNvSpPr>
          <p:nvPr/>
        </p:nvSpPr>
        <p:spPr>
          <a:xfrm xmlns:a="http://schemas.openxmlformats.org/drawingml/2006/main">
            <a:off x="609905" y="5294376"/>
            <a:ext cx="5333695" cy="2926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Inter"/>
                <a:ea typeface="Inter"/>
                <a:cs typeface="Inter"/>
              </a:defRPr>
            </a:defPPr>
          </a:lstStyle>
          <a:p xmlns:a="http://schemas.openxmlformats.org/drawingml/2006/main">
            <a:pPr>
              <a:lnSpc>
                <a:spcPts val="2400"/>
              </a:lnSpc>
              <a:defRPr sz="1800" b="0" i="0" kern="1200">
                <a:solidFill>
                  <a:srgbClr val="292524"/>
                </a:solidFill>
                <a:latin typeface="Inter"/>
                <a:ea typeface="Inter"/>
                <a:cs typeface="Inter"/>
              </a:defRPr>
            </a:pPr>
            <a:r>
              <a:rPr sz="1800" b="0" i="0" kern="1200">
                <a:solidFill>
                  <a:srgbClr val="292524"/>
                </a:solidFill>
                <a:latin typeface="Inter"/>
                <a:ea typeface="Inter"/>
                <a:cs typeface="Inter"/>
              </a:rPr>
              <a:t>Coordinate tasks, contributions and support.</a:t>
            </a:r>
          </a:p>
        </p:txBody>
      </p:sp>
      <p:pic>
        <p:nvPicPr>
          <p:cNvPr id="13" name="scene">
            <a:extLst xmlns:a="http://schemas.openxmlformats.org/drawingml/2006/main">
              <a:ext uri="{FF2B5EF4-FFF2-40B4-BE49-F238E27FC236}">
                <a16:creationId xmlns:a16="http://schemas.microsoft.com/office/drawing/2014/main" id="{564EB305-22AD-45DF-B4BF-A2822D72B4E1}"/>
              </a:ext>
            </a:extLst>
          </p:cNvPr>
          <p:cNvPicPr>
            <a:picLocks xmlns:a="http://schemas.openxmlformats.org/drawingml/2006/main" noChangeAspect="1"/>
          </p:cNvPicPr>
          <p:nvPr/>
        </p:nvPicPr>
        <p:blipFill>
          <a:blip xmlns:a="http://schemas.openxmlformats.org/drawingml/2006/main" xmlns:r="http://schemas.openxmlformats.org/officeDocument/2006/relationships" r:embed="rIdImg1"/>
          <a:stretch xmlns:a="http://schemas.openxmlformats.org/drawingml/2006/main">
            <a:fillRect/>
          </a:stretch>
        </p:blipFill>
        <p:spPr>
          <a:xfrm xmlns:a="http://schemas.openxmlformats.org/drawingml/2006/main">
            <a:off x="6467551" y="2514600"/>
            <a:ext cx="5115154" cy="3219602"/>
          </a:xfrm>
          <a:prstGeom xmlns:a="http://schemas.openxmlformats.org/drawingml/2006/main" prst="rect">
            <a:avLst/>
          </a:prstGeom>
        </p:spPr>
      </p:pic>
      <p:sp>
        <p:nvSpPr>
          <p:cNvPr id="14" name="caption">
            <a:extLst xmlns:a="http://schemas.openxmlformats.org/drawingml/2006/main">
              <a:ext uri="{FF2B5EF4-FFF2-40B4-BE49-F238E27FC236}">
                <a16:creationId xmlns:a16="http://schemas.microsoft.com/office/drawing/2014/main" id="{10B92BA0-00BA-4061-B4F0-B681E009ED6F}"/>
              </a:ext>
            </a:extLst>
          </p:cNvPr>
          <p:cNvSpPr txBox="1">
            <a:spLocks xmlns:a="http://schemas.openxmlformats.org/drawingml/2006/main" noGrp="1"/>
          </p:cNvSpPr>
          <p:nvPr/>
        </p:nvSpPr>
        <p:spPr>
          <a:xfrm xmlns:a="http://schemas.openxmlformats.org/drawingml/2006/main">
            <a:off x="6467551" y="5824728"/>
            <a:ext cx="5115154"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Conceptual scene</a:t>
            </a:r>
          </a:p>
        </p:txBody>
      </p:sp>
      <p:sp>
        <p:nvSpPr>
          <p:cNvPr id="15" name="closing">
            <a:extLst xmlns:a="http://schemas.openxmlformats.org/drawingml/2006/main">
              <a:ext uri="{FF2B5EF4-FFF2-40B4-BE49-F238E27FC236}">
                <a16:creationId xmlns:a16="http://schemas.microsoft.com/office/drawing/2014/main" id="{6055F7A8-9C67-472E-A310-4DD273A7442D}"/>
              </a:ext>
            </a:extLst>
          </p:cNvPr>
          <p:cNvSpPr txBox="1">
            <a:spLocks xmlns:a="http://schemas.openxmlformats.org/drawingml/2006/main" noGrp="1"/>
          </p:cNvSpPr>
          <p:nvPr/>
        </p:nvSpPr>
        <p:spPr>
          <a:xfrm xmlns:a="http://schemas.openxmlformats.org/drawingml/2006/main">
            <a:off x="609905" y="5943600"/>
            <a:ext cx="5705856"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Choose what stays private and what you share.</a:t>
            </a:r>
          </a:p>
        </p:txBody>
      </p:sp>
      <p:sp>
        <p:nvSpPr>
          <p:cNvPr id="16" name="footnote">
            <a:extLst xmlns:a="http://schemas.openxmlformats.org/drawingml/2006/main">
              <a:ext uri="{FF2B5EF4-FFF2-40B4-BE49-F238E27FC236}">
                <a16:creationId xmlns:a16="http://schemas.microsoft.com/office/drawing/2014/main" id="{D7F3F830-B091-46D4-A1BE-9D85E2050EC5}"/>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Proposed Green Goods workspace building on existing work and funding features; status labels follow the inspected capability ledger.</a:t>
            </a:r>
          </a:p>
        </p:txBody>
      </p:sp>
    </p:spTree>
    <p:extLst>
      <p:ext uri="{BB962C8B-B14F-4D97-AF65-F5344CB8AC3E}">
        <p14:creationId xmlns:p14="http://schemas.microsoft.com/office/powerpoint/2010/main" val="1440655531"/>
      </p:ext>
    </p:extLst>
  </p:cSld>
</p:sld>
</file>

<file path=ppt/slides/slide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4969AA31-87E0-4113-84EF-C881A40DA235}"/>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Observe. Understand. Review.</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Choose what to share.</a:t>
            </a:r>
          </a:p>
        </p:txBody>
      </p:sp>
      <p:sp>
        <p:nvSpPr>
          <p:cNvPr id="3" name="lede">
            <a:extLst xmlns:a="http://schemas.openxmlformats.org/drawingml/2006/main">
              <a:ext uri="{FF2B5EF4-FFF2-40B4-BE49-F238E27FC236}">
                <a16:creationId xmlns:a16="http://schemas.microsoft.com/office/drawing/2014/main" id="{40548145-67F6-4990-BC0B-AD7C5A01AB04}"/>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One task, followed by useful feedback.</a:t>
            </a:r>
          </a:p>
        </p:txBody>
      </p:sp>
      <p:sp>
        <p:nvSpPr>
          <p:cNvPr id="4" name="card-0">
            <a:extLst xmlns:a="http://schemas.openxmlformats.org/drawingml/2006/main">
              <a:ext uri="{FF2B5EF4-FFF2-40B4-BE49-F238E27FC236}">
                <a16:creationId xmlns:a16="http://schemas.microsoft.com/office/drawing/2014/main" id="{CB077389-2EBC-41E3-A272-C44E988A59E3}"/>
              </a:ext>
            </a:extLst>
          </p:cNvPr>
          <p:cNvSpPr>
            <a:spLocks xmlns:a="http://schemas.openxmlformats.org/drawingml/2006/main" noGrp="1"/>
          </p:cNvSpPr>
          <p:nvPr/>
        </p:nvSpPr>
        <p:spPr>
          <a:xfrm xmlns:a="http://schemas.openxmlformats.org/drawingml/2006/main">
            <a:off x="609905" y="2514600"/>
            <a:ext cx="2571750" cy="297180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5" name="num-0">
            <a:extLst xmlns:a="http://schemas.openxmlformats.org/drawingml/2006/main">
              <a:ext uri="{FF2B5EF4-FFF2-40B4-BE49-F238E27FC236}">
                <a16:creationId xmlns:a16="http://schemas.microsoft.com/office/drawing/2014/main" id="{C27EE41C-4AE4-4653-B845-BBC670EB3FB0}"/>
              </a:ext>
            </a:extLst>
          </p:cNvPr>
          <p:cNvSpPr txBox="1">
            <a:spLocks xmlns:a="http://schemas.openxmlformats.org/drawingml/2006/main" noGrp="1"/>
          </p:cNvSpPr>
          <p:nvPr/>
        </p:nvSpPr>
        <p:spPr>
          <a:xfrm xmlns:a="http://schemas.openxmlformats.org/drawingml/2006/main">
            <a:off x="83850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1</a:t>
            </a:r>
          </a:p>
        </p:txBody>
      </p:sp>
      <p:sp>
        <p:nvSpPr>
          <p:cNvPr id="6" name="label-0">
            <a:extLst xmlns:a="http://schemas.openxmlformats.org/drawingml/2006/main">
              <a:ext uri="{FF2B5EF4-FFF2-40B4-BE49-F238E27FC236}">
                <a16:creationId xmlns:a16="http://schemas.microsoft.com/office/drawing/2014/main" id="{B6C8C67D-952C-4BCF-8753-F8998176C79C}"/>
              </a:ext>
            </a:extLst>
          </p:cNvPr>
          <p:cNvSpPr txBox="1">
            <a:spLocks xmlns:a="http://schemas.openxmlformats.org/drawingml/2006/main" noGrp="1"/>
          </p:cNvSpPr>
          <p:nvPr/>
        </p:nvSpPr>
        <p:spPr>
          <a:xfrm xmlns:a="http://schemas.openxmlformats.org/drawingml/2006/main">
            <a:off x="838505" y="3291840"/>
            <a:ext cx="211455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a:t>
            </a:r>
          </a:p>
        </p:txBody>
      </p:sp>
      <p:sp>
        <p:nvSpPr>
          <p:cNvPr id="7" name="head-0">
            <a:extLst xmlns:a="http://schemas.openxmlformats.org/drawingml/2006/main">
              <a:ext uri="{FF2B5EF4-FFF2-40B4-BE49-F238E27FC236}">
                <a16:creationId xmlns:a16="http://schemas.microsoft.com/office/drawing/2014/main" id="{CD21DC4F-6900-4200-A84C-A70AA45E4490}"/>
              </a:ext>
            </a:extLst>
          </p:cNvPr>
          <p:cNvSpPr txBox="1">
            <a:spLocks xmlns:a="http://schemas.openxmlformats.org/drawingml/2006/main" noGrp="1"/>
          </p:cNvSpPr>
          <p:nvPr/>
        </p:nvSpPr>
        <p:spPr>
          <a:xfrm xmlns:a="http://schemas.openxmlformats.org/drawingml/2006/main">
            <a:off x="838505" y="3520440"/>
            <a:ext cx="211455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Observe</a:t>
            </a:r>
          </a:p>
        </p:txBody>
      </p:sp>
      <p:sp>
        <p:nvSpPr>
          <p:cNvPr id="8" name="body-0">
            <a:extLst xmlns:a="http://schemas.openxmlformats.org/drawingml/2006/main">
              <a:ext uri="{FF2B5EF4-FFF2-40B4-BE49-F238E27FC236}">
                <a16:creationId xmlns:a16="http://schemas.microsoft.com/office/drawing/2014/main" id="{01C88BC9-49DD-4052-A1FF-A460CD535456}"/>
              </a:ext>
            </a:extLst>
          </p:cNvPr>
          <p:cNvSpPr txBox="1">
            <a:spLocks xmlns:a="http://schemas.openxmlformats.org/drawingml/2006/main" noGrp="1"/>
          </p:cNvSpPr>
          <p:nvPr/>
        </p:nvSpPr>
        <p:spPr>
          <a:xfrm xmlns:a="http://schemas.openxmlformats.org/drawingml/2006/main">
            <a:off x="838505" y="4023360"/>
            <a:ext cx="211455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Notes, photos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where a device exists,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readings from the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field.</a:t>
            </a:r>
          </a:p>
        </p:txBody>
      </p:sp>
      <p:sp>
        <p:nvSpPr>
          <p:cNvPr id="9" name="card-1">
            <a:extLst xmlns:a="http://schemas.openxmlformats.org/drawingml/2006/main">
              <a:ext uri="{FF2B5EF4-FFF2-40B4-BE49-F238E27FC236}">
                <a16:creationId xmlns:a16="http://schemas.microsoft.com/office/drawing/2014/main" id="{C80BE428-C0FB-4575-BD8F-66E73787B2CF}"/>
              </a:ext>
            </a:extLst>
          </p:cNvPr>
          <p:cNvSpPr>
            <a:spLocks xmlns:a="http://schemas.openxmlformats.org/drawingml/2006/main" noGrp="1"/>
          </p:cNvSpPr>
          <p:nvPr/>
        </p:nvSpPr>
        <p:spPr>
          <a:xfrm xmlns:a="http://schemas.openxmlformats.org/drawingml/2006/main">
            <a:off x="3410255" y="2514600"/>
            <a:ext cx="2571750" cy="297180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0" name="num-1">
            <a:extLst xmlns:a="http://schemas.openxmlformats.org/drawingml/2006/main">
              <a:ext uri="{FF2B5EF4-FFF2-40B4-BE49-F238E27FC236}">
                <a16:creationId xmlns:a16="http://schemas.microsoft.com/office/drawing/2014/main" id="{5EA8284B-558C-4B2A-89CF-3BE9FA90C445}"/>
              </a:ext>
            </a:extLst>
          </p:cNvPr>
          <p:cNvSpPr txBox="1">
            <a:spLocks xmlns:a="http://schemas.openxmlformats.org/drawingml/2006/main" noGrp="1"/>
          </p:cNvSpPr>
          <p:nvPr/>
        </p:nvSpPr>
        <p:spPr>
          <a:xfrm xmlns:a="http://schemas.openxmlformats.org/drawingml/2006/main">
            <a:off x="363885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2</a:t>
            </a:r>
          </a:p>
        </p:txBody>
      </p:sp>
      <p:sp>
        <p:nvSpPr>
          <p:cNvPr id="11" name="label-1">
            <a:extLst xmlns:a="http://schemas.openxmlformats.org/drawingml/2006/main">
              <a:ext uri="{FF2B5EF4-FFF2-40B4-BE49-F238E27FC236}">
                <a16:creationId xmlns:a16="http://schemas.microsoft.com/office/drawing/2014/main" id="{16D2E582-AFA3-4DB7-920E-275A79F1952B}"/>
              </a:ext>
            </a:extLst>
          </p:cNvPr>
          <p:cNvSpPr txBox="1">
            <a:spLocks xmlns:a="http://schemas.openxmlformats.org/drawingml/2006/main" noGrp="1"/>
          </p:cNvSpPr>
          <p:nvPr/>
        </p:nvSpPr>
        <p:spPr>
          <a:xfrm xmlns:a="http://schemas.openxmlformats.org/drawingml/2006/main">
            <a:off x="3638855" y="3291840"/>
            <a:ext cx="211455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a:t>
            </a:r>
          </a:p>
        </p:txBody>
      </p:sp>
      <p:sp>
        <p:nvSpPr>
          <p:cNvPr id="12" name="head-1">
            <a:extLst xmlns:a="http://schemas.openxmlformats.org/drawingml/2006/main">
              <a:ext uri="{FF2B5EF4-FFF2-40B4-BE49-F238E27FC236}">
                <a16:creationId xmlns:a16="http://schemas.microsoft.com/office/drawing/2014/main" id="{F0BF95EA-1BC8-4F51-B1A6-0C10FFFBE134}"/>
              </a:ext>
            </a:extLst>
          </p:cNvPr>
          <p:cNvSpPr txBox="1">
            <a:spLocks xmlns:a="http://schemas.openxmlformats.org/drawingml/2006/main" noGrp="1"/>
          </p:cNvSpPr>
          <p:nvPr/>
        </p:nvSpPr>
        <p:spPr>
          <a:xfrm xmlns:a="http://schemas.openxmlformats.org/drawingml/2006/main">
            <a:off x="3638855" y="3520440"/>
            <a:ext cx="211455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Understand</a:t>
            </a:r>
          </a:p>
        </p:txBody>
      </p:sp>
      <p:sp>
        <p:nvSpPr>
          <p:cNvPr id="13" name="body-1">
            <a:extLst xmlns:a="http://schemas.openxmlformats.org/drawingml/2006/main">
              <a:ext uri="{FF2B5EF4-FFF2-40B4-BE49-F238E27FC236}">
                <a16:creationId xmlns:a16="http://schemas.microsoft.com/office/drawing/2014/main" id="{67C5DD43-7D17-4B25-8CBC-57C67E88113F}"/>
              </a:ext>
            </a:extLst>
          </p:cNvPr>
          <p:cNvSpPr txBox="1">
            <a:spLocks xmlns:a="http://schemas.openxmlformats.org/drawingml/2006/main" noGrp="1"/>
          </p:cNvSpPr>
          <p:nvPr/>
        </p:nvSpPr>
        <p:spPr>
          <a:xfrm xmlns:a="http://schemas.openxmlformats.org/drawingml/2006/main">
            <a:off x="3638855" y="4023360"/>
            <a:ext cx="211455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Place, season, earlier</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entries and open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questions, in one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view.</a:t>
            </a:r>
          </a:p>
        </p:txBody>
      </p:sp>
      <p:sp>
        <p:nvSpPr>
          <p:cNvPr id="14" name="card-2">
            <a:extLst xmlns:a="http://schemas.openxmlformats.org/drawingml/2006/main">
              <a:ext uri="{FF2B5EF4-FFF2-40B4-BE49-F238E27FC236}">
                <a16:creationId xmlns:a16="http://schemas.microsoft.com/office/drawing/2014/main" id="{6AF9F56C-F5C6-45A1-BCE6-A6D568B0BDED}"/>
              </a:ext>
            </a:extLst>
          </p:cNvPr>
          <p:cNvSpPr>
            <a:spLocks xmlns:a="http://schemas.openxmlformats.org/drawingml/2006/main" noGrp="1"/>
          </p:cNvSpPr>
          <p:nvPr/>
        </p:nvSpPr>
        <p:spPr>
          <a:xfrm xmlns:a="http://schemas.openxmlformats.org/drawingml/2006/main">
            <a:off x="6210605" y="2514600"/>
            <a:ext cx="2571750" cy="297180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5" name="num-2">
            <a:extLst xmlns:a="http://schemas.openxmlformats.org/drawingml/2006/main">
              <a:ext uri="{FF2B5EF4-FFF2-40B4-BE49-F238E27FC236}">
                <a16:creationId xmlns:a16="http://schemas.microsoft.com/office/drawing/2014/main" id="{FA689544-44FF-496E-BCE0-FC10CBAD1161}"/>
              </a:ext>
            </a:extLst>
          </p:cNvPr>
          <p:cNvSpPr txBox="1">
            <a:spLocks xmlns:a="http://schemas.openxmlformats.org/drawingml/2006/main" noGrp="1"/>
          </p:cNvSpPr>
          <p:nvPr/>
        </p:nvSpPr>
        <p:spPr>
          <a:xfrm xmlns:a="http://schemas.openxmlformats.org/drawingml/2006/main">
            <a:off x="643920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3</a:t>
            </a:r>
          </a:p>
        </p:txBody>
      </p:sp>
      <p:sp>
        <p:nvSpPr>
          <p:cNvPr id="16" name="label-2">
            <a:extLst xmlns:a="http://schemas.openxmlformats.org/drawingml/2006/main">
              <a:ext uri="{FF2B5EF4-FFF2-40B4-BE49-F238E27FC236}">
                <a16:creationId xmlns:a16="http://schemas.microsoft.com/office/drawing/2014/main" id="{A1418B78-4C1F-4C0A-84A6-06BB53882B75}"/>
              </a:ext>
            </a:extLst>
          </p:cNvPr>
          <p:cNvSpPr txBox="1">
            <a:spLocks xmlns:a="http://schemas.openxmlformats.org/drawingml/2006/main" noGrp="1"/>
          </p:cNvSpPr>
          <p:nvPr/>
        </p:nvSpPr>
        <p:spPr>
          <a:xfrm xmlns:a="http://schemas.openxmlformats.org/drawingml/2006/main">
            <a:off x="6439205" y="3291840"/>
            <a:ext cx="211455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AVAILABLE TODAY</a:t>
            </a:r>
          </a:p>
        </p:txBody>
      </p:sp>
      <p:sp>
        <p:nvSpPr>
          <p:cNvPr id="17" name="head-2">
            <a:extLst xmlns:a="http://schemas.openxmlformats.org/drawingml/2006/main">
              <a:ext uri="{FF2B5EF4-FFF2-40B4-BE49-F238E27FC236}">
                <a16:creationId xmlns:a16="http://schemas.microsoft.com/office/drawing/2014/main" id="{B56FB74F-8358-4995-B963-BF78F68B6192}"/>
              </a:ext>
            </a:extLst>
          </p:cNvPr>
          <p:cNvSpPr txBox="1">
            <a:spLocks xmlns:a="http://schemas.openxmlformats.org/drawingml/2006/main" noGrp="1"/>
          </p:cNvSpPr>
          <p:nvPr/>
        </p:nvSpPr>
        <p:spPr>
          <a:xfrm xmlns:a="http://schemas.openxmlformats.org/drawingml/2006/main">
            <a:off x="6439205" y="3520440"/>
            <a:ext cx="211455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Review</a:t>
            </a:r>
          </a:p>
        </p:txBody>
      </p:sp>
      <p:sp>
        <p:nvSpPr>
          <p:cNvPr id="18" name="body-2">
            <a:extLst xmlns:a="http://schemas.openxmlformats.org/drawingml/2006/main">
              <a:ext uri="{FF2B5EF4-FFF2-40B4-BE49-F238E27FC236}">
                <a16:creationId xmlns:a16="http://schemas.microsoft.com/office/drawing/2014/main" id="{98D0466C-1395-4676-86AB-8FD2A482A187}"/>
              </a:ext>
            </a:extLst>
          </p:cNvPr>
          <p:cNvSpPr txBox="1">
            <a:spLocks xmlns:a="http://schemas.openxmlformats.org/drawingml/2006/main" noGrp="1"/>
          </p:cNvSpPr>
          <p:nvPr/>
        </p:nvSpPr>
        <p:spPr>
          <a:xfrm xmlns:a="http://schemas.openxmlformats.org/drawingml/2006/main">
            <a:off x="6439205" y="4023360"/>
            <a:ext cx="211455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steward checks it.</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Corrections stay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visible, with their</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history.</a:t>
            </a:r>
          </a:p>
        </p:txBody>
      </p:sp>
      <p:sp>
        <p:nvSpPr>
          <p:cNvPr id="19" name="card-3">
            <a:extLst xmlns:a="http://schemas.openxmlformats.org/drawingml/2006/main">
              <a:ext uri="{FF2B5EF4-FFF2-40B4-BE49-F238E27FC236}">
                <a16:creationId xmlns:a16="http://schemas.microsoft.com/office/drawing/2014/main" id="{AD01FC69-34FD-451A-8716-C0AA714CC56B}"/>
              </a:ext>
            </a:extLst>
          </p:cNvPr>
          <p:cNvSpPr>
            <a:spLocks xmlns:a="http://schemas.openxmlformats.org/drawingml/2006/main" noGrp="1"/>
          </p:cNvSpPr>
          <p:nvPr/>
        </p:nvSpPr>
        <p:spPr>
          <a:xfrm xmlns:a="http://schemas.openxmlformats.org/drawingml/2006/main">
            <a:off x="9010955" y="2514600"/>
            <a:ext cx="2571750" cy="297180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20" name="num-3">
            <a:extLst xmlns:a="http://schemas.openxmlformats.org/drawingml/2006/main">
              <a:ext uri="{FF2B5EF4-FFF2-40B4-BE49-F238E27FC236}">
                <a16:creationId xmlns:a16="http://schemas.microsoft.com/office/drawing/2014/main" id="{7128418F-E67B-47CA-B1E7-C9B6DC851BF3}"/>
              </a:ext>
            </a:extLst>
          </p:cNvPr>
          <p:cNvSpPr txBox="1">
            <a:spLocks xmlns:a="http://schemas.openxmlformats.org/drawingml/2006/main" noGrp="1"/>
          </p:cNvSpPr>
          <p:nvPr/>
        </p:nvSpPr>
        <p:spPr>
          <a:xfrm xmlns:a="http://schemas.openxmlformats.org/drawingml/2006/main">
            <a:off x="923955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4</a:t>
            </a:r>
          </a:p>
        </p:txBody>
      </p:sp>
      <p:sp>
        <p:nvSpPr>
          <p:cNvPr id="21" name="label-3">
            <a:extLst xmlns:a="http://schemas.openxmlformats.org/drawingml/2006/main">
              <a:ext uri="{FF2B5EF4-FFF2-40B4-BE49-F238E27FC236}">
                <a16:creationId xmlns:a16="http://schemas.microsoft.com/office/drawing/2014/main" id="{443DCE1D-E9B0-43FC-9996-63A356256FA9}"/>
              </a:ext>
            </a:extLst>
          </p:cNvPr>
          <p:cNvSpPr txBox="1">
            <a:spLocks xmlns:a="http://schemas.openxmlformats.org/drawingml/2006/main" noGrp="1"/>
          </p:cNvSpPr>
          <p:nvPr/>
        </p:nvSpPr>
        <p:spPr>
          <a:xfrm xmlns:a="http://schemas.openxmlformats.org/drawingml/2006/main">
            <a:off x="9239555" y="3291840"/>
            <a:ext cx="211455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a:t>
            </a:r>
          </a:p>
        </p:txBody>
      </p:sp>
      <p:sp>
        <p:nvSpPr>
          <p:cNvPr id="22" name="head-3">
            <a:extLst xmlns:a="http://schemas.openxmlformats.org/drawingml/2006/main">
              <a:ext uri="{FF2B5EF4-FFF2-40B4-BE49-F238E27FC236}">
                <a16:creationId xmlns:a16="http://schemas.microsoft.com/office/drawing/2014/main" id="{50922894-6B8B-4242-841B-86E24D513751}"/>
              </a:ext>
            </a:extLst>
          </p:cNvPr>
          <p:cNvSpPr txBox="1">
            <a:spLocks xmlns:a="http://schemas.openxmlformats.org/drawingml/2006/main" noGrp="1"/>
          </p:cNvSpPr>
          <p:nvPr/>
        </p:nvSpPr>
        <p:spPr>
          <a:xfrm xmlns:a="http://schemas.openxmlformats.org/drawingml/2006/main">
            <a:off x="9239555" y="3520440"/>
            <a:ext cx="211455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Choose</a:t>
            </a:r>
          </a:p>
        </p:txBody>
      </p:sp>
      <p:sp>
        <p:nvSpPr>
          <p:cNvPr id="23" name="body-3">
            <a:extLst xmlns:a="http://schemas.openxmlformats.org/drawingml/2006/main">
              <a:ext uri="{FF2B5EF4-FFF2-40B4-BE49-F238E27FC236}">
                <a16:creationId xmlns:a16="http://schemas.microsoft.com/office/drawing/2014/main" id="{75554555-E830-40B5-ACE6-ABB52C069154}"/>
              </a:ext>
            </a:extLst>
          </p:cNvPr>
          <p:cNvSpPr txBox="1">
            <a:spLocks xmlns:a="http://schemas.openxmlformats.org/drawingml/2006/main" noGrp="1"/>
          </p:cNvSpPr>
          <p:nvPr/>
        </p:nvSpPr>
        <p:spPr>
          <a:xfrm xmlns:a="http://schemas.openxmlformats.org/drawingml/2006/main">
            <a:off x="9239555" y="4023360"/>
            <a:ext cx="211455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preview shows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exactly what would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leave the workspace,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before sharing.</a:t>
            </a:r>
          </a:p>
        </p:txBody>
      </p:sp>
      <p:sp>
        <p:nvSpPr>
          <p:cNvPr id="24" name="closing">
            <a:extLst xmlns:a="http://schemas.openxmlformats.org/drawingml/2006/main">
              <a:ext uri="{FF2B5EF4-FFF2-40B4-BE49-F238E27FC236}">
                <a16:creationId xmlns:a16="http://schemas.microsoft.com/office/drawing/2014/main" id="{8C3FD7EC-59FC-4CB0-AA1F-5251321CF9AB}"/>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Nothing leaves the private workspace without a visible preview and a decision.</a:t>
            </a:r>
          </a:p>
        </p:txBody>
      </p:sp>
      <p:sp>
        <p:nvSpPr>
          <p:cNvPr id="25" name="footnote">
            <a:extLst xmlns:a="http://schemas.openxmlformats.org/drawingml/2006/main">
              <a:ext uri="{FF2B5EF4-FFF2-40B4-BE49-F238E27FC236}">
                <a16:creationId xmlns:a16="http://schemas.microsoft.com/office/drawing/2014/main" id="{CABB3C3F-2222-4ABC-B412-61BE5F0B1FA1}"/>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Proposed experience; the pilot task follows cohort selection. A synthetic recording is not field evidence.</a:t>
            </a:r>
          </a:p>
        </p:txBody>
      </p:sp>
    </p:spTree>
    <p:extLst>
      <p:ext uri="{BB962C8B-B14F-4D97-AF65-F5344CB8AC3E}">
        <p14:creationId xmlns:p14="http://schemas.microsoft.com/office/powerpoint/2010/main" val="1440655531"/>
      </p:ext>
    </p:extLst>
  </p:cSld>
</p:sld>
</file>

<file path=ppt/slides/slide7.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57CAD4F-AA25-4D0A-9805-25797F15BEEA}"/>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Make today's work</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useful tomorrow.</a:t>
            </a:r>
          </a:p>
        </p:txBody>
      </p:sp>
      <p:sp>
        <p:nvSpPr>
          <p:cNvPr id="3" name="lede">
            <a:extLst xmlns:a="http://schemas.openxmlformats.org/drawingml/2006/main">
              <a:ext uri="{FF2B5EF4-FFF2-40B4-BE49-F238E27FC236}">
                <a16:creationId xmlns:a16="http://schemas.microsoft.com/office/drawing/2014/main" id="{3C4F1721-B0DC-4677-BEB0-23B5BCBE314A}"/>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A handover keeps the record, the reasons and the open questions for the next steward.</a:t>
            </a:r>
          </a:p>
        </p:txBody>
      </p:sp>
      <p:sp>
        <p:nvSpPr>
          <p:cNvPr id="4" name="head-0">
            <a:extLst xmlns:a="http://schemas.openxmlformats.org/drawingml/2006/main">
              <a:ext uri="{FF2B5EF4-FFF2-40B4-BE49-F238E27FC236}">
                <a16:creationId xmlns:a16="http://schemas.microsoft.com/office/drawing/2014/main" id="{A6460D3B-D90C-49CC-BD89-60DD364E6945}"/>
              </a:ext>
            </a:extLst>
          </p:cNvPr>
          <p:cNvSpPr txBox="1">
            <a:spLocks xmlns:a="http://schemas.openxmlformats.org/drawingml/2006/main" noGrp="1"/>
          </p:cNvSpPr>
          <p:nvPr/>
        </p:nvSpPr>
        <p:spPr>
          <a:xfrm xmlns:a="http://schemas.openxmlformats.org/drawingml/2006/main">
            <a:off x="609905" y="2487168"/>
            <a:ext cx="53949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Less reconstruction</a:t>
            </a:r>
          </a:p>
        </p:txBody>
      </p:sp>
      <p:sp>
        <p:nvSpPr>
          <p:cNvPr id="5" name="body-0">
            <a:extLst xmlns:a="http://schemas.openxmlformats.org/drawingml/2006/main">
              <a:ext uri="{FF2B5EF4-FFF2-40B4-BE49-F238E27FC236}">
                <a16:creationId xmlns:a16="http://schemas.microsoft.com/office/drawing/2014/main" id="{6A82A4A2-2E8D-4F6C-8939-A8475F729272}"/>
              </a:ext>
            </a:extLst>
          </p:cNvPr>
          <p:cNvSpPr txBox="1">
            <a:spLocks xmlns:a="http://schemas.openxmlformats.org/drawingml/2006/main" noGrp="1"/>
          </p:cNvSpPr>
          <p:nvPr/>
        </p:nvSpPr>
        <p:spPr>
          <a:xfrm xmlns:a="http://schemas.openxmlformats.org/drawingml/2006/main">
            <a:off x="609905" y="2834640"/>
            <a:ext cx="5394960" cy="29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0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Fewer hours rebuilding what happened last season.</a:t>
            </a:r>
          </a:p>
        </p:txBody>
      </p:sp>
      <p:sp>
        <p:nvSpPr>
          <p:cNvPr id="6" name="head-1">
            <a:extLst xmlns:a="http://schemas.openxmlformats.org/drawingml/2006/main">
              <a:ext uri="{FF2B5EF4-FFF2-40B4-BE49-F238E27FC236}">
                <a16:creationId xmlns:a16="http://schemas.microsoft.com/office/drawing/2014/main" id="{2082F0A2-012F-4F03-975E-9B8915AD4EA6}"/>
              </a:ext>
            </a:extLst>
          </p:cNvPr>
          <p:cNvSpPr txBox="1">
            <a:spLocks xmlns:a="http://schemas.openxmlformats.org/drawingml/2006/main" noGrp="1"/>
          </p:cNvSpPr>
          <p:nvPr/>
        </p:nvSpPr>
        <p:spPr>
          <a:xfrm xmlns:a="http://schemas.openxmlformats.org/drawingml/2006/main">
            <a:off x="609905" y="3182112"/>
            <a:ext cx="53949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Informed choices</a:t>
            </a:r>
          </a:p>
        </p:txBody>
      </p:sp>
      <p:sp>
        <p:nvSpPr>
          <p:cNvPr id="7" name="body-1">
            <a:extLst xmlns:a="http://schemas.openxmlformats.org/drawingml/2006/main">
              <a:ext uri="{FF2B5EF4-FFF2-40B4-BE49-F238E27FC236}">
                <a16:creationId xmlns:a16="http://schemas.microsoft.com/office/drawing/2014/main" id="{2F399B99-34F7-4A70-A6FE-C4C680888791}"/>
              </a:ext>
            </a:extLst>
          </p:cNvPr>
          <p:cNvSpPr txBox="1">
            <a:spLocks xmlns:a="http://schemas.openxmlformats.org/drawingml/2006/main" noGrp="1"/>
          </p:cNvSpPr>
          <p:nvPr/>
        </p:nvSpPr>
        <p:spPr>
          <a:xfrm xmlns:a="http://schemas.openxmlformats.org/drawingml/2006/main">
            <a:off x="609905" y="3529584"/>
            <a:ext cx="5394960" cy="29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0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Decisions made with the record and its context in view.</a:t>
            </a:r>
          </a:p>
        </p:txBody>
      </p:sp>
      <p:sp>
        <p:nvSpPr>
          <p:cNvPr id="8" name="head-2">
            <a:extLst xmlns:a="http://schemas.openxmlformats.org/drawingml/2006/main">
              <a:ext uri="{FF2B5EF4-FFF2-40B4-BE49-F238E27FC236}">
                <a16:creationId xmlns:a16="http://schemas.microsoft.com/office/drawing/2014/main" id="{B24DA247-7A4C-4123-BEB9-32C7611F82A2}"/>
              </a:ext>
            </a:extLst>
          </p:cNvPr>
          <p:cNvSpPr txBox="1">
            <a:spLocks xmlns:a="http://schemas.openxmlformats.org/drawingml/2006/main" noGrp="1"/>
          </p:cNvSpPr>
          <p:nvPr/>
        </p:nvSpPr>
        <p:spPr>
          <a:xfrm xmlns:a="http://schemas.openxmlformats.org/drawingml/2006/main">
            <a:off x="609905" y="3877056"/>
            <a:ext cx="53949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Continuity</a:t>
            </a:r>
          </a:p>
        </p:txBody>
      </p:sp>
      <p:sp>
        <p:nvSpPr>
          <p:cNvPr id="9" name="body-2">
            <a:extLst xmlns:a="http://schemas.openxmlformats.org/drawingml/2006/main">
              <a:ext uri="{FF2B5EF4-FFF2-40B4-BE49-F238E27FC236}">
                <a16:creationId xmlns:a16="http://schemas.microsoft.com/office/drawing/2014/main" id="{D90D1752-4AE7-45C3-88BB-B54A9CDADEDD}"/>
              </a:ext>
            </a:extLst>
          </p:cNvPr>
          <p:cNvSpPr txBox="1">
            <a:spLocks xmlns:a="http://schemas.openxmlformats.org/drawingml/2006/main" noGrp="1"/>
          </p:cNvSpPr>
          <p:nvPr/>
        </p:nvSpPr>
        <p:spPr>
          <a:xfrm xmlns:a="http://schemas.openxmlformats.org/drawingml/2006/main">
            <a:off x="609905" y="4224528"/>
            <a:ext cx="5394960" cy="29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0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Handovers keep the reasons, not only the results.</a:t>
            </a:r>
          </a:p>
        </p:txBody>
      </p:sp>
      <p:sp>
        <p:nvSpPr>
          <p:cNvPr id="10" name="head-3">
            <a:extLst xmlns:a="http://schemas.openxmlformats.org/drawingml/2006/main">
              <a:ext uri="{FF2B5EF4-FFF2-40B4-BE49-F238E27FC236}">
                <a16:creationId xmlns:a16="http://schemas.microsoft.com/office/drawing/2014/main" id="{16B7073C-7BE4-4E6E-B823-B9BD20965C3B}"/>
              </a:ext>
            </a:extLst>
          </p:cNvPr>
          <p:cNvSpPr txBox="1">
            <a:spLocks xmlns:a="http://schemas.openxmlformats.org/drawingml/2006/main" noGrp="1"/>
          </p:cNvSpPr>
          <p:nvPr/>
        </p:nvSpPr>
        <p:spPr>
          <a:xfrm xmlns:a="http://schemas.openxmlformats.org/drawingml/2006/main">
            <a:off x="609905" y="4572000"/>
            <a:ext cx="53949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Control</a:t>
            </a:r>
          </a:p>
        </p:txBody>
      </p:sp>
      <p:sp>
        <p:nvSpPr>
          <p:cNvPr id="11" name="body-3">
            <a:extLst xmlns:a="http://schemas.openxmlformats.org/drawingml/2006/main">
              <a:ext uri="{FF2B5EF4-FFF2-40B4-BE49-F238E27FC236}">
                <a16:creationId xmlns:a16="http://schemas.microsoft.com/office/drawing/2014/main" id="{6E68338F-C231-40F5-AB07-D3F89AFD5316}"/>
              </a:ext>
            </a:extLst>
          </p:cNvPr>
          <p:cNvSpPr txBox="1">
            <a:spLocks xmlns:a="http://schemas.openxmlformats.org/drawingml/2006/main" noGrp="1"/>
          </p:cNvSpPr>
          <p:nvPr/>
        </p:nvSpPr>
        <p:spPr>
          <a:xfrm xmlns:a="http://schemas.openxmlformats.org/drawingml/2006/main">
            <a:off x="609905" y="4919472"/>
            <a:ext cx="5394960" cy="29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0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Communities decide what stays private and what leaves.</a:t>
            </a:r>
          </a:p>
        </p:txBody>
      </p:sp>
      <p:sp>
        <p:nvSpPr>
          <p:cNvPr id="12" name="head-4">
            <a:extLst xmlns:a="http://schemas.openxmlformats.org/drawingml/2006/main">
              <a:ext uri="{FF2B5EF4-FFF2-40B4-BE49-F238E27FC236}">
                <a16:creationId xmlns:a16="http://schemas.microsoft.com/office/drawing/2014/main" id="{46E36E7F-E072-4917-83C8-E8E6BACDF66B}"/>
              </a:ext>
            </a:extLst>
          </p:cNvPr>
          <p:cNvSpPr txBox="1">
            <a:spLocks xmlns:a="http://schemas.openxmlformats.org/drawingml/2006/main" noGrp="1"/>
          </p:cNvSpPr>
          <p:nvPr/>
        </p:nvSpPr>
        <p:spPr>
          <a:xfrm xmlns:a="http://schemas.openxmlformats.org/drawingml/2006/main">
            <a:off x="609905" y="5266944"/>
            <a:ext cx="53949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Assessable work</a:t>
            </a:r>
          </a:p>
        </p:txBody>
      </p:sp>
      <p:sp>
        <p:nvSpPr>
          <p:cNvPr id="13" name="body-4">
            <a:extLst xmlns:a="http://schemas.openxmlformats.org/drawingml/2006/main">
              <a:ext uri="{FF2B5EF4-FFF2-40B4-BE49-F238E27FC236}">
                <a16:creationId xmlns:a16="http://schemas.microsoft.com/office/drawing/2014/main" id="{5193920A-ED89-477D-8A00-C4FB5BA5ACAE}"/>
              </a:ext>
            </a:extLst>
          </p:cNvPr>
          <p:cNvSpPr txBox="1">
            <a:spLocks xmlns:a="http://schemas.openxmlformats.org/drawingml/2006/main" noGrp="1"/>
          </p:cNvSpPr>
          <p:nvPr/>
        </p:nvSpPr>
        <p:spPr>
          <a:xfrm xmlns:a="http://schemas.openxmlformats.org/drawingml/2006/main">
            <a:off x="609905" y="5614416"/>
            <a:ext cx="5394960" cy="299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0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Reviewed records that a supporter can read and question.</a:t>
            </a:r>
          </a:p>
        </p:txBody>
      </p:sp>
      <p:pic>
        <p:nvPicPr>
          <p:cNvPr id="14" name="scene">
            <a:extLst xmlns:a="http://schemas.openxmlformats.org/drawingml/2006/main">
              <a:ext uri="{FF2B5EF4-FFF2-40B4-BE49-F238E27FC236}">
                <a16:creationId xmlns:a16="http://schemas.microsoft.com/office/drawing/2014/main" id="{15DA518A-B768-452C-9EC5-C57DDC32D79D}"/>
              </a:ext>
            </a:extLst>
          </p:cNvPr>
          <p:cNvPicPr>
            <a:picLocks xmlns:a="http://schemas.openxmlformats.org/drawingml/2006/main" noChangeAspect="1"/>
          </p:cNvPicPr>
          <p:nvPr/>
        </p:nvPicPr>
        <p:blipFill>
          <a:blip xmlns:a="http://schemas.openxmlformats.org/drawingml/2006/main" xmlns:r="http://schemas.openxmlformats.org/officeDocument/2006/relationships" r:embed="rIdImg1"/>
          <a:stretch xmlns:a="http://schemas.openxmlformats.org/drawingml/2006/main">
            <a:fillRect/>
          </a:stretch>
        </p:blipFill>
        <p:spPr>
          <a:xfrm xmlns:a="http://schemas.openxmlformats.org/drawingml/2006/main">
            <a:off x="6467551" y="2514600"/>
            <a:ext cx="5115154" cy="3219602"/>
          </a:xfrm>
          <a:prstGeom xmlns:a="http://schemas.openxmlformats.org/drawingml/2006/main" prst="rect">
            <a:avLst/>
          </a:prstGeom>
        </p:spPr>
      </p:pic>
      <p:sp>
        <p:nvSpPr>
          <p:cNvPr id="15" name="caption">
            <a:extLst xmlns:a="http://schemas.openxmlformats.org/drawingml/2006/main">
              <a:ext uri="{FF2B5EF4-FFF2-40B4-BE49-F238E27FC236}">
                <a16:creationId xmlns:a16="http://schemas.microsoft.com/office/drawing/2014/main" id="{37CAB388-1526-4090-932E-0C28B637724D}"/>
              </a:ext>
            </a:extLst>
          </p:cNvPr>
          <p:cNvSpPr txBox="1">
            <a:spLocks xmlns:a="http://schemas.openxmlformats.org/drawingml/2006/main" noGrp="1"/>
          </p:cNvSpPr>
          <p:nvPr/>
        </p:nvSpPr>
        <p:spPr>
          <a:xfrm xmlns:a="http://schemas.openxmlformats.org/drawingml/2006/main">
            <a:off x="6467551" y="5824728"/>
            <a:ext cx="5115154"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Website imagery, conceptual</a:t>
            </a:r>
          </a:p>
        </p:txBody>
      </p:sp>
      <p:sp>
        <p:nvSpPr>
          <p:cNvPr id="16" name="footnote">
            <a:extLst xmlns:a="http://schemas.openxmlformats.org/drawingml/2006/main">
              <a:ext uri="{FF2B5EF4-FFF2-40B4-BE49-F238E27FC236}">
                <a16:creationId xmlns:a16="http://schemas.microsoft.com/office/drawing/2014/main" id="{DA0F157F-10AE-4940-B0BF-BC3EB8B3DB11}"/>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Benefits to measure in a pilot, not savings to claim; no percentage is asserted.</a:t>
            </a:r>
          </a:p>
        </p:txBody>
      </p:sp>
    </p:spTree>
    <p:extLst>
      <p:ext uri="{BB962C8B-B14F-4D97-AF65-F5344CB8AC3E}">
        <p14:creationId xmlns:p14="http://schemas.microsoft.com/office/powerpoint/2010/main" val="1440655531"/>
      </p:ext>
    </p:extLst>
  </p:cSld>
</p:sld>
</file>

<file path=ppt/slides/slide8.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E1740253-22B9-4C60-9F65-9DEDC4DDE176}"/>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Accessibility. Sovereignty.</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Trust. Reciprocity.</a:t>
            </a:r>
          </a:p>
        </p:txBody>
      </p:sp>
      <p:sp>
        <p:nvSpPr>
          <p:cNvPr id="3" name="lede">
            <a:extLst xmlns:a="http://schemas.openxmlformats.org/drawingml/2006/main">
              <a:ext uri="{FF2B5EF4-FFF2-40B4-BE49-F238E27FC236}">
                <a16:creationId xmlns:a16="http://schemas.microsoft.com/office/drawing/2014/main" id="{11FF1594-C587-438B-8302-3255E02EE39D}"/>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Commitments participants can recognize.</a:t>
            </a:r>
          </a:p>
        </p:txBody>
      </p:sp>
      <p:sp>
        <p:nvSpPr>
          <p:cNvPr id="4" name="rule-0">
            <a:extLst xmlns:a="http://schemas.openxmlformats.org/drawingml/2006/main">
              <a:ext uri="{FF2B5EF4-FFF2-40B4-BE49-F238E27FC236}">
                <a16:creationId xmlns:a16="http://schemas.microsoft.com/office/drawing/2014/main" id="{3891261B-34B6-4232-9E38-A643C7723B01}"/>
              </a:ext>
            </a:extLst>
          </p:cNvPr>
          <p:cNvSpPr>
            <a:spLocks xmlns:a="http://schemas.openxmlformats.org/drawingml/2006/main" noGrp="1"/>
          </p:cNvSpPr>
          <p:nvPr/>
        </p:nvSpPr>
        <p:spPr>
          <a:xfrm xmlns:a="http://schemas.openxmlformats.org/drawingml/2006/main">
            <a:off x="609905" y="2514600"/>
            <a:ext cx="2537460" cy="0"/>
          </a:xfrm>
          <a:prstGeom xmlns:a="http://schemas.openxmlformats.org/drawingml/2006/main" prst="line">
            <a:avLst/>
          </a:prstGeom>
          <a:ln xmlns:a="http://schemas.openxmlformats.org/drawingml/2006/main" w="9525">
            <a:solidFill>
              <a:srgbClr val="D6D3D1"/>
            </a:solidFill>
          </a:ln>
        </p:spPr>
      </p:sp>
      <p:sp>
        <p:nvSpPr>
          <p:cNvPr id="5" name="head-0">
            <a:extLst xmlns:a="http://schemas.openxmlformats.org/drawingml/2006/main">
              <a:ext uri="{FF2B5EF4-FFF2-40B4-BE49-F238E27FC236}">
                <a16:creationId xmlns:a16="http://schemas.microsoft.com/office/drawing/2014/main" id="{967AAB07-1EE1-4745-86E3-9564430DBFA4}"/>
              </a:ext>
            </a:extLst>
          </p:cNvPr>
          <p:cNvSpPr txBox="1">
            <a:spLocks xmlns:a="http://schemas.openxmlformats.org/drawingml/2006/main" noGrp="1"/>
          </p:cNvSpPr>
          <p:nvPr/>
        </p:nvSpPr>
        <p:spPr>
          <a:xfrm xmlns:a="http://schemas.openxmlformats.org/drawingml/2006/main">
            <a:off x="609905" y="2651760"/>
            <a:ext cx="25374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Accessibility</a:t>
            </a:r>
          </a:p>
        </p:txBody>
      </p:sp>
      <p:sp>
        <p:nvSpPr>
          <p:cNvPr id="6" name="body-0">
            <a:extLst xmlns:a="http://schemas.openxmlformats.org/drawingml/2006/main">
              <a:ext uri="{FF2B5EF4-FFF2-40B4-BE49-F238E27FC236}">
                <a16:creationId xmlns:a16="http://schemas.microsoft.com/office/drawing/2014/main" id="{9FB63080-1697-4EED-8CA7-C963E83395FF}"/>
              </a:ext>
            </a:extLst>
          </p:cNvPr>
          <p:cNvSpPr txBox="1">
            <a:spLocks xmlns:a="http://schemas.openxmlformats.org/drawingml/2006/main" noGrp="1"/>
          </p:cNvSpPr>
          <p:nvPr/>
        </p:nvSpPr>
        <p:spPr>
          <a:xfrm xmlns:a="http://schemas.openxmlformats.org/drawingml/2006/main">
            <a:off x="609905" y="3154680"/>
            <a:ext cx="2537460" cy="1379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Participation fits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budgets, devices,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connectivity, languages,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abilities and time. A</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manual path stays useful.</a:t>
            </a:r>
          </a:p>
        </p:txBody>
      </p:sp>
      <p:sp>
        <p:nvSpPr>
          <p:cNvPr id="7" name="rule-1">
            <a:extLst xmlns:a="http://schemas.openxmlformats.org/drawingml/2006/main">
              <a:ext uri="{FF2B5EF4-FFF2-40B4-BE49-F238E27FC236}">
                <a16:creationId xmlns:a16="http://schemas.microsoft.com/office/drawing/2014/main" id="{47195077-C498-4A48-A07D-199E916E66B8}"/>
              </a:ext>
            </a:extLst>
          </p:cNvPr>
          <p:cNvSpPr>
            <a:spLocks xmlns:a="http://schemas.openxmlformats.org/drawingml/2006/main" noGrp="1"/>
          </p:cNvSpPr>
          <p:nvPr/>
        </p:nvSpPr>
        <p:spPr>
          <a:xfrm xmlns:a="http://schemas.openxmlformats.org/drawingml/2006/main">
            <a:off x="3421685" y="2514600"/>
            <a:ext cx="2537460" cy="0"/>
          </a:xfrm>
          <a:prstGeom xmlns:a="http://schemas.openxmlformats.org/drawingml/2006/main" prst="line">
            <a:avLst/>
          </a:prstGeom>
          <a:ln xmlns:a="http://schemas.openxmlformats.org/drawingml/2006/main" w="9525">
            <a:solidFill>
              <a:srgbClr val="D6D3D1"/>
            </a:solidFill>
          </a:ln>
        </p:spPr>
      </p:sp>
      <p:sp>
        <p:nvSpPr>
          <p:cNvPr id="8" name="head-1">
            <a:extLst xmlns:a="http://schemas.openxmlformats.org/drawingml/2006/main">
              <a:ext uri="{FF2B5EF4-FFF2-40B4-BE49-F238E27FC236}">
                <a16:creationId xmlns:a16="http://schemas.microsoft.com/office/drawing/2014/main" id="{63053D40-60B5-4E06-B96A-07D88574F8FE}"/>
              </a:ext>
            </a:extLst>
          </p:cNvPr>
          <p:cNvSpPr txBox="1">
            <a:spLocks xmlns:a="http://schemas.openxmlformats.org/drawingml/2006/main" noGrp="1"/>
          </p:cNvSpPr>
          <p:nvPr/>
        </p:nvSpPr>
        <p:spPr>
          <a:xfrm xmlns:a="http://schemas.openxmlformats.org/drawingml/2006/main">
            <a:off x="3421685" y="2651760"/>
            <a:ext cx="25374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Sovereignty</a:t>
            </a:r>
          </a:p>
        </p:txBody>
      </p:sp>
      <p:sp>
        <p:nvSpPr>
          <p:cNvPr id="9" name="body-1">
            <a:extLst xmlns:a="http://schemas.openxmlformats.org/drawingml/2006/main">
              <a:ext uri="{FF2B5EF4-FFF2-40B4-BE49-F238E27FC236}">
                <a16:creationId xmlns:a16="http://schemas.microsoft.com/office/drawing/2014/main" id="{5930495D-9A84-4D8B-BA6F-9ADD5877602A}"/>
              </a:ext>
            </a:extLst>
          </p:cNvPr>
          <p:cNvSpPr txBox="1">
            <a:spLocks xmlns:a="http://schemas.openxmlformats.org/drawingml/2006/main" noGrp="1"/>
          </p:cNvSpPr>
          <p:nvPr/>
        </p:nvSpPr>
        <p:spPr>
          <a:xfrm xmlns:a="http://schemas.openxmlformats.org/drawingml/2006/main">
            <a:off x="3421685" y="3154680"/>
            <a:ext cx="2537460" cy="1379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Communities hold authority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over knowledge,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permissions, governance,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portability, recovery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exit.</a:t>
            </a:r>
          </a:p>
        </p:txBody>
      </p:sp>
      <p:sp>
        <p:nvSpPr>
          <p:cNvPr id="10" name="rule-2">
            <a:extLst xmlns:a="http://schemas.openxmlformats.org/drawingml/2006/main">
              <a:ext uri="{FF2B5EF4-FFF2-40B4-BE49-F238E27FC236}">
                <a16:creationId xmlns:a16="http://schemas.microsoft.com/office/drawing/2014/main" id="{F8929DA6-D24B-4DC3-985C-5C367C481995}"/>
              </a:ext>
            </a:extLst>
          </p:cNvPr>
          <p:cNvSpPr>
            <a:spLocks xmlns:a="http://schemas.openxmlformats.org/drawingml/2006/main" noGrp="1"/>
          </p:cNvSpPr>
          <p:nvPr/>
        </p:nvSpPr>
        <p:spPr>
          <a:xfrm xmlns:a="http://schemas.openxmlformats.org/drawingml/2006/main">
            <a:off x="6233465" y="2514600"/>
            <a:ext cx="2537460" cy="0"/>
          </a:xfrm>
          <a:prstGeom xmlns:a="http://schemas.openxmlformats.org/drawingml/2006/main" prst="line">
            <a:avLst/>
          </a:prstGeom>
          <a:ln xmlns:a="http://schemas.openxmlformats.org/drawingml/2006/main" w="9525">
            <a:solidFill>
              <a:srgbClr val="D6D3D1"/>
            </a:solidFill>
          </a:ln>
        </p:spPr>
      </p:sp>
      <p:sp>
        <p:nvSpPr>
          <p:cNvPr id="11" name="head-2">
            <a:extLst xmlns:a="http://schemas.openxmlformats.org/drawingml/2006/main">
              <a:ext uri="{FF2B5EF4-FFF2-40B4-BE49-F238E27FC236}">
                <a16:creationId xmlns:a16="http://schemas.microsoft.com/office/drawing/2014/main" id="{73491ABF-B202-4997-A999-2624834A622C}"/>
              </a:ext>
            </a:extLst>
          </p:cNvPr>
          <p:cNvSpPr txBox="1">
            <a:spLocks xmlns:a="http://schemas.openxmlformats.org/drawingml/2006/main" noGrp="1"/>
          </p:cNvSpPr>
          <p:nvPr/>
        </p:nvSpPr>
        <p:spPr>
          <a:xfrm xmlns:a="http://schemas.openxmlformats.org/drawingml/2006/main">
            <a:off x="6233465" y="2651760"/>
            <a:ext cx="25374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Trust</a:t>
            </a:r>
          </a:p>
        </p:txBody>
      </p:sp>
      <p:sp>
        <p:nvSpPr>
          <p:cNvPr id="12" name="body-2">
            <a:extLst xmlns:a="http://schemas.openxmlformats.org/drawingml/2006/main">
              <a:ext uri="{FF2B5EF4-FFF2-40B4-BE49-F238E27FC236}">
                <a16:creationId xmlns:a16="http://schemas.microsoft.com/office/drawing/2014/main" id="{BF08B4A4-ED1F-4595-8527-A0729F9CFDF1}"/>
              </a:ext>
            </a:extLst>
          </p:cNvPr>
          <p:cNvSpPr txBox="1">
            <a:spLocks xmlns:a="http://schemas.openxmlformats.org/drawingml/2006/main" noGrp="1"/>
          </p:cNvSpPr>
          <p:nvPr/>
        </p:nvSpPr>
        <p:spPr>
          <a:xfrm xmlns:a="http://schemas.openxmlformats.org/drawingml/2006/main">
            <a:off x="6233465" y="3154680"/>
            <a:ext cx="2537460" cy="1379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Sources, uncertainty,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review and correction are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understandable.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Relationships and delivery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are accountable.</a:t>
            </a:r>
          </a:p>
        </p:txBody>
      </p:sp>
      <p:sp>
        <p:nvSpPr>
          <p:cNvPr id="13" name="rule-3">
            <a:extLst xmlns:a="http://schemas.openxmlformats.org/drawingml/2006/main">
              <a:ext uri="{FF2B5EF4-FFF2-40B4-BE49-F238E27FC236}">
                <a16:creationId xmlns:a16="http://schemas.microsoft.com/office/drawing/2014/main" id="{FCD8D9FF-E4F7-4E14-9E56-6DF3C5FC93B2}"/>
              </a:ext>
            </a:extLst>
          </p:cNvPr>
          <p:cNvSpPr>
            <a:spLocks xmlns:a="http://schemas.openxmlformats.org/drawingml/2006/main" noGrp="1"/>
          </p:cNvSpPr>
          <p:nvPr/>
        </p:nvSpPr>
        <p:spPr>
          <a:xfrm xmlns:a="http://schemas.openxmlformats.org/drawingml/2006/main">
            <a:off x="9045245" y="2514600"/>
            <a:ext cx="2537460" cy="0"/>
          </a:xfrm>
          <a:prstGeom xmlns:a="http://schemas.openxmlformats.org/drawingml/2006/main" prst="line">
            <a:avLst/>
          </a:prstGeom>
          <a:ln xmlns:a="http://schemas.openxmlformats.org/drawingml/2006/main" w="9525">
            <a:solidFill>
              <a:srgbClr val="D6D3D1"/>
            </a:solidFill>
          </a:ln>
        </p:spPr>
      </p:sp>
      <p:sp>
        <p:nvSpPr>
          <p:cNvPr id="14" name="head-3">
            <a:extLst xmlns:a="http://schemas.openxmlformats.org/drawingml/2006/main">
              <a:ext uri="{FF2B5EF4-FFF2-40B4-BE49-F238E27FC236}">
                <a16:creationId xmlns:a16="http://schemas.microsoft.com/office/drawing/2014/main" id="{0C92F901-0D45-43E2-99F7-74F1B56EB36B}"/>
              </a:ext>
            </a:extLst>
          </p:cNvPr>
          <p:cNvSpPr txBox="1">
            <a:spLocks xmlns:a="http://schemas.openxmlformats.org/drawingml/2006/main" noGrp="1"/>
          </p:cNvSpPr>
          <p:nvPr/>
        </p:nvSpPr>
        <p:spPr>
          <a:xfrm xmlns:a="http://schemas.openxmlformats.org/drawingml/2006/main">
            <a:off x="9045245" y="2651760"/>
            <a:ext cx="2537460"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Reciprocity</a:t>
            </a:r>
          </a:p>
        </p:txBody>
      </p:sp>
      <p:sp>
        <p:nvSpPr>
          <p:cNvPr id="15" name="body-3">
            <a:extLst xmlns:a="http://schemas.openxmlformats.org/drawingml/2006/main">
              <a:ext uri="{FF2B5EF4-FFF2-40B4-BE49-F238E27FC236}">
                <a16:creationId xmlns:a16="http://schemas.microsoft.com/office/drawing/2014/main" id="{61E76956-62EF-40D1-85D8-609E55912C6F}"/>
              </a:ext>
            </a:extLst>
          </p:cNvPr>
          <p:cNvSpPr txBox="1">
            <a:spLocks xmlns:a="http://schemas.openxmlformats.org/drawingml/2006/main" noGrp="1"/>
          </p:cNvSpPr>
          <p:nvPr/>
        </p:nvSpPr>
        <p:spPr>
          <a:xfrm xmlns:a="http://schemas.openxmlformats.org/drawingml/2006/main">
            <a:off x="9045245" y="3154680"/>
            <a:ext cx="2537460"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Contributors receive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learning, skills,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relationships or</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resources, and can decline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sharing without losing</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their records.</a:t>
            </a:r>
          </a:p>
        </p:txBody>
      </p:sp>
      <p:sp>
        <p:nvSpPr>
          <p:cNvPr id="16" name="closing">
            <a:extLst xmlns:a="http://schemas.openxmlformats.org/drawingml/2006/main">
              <a:ext uri="{FF2B5EF4-FFF2-40B4-BE49-F238E27FC236}">
                <a16:creationId xmlns:a16="http://schemas.microsoft.com/office/drawing/2014/main" id="{A5F2CE0B-747C-4060-822D-B5991C53D6B0}"/>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Privacy, Interoperability and Verifiability run through all four.</a:t>
            </a:r>
          </a:p>
        </p:txBody>
      </p:sp>
      <p:sp>
        <p:nvSpPr>
          <p:cNvPr id="17" name="footnote">
            <a:extLst xmlns:a="http://schemas.openxmlformats.org/drawingml/2006/main">
              <a:ext uri="{FF2B5EF4-FFF2-40B4-BE49-F238E27FC236}">
                <a16:creationId xmlns:a16="http://schemas.microsoft.com/office/drawing/2014/main" id="{7DEFF76B-1F02-4818-9F9E-FE5A353A0986}"/>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Agreed principles for this proposal, not certification of the current product. Verifying a source or signature does not establish an environmental outcome.</a:t>
            </a:r>
          </a:p>
        </p:txBody>
      </p:sp>
    </p:spTree>
    <p:extLst>
      <p:ext uri="{BB962C8B-B14F-4D97-AF65-F5344CB8AC3E}">
        <p14:creationId xmlns:p14="http://schemas.microsoft.com/office/powerpoint/2010/main" val="1440655531"/>
      </p:ext>
    </p:extLst>
  </p:cSld>
</p:sld>
</file>

<file path=ppt/slides/slide9.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1AF672D4-CE37-492B-B509-6C0AFAD44625}"/>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Knowledge grows</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through relationships.</a:t>
            </a:r>
          </a:p>
        </p:txBody>
      </p:sp>
      <p:sp>
        <p:nvSpPr>
          <p:cNvPr id="3" name="lede">
            <a:extLst xmlns:a="http://schemas.openxmlformats.org/drawingml/2006/main">
              <a:ext uri="{FF2B5EF4-FFF2-40B4-BE49-F238E27FC236}">
                <a16:creationId xmlns:a16="http://schemas.microsoft.com/office/drawing/2014/main" id="{7A8601F3-503D-42B5-8D28-447F41A55BD2}"/>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Exchange within and across bioregions rewards the people who contribute.</a:t>
            </a:r>
          </a:p>
        </p:txBody>
      </p:sp>
      <p:sp>
        <p:nvSpPr>
          <p:cNvPr id="4" name="node-0">
            <a:extLst xmlns:a="http://schemas.openxmlformats.org/drawingml/2006/main">
              <a:ext uri="{FF2B5EF4-FFF2-40B4-BE49-F238E27FC236}">
                <a16:creationId xmlns:a16="http://schemas.microsoft.com/office/drawing/2014/main" id="{0CABEB40-6415-4C61-822F-20EF033840D0}"/>
              </a:ext>
            </a:extLst>
          </p:cNvPr>
          <p:cNvSpPr>
            <a:spLocks xmlns:a="http://schemas.openxmlformats.org/drawingml/2006/main" noGrp="1"/>
          </p:cNvSpPr>
          <p:nvPr/>
        </p:nvSpPr>
        <p:spPr>
          <a:xfrm xmlns:a="http://schemas.openxmlformats.org/drawingml/2006/main">
            <a:off x="822960" y="2743200"/>
            <a:ext cx="2743200" cy="73152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5" name="node-text-0">
            <a:extLst xmlns:a="http://schemas.openxmlformats.org/drawingml/2006/main">
              <a:ext uri="{FF2B5EF4-FFF2-40B4-BE49-F238E27FC236}">
                <a16:creationId xmlns:a16="http://schemas.microsoft.com/office/drawing/2014/main" id="{21AAC56C-D8AF-4E0A-A17B-F98CC8ECC3C6}"/>
              </a:ext>
            </a:extLst>
          </p:cNvPr>
          <p:cNvSpPr txBox="1">
            <a:spLocks xmlns:a="http://schemas.openxmlformats.org/drawingml/2006/main" noGrp="1"/>
          </p:cNvSpPr>
          <p:nvPr/>
        </p:nvSpPr>
        <p:spPr>
          <a:xfrm xmlns:a="http://schemas.openxmlformats.org/drawingml/2006/main">
            <a:off x="1005840" y="2953512"/>
            <a:ext cx="246888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2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Transitioning farm</a:t>
            </a:r>
          </a:p>
        </p:txBody>
      </p:sp>
      <p:sp>
        <p:nvSpPr>
          <p:cNvPr id="6" name="node-1">
            <a:extLst xmlns:a="http://schemas.openxmlformats.org/drawingml/2006/main">
              <a:ext uri="{FF2B5EF4-FFF2-40B4-BE49-F238E27FC236}">
                <a16:creationId xmlns:a16="http://schemas.microsoft.com/office/drawing/2014/main" id="{841D7FA7-1B37-4F64-A101-AFA9A1BE8ABD}"/>
              </a:ext>
            </a:extLst>
          </p:cNvPr>
          <p:cNvSpPr>
            <a:spLocks xmlns:a="http://schemas.openxmlformats.org/drawingml/2006/main" noGrp="1"/>
          </p:cNvSpPr>
          <p:nvPr/>
        </p:nvSpPr>
        <p:spPr>
          <a:xfrm xmlns:a="http://schemas.openxmlformats.org/drawingml/2006/main">
            <a:off x="822960" y="4663440"/>
            <a:ext cx="2743200" cy="73152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7" name="node-text-1">
            <a:extLst xmlns:a="http://schemas.openxmlformats.org/drawingml/2006/main">
              <a:ext uri="{FF2B5EF4-FFF2-40B4-BE49-F238E27FC236}">
                <a16:creationId xmlns:a16="http://schemas.microsoft.com/office/drawing/2014/main" id="{DA4AB08E-9BBD-4B7F-B9DD-2916EB9787D7}"/>
              </a:ext>
            </a:extLst>
          </p:cNvPr>
          <p:cNvSpPr txBox="1">
            <a:spLocks xmlns:a="http://schemas.openxmlformats.org/drawingml/2006/main" noGrp="1"/>
          </p:cNvSpPr>
          <p:nvPr/>
        </p:nvSpPr>
        <p:spPr>
          <a:xfrm xmlns:a="http://schemas.openxmlformats.org/drawingml/2006/main">
            <a:off x="1005840" y="4873752"/>
            <a:ext cx="246888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2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Community-managed land</a:t>
            </a:r>
          </a:p>
        </p:txBody>
      </p:sp>
      <p:sp>
        <p:nvSpPr>
          <p:cNvPr id="8" name="node-2">
            <a:extLst xmlns:a="http://schemas.openxmlformats.org/drawingml/2006/main">
              <a:ext uri="{FF2B5EF4-FFF2-40B4-BE49-F238E27FC236}">
                <a16:creationId xmlns:a16="http://schemas.microsoft.com/office/drawing/2014/main" id="{0549AFC3-5795-413A-9908-A21ABF7E6391}"/>
              </a:ext>
            </a:extLst>
          </p:cNvPr>
          <p:cNvSpPr>
            <a:spLocks xmlns:a="http://schemas.openxmlformats.org/drawingml/2006/main" noGrp="1"/>
          </p:cNvSpPr>
          <p:nvPr/>
        </p:nvSpPr>
        <p:spPr>
          <a:xfrm xmlns:a="http://schemas.openxmlformats.org/drawingml/2006/main">
            <a:off x="4572000" y="3703320"/>
            <a:ext cx="2743200" cy="73152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9" name="node-text-2">
            <a:extLst xmlns:a="http://schemas.openxmlformats.org/drawingml/2006/main">
              <a:ext uri="{FF2B5EF4-FFF2-40B4-BE49-F238E27FC236}">
                <a16:creationId xmlns:a16="http://schemas.microsoft.com/office/drawing/2014/main" id="{6F252071-E7C7-4D9A-9E77-E7C5C593D68E}"/>
              </a:ext>
            </a:extLst>
          </p:cNvPr>
          <p:cNvSpPr txBox="1">
            <a:spLocks xmlns:a="http://schemas.openxmlformats.org/drawingml/2006/main" noGrp="1"/>
          </p:cNvSpPr>
          <p:nvPr/>
        </p:nvSpPr>
        <p:spPr>
          <a:xfrm xmlns:a="http://schemas.openxmlformats.org/drawingml/2006/main">
            <a:off x="4754880" y="3913632"/>
            <a:ext cx="246888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2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Restoration steward</a:t>
            </a:r>
          </a:p>
        </p:txBody>
      </p:sp>
      <p:sp>
        <p:nvSpPr>
          <p:cNvPr id="10" name="link-0">
            <a:extLst xmlns:a="http://schemas.openxmlformats.org/drawingml/2006/main">
              <a:ext uri="{FF2B5EF4-FFF2-40B4-BE49-F238E27FC236}">
                <a16:creationId xmlns:a16="http://schemas.microsoft.com/office/drawing/2014/main" id="{981FA8D0-4B47-407A-8228-975EF6B86FB5}"/>
              </a:ext>
            </a:extLst>
          </p:cNvPr>
          <p:cNvSpPr>
            <a:spLocks xmlns:a="http://schemas.openxmlformats.org/drawingml/2006/main" noGrp="1"/>
          </p:cNvSpPr>
          <p:nvPr/>
        </p:nvSpPr>
        <p:spPr>
          <a:xfrm xmlns:a="http://schemas.openxmlformats.org/drawingml/2006/main">
            <a:off x="2194560" y="3474720"/>
            <a:ext cx="0" cy="1188720"/>
          </a:xfrm>
          <a:prstGeom xmlns:a="http://schemas.openxmlformats.org/drawingml/2006/main" prst="line">
            <a:avLst/>
          </a:prstGeom>
          <a:ln xmlns:a="http://schemas.openxmlformats.org/drawingml/2006/main" w="12700">
            <a:solidFill>
              <a:srgbClr val="78716C"/>
            </a:solidFill>
          </a:ln>
        </p:spPr>
      </p:sp>
      <p:sp>
        <p:nvSpPr>
          <p:cNvPr id="11" name="link-1">
            <a:extLst xmlns:a="http://schemas.openxmlformats.org/drawingml/2006/main">
              <a:ext uri="{FF2B5EF4-FFF2-40B4-BE49-F238E27FC236}">
                <a16:creationId xmlns:a16="http://schemas.microsoft.com/office/drawing/2014/main" id="{98CC8EE6-7BC2-42DF-A7A1-3F995A697F91}"/>
              </a:ext>
            </a:extLst>
          </p:cNvPr>
          <p:cNvSpPr>
            <a:spLocks xmlns:a="http://schemas.openxmlformats.org/drawingml/2006/main" noGrp="1"/>
          </p:cNvSpPr>
          <p:nvPr/>
        </p:nvSpPr>
        <p:spPr>
          <a:xfrm xmlns:a="http://schemas.openxmlformats.org/drawingml/2006/main">
            <a:off x="3566160" y="3108960"/>
            <a:ext cx="1005840" cy="822960"/>
          </a:xfrm>
          <a:prstGeom xmlns:a="http://schemas.openxmlformats.org/drawingml/2006/main" prst="line">
            <a:avLst/>
          </a:prstGeom>
          <a:ln xmlns:a="http://schemas.openxmlformats.org/drawingml/2006/main" w="12700">
            <a:solidFill>
              <a:srgbClr val="78716C"/>
            </a:solidFill>
          </a:ln>
        </p:spPr>
      </p:sp>
      <p:sp>
        <p:nvSpPr>
          <p:cNvPr id="12" name="link-2">
            <a:extLst xmlns:a="http://schemas.openxmlformats.org/drawingml/2006/main">
              <a:ext uri="{FF2B5EF4-FFF2-40B4-BE49-F238E27FC236}">
                <a16:creationId xmlns:a16="http://schemas.microsoft.com/office/drawing/2014/main" id="{4118C50C-89F3-4AFB-ABDE-DC0B293EA663}"/>
              </a:ext>
            </a:extLst>
          </p:cNvPr>
          <p:cNvSpPr>
            <a:spLocks xmlns:a="http://schemas.openxmlformats.org/drawingml/2006/main" noGrp="1"/>
          </p:cNvSpPr>
          <p:nvPr/>
        </p:nvSpPr>
        <p:spPr>
          <a:xfrm xmlns:a="http://schemas.openxmlformats.org/drawingml/2006/main" flipV="1">
            <a:off x="3566160" y="4251960"/>
            <a:ext cx="1005840" cy="777240"/>
          </a:xfrm>
          <a:prstGeom xmlns:a="http://schemas.openxmlformats.org/drawingml/2006/main" prst="line">
            <a:avLst/>
          </a:prstGeom>
          <a:ln xmlns:a="http://schemas.openxmlformats.org/drawingml/2006/main" w="12700">
            <a:solidFill>
              <a:srgbClr val="78716C"/>
            </a:solidFill>
          </a:ln>
        </p:spPr>
      </p:sp>
      <p:sp>
        <p:nvSpPr>
          <p:cNvPr id="13" name="link-note">
            <a:extLst xmlns:a="http://schemas.openxmlformats.org/drawingml/2006/main">
              <a:ext uri="{FF2B5EF4-FFF2-40B4-BE49-F238E27FC236}">
                <a16:creationId xmlns:a16="http://schemas.microsoft.com/office/drawing/2014/main" id="{7592F417-4721-4685-ACBB-54ECDABF167F}"/>
              </a:ext>
            </a:extLst>
          </p:cNvPr>
          <p:cNvSpPr txBox="1">
            <a:spLocks xmlns:a="http://schemas.openxmlformats.org/drawingml/2006/main" noGrp="1"/>
          </p:cNvSpPr>
          <p:nvPr/>
        </p:nvSpPr>
        <p:spPr>
          <a:xfrm xmlns:a="http://schemas.openxmlformats.org/drawingml/2006/main">
            <a:off x="609905" y="5532120"/>
            <a:ext cx="676656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78716C"/>
                </a:solidFill>
                <a:latin typeface="Inter"/>
                <a:ea typeface="Inter"/>
                <a:cs typeface="Inter"/>
              </a:defRPr>
            </a:defPPr>
          </a:lstStyle>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Deliberate exchanges between distinct places, in both directions.</a:t>
            </a:r>
          </a:p>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Not a global data cloud.</a:t>
            </a:r>
          </a:p>
        </p:txBody>
      </p:sp>
      <p:sp>
        <p:nvSpPr>
          <p:cNvPr id="14" name="rule-r">
            <a:extLst xmlns:a="http://schemas.openxmlformats.org/drawingml/2006/main">
              <a:ext uri="{FF2B5EF4-FFF2-40B4-BE49-F238E27FC236}">
                <a16:creationId xmlns:a16="http://schemas.microsoft.com/office/drawing/2014/main" id="{AC682C99-7CA7-40D2-A73B-CF7E4DC5E610}"/>
              </a:ext>
            </a:extLst>
          </p:cNvPr>
          <p:cNvSpPr>
            <a:spLocks xmlns:a="http://schemas.openxmlformats.org/drawingml/2006/main" noGrp="1"/>
          </p:cNvSpPr>
          <p:nvPr/>
        </p:nvSpPr>
        <p:spPr>
          <a:xfrm xmlns:a="http://schemas.openxmlformats.org/drawingml/2006/main">
            <a:off x="7589520" y="2514600"/>
            <a:ext cx="3993185" cy="0"/>
          </a:xfrm>
          <a:prstGeom xmlns:a="http://schemas.openxmlformats.org/drawingml/2006/main" prst="line">
            <a:avLst/>
          </a:prstGeom>
          <a:ln xmlns:a="http://schemas.openxmlformats.org/drawingml/2006/main" w="9525">
            <a:solidFill>
              <a:srgbClr val="D6D3D1"/>
            </a:solidFill>
          </a:ln>
        </p:spPr>
      </p:sp>
      <p:sp>
        <p:nvSpPr>
          <p:cNvPr id="15" name="head-r1">
            <a:extLst xmlns:a="http://schemas.openxmlformats.org/drawingml/2006/main">
              <a:ext uri="{FF2B5EF4-FFF2-40B4-BE49-F238E27FC236}">
                <a16:creationId xmlns:a16="http://schemas.microsoft.com/office/drawing/2014/main" id="{F5574A6C-4E4C-4169-81CB-62C6EAE97DB1}"/>
              </a:ext>
            </a:extLst>
          </p:cNvPr>
          <p:cNvSpPr txBox="1">
            <a:spLocks xmlns:a="http://schemas.openxmlformats.org/drawingml/2006/main" noGrp="1"/>
          </p:cNvSpPr>
          <p:nvPr/>
        </p:nvSpPr>
        <p:spPr>
          <a:xfrm xmlns:a="http://schemas.openxmlformats.org/drawingml/2006/main">
            <a:off x="7589520" y="2651760"/>
            <a:ext cx="3993185"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What contributors get back</a:t>
            </a:r>
          </a:p>
        </p:txBody>
      </p:sp>
      <p:sp>
        <p:nvSpPr>
          <p:cNvPr id="16" name="body-r1">
            <a:extLst xmlns:a="http://schemas.openxmlformats.org/drawingml/2006/main">
              <a:ext uri="{FF2B5EF4-FFF2-40B4-BE49-F238E27FC236}">
                <a16:creationId xmlns:a16="http://schemas.microsoft.com/office/drawing/2014/main" id="{0558E362-1BDD-4DAE-9B11-C94EC658BD20}"/>
              </a:ext>
            </a:extLst>
          </p:cNvPr>
          <p:cNvSpPr txBox="1">
            <a:spLocks xmlns:a="http://schemas.openxmlformats.org/drawingml/2006/main" noGrp="1"/>
          </p:cNvSpPr>
          <p:nvPr/>
        </p:nvSpPr>
        <p:spPr>
          <a:xfrm xmlns:a="http://schemas.openxmlformats.org/drawingml/2006/main">
            <a:off x="7589520" y="3154680"/>
            <a:ext cx="3993185"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Learning, skills, relationships or resources.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Recognition that names the source.</a:t>
            </a:r>
          </a:p>
        </p:txBody>
      </p:sp>
      <p:sp>
        <p:nvSpPr>
          <p:cNvPr id="17" name="rule-r2">
            <a:extLst xmlns:a="http://schemas.openxmlformats.org/drawingml/2006/main">
              <a:ext uri="{FF2B5EF4-FFF2-40B4-BE49-F238E27FC236}">
                <a16:creationId xmlns:a16="http://schemas.microsoft.com/office/drawing/2014/main" id="{E89F2491-AD3C-4DE5-820A-0FCB370D1EA4}"/>
              </a:ext>
            </a:extLst>
          </p:cNvPr>
          <p:cNvSpPr>
            <a:spLocks xmlns:a="http://schemas.openxmlformats.org/drawingml/2006/main" noGrp="1"/>
          </p:cNvSpPr>
          <p:nvPr/>
        </p:nvSpPr>
        <p:spPr>
          <a:xfrm xmlns:a="http://schemas.openxmlformats.org/drawingml/2006/main">
            <a:off x="7589520" y="4069080"/>
            <a:ext cx="3993185" cy="0"/>
          </a:xfrm>
          <a:prstGeom xmlns:a="http://schemas.openxmlformats.org/drawingml/2006/main" prst="line">
            <a:avLst/>
          </a:prstGeom>
          <a:ln xmlns:a="http://schemas.openxmlformats.org/drawingml/2006/main" w="9525">
            <a:solidFill>
              <a:srgbClr val="D6D3D1"/>
            </a:solidFill>
          </a:ln>
        </p:spPr>
      </p:sp>
      <p:sp>
        <p:nvSpPr>
          <p:cNvPr id="18" name="head-r2">
            <a:extLst xmlns:a="http://schemas.openxmlformats.org/drawingml/2006/main">
              <a:ext uri="{FF2B5EF4-FFF2-40B4-BE49-F238E27FC236}">
                <a16:creationId xmlns:a16="http://schemas.microsoft.com/office/drawing/2014/main" id="{DEC9930A-21BA-4F04-BF1F-EF478DA2E96F}"/>
              </a:ext>
            </a:extLst>
          </p:cNvPr>
          <p:cNvSpPr txBox="1">
            <a:spLocks xmlns:a="http://schemas.openxmlformats.org/drawingml/2006/main" noGrp="1"/>
          </p:cNvSpPr>
          <p:nvPr/>
        </p:nvSpPr>
        <p:spPr>
          <a:xfrm xmlns:a="http://schemas.openxmlformats.org/drawingml/2006/main">
            <a:off x="7589520" y="4206240"/>
            <a:ext cx="3993185" cy="3850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Costs to plan for</a:t>
            </a:r>
          </a:p>
        </p:txBody>
      </p:sp>
      <p:sp>
        <p:nvSpPr>
          <p:cNvPr id="19" name="body-r2">
            <a:extLst xmlns:a="http://schemas.openxmlformats.org/drawingml/2006/main">
              <a:ext uri="{FF2B5EF4-FFF2-40B4-BE49-F238E27FC236}">
                <a16:creationId xmlns:a16="http://schemas.microsoft.com/office/drawing/2014/main" id="{8F04DCD0-29A8-4214-A4D3-35E17C1FDDBA}"/>
              </a:ext>
            </a:extLst>
          </p:cNvPr>
          <p:cNvSpPr txBox="1">
            <a:spLocks xmlns:a="http://schemas.openxmlformats.org/drawingml/2006/main" noGrp="1"/>
          </p:cNvSpPr>
          <p:nvPr/>
        </p:nvSpPr>
        <p:spPr>
          <a:xfrm xmlns:a="http://schemas.openxmlformats.org/drawingml/2006/main">
            <a:off x="7589520" y="4709160"/>
            <a:ext cx="3993185"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Curation, translation and facilitation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are paid work, not assumed volunteering.</a:t>
            </a:r>
          </a:p>
        </p:txBody>
      </p:sp>
      <p:sp>
        <p:nvSpPr>
          <p:cNvPr id="20" name="footnote">
            <a:extLst xmlns:a="http://schemas.openxmlformats.org/drawingml/2006/main">
              <a:ext uri="{FF2B5EF4-FFF2-40B4-BE49-F238E27FC236}">
                <a16:creationId xmlns:a16="http://schemas.microsoft.com/office/drawing/2014/main" id="{2DB4CD11-ED7E-4C9E-A769-B40ACEF0AB71}"/>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Network effects are unproven; the pilot measures useful exchange in each direction for each matched pair.</a:t>
            </a:r>
          </a:p>
        </p:txBody>
      </p:sp>
    </p:spTree>
    <p:extLst>
      <p:ext uri="{BB962C8B-B14F-4D97-AF65-F5344CB8AC3E}">
        <p14:creationId xmlns:p14="http://schemas.microsoft.com/office/powerpoint/2010/main" val="1440655531"/>
      </p:ext>
    </p:extLst>
  </p:cSld>
</p:sld>
</file>

<file path=ppt/slides/slide10.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DA4A3F1D-9CED-43F0-9E4A-B1435A7765A6}"/>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Turn shared understanding</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into collective action.</a:t>
            </a:r>
          </a:p>
        </p:txBody>
      </p:sp>
      <p:sp>
        <p:nvSpPr>
          <p:cNvPr id="3" name="lede">
            <a:extLst xmlns:a="http://schemas.openxmlformats.org/drawingml/2006/main">
              <a:ext uri="{FF2B5EF4-FFF2-40B4-BE49-F238E27FC236}">
                <a16:creationId xmlns:a16="http://schemas.microsoft.com/office/drawing/2014/main" id="{0990479E-F1D1-46FC-87DE-8BA916A9C3F2}"/>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Coordinate skills, time, resources and funding around one concrete task.</a:t>
            </a:r>
          </a:p>
        </p:txBody>
      </p:sp>
      <p:sp>
        <p:nvSpPr>
          <p:cNvPr id="4" name="label">
            <a:extLst xmlns:a="http://schemas.openxmlformats.org/drawingml/2006/main">
              <a:ext uri="{FF2B5EF4-FFF2-40B4-BE49-F238E27FC236}">
                <a16:creationId xmlns:a16="http://schemas.microsoft.com/office/drawing/2014/main" id="{EC81B76B-1EED-443B-9EE2-E469C7137907}"/>
              </a:ext>
            </a:extLst>
          </p:cNvPr>
          <p:cNvSpPr txBox="1">
            <a:spLocks xmlns:a="http://schemas.openxmlformats.org/drawingml/2006/main" noGrp="1"/>
          </p:cNvSpPr>
          <p:nvPr/>
        </p:nvSpPr>
        <p:spPr>
          <a:xfrm xmlns:a="http://schemas.openxmlformats.org/drawingml/2006/main">
            <a:off x="609905" y="2514600"/>
            <a:ext cx="53949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FUNDING AVAILABLE TODAY, POOLING IN PROGRESS</a:t>
            </a:r>
          </a:p>
        </p:txBody>
      </p:sp>
      <p:sp>
        <p:nvSpPr>
          <p:cNvPr id="5" name="head">
            <a:extLst xmlns:a="http://schemas.openxmlformats.org/drawingml/2006/main">
              <a:ext uri="{FF2B5EF4-FFF2-40B4-BE49-F238E27FC236}">
                <a16:creationId xmlns:a16="http://schemas.microsoft.com/office/drawing/2014/main" id="{BF216CAA-B5A9-482D-8ED1-3E724838C7AB}"/>
              </a:ext>
            </a:extLst>
          </p:cNvPr>
          <p:cNvSpPr txBox="1">
            <a:spLocks xmlns:a="http://schemas.openxmlformats.org/drawingml/2006/main" noGrp="1"/>
          </p:cNvSpPr>
          <p:nvPr/>
        </p:nvSpPr>
        <p:spPr>
          <a:xfrm xmlns:a="http://schemas.openxmlformats.org/drawingml/2006/main">
            <a:off x="609905" y="2734056"/>
            <a:ext cx="5394960" cy="71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i="0" kern="1200">
                <a:solidFill>
                  <a:srgbClr val="292524"/>
                </a:solidFill>
                <a:latin typeface="Fraunces Medium"/>
                <a:ea typeface="Fraunces Medium"/>
                <a:cs typeface="Fraunces Medium"/>
              </a:defRPr>
            </a:defPPr>
          </a:lstStyle>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Example: keep a community rain tank</a:t>
            </a:r>
          </a:p>
          <a:p xmlns:a="http://schemas.openxmlformats.org/drawingml/2006/main">
            <a:pPr>
              <a:lnSpc>
                <a:spcPts val="2600"/>
              </a:lnSpc>
              <a:defRPr sz="2250" b="0" i="0" kern="1200">
                <a:solidFill>
                  <a:srgbClr val="292524"/>
                </a:solidFill>
                <a:latin typeface="Fraunces Medium"/>
                <a:ea typeface="Fraunces Medium"/>
                <a:cs typeface="Fraunces Medium"/>
              </a:defRPr>
            </a:pPr>
            <a:r>
              <a:rPr sz="2250" b="0" i="0" kern="1200">
                <a:solidFill>
                  <a:srgbClr val="292524"/>
                </a:solidFill>
                <a:latin typeface="Fraunces Medium"/>
                <a:ea typeface="Fraunces Medium"/>
                <a:cs typeface="Fraunces Medium"/>
              </a:rPr>
              <a:t>working through the dry season</a:t>
            </a:r>
          </a:p>
        </p:txBody>
      </p:sp>
      <p:sp>
        <p:nvSpPr>
          <p:cNvPr id="6" name="c-head-0">
            <a:extLst xmlns:a="http://schemas.openxmlformats.org/drawingml/2006/main">
              <a:ext uri="{FF2B5EF4-FFF2-40B4-BE49-F238E27FC236}">
                <a16:creationId xmlns:a16="http://schemas.microsoft.com/office/drawing/2014/main" id="{09BC84F2-380B-4938-946A-9F9A27897E64}"/>
              </a:ext>
            </a:extLst>
          </p:cNvPr>
          <p:cNvSpPr txBox="1">
            <a:spLocks xmlns:a="http://schemas.openxmlformats.org/drawingml/2006/main" noGrp="1"/>
          </p:cNvSpPr>
          <p:nvPr/>
        </p:nvSpPr>
        <p:spPr>
          <a:xfrm xmlns:a="http://schemas.openxmlformats.org/drawingml/2006/main">
            <a:off x="609905" y="3611880"/>
            <a:ext cx="12801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Fraunces Medium"/>
                <a:ea typeface="Fraunces Medium"/>
                <a:cs typeface="Fraunces Medium"/>
              </a:defRPr>
            </a:defPPr>
          </a:lstStyle>
          <a:p xmlns:a="http://schemas.openxmlformats.org/drawingml/2006/main">
            <a:pPr>
              <a:lnSpc>
                <a:spcPts val="2200"/>
              </a:lnSpc>
              <a:defRPr sz="1600" b="0" i="0" kern="1200">
                <a:solidFill>
                  <a:srgbClr val="292524"/>
                </a:solidFill>
                <a:latin typeface="Fraunces Medium"/>
                <a:ea typeface="Fraunces Medium"/>
                <a:cs typeface="Fraunces Medium"/>
              </a:defRPr>
            </a:pPr>
            <a:r>
              <a:rPr sz="1600" b="0" i="0" kern="1200">
                <a:solidFill>
                  <a:srgbClr val="292524"/>
                </a:solidFill>
                <a:latin typeface="Fraunces Medium"/>
                <a:ea typeface="Fraunces Medium"/>
                <a:cs typeface="Fraunces Medium"/>
              </a:rPr>
              <a:t>Time</a:t>
            </a:r>
          </a:p>
        </p:txBody>
      </p:sp>
      <p:sp>
        <p:nvSpPr>
          <p:cNvPr id="7" name="c-body-0">
            <a:extLst xmlns:a="http://schemas.openxmlformats.org/drawingml/2006/main">
              <a:ext uri="{FF2B5EF4-FFF2-40B4-BE49-F238E27FC236}">
                <a16:creationId xmlns:a16="http://schemas.microsoft.com/office/drawing/2014/main" id="{277766B3-3A2E-45FC-BF86-7D7158F86BA1}"/>
              </a:ext>
            </a:extLst>
          </p:cNvPr>
          <p:cNvSpPr txBox="1">
            <a:spLocks xmlns:a="http://schemas.openxmlformats.org/drawingml/2006/main" noGrp="1"/>
          </p:cNvSpPr>
          <p:nvPr/>
        </p:nvSpPr>
        <p:spPr>
          <a:xfrm xmlns:a="http://schemas.openxmlformats.org/drawingml/2006/main">
            <a:off x="1981505" y="3611880"/>
            <a:ext cx="4023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2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Two stewards share the weekly checks.</a:t>
            </a:r>
          </a:p>
        </p:txBody>
      </p:sp>
      <p:sp>
        <p:nvSpPr>
          <p:cNvPr id="8" name="c-head-1">
            <a:extLst xmlns:a="http://schemas.openxmlformats.org/drawingml/2006/main">
              <a:ext uri="{FF2B5EF4-FFF2-40B4-BE49-F238E27FC236}">
                <a16:creationId xmlns:a16="http://schemas.microsoft.com/office/drawing/2014/main" id="{29703556-A910-4A3C-9E47-A84E2A6D6BE5}"/>
              </a:ext>
            </a:extLst>
          </p:cNvPr>
          <p:cNvSpPr txBox="1">
            <a:spLocks xmlns:a="http://schemas.openxmlformats.org/drawingml/2006/main" noGrp="1"/>
          </p:cNvSpPr>
          <p:nvPr/>
        </p:nvSpPr>
        <p:spPr>
          <a:xfrm xmlns:a="http://schemas.openxmlformats.org/drawingml/2006/main">
            <a:off x="609905" y="3995928"/>
            <a:ext cx="12801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Fraunces Medium"/>
                <a:ea typeface="Fraunces Medium"/>
                <a:cs typeface="Fraunces Medium"/>
              </a:defRPr>
            </a:defPPr>
          </a:lstStyle>
          <a:p xmlns:a="http://schemas.openxmlformats.org/drawingml/2006/main">
            <a:pPr>
              <a:lnSpc>
                <a:spcPts val="2200"/>
              </a:lnSpc>
              <a:defRPr sz="1600" b="0" i="0" kern="1200">
                <a:solidFill>
                  <a:srgbClr val="292524"/>
                </a:solidFill>
                <a:latin typeface="Fraunces Medium"/>
                <a:ea typeface="Fraunces Medium"/>
                <a:cs typeface="Fraunces Medium"/>
              </a:defRPr>
            </a:pPr>
            <a:r>
              <a:rPr sz="1600" b="0" i="0" kern="1200">
                <a:solidFill>
                  <a:srgbClr val="292524"/>
                </a:solidFill>
                <a:latin typeface="Fraunces Medium"/>
                <a:ea typeface="Fraunces Medium"/>
                <a:cs typeface="Fraunces Medium"/>
              </a:rPr>
              <a:t>Skills</a:t>
            </a:r>
          </a:p>
        </p:txBody>
      </p:sp>
      <p:sp>
        <p:nvSpPr>
          <p:cNvPr id="9" name="c-body-1">
            <a:extLst xmlns:a="http://schemas.openxmlformats.org/drawingml/2006/main">
              <a:ext uri="{FF2B5EF4-FFF2-40B4-BE49-F238E27FC236}">
                <a16:creationId xmlns:a16="http://schemas.microsoft.com/office/drawing/2014/main" id="{0A8BB09F-8BFB-4DD1-8E65-8D706210AC0A}"/>
              </a:ext>
            </a:extLst>
          </p:cNvPr>
          <p:cNvSpPr txBox="1">
            <a:spLocks xmlns:a="http://schemas.openxmlformats.org/drawingml/2006/main" noGrp="1"/>
          </p:cNvSpPr>
          <p:nvPr/>
        </p:nvSpPr>
        <p:spPr>
          <a:xfrm xmlns:a="http://schemas.openxmlformats.org/drawingml/2006/main">
            <a:off x="1981505" y="3995928"/>
            <a:ext cx="4023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2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plumber teaches the repair.</a:t>
            </a:r>
          </a:p>
        </p:txBody>
      </p:sp>
      <p:sp>
        <p:nvSpPr>
          <p:cNvPr id="10" name="c-head-2">
            <a:extLst xmlns:a="http://schemas.openxmlformats.org/drawingml/2006/main">
              <a:ext uri="{FF2B5EF4-FFF2-40B4-BE49-F238E27FC236}">
                <a16:creationId xmlns:a16="http://schemas.microsoft.com/office/drawing/2014/main" id="{D62F18BA-E95A-4D05-B061-C6ECB1CF9C27}"/>
              </a:ext>
            </a:extLst>
          </p:cNvPr>
          <p:cNvSpPr txBox="1">
            <a:spLocks xmlns:a="http://schemas.openxmlformats.org/drawingml/2006/main" noGrp="1"/>
          </p:cNvSpPr>
          <p:nvPr/>
        </p:nvSpPr>
        <p:spPr>
          <a:xfrm xmlns:a="http://schemas.openxmlformats.org/drawingml/2006/main">
            <a:off x="609905" y="4379976"/>
            <a:ext cx="12801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Fraunces Medium"/>
                <a:ea typeface="Fraunces Medium"/>
                <a:cs typeface="Fraunces Medium"/>
              </a:defRPr>
            </a:defPPr>
          </a:lstStyle>
          <a:p xmlns:a="http://schemas.openxmlformats.org/drawingml/2006/main">
            <a:pPr>
              <a:lnSpc>
                <a:spcPts val="2200"/>
              </a:lnSpc>
              <a:defRPr sz="1600" b="0" i="0" kern="1200">
                <a:solidFill>
                  <a:srgbClr val="292524"/>
                </a:solidFill>
                <a:latin typeface="Fraunces Medium"/>
                <a:ea typeface="Fraunces Medium"/>
                <a:cs typeface="Fraunces Medium"/>
              </a:defRPr>
            </a:pPr>
            <a:r>
              <a:rPr sz="1600" b="0" i="0" kern="1200">
                <a:solidFill>
                  <a:srgbClr val="292524"/>
                </a:solidFill>
                <a:latin typeface="Fraunces Medium"/>
                <a:ea typeface="Fraunces Medium"/>
                <a:cs typeface="Fraunces Medium"/>
              </a:rPr>
              <a:t>Resources</a:t>
            </a:r>
          </a:p>
        </p:txBody>
      </p:sp>
      <p:sp>
        <p:nvSpPr>
          <p:cNvPr id="11" name="c-body-2">
            <a:extLst xmlns:a="http://schemas.openxmlformats.org/drawingml/2006/main">
              <a:ext uri="{FF2B5EF4-FFF2-40B4-BE49-F238E27FC236}">
                <a16:creationId xmlns:a16="http://schemas.microsoft.com/office/drawing/2014/main" id="{D71F085B-DEA7-4A61-8D12-189BEF2340F5}"/>
              </a:ext>
            </a:extLst>
          </p:cNvPr>
          <p:cNvSpPr txBox="1">
            <a:spLocks xmlns:a="http://schemas.openxmlformats.org/drawingml/2006/main" noGrp="1"/>
          </p:cNvSpPr>
          <p:nvPr/>
        </p:nvSpPr>
        <p:spPr>
          <a:xfrm xmlns:a="http://schemas.openxmlformats.org/drawingml/2006/main">
            <a:off x="1981505" y="4379976"/>
            <a:ext cx="4023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2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neighbour lends the tools.</a:t>
            </a:r>
          </a:p>
        </p:txBody>
      </p:sp>
      <p:sp>
        <p:nvSpPr>
          <p:cNvPr id="12" name="c-head-3">
            <a:extLst xmlns:a="http://schemas.openxmlformats.org/drawingml/2006/main">
              <a:ext uri="{FF2B5EF4-FFF2-40B4-BE49-F238E27FC236}">
                <a16:creationId xmlns:a16="http://schemas.microsoft.com/office/drawing/2014/main" id="{F4A38B94-342A-4398-BC4A-E0857AA3EC16}"/>
              </a:ext>
            </a:extLst>
          </p:cNvPr>
          <p:cNvSpPr txBox="1">
            <a:spLocks xmlns:a="http://schemas.openxmlformats.org/drawingml/2006/main" noGrp="1"/>
          </p:cNvSpPr>
          <p:nvPr/>
        </p:nvSpPr>
        <p:spPr>
          <a:xfrm xmlns:a="http://schemas.openxmlformats.org/drawingml/2006/main">
            <a:off x="609905" y="4764024"/>
            <a:ext cx="12801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00" b="0" i="0" kern="1200">
                <a:solidFill>
                  <a:srgbClr val="292524"/>
                </a:solidFill>
                <a:latin typeface="Fraunces Medium"/>
                <a:ea typeface="Fraunces Medium"/>
                <a:cs typeface="Fraunces Medium"/>
              </a:defRPr>
            </a:defPPr>
          </a:lstStyle>
          <a:p xmlns:a="http://schemas.openxmlformats.org/drawingml/2006/main">
            <a:pPr>
              <a:lnSpc>
                <a:spcPts val="2200"/>
              </a:lnSpc>
              <a:defRPr sz="1600" b="0" i="0" kern="1200">
                <a:solidFill>
                  <a:srgbClr val="292524"/>
                </a:solidFill>
                <a:latin typeface="Fraunces Medium"/>
                <a:ea typeface="Fraunces Medium"/>
                <a:cs typeface="Fraunces Medium"/>
              </a:defRPr>
            </a:pPr>
            <a:r>
              <a:rPr sz="1600" b="0" i="0" kern="1200">
                <a:solidFill>
                  <a:srgbClr val="292524"/>
                </a:solidFill>
                <a:latin typeface="Fraunces Medium"/>
                <a:ea typeface="Fraunces Medium"/>
                <a:cs typeface="Fraunces Medium"/>
              </a:rPr>
              <a:t>Funding</a:t>
            </a:r>
          </a:p>
        </p:txBody>
      </p:sp>
      <p:sp>
        <p:nvSpPr>
          <p:cNvPr id="13" name="c-body-3">
            <a:extLst xmlns:a="http://schemas.openxmlformats.org/drawingml/2006/main">
              <a:ext uri="{FF2B5EF4-FFF2-40B4-BE49-F238E27FC236}">
                <a16:creationId xmlns:a16="http://schemas.microsoft.com/office/drawing/2014/main" id="{FEF3A94F-1507-47E2-9075-E16D35020A45}"/>
              </a:ext>
            </a:extLst>
          </p:cNvPr>
          <p:cNvSpPr txBox="1">
            <a:spLocks xmlns:a="http://schemas.openxmlformats.org/drawingml/2006/main" noGrp="1"/>
          </p:cNvSpPr>
          <p:nvPr/>
        </p:nvSpPr>
        <p:spPr>
          <a:xfrm xmlns:a="http://schemas.openxmlformats.org/drawingml/2006/main">
            <a:off x="1981505" y="4764024"/>
            <a:ext cx="402336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2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sponsor covers the parts.</a:t>
            </a:r>
          </a:p>
        </p:txBody>
      </p:sp>
      <p:pic>
        <p:nvPicPr>
          <p:cNvPr id="14" name="scene">
            <a:extLst xmlns:a="http://schemas.openxmlformats.org/drawingml/2006/main">
              <a:ext uri="{FF2B5EF4-FFF2-40B4-BE49-F238E27FC236}">
                <a16:creationId xmlns:a16="http://schemas.microsoft.com/office/drawing/2014/main" id="{0FFA44EA-8342-4F72-99C7-791D1B7A7BFB}"/>
              </a:ext>
            </a:extLst>
          </p:cNvPr>
          <p:cNvPicPr>
            <a:picLocks xmlns:a="http://schemas.openxmlformats.org/drawingml/2006/main" noChangeAspect="1"/>
          </p:cNvPicPr>
          <p:nvPr/>
        </p:nvPicPr>
        <p:blipFill>
          <a:blip xmlns:a="http://schemas.openxmlformats.org/drawingml/2006/main" xmlns:r="http://schemas.openxmlformats.org/officeDocument/2006/relationships" r:embed="rIdImg1"/>
          <a:stretch xmlns:a="http://schemas.openxmlformats.org/drawingml/2006/main">
            <a:fillRect/>
          </a:stretch>
        </p:blipFill>
        <p:spPr>
          <a:xfrm xmlns:a="http://schemas.openxmlformats.org/drawingml/2006/main">
            <a:off x="6467551" y="2514600"/>
            <a:ext cx="5115154" cy="3219602"/>
          </a:xfrm>
          <a:prstGeom xmlns:a="http://schemas.openxmlformats.org/drawingml/2006/main" prst="rect">
            <a:avLst/>
          </a:prstGeom>
        </p:spPr>
      </p:pic>
      <p:sp>
        <p:nvSpPr>
          <p:cNvPr id="15" name="caption">
            <a:extLst xmlns:a="http://schemas.openxmlformats.org/drawingml/2006/main">
              <a:ext uri="{FF2B5EF4-FFF2-40B4-BE49-F238E27FC236}">
                <a16:creationId xmlns:a16="http://schemas.microsoft.com/office/drawing/2014/main" id="{5F7668C2-153A-495A-AD09-3B2D486722E0}"/>
              </a:ext>
            </a:extLst>
          </p:cNvPr>
          <p:cNvSpPr txBox="1">
            <a:spLocks xmlns:a="http://schemas.openxmlformats.org/drawingml/2006/main" noGrp="1"/>
          </p:cNvSpPr>
          <p:nvPr/>
        </p:nvSpPr>
        <p:spPr>
          <a:xfrm xmlns:a="http://schemas.openxmlformats.org/drawingml/2006/main">
            <a:off x="6467551" y="5824728"/>
            <a:ext cx="5115154" cy="2194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Website imagery, conceptual</a:t>
            </a:r>
          </a:p>
        </p:txBody>
      </p:sp>
      <p:sp>
        <p:nvSpPr>
          <p:cNvPr id="16" name="closing">
            <a:extLst xmlns:a="http://schemas.openxmlformats.org/drawingml/2006/main">
              <a:ext uri="{FF2B5EF4-FFF2-40B4-BE49-F238E27FC236}">
                <a16:creationId xmlns:a16="http://schemas.microsoft.com/office/drawing/2014/main" id="{7CD64482-ED31-40F7-B5C5-EA884D42AB5A}"/>
              </a:ext>
            </a:extLst>
          </p:cNvPr>
          <p:cNvSpPr txBox="1">
            <a:spLocks xmlns:a="http://schemas.openxmlformats.org/drawingml/2006/main" noGrp="1"/>
          </p:cNvSpPr>
          <p:nvPr/>
        </p:nvSpPr>
        <p:spPr>
          <a:xfrm xmlns:a="http://schemas.openxmlformats.org/drawingml/2006/main">
            <a:off x="609905" y="5440680"/>
            <a:ext cx="576072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Forms of value stay distinct.</a:t>
            </a:r>
          </a:p>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Nothing is forced into tokens or equivalents.</a:t>
            </a:r>
          </a:p>
        </p:txBody>
      </p:sp>
      <p:sp>
        <p:nvSpPr>
          <p:cNvPr id="17" name="footnote">
            <a:extLst xmlns:a="http://schemas.openxmlformats.org/drawingml/2006/main">
              <a:ext uri="{FF2B5EF4-FFF2-40B4-BE49-F238E27FC236}">
                <a16:creationId xmlns:a16="http://schemas.microsoft.com/office/drawing/2014/main" id="{8DED1288-3958-4A0C-AF37-A90D8C358B1B}"/>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Commitment pooling contracts are deployed but not yet an available product flow; funding paths carry no principal or yield guarantee.</a:t>
            </a:r>
          </a:p>
        </p:txBody>
      </p:sp>
    </p:spTree>
    <p:extLst>
      <p:ext uri="{BB962C8B-B14F-4D97-AF65-F5344CB8AC3E}">
        <p14:creationId xmlns:p14="http://schemas.microsoft.com/office/powerpoint/2010/main" val="1440655531"/>
      </p:ext>
    </p:extLst>
  </p:cSld>
</p:sld>
</file>

<file path=ppt/slides/slide11.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AFBFAD47-6BC2-461D-A585-40B2A5655ACC}"/>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Start with a trusted local cohort.</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Build toward global access.</a:t>
            </a:r>
          </a:p>
        </p:txBody>
      </p:sp>
      <p:sp>
        <p:nvSpPr>
          <p:cNvPr id="3" name="lede">
            <a:extLst xmlns:a="http://schemas.openxmlformats.org/drawingml/2006/main">
              <a:ext uri="{FF2B5EF4-FFF2-40B4-BE49-F238E27FC236}">
                <a16:creationId xmlns:a16="http://schemas.microsoft.com/office/drawing/2014/main" id="{1E432C70-E31D-4B6C-9A02-6B5FD4018C3D}"/>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One locally led stewardship cohort, supported by a trusted coordinator.</a:t>
            </a:r>
          </a:p>
        </p:txBody>
      </p:sp>
      <p:sp>
        <p:nvSpPr>
          <p:cNvPr id="4" name="rule-0">
            <a:extLst xmlns:a="http://schemas.openxmlformats.org/drawingml/2006/main">
              <a:ext uri="{FF2B5EF4-FFF2-40B4-BE49-F238E27FC236}">
                <a16:creationId xmlns:a16="http://schemas.microsoft.com/office/drawing/2014/main" id="{A9AC9F28-2B26-458F-8266-345016EEEBC8}"/>
              </a:ext>
            </a:extLst>
          </p:cNvPr>
          <p:cNvSpPr>
            <a:spLocks xmlns:a="http://schemas.openxmlformats.org/drawingml/2006/main" noGrp="1"/>
          </p:cNvSpPr>
          <p:nvPr/>
        </p:nvSpPr>
        <p:spPr>
          <a:xfrm xmlns:a="http://schemas.openxmlformats.org/drawingml/2006/main">
            <a:off x="609905" y="2514600"/>
            <a:ext cx="2537460" cy="0"/>
          </a:xfrm>
          <a:prstGeom xmlns:a="http://schemas.openxmlformats.org/drawingml/2006/main" prst="line">
            <a:avLst/>
          </a:prstGeom>
          <a:ln xmlns:a="http://schemas.openxmlformats.org/drawingml/2006/main" w="9525">
            <a:solidFill>
              <a:srgbClr val="D6D3D1"/>
            </a:solidFill>
          </a:ln>
        </p:spPr>
      </p:sp>
      <p:sp>
        <p:nvSpPr>
          <p:cNvPr id="5" name="label-0">
            <a:extLst xmlns:a="http://schemas.openxmlformats.org/drawingml/2006/main">
              <a:ext uri="{FF2B5EF4-FFF2-40B4-BE49-F238E27FC236}">
                <a16:creationId xmlns:a16="http://schemas.microsoft.com/office/drawing/2014/main" id="{9360C58B-4C8B-4FBA-8345-E733F193FA35}"/>
              </a:ext>
            </a:extLst>
          </p:cNvPr>
          <p:cNvSpPr txBox="1">
            <a:spLocks xmlns:a="http://schemas.openxmlformats.org/drawingml/2006/main" noGrp="1"/>
          </p:cNvSpPr>
          <p:nvPr/>
        </p:nvSpPr>
        <p:spPr>
          <a:xfrm xmlns:a="http://schemas.openxmlformats.org/drawingml/2006/main">
            <a:off x="609905" y="2651760"/>
            <a:ext cx="25374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USERS</a:t>
            </a:r>
          </a:p>
        </p:txBody>
      </p:sp>
      <p:sp>
        <p:nvSpPr>
          <p:cNvPr id="6" name="head-0">
            <a:extLst xmlns:a="http://schemas.openxmlformats.org/drawingml/2006/main">
              <a:ext uri="{FF2B5EF4-FFF2-40B4-BE49-F238E27FC236}">
                <a16:creationId xmlns:a16="http://schemas.microsoft.com/office/drawing/2014/main" id="{75ABFAED-2925-455D-94CF-594EC209FF03}"/>
              </a:ext>
            </a:extLst>
          </p:cNvPr>
          <p:cNvSpPr txBox="1">
            <a:spLocks xmlns:a="http://schemas.openxmlformats.org/drawingml/2006/main" noGrp="1"/>
          </p:cNvSpPr>
          <p:nvPr/>
        </p:nvSpPr>
        <p:spPr>
          <a:xfrm xmlns:a="http://schemas.openxmlformats.org/drawingml/2006/main">
            <a:off x="609905" y="2880360"/>
            <a:ext cx="2537460" cy="66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Participating land</a:t>
            </a:r>
          </a:p>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stewards</a:t>
            </a:r>
          </a:p>
        </p:txBody>
      </p:sp>
      <p:sp>
        <p:nvSpPr>
          <p:cNvPr id="7" name="body-0">
            <a:extLst xmlns:a="http://schemas.openxmlformats.org/drawingml/2006/main">
              <a:ext uri="{FF2B5EF4-FFF2-40B4-BE49-F238E27FC236}">
                <a16:creationId xmlns:a16="http://schemas.microsoft.com/office/drawing/2014/main" id="{076F8546-51FC-478C-9BF8-66E39933129B}"/>
              </a:ext>
            </a:extLst>
          </p:cNvPr>
          <p:cNvSpPr txBox="1">
            <a:spLocks xmlns:a="http://schemas.openxmlformats.org/drawingml/2006/main" noGrp="1"/>
          </p:cNvSpPr>
          <p:nvPr/>
        </p:nvSpPr>
        <p:spPr>
          <a:xfrm xmlns:a="http://schemas.openxmlformats.org/drawingml/2006/main">
            <a:off x="609905" y="3599688"/>
            <a:ext cx="253746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Record, review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exchange on the devices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in the languages they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already use.</a:t>
            </a:r>
          </a:p>
        </p:txBody>
      </p:sp>
      <p:sp>
        <p:nvSpPr>
          <p:cNvPr id="8" name="rule-1">
            <a:extLst xmlns:a="http://schemas.openxmlformats.org/drawingml/2006/main">
              <a:ext uri="{FF2B5EF4-FFF2-40B4-BE49-F238E27FC236}">
                <a16:creationId xmlns:a16="http://schemas.microsoft.com/office/drawing/2014/main" id="{F9541C8A-9A86-42A6-86AB-8E0290AF9712}"/>
              </a:ext>
            </a:extLst>
          </p:cNvPr>
          <p:cNvSpPr>
            <a:spLocks xmlns:a="http://schemas.openxmlformats.org/drawingml/2006/main" noGrp="1"/>
          </p:cNvSpPr>
          <p:nvPr/>
        </p:nvSpPr>
        <p:spPr>
          <a:xfrm xmlns:a="http://schemas.openxmlformats.org/drawingml/2006/main">
            <a:off x="3421685" y="2514600"/>
            <a:ext cx="2537460" cy="0"/>
          </a:xfrm>
          <a:prstGeom xmlns:a="http://schemas.openxmlformats.org/drawingml/2006/main" prst="line">
            <a:avLst/>
          </a:prstGeom>
          <a:ln xmlns:a="http://schemas.openxmlformats.org/drawingml/2006/main" w="9525">
            <a:solidFill>
              <a:srgbClr val="D6D3D1"/>
            </a:solidFill>
          </a:ln>
        </p:spPr>
      </p:sp>
      <p:sp>
        <p:nvSpPr>
          <p:cNvPr id="9" name="label-1">
            <a:extLst xmlns:a="http://schemas.openxmlformats.org/drawingml/2006/main">
              <a:ext uri="{FF2B5EF4-FFF2-40B4-BE49-F238E27FC236}">
                <a16:creationId xmlns:a16="http://schemas.microsoft.com/office/drawing/2014/main" id="{5406EE0F-CBAB-44A2-ACEC-E263DFBBCF38}"/>
              </a:ext>
            </a:extLst>
          </p:cNvPr>
          <p:cNvSpPr txBox="1">
            <a:spLocks xmlns:a="http://schemas.openxmlformats.org/drawingml/2006/main" noGrp="1"/>
          </p:cNvSpPr>
          <p:nvPr/>
        </p:nvSpPr>
        <p:spPr>
          <a:xfrm xmlns:a="http://schemas.openxmlformats.org/drawingml/2006/main">
            <a:off x="3421685" y="2651760"/>
            <a:ext cx="25374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BUYER, HYPOTHESIS</a:t>
            </a:r>
          </a:p>
        </p:txBody>
      </p:sp>
      <p:sp>
        <p:nvSpPr>
          <p:cNvPr id="10" name="head-1">
            <a:extLst xmlns:a="http://schemas.openxmlformats.org/drawingml/2006/main">
              <a:ext uri="{FF2B5EF4-FFF2-40B4-BE49-F238E27FC236}">
                <a16:creationId xmlns:a16="http://schemas.microsoft.com/office/drawing/2014/main" id="{A6F3F395-868A-4BCE-865E-02FCDC9CF3CE}"/>
              </a:ext>
            </a:extLst>
          </p:cNvPr>
          <p:cNvSpPr txBox="1">
            <a:spLocks xmlns:a="http://schemas.openxmlformats.org/drawingml/2006/main" noGrp="1"/>
          </p:cNvSpPr>
          <p:nvPr/>
        </p:nvSpPr>
        <p:spPr>
          <a:xfrm xmlns:a="http://schemas.openxmlformats.org/drawingml/2006/main">
            <a:off x="3421685" y="2880360"/>
            <a:ext cx="2537460" cy="66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Program or</a:t>
            </a:r>
          </a:p>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operations lead</a:t>
            </a:r>
          </a:p>
        </p:txBody>
      </p:sp>
      <p:sp>
        <p:nvSpPr>
          <p:cNvPr id="11" name="body-1">
            <a:extLst xmlns:a="http://schemas.openxmlformats.org/drawingml/2006/main">
              <a:ext uri="{FF2B5EF4-FFF2-40B4-BE49-F238E27FC236}">
                <a16:creationId xmlns:a16="http://schemas.microsoft.com/office/drawing/2014/main" id="{4B3C0C6D-81CB-49E5-9E64-E4AF4FD9187A}"/>
              </a:ext>
            </a:extLst>
          </p:cNvPr>
          <p:cNvSpPr txBox="1">
            <a:spLocks xmlns:a="http://schemas.openxmlformats.org/drawingml/2006/main" noGrp="1"/>
          </p:cNvSpPr>
          <p:nvPr/>
        </p:nvSpPr>
        <p:spPr>
          <a:xfrm xmlns:a="http://schemas.openxmlformats.org/drawingml/2006/main">
            <a:off x="3421685" y="3599688"/>
            <a:ext cx="253746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At the delivery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organization. Funds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support and facilitation,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measures usefulness.</a:t>
            </a:r>
          </a:p>
        </p:txBody>
      </p:sp>
      <p:sp>
        <p:nvSpPr>
          <p:cNvPr id="12" name="rule-2">
            <a:extLst xmlns:a="http://schemas.openxmlformats.org/drawingml/2006/main">
              <a:ext uri="{FF2B5EF4-FFF2-40B4-BE49-F238E27FC236}">
                <a16:creationId xmlns:a16="http://schemas.microsoft.com/office/drawing/2014/main" id="{4DF83594-A4C9-42DC-A24B-27B65500D6FD}"/>
              </a:ext>
            </a:extLst>
          </p:cNvPr>
          <p:cNvSpPr>
            <a:spLocks xmlns:a="http://schemas.openxmlformats.org/drawingml/2006/main" noGrp="1"/>
          </p:cNvSpPr>
          <p:nvPr/>
        </p:nvSpPr>
        <p:spPr>
          <a:xfrm xmlns:a="http://schemas.openxmlformats.org/drawingml/2006/main">
            <a:off x="6233465" y="2514600"/>
            <a:ext cx="2537460" cy="0"/>
          </a:xfrm>
          <a:prstGeom xmlns:a="http://schemas.openxmlformats.org/drawingml/2006/main" prst="line">
            <a:avLst/>
          </a:prstGeom>
          <a:ln xmlns:a="http://schemas.openxmlformats.org/drawingml/2006/main" w="9525">
            <a:solidFill>
              <a:srgbClr val="D6D3D1"/>
            </a:solidFill>
          </a:ln>
        </p:spPr>
      </p:sp>
      <p:sp>
        <p:nvSpPr>
          <p:cNvPr id="13" name="label-2">
            <a:extLst xmlns:a="http://schemas.openxmlformats.org/drawingml/2006/main">
              <a:ext uri="{FF2B5EF4-FFF2-40B4-BE49-F238E27FC236}">
                <a16:creationId xmlns:a16="http://schemas.microsoft.com/office/drawing/2014/main" id="{E8E2D7BD-E8AA-4B42-84A3-DAEDA3DD26FD}"/>
              </a:ext>
            </a:extLst>
          </p:cNvPr>
          <p:cNvSpPr txBox="1">
            <a:spLocks xmlns:a="http://schemas.openxmlformats.org/drawingml/2006/main" noGrp="1"/>
          </p:cNvSpPr>
          <p:nvPr/>
        </p:nvSpPr>
        <p:spPr>
          <a:xfrm xmlns:a="http://schemas.openxmlformats.org/drawingml/2006/main">
            <a:off x="6233465" y="2651760"/>
            <a:ext cx="25374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SPONSOR</a:t>
            </a:r>
          </a:p>
        </p:txBody>
      </p:sp>
      <p:sp>
        <p:nvSpPr>
          <p:cNvPr id="14" name="head-2">
            <a:extLst xmlns:a="http://schemas.openxmlformats.org/drawingml/2006/main">
              <a:ext uri="{FF2B5EF4-FFF2-40B4-BE49-F238E27FC236}">
                <a16:creationId xmlns:a16="http://schemas.microsoft.com/office/drawing/2014/main" id="{742FAB71-F0DB-44BA-AFC8-F21D77A00B22}"/>
              </a:ext>
            </a:extLst>
          </p:cNvPr>
          <p:cNvSpPr txBox="1">
            <a:spLocks xmlns:a="http://schemas.openxmlformats.org/drawingml/2006/main" noGrp="1"/>
          </p:cNvSpPr>
          <p:nvPr/>
        </p:nvSpPr>
        <p:spPr>
          <a:xfrm xmlns:a="http://schemas.openxmlformats.org/drawingml/2006/main">
            <a:off x="6233465" y="2880360"/>
            <a:ext cx="2537460" cy="664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Funds access for</a:t>
            </a:r>
          </a:p>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others</a:t>
            </a:r>
          </a:p>
        </p:txBody>
      </p:sp>
      <p:sp>
        <p:nvSpPr>
          <p:cNvPr id="15" name="body-2">
            <a:extLst xmlns:a="http://schemas.openxmlformats.org/drawingml/2006/main">
              <a:ext uri="{FF2B5EF4-FFF2-40B4-BE49-F238E27FC236}">
                <a16:creationId xmlns:a16="http://schemas.microsoft.com/office/drawing/2014/main" id="{55DBEA47-077D-45A8-9B71-D702249E0DBC}"/>
              </a:ext>
            </a:extLst>
          </p:cNvPr>
          <p:cNvSpPr txBox="1">
            <a:spLocks xmlns:a="http://schemas.openxmlformats.org/drawingml/2006/main" noGrp="1"/>
          </p:cNvSpPr>
          <p:nvPr/>
        </p:nvSpPr>
        <p:spPr>
          <a:xfrm xmlns:a="http://schemas.openxmlformats.org/drawingml/2006/main">
            <a:off x="6233465" y="3599688"/>
            <a:ext cx="253746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Holds no automatic right</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to community records.</a:t>
            </a:r>
          </a:p>
        </p:txBody>
      </p:sp>
      <p:sp>
        <p:nvSpPr>
          <p:cNvPr id="16" name="rule-3">
            <a:extLst xmlns:a="http://schemas.openxmlformats.org/drawingml/2006/main">
              <a:ext uri="{FF2B5EF4-FFF2-40B4-BE49-F238E27FC236}">
                <a16:creationId xmlns:a16="http://schemas.microsoft.com/office/drawing/2014/main" id="{44AE90E0-D7C3-4A1E-818F-D8F78C95651C}"/>
              </a:ext>
            </a:extLst>
          </p:cNvPr>
          <p:cNvSpPr>
            <a:spLocks xmlns:a="http://schemas.openxmlformats.org/drawingml/2006/main" noGrp="1"/>
          </p:cNvSpPr>
          <p:nvPr/>
        </p:nvSpPr>
        <p:spPr>
          <a:xfrm xmlns:a="http://schemas.openxmlformats.org/drawingml/2006/main">
            <a:off x="9045245" y="2514600"/>
            <a:ext cx="2537460" cy="0"/>
          </a:xfrm>
          <a:prstGeom xmlns:a="http://schemas.openxmlformats.org/drawingml/2006/main" prst="line">
            <a:avLst/>
          </a:prstGeom>
          <a:ln xmlns:a="http://schemas.openxmlformats.org/drawingml/2006/main" w="9525">
            <a:solidFill>
              <a:srgbClr val="D6D3D1"/>
            </a:solidFill>
          </a:ln>
        </p:spPr>
      </p:sp>
      <p:sp>
        <p:nvSpPr>
          <p:cNvPr id="17" name="label-3">
            <a:extLst xmlns:a="http://schemas.openxmlformats.org/drawingml/2006/main">
              <a:ext uri="{FF2B5EF4-FFF2-40B4-BE49-F238E27FC236}">
                <a16:creationId xmlns:a16="http://schemas.microsoft.com/office/drawing/2014/main" id="{720ACE7E-1E79-425B-9862-EF8C852E208A}"/>
              </a:ext>
            </a:extLst>
          </p:cNvPr>
          <p:cNvSpPr txBox="1">
            <a:spLocks xmlns:a="http://schemas.openxmlformats.org/drawingml/2006/main" noGrp="1"/>
          </p:cNvSpPr>
          <p:nvPr/>
        </p:nvSpPr>
        <p:spPr>
          <a:xfrm xmlns:a="http://schemas.openxmlformats.org/drawingml/2006/main">
            <a:off x="9045245" y="2651760"/>
            <a:ext cx="25374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CHANNEL</a:t>
            </a:r>
          </a:p>
        </p:txBody>
      </p:sp>
      <p:sp>
        <p:nvSpPr>
          <p:cNvPr id="18" name="head-3">
            <a:extLst xmlns:a="http://schemas.openxmlformats.org/drawingml/2006/main">
              <a:ext uri="{FF2B5EF4-FFF2-40B4-BE49-F238E27FC236}">
                <a16:creationId xmlns:a16="http://schemas.microsoft.com/office/drawing/2014/main" id="{F0FA6E0C-2402-483E-96D2-FF842115FAC8}"/>
              </a:ext>
            </a:extLst>
          </p:cNvPr>
          <p:cNvSpPr txBox="1">
            <a:spLocks xmlns:a="http://schemas.openxmlformats.org/drawingml/2006/main" noGrp="1"/>
          </p:cNvSpPr>
          <p:nvPr/>
        </p:nvSpPr>
        <p:spPr>
          <a:xfrm xmlns:a="http://schemas.openxmlformats.org/drawingml/2006/main">
            <a:off x="9045245" y="2880360"/>
            <a:ext cx="25374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Delivery partners</a:t>
            </a:r>
          </a:p>
        </p:txBody>
      </p:sp>
      <p:sp>
        <p:nvSpPr>
          <p:cNvPr id="19" name="body-3">
            <a:extLst xmlns:a="http://schemas.openxmlformats.org/drawingml/2006/main">
              <a:ext uri="{FF2B5EF4-FFF2-40B4-BE49-F238E27FC236}">
                <a16:creationId xmlns:a16="http://schemas.microsoft.com/office/drawing/2014/main" id="{A99B0CCE-A62C-451D-A5A2-116CD975DE6F}"/>
              </a:ext>
            </a:extLst>
          </p:cNvPr>
          <p:cNvSpPr txBox="1">
            <a:spLocks xmlns:a="http://schemas.openxmlformats.org/drawingml/2006/main" noGrp="1"/>
          </p:cNvSpPr>
          <p:nvPr/>
        </p:nvSpPr>
        <p:spPr>
          <a:xfrm xmlns:a="http://schemas.openxmlformats.org/drawingml/2006/main">
            <a:off x="9045245" y="3294888"/>
            <a:ext cx="2537460" cy="1112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Coordinator onboarding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introductions through</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existing relationships,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not mass marketing.</a:t>
            </a:r>
          </a:p>
        </p:txBody>
      </p:sp>
      <p:sp>
        <p:nvSpPr>
          <p:cNvPr id="20" name="outer">
            <a:extLst xmlns:a="http://schemas.openxmlformats.org/drawingml/2006/main">
              <a:ext uri="{FF2B5EF4-FFF2-40B4-BE49-F238E27FC236}">
                <a16:creationId xmlns:a16="http://schemas.microsoft.com/office/drawing/2014/main" id="{BBDE6B2F-E7DE-4404-942A-B502AE1930B2}"/>
              </a:ext>
            </a:extLst>
          </p:cNvPr>
          <p:cNvSpPr>
            <a:spLocks xmlns:a="http://schemas.openxmlformats.org/drawingml/2006/main" noGrp="1"/>
          </p:cNvSpPr>
          <p:nvPr/>
        </p:nvSpPr>
        <p:spPr>
          <a:xfrm xmlns:a="http://schemas.openxmlformats.org/drawingml/2006/main">
            <a:off x="609905" y="4892040"/>
            <a:ext cx="6766560" cy="914400"/>
          </a:xfrm>
          <a:prstGeom xmlns:a="http://schemas.openxmlformats.org/drawingml/2006/main" prst="rect">
            <a:avLst/>
          </a:prstGeom>
          <a:noFill xmlns:a="http://schemas.openxmlformats.org/drawingml/2006/main"/>
          <a:ln xmlns:a="http://schemas.openxmlformats.org/drawingml/2006/main" w="9525">
            <a:solidFill>
              <a:srgbClr val="78716C"/>
            </a:solidFill>
          </a:ln>
        </p:spPr>
      </p:sp>
      <p:sp>
        <p:nvSpPr>
          <p:cNvPr id="21" name="outer-text">
            <a:extLst xmlns:a="http://schemas.openxmlformats.org/drawingml/2006/main">
              <a:ext uri="{FF2B5EF4-FFF2-40B4-BE49-F238E27FC236}">
                <a16:creationId xmlns:a16="http://schemas.microsoft.com/office/drawing/2014/main" id="{2847B9F3-75CD-4452-B3EE-1A4716DFA060}"/>
              </a:ext>
            </a:extLst>
          </p:cNvPr>
          <p:cNvSpPr txBox="1">
            <a:spLocks xmlns:a="http://schemas.openxmlformats.org/drawingml/2006/main" noGrp="1"/>
          </p:cNvSpPr>
          <p:nvPr/>
        </p:nvSpPr>
        <p:spPr>
          <a:xfrm xmlns:a="http://schemas.openxmlformats.org/drawingml/2006/main">
            <a:off x="2621585" y="5193792"/>
            <a:ext cx="4572000" cy="320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78716C"/>
                </a:solidFill>
                <a:latin typeface="Inter"/>
                <a:ea typeface="Inter"/>
                <a:cs typeface="Inter"/>
              </a:defRPr>
            </a:defPPr>
          </a:lstStyle>
          <a:p xmlns:a="http://schemas.openxmlformats.org/drawingml/2006/main">
            <a:pPr>
              <a:lnSpc>
                <a:spcPts val="2000"/>
              </a:lnSpc>
              <a:defRPr sz="1500" b="0" i="0" kern="1200">
                <a:solidFill>
                  <a:srgbClr val="78716C"/>
                </a:solidFill>
                <a:latin typeface="Inter"/>
                <a:ea typeface="Inter"/>
                <a:cs typeface="Inter"/>
              </a:defRPr>
            </a:pPr>
            <a:r>
              <a:rPr sz="1500" b="0" i="0" kern="1200">
                <a:solidFill>
                  <a:srgbClr val="78716C"/>
                </a:solidFill>
                <a:latin typeface="Inter"/>
                <a:ea typeface="Inter"/>
                <a:cs typeface="Inter"/>
              </a:rPr>
              <a:t>Communities caring for land, everywhere</a:t>
            </a:r>
          </a:p>
        </p:txBody>
      </p:sp>
      <p:sp>
        <p:nvSpPr>
          <p:cNvPr id="22" name="inner">
            <a:extLst xmlns:a="http://schemas.openxmlformats.org/drawingml/2006/main">
              <a:ext uri="{FF2B5EF4-FFF2-40B4-BE49-F238E27FC236}">
                <a16:creationId xmlns:a16="http://schemas.microsoft.com/office/drawing/2014/main" id="{DC8B4897-1EEE-443B-8C9C-3E7FDEA333FD}"/>
              </a:ext>
            </a:extLst>
          </p:cNvPr>
          <p:cNvSpPr>
            <a:spLocks xmlns:a="http://schemas.openxmlformats.org/drawingml/2006/main" noGrp="1"/>
          </p:cNvSpPr>
          <p:nvPr/>
        </p:nvSpPr>
        <p:spPr>
          <a:xfrm xmlns:a="http://schemas.openxmlformats.org/drawingml/2006/main">
            <a:off x="792785" y="5074920"/>
            <a:ext cx="1645920" cy="548640"/>
          </a:xfrm>
          <a:prstGeom xmlns:a="http://schemas.openxmlformats.org/drawingml/2006/main" prst="rect">
            <a:avLst/>
          </a:prstGeom>
          <a:solidFill xmlns:a="http://schemas.openxmlformats.org/drawingml/2006/main">
            <a:srgbClr val="1A7544"/>
          </a:solidFill>
          <a:ln xmlns:a="http://schemas.openxmlformats.org/drawingml/2006/main" w="0">
            <a:noFill/>
          </a:ln>
        </p:spPr>
      </p:sp>
      <p:sp>
        <p:nvSpPr>
          <p:cNvPr id="23" name="inner-text">
            <a:extLst xmlns:a="http://schemas.openxmlformats.org/drawingml/2006/main">
              <a:ext uri="{FF2B5EF4-FFF2-40B4-BE49-F238E27FC236}">
                <a16:creationId xmlns:a16="http://schemas.microsoft.com/office/drawing/2014/main" id="{B48946DE-4C64-41CF-8D6D-FCA466AB42B0}"/>
              </a:ext>
            </a:extLst>
          </p:cNvPr>
          <p:cNvSpPr txBox="1">
            <a:spLocks xmlns:a="http://schemas.openxmlformats.org/drawingml/2006/main" noGrp="1"/>
          </p:cNvSpPr>
          <p:nvPr/>
        </p:nvSpPr>
        <p:spPr>
          <a:xfrm xmlns:a="http://schemas.openxmlformats.org/drawingml/2006/main">
            <a:off x="792785" y="5257800"/>
            <a:ext cx="16459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FFFFFF"/>
                </a:solidFill>
                <a:latin typeface="Inter"/>
                <a:ea typeface="Inter"/>
                <a:cs typeface="Inter"/>
              </a:defRPr>
            </a:defPPr>
          </a:lstStyle>
          <a:p xmlns:a="http://schemas.openxmlformats.org/drawingml/2006/main">
            <a:pPr>
              <a:lnSpc>
                <a:spcPts val="1800"/>
              </a:lnSpc>
              <a:defRPr sz="1300" b="0" i="0" kern="1200">
                <a:solidFill>
                  <a:srgbClr val="FFFFFF"/>
                </a:solidFill>
                <a:latin typeface="Inter"/>
                <a:ea typeface="Inter"/>
                <a:cs typeface="Inter"/>
              </a:defRPr>
            </a:pPr>
            <a:r>
              <a:rPr sz="1300" b="0" i="0" kern="1200">
                <a:solidFill>
                  <a:srgbClr val="FFFFFF"/>
                </a:solidFill>
                <a:latin typeface="Inter"/>
                <a:ea typeface="Inter"/>
                <a:cs typeface="Inter"/>
              </a:rPr>
              <a:t>First cohort</a:t>
            </a:r>
          </a:p>
        </p:txBody>
      </p:sp>
      <p:sp>
        <p:nvSpPr>
          <p:cNvPr id="24" name="footnote">
            <a:extLst xmlns:a="http://schemas.openxmlformats.org/drawingml/2006/main">
              <a:ext uri="{FF2B5EF4-FFF2-40B4-BE49-F238E27FC236}">
                <a16:creationId xmlns:a16="http://schemas.microsoft.com/office/drawing/2014/main" id="{38918EC8-D0E1-4A93-ABA6-4FCED2308345}"/>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Geography, purchasing authority, budget and the repeated local question need discovery. Market size waits for a defined segment and an auditable denominator.</a:t>
            </a:r>
          </a:p>
        </p:txBody>
      </p:sp>
    </p:spTree>
    <p:extLst>
      <p:ext uri="{BB962C8B-B14F-4D97-AF65-F5344CB8AC3E}">
        <p14:creationId xmlns:p14="http://schemas.microsoft.com/office/powerpoint/2010/main" val="1440655531"/>
      </p:ext>
    </p:extLst>
  </p:cSld>
</p:sld>
</file>

<file path=ppt/slides/slide12.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69980EC9-2846-4925-B6C0-76B6A6EF0044}"/>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Connect to the systems</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communities already value.</a:t>
            </a:r>
          </a:p>
        </p:txBody>
      </p:sp>
      <p:sp>
        <p:nvSpPr>
          <p:cNvPr id="3" name="lede">
            <a:extLst xmlns:a="http://schemas.openxmlformats.org/drawingml/2006/main">
              <a:ext uri="{FF2B5EF4-FFF2-40B4-BE49-F238E27FC236}">
                <a16:creationId xmlns:a16="http://schemas.microsoft.com/office/drawing/2014/main" id="{4DBDF1A6-292C-40C6-821F-D3884EB4259E}"/>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Integration and contribution first. The overlap is real and is treated as such.</a:t>
            </a:r>
          </a:p>
        </p:txBody>
      </p:sp>
      <p:sp>
        <p:nvSpPr>
          <p:cNvPr id="4" name="h-0">
            <a:extLst xmlns:a="http://schemas.openxmlformats.org/drawingml/2006/main">
              <a:ext uri="{FF2B5EF4-FFF2-40B4-BE49-F238E27FC236}">
                <a16:creationId xmlns:a16="http://schemas.microsoft.com/office/drawing/2014/main" id="{388C646E-0FEF-4899-9592-B0860B9C60AB}"/>
              </a:ext>
            </a:extLst>
          </p:cNvPr>
          <p:cNvSpPr txBox="1">
            <a:spLocks xmlns:a="http://schemas.openxmlformats.org/drawingml/2006/main" noGrp="1"/>
          </p:cNvSpPr>
          <p:nvPr/>
        </p:nvSpPr>
        <p:spPr>
          <a:xfrm xmlns:a="http://schemas.openxmlformats.org/drawingml/2006/main">
            <a:off x="609905" y="2468880"/>
            <a:ext cx="21031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SYSTEM</a:t>
            </a:r>
          </a:p>
        </p:txBody>
      </p:sp>
      <p:sp>
        <p:nvSpPr>
          <p:cNvPr id="5" name="h-1">
            <a:extLst xmlns:a="http://schemas.openxmlformats.org/drawingml/2006/main">
              <a:ext uri="{FF2B5EF4-FFF2-40B4-BE49-F238E27FC236}">
                <a16:creationId xmlns:a16="http://schemas.microsoft.com/office/drawing/2014/main" id="{CD8FA939-15EB-4FBE-9850-B42E6C3D9512}"/>
              </a:ext>
            </a:extLst>
          </p:cNvPr>
          <p:cNvSpPr txBox="1">
            <a:spLocks xmlns:a="http://schemas.openxmlformats.org/drawingml/2006/main" noGrp="1"/>
          </p:cNvSpPr>
          <p:nvPr/>
        </p:nvSpPr>
        <p:spPr>
          <a:xfrm xmlns:a="http://schemas.openxmlformats.org/drawingml/2006/main">
            <a:off x="2895905" y="2468880"/>
            <a:ext cx="44805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WHAT IT DOES TODAY</a:t>
            </a:r>
          </a:p>
        </p:txBody>
      </p:sp>
      <p:sp>
        <p:nvSpPr>
          <p:cNvPr id="6" name="h-2">
            <a:extLst xmlns:a="http://schemas.openxmlformats.org/drawingml/2006/main">
              <a:ext uri="{FF2B5EF4-FFF2-40B4-BE49-F238E27FC236}">
                <a16:creationId xmlns:a16="http://schemas.microsoft.com/office/drawing/2014/main" id="{29AB6BE6-6780-4524-8FDC-BA000EE65AE8}"/>
              </a:ext>
            </a:extLst>
          </p:cNvPr>
          <p:cNvSpPr txBox="1">
            <a:spLocks xmlns:a="http://schemas.openxmlformats.org/drawingml/2006/main" noGrp="1"/>
          </p:cNvSpPr>
          <p:nvPr/>
        </p:nvSpPr>
        <p:spPr>
          <a:xfrm xmlns:a="http://schemas.openxmlformats.org/drawingml/2006/main">
            <a:off x="7559345" y="2468880"/>
            <a:ext cx="457200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GREEN GOODS ROLE</a:t>
            </a:r>
          </a:p>
        </p:txBody>
      </p:sp>
      <p:sp>
        <p:nvSpPr>
          <p:cNvPr id="7" name="rule-top">
            <a:extLst xmlns:a="http://schemas.openxmlformats.org/drawingml/2006/main">
              <a:ext uri="{FF2B5EF4-FFF2-40B4-BE49-F238E27FC236}">
                <a16:creationId xmlns:a16="http://schemas.microsoft.com/office/drawing/2014/main" id="{D3B17631-79AD-4E15-B9FB-1B90A19F9C74}"/>
              </a:ext>
            </a:extLst>
          </p:cNvPr>
          <p:cNvSpPr>
            <a:spLocks xmlns:a="http://schemas.openxmlformats.org/drawingml/2006/main" noGrp="1"/>
          </p:cNvSpPr>
          <p:nvPr/>
        </p:nvSpPr>
        <p:spPr>
          <a:xfrm xmlns:a="http://schemas.openxmlformats.org/drawingml/2006/main">
            <a:off x="609905" y="2697480"/>
            <a:ext cx="10972800" cy="0"/>
          </a:xfrm>
          <a:prstGeom xmlns:a="http://schemas.openxmlformats.org/drawingml/2006/main" prst="line">
            <a:avLst/>
          </a:prstGeom>
          <a:ln xmlns:a="http://schemas.openxmlformats.org/drawingml/2006/main" w="9525">
            <a:solidFill>
              <a:srgbClr val="D6D3D1"/>
            </a:solidFill>
          </a:ln>
        </p:spPr>
      </p:sp>
      <p:sp>
        <p:nvSpPr>
          <p:cNvPr id="8" name="r-0-0">
            <a:extLst xmlns:a="http://schemas.openxmlformats.org/drawingml/2006/main">
              <a:ext uri="{FF2B5EF4-FFF2-40B4-BE49-F238E27FC236}">
                <a16:creationId xmlns:a16="http://schemas.microsoft.com/office/drawing/2014/main" id="{CE15ED9C-67FC-4A4C-AC0B-CC29810AB8C1}"/>
              </a:ext>
            </a:extLst>
          </p:cNvPr>
          <p:cNvSpPr txBox="1">
            <a:spLocks xmlns:a="http://schemas.openxmlformats.org/drawingml/2006/main" noGrp="1"/>
          </p:cNvSpPr>
          <p:nvPr/>
        </p:nvSpPr>
        <p:spPr>
          <a:xfrm xmlns:a="http://schemas.openxmlformats.org/drawingml/2006/main">
            <a:off x="609905" y="2816352"/>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farmOS</a:t>
            </a:r>
          </a:p>
        </p:txBody>
      </p:sp>
      <p:sp>
        <p:nvSpPr>
          <p:cNvPr id="9" name="r-0-1">
            <a:extLst xmlns:a="http://schemas.openxmlformats.org/drawingml/2006/main">
              <a:ext uri="{FF2B5EF4-FFF2-40B4-BE49-F238E27FC236}">
                <a16:creationId xmlns:a16="http://schemas.microsoft.com/office/drawing/2014/main" id="{DC64343C-2053-4C39-8E17-E6F794A820CF}"/>
              </a:ext>
            </a:extLst>
          </p:cNvPr>
          <p:cNvSpPr txBox="1">
            <a:spLocks xmlns:a="http://schemas.openxmlformats.org/drawingml/2006/main" noGrp="1"/>
          </p:cNvSpPr>
          <p:nvPr/>
        </p:nvSpPr>
        <p:spPr>
          <a:xfrm xmlns:a="http://schemas.openxmlformats.org/drawingml/2006/main">
            <a:off x="2895905" y="2825496"/>
            <a:ext cx="44805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Open farm records, API and sensor data</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streams</a:t>
            </a:r>
          </a:p>
        </p:txBody>
      </p:sp>
      <p:sp>
        <p:nvSpPr>
          <p:cNvPr id="10" name="r-0-2">
            <a:extLst xmlns:a="http://schemas.openxmlformats.org/drawingml/2006/main">
              <a:ext uri="{FF2B5EF4-FFF2-40B4-BE49-F238E27FC236}">
                <a16:creationId xmlns:a16="http://schemas.microsoft.com/office/drawing/2014/main" id="{EBF14C35-95ED-40DE-9748-D9F2EDED90F4}"/>
              </a:ext>
            </a:extLst>
          </p:cNvPr>
          <p:cNvSpPr txBox="1">
            <a:spLocks xmlns:a="http://schemas.openxmlformats.org/drawingml/2006/main" noGrp="1"/>
          </p:cNvSpPr>
          <p:nvPr/>
        </p:nvSpPr>
        <p:spPr>
          <a:xfrm xmlns:a="http://schemas.openxmlformats.org/drawingml/2006/main">
            <a:off x="7559345" y="2825496"/>
            <a:ext cx="4572000" cy="287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Integrate records and streams</a:t>
            </a:r>
          </a:p>
        </p:txBody>
      </p:sp>
      <p:sp>
        <p:nvSpPr>
          <p:cNvPr id="11" name="rule-0">
            <a:extLst xmlns:a="http://schemas.openxmlformats.org/drawingml/2006/main">
              <a:ext uri="{FF2B5EF4-FFF2-40B4-BE49-F238E27FC236}">
                <a16:creationId xmlns:a16="http://schemas.microsoft.com/office/drawing/2014/main" id="{9C14708D-334D-4E90-B4D9-C4F5B2CD8863}"/>
              </a:ext>
            </a:extLst>
          </p:cNvPr>
          <p:cNvSpPr>
            <a:spLocks xmlns:a="http://schemas.openxmlformats.org/drawingml/2006/main" noGrp="1"/>
          </p:cNvSpPr>
          <p:nvPr/>
        </p:nvSpPr>
        <p:spPr>
          <a:xfrm xmlns:a="http://schemas.openxmlformats.org/drawingml/2006/main">
            <a:off x="609905" y="3426968"/>
            <a:ext cx="10972800" cy="0"/>
          </a:xfrm>
          <a:prstGeom xmlns:a="http://schemas.openxmlformats.org/drawingml/2006/main" prst="line">
            <a:avLst/>
          </a:prstGeom>
          <a:ln xmlns:a="http://schemas.openxmlformats.org/drawingml/2006/main" w="9525">
            <a:solidFill>
              <a:srgbClr val="D6D3D1"/>
            </a:solidFill>
          </a:ln>
        </p:spPr>
      </p:sp>
      <p:sp>
        <p:nvSpPr>
          <p:cNvPr id="12" name="r-1-0">
            <a:extLst xmlns:a="http://schemas.openxmlformats.org/drawingml/2006/main">
              <a:ext uri="{FF2B5EF4-FFF2-40B4-BE49-F238E27FC236}">
                <a16:creationId xmlns:a16="http://schemas.microsoft.com/office/drawing/2014/main" id="{FA70CE92-DE6F-4977-843A-E6DB8BF1EB06}"/>
              </a:ext>
            </a:extLst>
          </p:cNvPr>
          <p:cNvSpPr txBox="1">
            <a:spLocks xmlns:a="http://schemas.openxmlformats.org/drawingml/2006/main" noGrp="1"/>
          </p:cNvSpPr>
          <p:nvPr/>
        </p:nvSpPr>
        <p:spPr>
          <a:xfrm xmlns:a="http://schemas.openxmlformats.org/drawingml/2006/main">
            <a:off x="609905" y="3500120"/>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OpenTEAM</a:t>
            </a:r>
          </a:p>
        </p:txBody>
      </p:sp>
      <p:sp>
        <p:nvSpPr>
          <p:cNvPr id="13" name="r-1-1">
            <a:extLst xmlns:a="http://schemas.openxmlformats.org/drawingml/2006/main">
              <a:ext uri="{FF2B5EF4-FFF2-40B4-BE49-F238E27FC236}">
                <a16:creationId xmlns:a16="http://schemas.microsoft.com/office/drawing/2014/main" id="{67A539B6-0EBF-494B-953B-D09D4D10A8AC}"/>
              </a:ext>
            </a:extLst>
          </p:cNvPr>
          <p:cNvSpPr txBox="1">
            <a:spLocks xmlns:a="http://schemas.openxmlformats.org/drawingml/2006/main" noGrp="1"/>
          </p:cNvSpPr>
          <p:nvPr/>
        </p:nvSpPr>
        <p:spPr>
          <a:xfrm xmlns:a="http://schemas.openxmlformats.org/drawingml/2006/main">
            <a:off x="2895905" y="3509264"/>
            <a:ext cx="44805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Tool ecosystem, farmer data governance,</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interoperability</a:t>
            </a:r>
          </a:p>
        </p:txBody>
      </p:sp>
      <p:sp>
        <p:nvSpPr>
          <p:cNvPr id="14" name="r-1-2">
            <a:extLst xmlns:a="http://schemas.openxmlformats.org/drawingml/2006/main">
              <a:ext uri="{FF2B5EF4-FFF2-40B4-BE49-F238E27FC236}">
                <a16:creationId xmlns:a16="http://schemas.microsoft.com/office/drawing/2014/main" id="{F2D0F3D2-8BD5-4C2B-A364-F2C5A0E8FDA3}"/>
              </a:ext>
            </a:extLst>
          </p:cNvPr>
          <p:cNvSpPr txBox="1">
            <a:spLocks xmlns:a="http://schemas.openxmlformats.org/drawingml/2006/main" noGrp="1"/>
          </p:cNvSpPr>
          <p:nvPr/>
        </p:nvSpPr>
        <p:spPr>
          <a:xfrm xmlns:a="http://schemas.openxmlformats.org/drawingml/2006/main">
            <a:off x="7559345" y="3509264"/>
            <a:ext cx="457200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Contribute interoperability and governance</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practice</a:t>
            </a:r>
          </a:p>
        </p:txBody>
      </p:sp>
      <p:sp>
        <p:nvSpPr>
          <p:cNvPr id="15" name="rule-1">
            <a:extLst xmlns:a="http://schemas.openxmlformats.org/drawingml/2006/main">
              <a:ext uri="{FF2B5EF4-FFF2-40B4-BE49-F238E27FC236}">
                <a16:creationId xmlns:a16="http://schemas.microsoft.com/office/drawing/2014/main" id="{83CCC9DA-35DD-4E00-8215-2068C1A67CA1}"/>
              </a:ext>
            </a:extLst>
          </p:cNvPr>
          <p:cNvSpPr>
            <a:spLocks xmlns:a="http://schemas.openxmlformats.org/drawingml/2006/main" noGrp="1"/>
          </p:cNvSpPr>
          <p:nvPr/>
        </p:nvSpPr>
        <p:spPr>
          <a:xfrm xmlns:a="http://schemas.openxmlformats.org/drawingml/2006/main">
            <a:off x="609905" y="4110736"/>
            <a:ext cx="10972800" cy="0"/>
          </a:xfrm>
          <a:prstGeom xmlns:a="http://schemas.openxmlformats.org/drawingml/2006/main" prst="line">
            <a:avLst/>
          </a:prstGeom>
          <a:ln xmlns:a="http://schemas.openxmlformats.org/drawingml/2006/main" w="9525">
            <a:solidFill>
              <a:srgbClr val="D6D3D1"/>
            </a:solidFill>
          </a:ln>
        </p:spPr>
      </p:sp>
      <p:sp>
        <p:nvSpPr>
          <p:cNvPr id="16" name="r-2-0">
            <a:extLst xmlns:a="http://schemas.openxmlformats.org/drawingml/2006/main">
              <a:ext uri="{FF2B5EF4-FFF2-40B4-BE49-F238E27FC236}">
                <a16:creationId xmlns:a16="http://schemas.microsoft.com/office/drawing/2014/main" id="{50C8A205-7AF2-4985-8935-F83DF0DF3ABB}"/>
              </a:ext>
            </a:extLst>
          </p:cNvPr>
          <p:cNvSpPr txBox="1">
            <a:spLocks xmlns:a="http://schemas.openxmlformats.org/drawingml/2006/main" noGrp="1"/>
          </p:cNvSpPr>
          <p:nvPr/>
        </p:nvSpPr>
        <p:spPr>
          <a:xfrm xmlns:a="http://schemas.openxmlformats.org/drawingml/2006/main">
            <a:off x="609905" y="4183888"/>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Hylo</a:t>
            </a:r>
          </a:p>
        </p:txBody>
      </p:sp>
      <p:sp>
        <p:nvSpPr>
          <p:cNvPr id="17" name="r-2-1">
            <a:extLst xmlns:a="http://schemas.openxmlformats.org/drawingml/2006/main">
              <a:ext uri="{FF2B5EF4-FFF2-40B4-BE49-F238E27FC236}">
                <a16:creationId xmlns:a16="http://schemas.microsoft.com/office/drawing/2014/main" id="{4C9DC2EA-B549-4216-80E6-1A22F15D289F}"/>
              </a:ext>
            </a:extLst>
          </p:cNvPr>
          <p:cNvSpPr txBox="1">
            <a:spLocks xmlns:a="http://schemas.openxmlformats.org/drawingml/2006/main" noGrp="1"/>
          </p:cNvSpPr>
          <p:nvPr/>
        </p:nvSpPr>
        <p:spPr>
          <a:xfrm xmlns:a="http://schemas.openxmlformats.org/drawingml/2006/main">
            <a:off x="2895905" y="4193032"/>
            <a:ext cx="44805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Community coordination and knowledge</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exchange</a:t>
            </a:r>
          </a:p>
        </p:txBody>
      </p:sp>
      <p:sp>
        <p:nvSpPr>
          <p:cNvPr id="18" name="r-2-2">
            <a:extLst xmlns:a="http://schemas.openxmlformats.org/drawingml/2006/main">
              <a:ext uri="{FF2B5EF4-FFF2-40B4-BE49-F238E27FC236}">
                <a16:creationId xmlns:a16="http://schemas.microsoft.com/office/drawing/2014/main" id="{465FA899-F87B-4E0D-B8B0-41D5E5B76212}"/>
              </a:ext>
            </a:extLst>
          </p:cNvPr>
          <p:cNvSpPr txBox="1">
            <a:spLocks xmlns:a="http://schemas.openxmlformats.org/drawingml/2006/main" noGrp="1"/>
          </p:cNvSpPr>
          <p:nvPr/>
        </p:nvSpPr>
        <p:spPr>
          <a:xfrm xmlns:a="http://schemas.openxmlformats.org/drawingml/2006/main">
            <a:off x="7559345" y="4193032"/>
            <a:ext cx="4572000" cy="287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Complement with private, reviewable records</a:t>
            </a:r>
          </a:p>
        </p:txBody>
      </p:sp>
      <p:sp>
        <p:nvSpPr>
          <p:cNvPr id="19" name="rule-2">
            <a:extLst xmlns:a="http://schemas.openxmlformats.org/drawingml/2006/main">
              <a:ext uri="{FF2B5EF4-FFF2-40B4-BE49-F238E27FC236}">
                <a16:creationId xmlns:a16="http://schemas.microsoft.com/office/drawing/2014/main" id="{4AA0E260-0C3E-45C3-9431-610BF8B03468}"/>
              </a:ext>
            </a:extLst>
          </p:cNvPr>
          <p:cNvSpPr>
            <a:spLocks xmlns:a="http://schemas.openxmlformats.org/drawingml/2006/main" noGrp="1"/>
          </p:cNvSpPr>
          <p:nvPr/>
        </p:nvSpPr>
        <p:spPr>
          <a:xfrm xmlns:a="http://schemas.openxmlformats.org/drawingml/2006/main">
            <a:off x="609905" y="4794504"/>
            <a:ext cx="10972800" cy="0"/>
          </a:xfrm>
          <a:prstGeom xmlns:a="http://schemas.openxmlformats.org/drawingml/2006/main" prst="line">
            <a:avLst/>
          </a:prstGeom>
          <a:ln xmlns:a="http://schemas.openxmlformats.org/drawingml/2006/main" w="9525">
            <a:solidFill>
              <a:srgbClr val="D6D3D1"/>
            </a:solidFill>
          </a:ln>
        </p:spPr>
      </p:sp>
      <p:sp>
        <p:nvSpPr>
          <p:cNvPr id="20" name="r-3-0">
            <a:extLst xmlns:a="http://schemas.openxmlformats.org/drawingml/2006/main">
              <a:ext uri="{FF2B5EF4-FFF2-40B4-BE49-F238E27FC236}">
                <a16:creationId xmlns:a16="http://schemas.microsoft.com/office/drawing/2014/main" id="{F558933D-D929-4379-ADA3-77FE5BECC550}"/>
              </a:ext>
            </a:extLst>
          </p:cNvPr>
          <p:cNvSpPr txBox="1">
            <a:spLocks xmlns:a="http://schemas.openxmlformats.org/drawingml/2006/main" noGrp="1"/>
          </p:cNvSpPr>
          <p:nvPr/>
        </p:nvSpPr>
        <p:spPr>
          <a:xfrm xmlns:a="http://schemas.openxmlformats.org/drawingml/2006/main">
            <a:off x="609905" y="4867656"/>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ODK and KoboToolbox</a:t>
            </a:r>
          </a:p>
        </p:txBody>
      </p:sp>
      <p:sp>
        <p:nvSpPr>
          <p:cNvPr id="21" name="r-3-1">
            <a:extLst xmlns:a="http://schemas.openxmlformats.org/drawingml/2006/main">
              <a:ext uri="{FF2B5EF4-FFF2-40B4-BE49-F238E27FC236}">
                <a16:creationId xmlns:a16="http://schemas.microsoft.com/office/drawing/2014/main" id="{5CC69625-0960-42E5-AF22-6E8BE2F33DF7}"/>
              </a:ext>
            </a:extLst>
          </p:cNvPr>
          <p:cNvSpPr txBox="1">
            <a:spLocks xmlns:a="http://schemas.openxmlformats.org/drawingml/2006/main" noGrp="1"/>
          </p:cNvSpPr>
          <p:nvPr/>
        </p:nvSpPr>
        <p:spPr>
          <a:xfrm xmlns:a="http://schemas.openxmlformats.org/drawingml/2006/main">
            <a:off x="2895905" y="4876800"/>
            <a:ext cx="44805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Offline field forms and server</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administration</a:t>
            </a:r>
          </a:p>
        </p:txBody>
      </p:sp>
      <p:sp>
        <p:nvSpPr>
          <p:cNvPr id="22" name="r-3-2">
            <a:extLst xmlns:a="http://schemas.openxmlformats.org/drawingml/2006/main">
              <a:ext uri="{FF2B5EF4-FFF2-40B4-BE49-F238E27FC236}">
                <a16:creationId xmlns:a16="http://schemas.microsoft.com/office/drawing/2014/main" id="{D4494476-F6E1-4EAE-9909-BEB4671BD94E}"/>
              </a:ext>
            </a:extLst>
          </p:cNvPr>
          <p:cNvSpPr txBox="1">
            <a:spLocks xmlns:a="http://schemas.openxmlformats.org/drawingml/2006/main" noGrp="1"/>
          </p:cNvSpPr>
          <p:nvPr/>
        </p:nvSpPr>
        <p:spPr>
          <a:xfrm xmlns:a="http://schemas.openxmlformats.org/drawingml/2006/main">
            <a:off x="7559345" y="4876800"/>
            <a:ext cx="457200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Compare: forms without a private workspace</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or review</a:t>
            </a:r>
          </a:p>
        </p:txBody>
      </p:sp>
      <p:sp>
        <p:nvSpPr>
          <p:cNvPr id="23" name="rule-3">
            <a:extLst xmlns:a="http://schemas.openxmlformats.org/drawingml/2006/main">
              <a:ext uri="{FF2B5EF4-FFF2-40B4-BE49-F238E27FC236}">
                <a16:creationId xmlns:a16="http://schemas.microsoft.com/office/drawing/2014/main" id="{9AB6A93A-E4D2-49A2-9D41-E151A90FA1DB}"/>
              </a:ext>
            </a:extLst>
          </p:cNvPr>
          <p:cNvSpPr>
            <a:spLocks xmlns:a="http://schemas.openxmlformats.org/drawingml/2006/main" noGrp="1"/>
          </p:cNvSpPr>
          <p:nvPr/>
        </p:nvSpPr>
        <p:spPr>
          <a:xfrm xmlns:a="http://schemas.openxmlformats.org/drawingml/2006/main">
            <a:off x="609905" y="5478272"/>
            <a:ext cx="10972800" cy="0"/>
          </a:xfrm>
          <a:prstGeom xmlns:a="http://schemas.openxmlformats.org/drawingml/2006/main" prst="line">
            <a:avLst/>
          </a:prstGeom>
          <a:ln xmlns:a="http://schemas.openxmlformats.org/drawingml/2006/main" w="9525">
            <a:solidFill>
              <a:srgbClr val="D6D3D1"/>
            </a:solidFill>
          </a:ln>
        </p:spPr>
      </p:sp>
      <p:sp>
        <p:nvSpPr>
          <p:cNvPr id="24" name="r-4-0">
            <a:extLst xmlns:a="http://schemas.openxmlformats.org/drawingml/2006/main">
              <a:ext uri="{FF2B5EF4-FFF2-40B4-BE49-F238E27FC236}">
                <a16:creationId xmlns:a16="http://schemas.microsoft.com/office/drawing/2014/main" id="{AF54E15D-7C47-4B52-8CE9-FC34F3E84A4B}"/>
              </a:ext>
            </a:extLst>
          </p:cNvPr>
          <p:cNvSpPr txBox="1">
            <a:spLocks xmlns:a="http://schemas.openxmlformats.org/drawingml/2006/main" noGrp="1"/>
          </p:cNvSpPr>
          <p:nvPr/>
        </p:nvSpPr>
        <p:spPr>
          <a:xfrm xmlns:a="http://schemas.openxmlformats.org/drawingml/2006/main">
            <a:off x="609905" y="5551424"/>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GainForest and Taina</a:t>
            </a:r>
          </a:p>
        </p:txBody>
      </p:sp>
      <p:sp>
        <p:nvSpPr>
          <p:cNvPr id="25" name="r-4-1">
            <a:extLst xmlns:a="http://schemas.openxmlformats.org/drawingml/2006/main">
              <a:ext uri="{FF2B5EF4-FFF2-40B4-BE49-F238E27FC236}">
                <a16:creationId xmlns:a16="http://schemas.microsoft.com/office/drawing/2014/main" id="{4E68FE22-7CF0-4253-B314-239A6B38954F}"/>
              </a:ext>
            </a:extLst>
          </p:cNvPr>
          <p:cNvSpPr txBox="1">
            <a:spLocks xmlns:a="http://schemas.openxmlformats.org/drawingml/2006/main" noGrp="1"/>
          </p:cNvSpPr>
          <p:nvPr/>
        </p:nvSpPr>
        <p:spPr>
          <a:xfrm xmlns:a="http://schemas.openxmlformats.org/drawingml/2006/main">
            <a:off x="2895905" y="5560568"/>
            <a:ext cx="44805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Field records to public certificates and</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funding; community-governed archive</a:t>
            </a:r>
          </a:p>
        </p:txBody>
      </p:sp>
      <p:sp>
        <p:nvSpPr>
          <p:cNvPr id="26" name="r-4-2">
            <a:extLst xmlns:a="http://schemas.openxmlformats.org/drawingml/2006/main">
              <a:ext uri="{FF2B5EF4-FFF2-40B4-BE49-F238E27FC236}">
                <a16:creationId xmlns:a16="http://schemas.microsoft.com/office/drawing/2014/main" id="{878050A2-BBEF-4DD4-8DA6-C8B803711354}"/>
              </a:ext>
            </a:extLst>
          </p:cNvPr>
          <p:cNvSpPr txBox="1">
            <a:spLocks xmlns:a="http://schemas.openxmlformats.org/drawingml/2006/main" noGrp="1"/>
          </p:cNvSpPr>
          <p:nvPr/>
        </p:nvSpPr>
        <p:spPr>
          <a:xfrm xmlns:a="http://schemas.openxmlformats.org/drawingml/2006/main">
            <a:off x="7559345" y="5560568"/>
            <a:ext cx="457200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Overlap in evidence and knowledge</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governance; test compatibility</a:t>
            </a:r>
          </a:p>
        </p:txBody>
      </p:sp>
      <p:sp>
        <p:nvSpPr>
          <p:cNvPr id="27" name="rule-4">
            <a:extLst xmlns:a="http://schemas.openxmlformats.org/drawingml/2006/main">
              <a:ext uri="{FF2B5EF4-FFF2-40B4-BE49-F238E27FC236}">
                <a16:creationId xmlns:a16="http://schemas.microsoft.com/office/drawing/2014/main" id="{7E666662-207A-43A2-938B-EE3B6D38C6BD}"/>
              </a:ext>
            </a:extLst>
          </p:cNvPr>
          <p:cNvSpPr>
            <a:spLocks xmlns:a="http://schemas.openxmlformats.org/drawingml/2006/main" noGrp="1"/>
          </p:cNvSpPr>
          <p:nvPr/>
        </p:nvSpPr>
        <p:spPr>
          <a:xfrm xmlns:a="http://schemas.openxmlformats.org/drawingml/2006/main">
            <a:off x="609905" y="6162040"/>
            <a:ext cx="10972800" cy="0"/>
          </a:xfrm>
          <a:prstGeom xmlns:a="http://schemas.openxmlformats.org/drawingml/2006/main" prst="line">
            <a:avLst/>
          </a:prstGeom>
          <a:ln xmlns:a="http://schemas.openxmlformats.org/drawingml/2006/main" w="9525">
            <a:solidFill>
              <a:srgbClr val="D6D3D1"/>
            </a:solidFill>
          </a:ln>
        </p:spPr>
      </p:sp>
      <p:sp>
        <p:nvSpPr>
          <p:cNvPr id="28" name="footnote">
            <a:extLst xmlns:a="http://schemas.openxmlformats.org/drawingml/2006/main">
              <a:ext uri="{FF2B5EF4-FFF2-40B4-BE49-F238E27FC236}">
                <a16:creationId xmlns:a16="http://schemas.microsoft.com/office/drawing/2014/main" id="{30D7F2B0-75C9-4F0C-980E-CB1BEA2B1D92}"/>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Primary sources checked in the research package (W20 to W27). No novelty or savings is claimed from a feature checklist; Ma Earth's round toolkit is funding, not software.</a:t>
            </a:r>
          </a:p>
        </p:txBody>
      </p:sp>
    </p:spTree>
    <p:extLst>
      <p:ext uri="{BB962C8B-B14F-4D97-AF65-F5344CB8AC3E}">
        <p14:creationId xmlns:p14="http://schemas.microsoft.com/office/powerpoint/2010/main" val="1440655531"/>
      </p:ext>
    </p:extLst>
  </p:cSld>
</p:sld>
</file>

<file path=ppt/slides/slide13.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11179CF-AD43-454B-B2AE-B5E789F0C7C6}"/>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Pay for useful services</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and dependable support.</a:t>
            </a:r>
          </a:p>
        </p:txBody>
      </p:sp>
      <p:sp>
        <p:nvSpPr>
          <p:cNvPr id="3" name="lede">
            <a:extLst xmlns:a="http://schemas.openxmlformats.org/drawingml/2006/main">
              <a:ext uri="{FF2B5EF4-FFF2-40B4-BE49-F238E27FC236}">
                <a16:creationId xmlns:a16="http://schemas.microsoft.com/office/drawing/2014/main" id="{49959D15-A829-4AF9-8869-6EFBF8A7653A}"/>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Who pays, what they get, and in what order.</a:t>
            </a:r>
          </a:p>
        </p:txBody>
      </p:sp>
      <p:sp>
        <p:nvSpPr>
          <p:cNvPr id="4" name="card-0">
            <a:extLst xmlns:a="http://schemas.openxmlformats.org/drawingml/2006/main">
              <a:ext uri="{FF2B5EF4-FFF2-40B4-BE49-F238E27FC236}">
                <a16:creationId xmlns:a16="http://schemas.microsoft.com/office/drawing/2014/main" id="{1D1E3181-378D-4F96-8611-E98F7BC6114D}"/>
              </a:ext>
            </a:extLst>
          </p:cNvPr>
          <p:cNvSpPr>
            <a:spLocks xmlns:a="http://schemas.openxmlformats.org/drawingml/2006/main" noGrp="1"/>
          </p:cNvSpPr>
          <p:nvPr/>
        </p:nvSpPr>
        <p:spPr>
          <a:xfrm xmlns:a="http://schemas.openxmlformats.org/drawingml/2006/main">
            <a:off x="609905" y="2514600"/>
            <a:ext cx="2571750" cy="30632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5" name="num-0">
            <a:extLst xmlns:a="http://schemas.openxmlformats.org/drawingml/2006/main">
              <a:ext uri="{FF2B5EF4-FFF2-40B4-BE49-F238E27FC236}">
                <a16:creationId xmlns:a16="http://schemas.microsoft.com/office/drawing/2014/main" id="{5A14A478-6411-45FB-8F47-854EE2F093D4}"/>
              </a:ext>
            </a:extLst>
          </p:cNvPr>
          <p:cNvSpPr txBox="1">
            <a:spLocks xmlns:a="http://schemas.openxmlformats.org/drawingml/2006/main" noGrp="1"/>
          </p:cNvSpPr>
          <p:nvPr/>
        </p:nvSpPr>
        <p:spPr>
          <a:xfrm xmlns:a="http://schemas.openxmlformats.org/drawingml/2006/main">
            <a:off x="83850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1</a:t>
            </a:r>
          </a:p>
        </p:txBody>
      </p:sp>
      <p:sp>
        <p:nvSpPr>
          <p:cNvPr id="6" name="head-0">
            <a:extLst xmlns:a="http://schemas.openxmlformats.org/drawingml/2006/main">
              <a:ext uri="{FF2B5EF4-FFF2-40B4-BE49-F238E27FC236}">
                <a16:creationId xmlns:a16="http://schemas.microsoft.com/office/drawing/2014/main" id="{AB9F70F2-9BCF-4F36-9836-3CB043F5A50F}"/>
              </a:ext>
            </a:extLst>
          </p:cNvPr>
          <p:cNvSpPr txBox="1">
            <a:spLocks xmlns:a="http://schemas.openxmlformats.org/drawingml/2006/main" noGrp="1"/>
          </p:cNvSpPr>
          <p:nvPr/>
        </p:nvSpPr>
        <p:spPr>
          <a:xfrm xmlns:a="http://schemas.openxmlformats.org/drawingml/2006/main">
            <a:off x="838505" y="3337560"/>
            <a:ext cx="2114550" cy="613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Fraunces Medium"/>
                <a:ea typeface="Fraunces Medium"/>
                <a:cs typeface="Fraunces Medium"/>
              </a:defRPr>
            </a:defPPr>
          </a:lstStyle>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Fixed-scope</a:t>
            </a:r>
          </a:p>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service</a:t>
            </a:r>
          </a:p>
        </p:txBody>
      </p:sp>
      <p:sp>
        <p:nvSpPr>
          <p:cNvPr id="7" name="body-0">
            <a:extLst xmlns:a="http://schemas.openxmlformats.org/drawingml/2006/main">
              <a:ext uri="{FF2B5EF4-FFF2-40B4-BE49-F238E27FC236}">
                <a16:creationId xmlns:a16="http://schemas.microsoft.com/office/drawing/2014/main" id="{EDEA8A95-D6A3-4A03-9778-529B1F8B2EBB}"/>
              </a:ext>
            </a:extLst>
          </p:cNvPr>
          <p:cNvSpPr txBox="1">
            <a:spLocks xmlns:a="http://schemas.openxmlformats.org/drawingml/2006/main" noGrp="1"/>
          </p:cNvSpPr>
          <p:nvPr/>
        </p:nvSpPr>
        <p:spPr>
          <a:xfrm xmlns:a="http://schemas.openxmlformats.org/drawingml/2006/main">
            <a:off x="838505" y="4006088"/>
            <a:ext cx="211455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Onboarding, data</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practices, training</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integration.</a:t>
            </a:r>
          </a:p>
        </p:txBody>
      </p:sp>
      <p:sp>
        <p:nvSpPr>
          <p:cNvPr id="8" name="payer-0">
            <a:extLst xmlns:a="http://schemas.openxmlformats.org/drawingml/2006/main">
              <a:ext uri="{FF2B5EF4-FFF2-40B4-BE49-F238E27FC236}">
                <a16:creationId xmlns:a16="http://schemas.microsoft.com/office/drawing/2014/main" id="{5C32BAEF-8F91-44A2-AC6C-39FDAC06302F}"/>
              </a:ext>
            </a:extLst>
          </p:cNvPr>
          <p:cNvSpPr txBox="1">
            <a:spLocks xmlns:a="http://schemas.openxmlformats.org/drawingml/2006/main" noGrp="1"/>
          </p:cNvSpPr>
          <p:nvPr/>
        </p:nvSpPr>
        <p:spPr>
          <a:xfrm xmlns:a="http://schemas.openxmlformats.org/drawingml/2006/main">
            <a:off x="838505" y="4983480"/>
            <a:ext cx="211455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78716C"/>
                </a:solidFill>
                <a:latin typeface="Inter"/>
                <a:ea typeface="Inter"/>
                <a:cs typeface="Inter"/>
              </a:defRPr>
            </a:defPPr>
          </a:lstStyle>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Pays: a program director</a:t>
            </a:r>
          </a:p>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or cooperative board.</a:t>
            </a:r>
          </a:p>
        </p:txBody>
      </p:sp>
      <p:sp>
        <p:nvSpPr>
          <p:cNvPr id="9" name="arrow-0">
            <a:extLst xmlns:a="http://schemas.openxmlformats.org/drawingml/2006/main">
              <a:ext uri="{FF2B5EF4-FFF2-40B4-BE49-F238E27FC236}">
                <a16:creationId xmlns:a16="http://schemas.microsoft.com/office/drawing/2014/main" id="{628DFECD-E12B-437B-9933-543180B3D65C}"/>
              </a:ext>
            </a:extLst>
          </p:cNvPr>
          <p:cNvSpPr>
            <a:spLocks xmlns:a="http://schemas.openxmlformats.org/drawingml/2006/main" noGrp="1"/>
          </p:cNvSpPr>
          <p:nvPr/>
        </p:nvSpPr>
        <p:spPr>
          <a:xfrm xmlns:a="http://schemas.openxmlformats.org/drawingml/2006/main">
            <a:off x="3190799" y="4023360"/>
            <a:ext cx="210312" cy="0"/>
          </a:xfrm>
          <a:prstGeom xmlns:a="http://schemas.openxmlformats.org/drawingml/2006/main" prst="line">
            <a:avLst/>
          </a:prstGeom>
          <a:ln xmlns:a="http://schemas.openxmlformats.org/drawingml/2006/main" w="12700">
            <a:solidFill>
              <a:srgbClr val="78716C"/>
            </a:solidFill>
            <a:tailEnd type="triangle" w="med" len="med"/>
          </a:ln>
        </p:spPr>
      </p:sp>
      <p:sp>
        <p:nvSpPr>
          <p:cNvPr id="10" name="card-1">
            <a:extLst xmlns:a="http://schemas.openxmlformats.org/drawingml/2006/main">
              <a:ext uri="{FF2B5EF4-FFF2-40B4-BE49-F238E27FC236}">
                <a16:creationId xmlns:a16="http://schemas.microsoft.com/office/drawing/2014/main" id="{1F730AD5-A27A-4854-8E94-F7024F3E3B70}"/>
              </a:ext>
            </a:extLst>
          </p:cNvPr>
          <p:cNvSpPr>
            <a:spLocks xmlns:a="http://schemas.openxmlformats.org/drawingml/2006/main" noGrp="1"/>
          </p:cNvSpPr>
          <p:nvPr/>
        </p:nvSpPr>
        <p:spPr>
          <a:xfrm xmlns:a="http://schemas.openxmlformats.org/drawingml/2006/main">
            <a:off x="3410255" y="2514600"/>
            <a:ext cx="2571750" cy="30632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1" name="num-1">
            <a:extLst xmlns:a="http://schemas.openxmlformats.org/drawingml/2006/main">
              <a:ext uri="{FF2B5EF4-FFF2-40B4-BE49-F238E27FC236}">
                <a16:creationId xmlns:a16="http://schemas.microsoft.com/office/drawing/2014/main" id="{E7703D7C-09CD-4355-B253-40728CF8F372}"/>
              </a:ext>
            </a:extLst>
          </p:cNvPr>
          <p:cNvSpPr txBox="1">
            <a:spLocks xmlns:a="http://schemas.openxmlformats.org/drawingml/2006/main" noGrp="1"/>
          </p:cNvSpPr>
          <p:nvPr/>
        </p:nvSpPr>
        <p:spPr>
          <a:xfrm xmlns:a="http://schemas.openxmlformats.org/drawingml/2006/main">
            <a:off x="363885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2</a:t>
            </a:r>
          </a:p>
        </p:txBody>
      </p:sp>
      <p:sp>
        <p:nvSpPr>
          <p:cNvPr id="12" name="head-1">
            <a:extLst xmlns:a="http://schemas.openxmlformats.org/drawingml/2006/main">
              <a:ext uri="{FF2B5EF4-FFF2-40B4-BE49-F238E27FC236}">
                <a16:creationId xmlns:a16="http://schemas.microsoft.com/office/drawing/2014/main" id="{DE0770A0-4A73-4555-AF3A-5D4D1BF7C428}"/>
              </a:ext>
            </a:extLst>
          </p:cNvPr>
          <p:cNvSpPr txBox="1">
            <a:spLocks xmlns:a="http://schemas.openxmlformats.org/drawingml/2006/main" noGrp="1"/>
          </p:cNvSpPr>
          <p:nvPr/>
        </p:nvSpPr>
        <p:spPr>
          <a:xfrm xmlns:a="http://schemas.openxmlformats.org/drawingml/2006/main">
            <a:off x="3638855" y="3337560"/>
            <a:ext cx="2114550" cy="334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Fraunces Medium"/>
                <a:ea typeface="Fraunces Medium"/>
                <a:cs typeface="Fraunces Medium"/>
              </a:defRPr>
            </a:defPPr>
          </a:lstStyle>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Paid support</a:t>
            </a:r>
          </a:p>
        </p:txBody>
      </p:sp>
      <p:sp>
        <p:nvSpPr>
          <p:cNvPr id="13" name="body-1">
            <a:extLst xmlns:a="http://schemas.openxmlformats.org/drawingml/2006/main">
              <a:ext uri="{FF2B5EF4-FFF2-40B4-BE49-F238E27FC236}">
                <a16:creationId xmlns:a16="http://schemas.microsoft.com/office/drawing/2014/main" id="{3869DF7D-B989-4095-8DA6-3397764BEC20}"/>
              </a:ext>
            </a:extLst>
          </p:cNvPr>
          <p:cNvSpPr txBox="1">
            <a:spLocks xmlns:a="http://schemas.openxmlformats.org/drawingml/2006/main" noGrp="1"/>
          </p:cNvSpPr>
          <p:nvPr/>
        </p:nvSpPr>
        <p:spPr>
          <a:xfrm xmlns:a="http://schemas.openxmlformats.org/drawingml/2006/main">
            <a:off x="3638855" y="3726688"/>
            <a:ext cx="211455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Backups, upgrades,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recovery and a</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helpdesk.</a:t>
            </a:r>
          </a:p>
        </p:txBody>
      </p:sp>
      <p:sp>
        <p:nvSpPr>
          <p:cNvPr id="14" name="payer-1">
            <a:extLst xmlns:a="http://schemas.openxmlformats.org/drawingml/2006/main">
              <a:ext uri="{FF2B5EF4-FFF2-40B4-BE49-F238E27FC236}">
                <a16:creationId xmlns:a16="http://schemas.microsoft.com/office/drawing/2014/main" id="{1A2F9BE1-DBBA-4558-9F49-FF63E68C072E}"/>
              </a:ext>
            </a:extLst>
          </p:cNvPr>
          <p:cNvSpPr txBox="1">
            <a:spLocks xmlns:a="http://schemas.openxmlformats.org/drawingml/2006/main" noGrp="1"/>
          </p:cNvSpPr>
          <p:nvPr/>
        </p:nvSpPr>
        <p:spPr>
          <a:xfrm xmlns:a="http://schemas.openxmlformats.org/drawingml/2006/main">
            <a:off x="3638855" y="4983480"/>
            <a:ext cx="211455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78716C"/>
                </a:solidFill>
                <a:latin typeface="Inter"/>
                <a:ea typeface="Inter"/>
                <a:cs typeface="Inter"/>
              </a:defRPr>
            </a:defPPr>
          </a:lstStyle>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Pays: a program</a:t>
            </a:r>
          </a:p>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operations lead.</a:t>
            </a:r>
          </a:p>
        </p:txBody>
      </p:sp>
      <p:sp>
        <p:nvSpPr>
          <p:cNvPr id="15" name="arrow-1">
            <a:extLst xmlns:a="http://schemas.openxmlformats.org/drawingml/2006/main">
              <a:ext uri="{FF2B5EF4-FFF2-40B4-BE49-F238E27FC236}">
                <a16:creationId xmlns:a16="http://schemas.microsoft.com/office/drawing/2014/main" id="{CDFC12E4-0E17-4666-B019-52CFAD635271}"/>
              </a:ext>
            </a:extLst>
          </p:cNvPr>
          <p:cNvSpPr>
            <a:spLocks xmlns:a="http://schemas.openxmlformats.org/drawingml/2006/main" noGrp="1"/>
          </p:cNvSpPr>
          <p:nvPr/>
        </p:nvSpPr>
        <p:spPr>
          <a:xfrm xmlns:a="http://schemas.openxmlformats.org/drawingml/2006/main">
            <a:off x="5991149" y="4023360"/>
            <a:ext cx="210312" cy="0"/>
          </a:xfrm>
          <a:prstGeom xmlns:a="http://schemas.openxmlformats.org/drawingml/2006/main" prst="line">
            <a:avLst/>
          </a:prstGeom>
          <a:ln xmlns:a="http://schemas.openxmlformats.org/drawingml/2006/main" w="12700">
            <a:solidFill>
              <a:srgbClr val="78716C"/>
            </a:solidFill>
            <a:tailEnd type="triangle" w="med" len="med"/>
          </a:ln>
        </p:spPr>
      </p:sp>
      <p:sp>
        <p:nvSpPr>
          <p:cNvPr id="16" name="card-2">
            <a:extLst xmlns:a="http://schemas.openxmlformats.org/drawingml/2006/main">
              <a:ext uri="{FF2B5EF4-FFF2-40B4-BE49-F238E27FC236}">
                <a16:creationId xmlns:a16="http://schemas.microsoft.com/office/drawing/2014/main" id="{C2E8A52B-4482-474D-8021-D4AF085C49FD}"/>
              </a:ext>
            </a:extLst>
          </p:cNvPr>
          <p:cNvSpPr>
            <a:spLocks xmlns:a="http://schemas.openxmlformats.org/drawingml/2006/main" noGrp="1"/>
          </p:cNvSpPr>
          <p:nvPr/>
        </p:nvSpPr>
        <p:spPr>
          <a:xfrm xmlns:a="http://schemas.openxmlformats.org/drawingml/2006/main">
            <a:off x="6210605" y="2514600"/>
            <a:ext cx="2571750" cy="30632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17" name="num-2">
            <a:extLst xmlns:a="http://schemas.openxmlformats.org/drawingml/2006/main">
              <a:ext uri="{FF2B5EF4-FFF2-40B4-BE49-F238E27FC236}">
                <a16:creationId xmlns:a16="http://schemas.microsoft.com/office/drawing/2014/main" id="{BE59C870-768E-4443-BEA7-27E928EB5E88}"/>
              </a:ext>
            </a:extLst>
          </p:cNvPr>
          <p:cNvSpPr txBox="1">
            <a:spLocks xmlns:a="http://schemas.openxmlformats.org/drawingml/2006/main" noGrp="1"/>
          </p:cNvSpPr>
          <p:nvPr/>
        </p:nvSpPr>
        <p:spPr>
          <a:xfrm xmlns:a="http://schemas.openxmlformats.org/drawingml/2006/main">
            <a:off x="643920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3</a:t>
            </a:r>
          </a:p>
        </p:txBody>
      </p:sp>
      <p:sp>
        <p:nvSpPr>
          <p:cNvPr id="18" name="head-2">
            <a:extLst xmlns:a="http://schemas.openxmlformats.org/drawingml/2006/main">
              <a:ext uri="{FF2B5EF4-FFF2-40B4-BE49-F238E27FC236}">
                <a16:creationId xmlns:a16="http://schemas.microsoft.com/office/drawing/2014/main" id="{50DBD989-0992-4293-AF91-94AE8B11DC01}"/>
              </a:ext>
            </a:extLst>
          </p:cNvPr>
          <p:cNvSpPr txBox="1">
            <a:spLocks xmlns:a="http://schemas.openxmlformats.org/drawingml/2006/main" noGrp="1"/>
          </p:cNvSpPr>
          <p:nvPr/>
        </p:nvSpPr>
        <p:spPr>
          <a:xfrm xmlns:a="http://schemas.openxmlformats.org/drawingml/2006/main">
            <a:off x="6439205" y="3337560"/>
            <a:ext cx="2114550" cy="613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Fraunces Medium"/>
                <a:ea typeface="Fraunces Medium"/>
                <a:cs typeface="Fraunces Medium"/>
              </a:defRPr>
            </a:defPPr>
          </a:lstStyle>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Curated knowledge</a:t>
            </a:r>
          </a:p>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service</a:t>
            </a:r>
          </a:p>
        </p:txBody>
      </p:sp>
      <p:sp>
        <p:nvSpPr>
          <p:cNvPr id="19" name="body-2">
            <a:extLst xmlns:a="http://schemas.openxmlformats.org/drawingml/2006/main">
              <a:ext uri="{FF2B5EF4-FFF2-40B4-BE49-F238E27FC236}">
                <a16:creationId xmlns:a16="http://schemas.microsoft.com/office/drawing/2014/main" id="{C0948F30-ECB3-4E51-A201-116B149CAE45}"/>
              </a:ext>
            </a:extLst>
          </p:cNvPr>
          <p:cNvSpPr txBox="1">
            <a:spLocks xmlns:a="http://schemas.openxmlformats.org/drawingml/2006/main" noGrp="1"/>
          </p:cNvSpPr>
          <p:nvPr/>
        </p:nvSpPr>
        <p:spPr>
          <a:xfrm xmlns:a="http://schemas.openxmlformats.org/drawingml/2006/main">
            <a:off x="6439205" y="4006088"/>
            <a:ext cx="211455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Curation, office hours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translation, if</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reciprocal use exists.</a:t>
            </a:r>
          </a:p>
        </p:txBody>
      </p:sp>
      <p:sp>
        <p:nvSpPr>
          <p:cNvPr id="20" name="payer-2">
            <a:extLst xmlns:a="http://schemas.openxmlformats.org/drawingml/2006/main">
              <a:ext uri="{FF2B5EF4-FFF2-40B4-BE49-F238E27FC236}">
                <a16:creationId xmlns:a16="http://schemas.microsoft.com/office/drawing/2014/main" id="{8E7C7ABB-2840-444A-B602-987DADEF9A51}"/>
              </a:ext>
            </a:extLst>
          </p:cNvPr>
          <p:cNvSpPr txBox="1">
            <a:spLocks xmlns:a="http://schemas.openxmlformats.org/drawingml/2006/main" noGrp="1"/>
          </p:cNvSpPr>
          <p:nvPr/>
        </p:nvSpPr>
        <p:spPr>
          <a:xfrm xmlns:a="http://schemas.openxmlformats.org/drawingml/2006/main">
            <a:off x="6439205" y="4983480"/>
            <a:ext cx="211455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78716C"/>
                </a:solidFill>
                <a:latin typeface="Inter"/>
                <a:ea typeface="Inter"/>
                <a:cs typeface="Inter"/>
              </a:defRPr>
            </a:defPPr>
          </a:lstStyle>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Pays: a learning lead or</a:t>
            </a:r>
          </a:p>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a well-resourced steward.</a:t>
            </a:r>
          </a:p>
        </p:txBody>
      </p:sp>
      <p:sp>
        <p:nvSpPr>
          <p:cNvPr id="21" name="arrow-2">
            <a:extLst xmlns:a="http://schemas.openxmlformats.org/drawingml/2006/main">
              <a:ext uri="{FF2B5EF4-FFF2-40B4-BE49-F238E27FC236}">
                <a16:creationId xmlns:a16="http://schemas.microsoft.com/office/drawing/2014/main" id="{D06A73E5-A1F9-475F-A678-991A92311998}"/>
              </a:ext>
            </a:extLst>
          </p:cNvPr>
          <p:cNvSpPr>
            <a:spLocks xmlns:a="http://schemas.openxmlformats.org/drawingml/2006/main" noGrp="1"/>
          </p:cNvSpPr>
          <p:nvPr/>
        </p:nvSpPr>
        <p:spPr>
          <a:xfrm xmlns:a="http://schemas.openxmlformats.org/drawingml/2006/main">
            <a:off x="8791499" y="4023360"/>
            <a:ext cx="210312" cy="0"/>
          </a:xfrm>
          <a:prstGeom xmlns:a="http://schemas.openxmlformats.org/drawingml/2006/main" prst="line">
            <a:avLst/>
          </a:prstGeom>
          <a:ln xmlns:a="http://schemas.openxmlformats.org/drawingml/2006/main" w="12700">
            <a:solidFill>
              <a:srgbClr val="78716C"/>
            </a:solidFill>
            <a:tailEnd type="triangle" w="med" len="med"/>
          </a:ln>
        </p:spPr>
      </p:sp>
      <p:sp>
        <p:nvSpPr>
          <p:cNvPr id="22" name="card-3">
            <a:extLst xmlns:a="http://schemas.openxmlformats.org/drawingml/2006/main">
              <a:ext uri="{FF2B5EF4-FFF2-40B4-BE49-F238E27FC236}">
                <a16:creationId xmlns:a16="http://schemas.microsoft.com/office/drawing/2014/main" id="{106993AE-2144-440B-AE24-1492B2C34D85}"/>
              </a:ext>
            </a:extLst>
          </p:cNvPr>
          <p:cNvSpPr>
            <a:spLocks xmlns:a="http://schemas.openxmlformats.org/drawingml/2006/main" noGrp="1"/>
          </p:cNvSpPr>
          <p:nvPr/>
        </p:nvSpPr>
        <p:spPr>
          <a:xfrm xmlns:a="http://schemas.openxmlformats.org/drawingml/2006/main">
            <a:off x="9010955" y="2514600"/>
            <a:ext cx="2571750" cy="3063240"/>
          </a:xfrm>
          <a:prstGeom xmlns:a="http://schemas.openxmlformats.org/drawingml/2006/main" prst="rect">
            <a:avLst/>
          </a:prstGeom>
          <a:solidFill xmlns:a="http://schemas.openxmlformats.org/drawingml/2006/main">
            <a:srgbClr val="F3F0EA"/>
          </a:solidFill>
          <a:ln xmlns:a="http://schemas.openxmlformats.org/drawingml/2006/main" w="0">
            <a:noFill/>
          </a:ln>
        </p:spPr>
      </p:sp>
      <p:sp>
        <p:nvSpPr>
          <p:cNvPr id="23" name="num-3">
            <a:extLst xmlns:a="http://schemas.openxmlformats.org/drawingml/2006/main">
              <a:ext uri="{FF2B5EF4-FFF2-40B4-BE49-F238E27FC236}">
                <a16:creationId xmlns:a16="http://schemas.microsoft.com/office/drawing/2014/main" id="{B246E90E-E2DF-4915-B41C-B38B1AFD5CE0}"/>
              </a:ext>
            </a:extLst>
          </p:cNvPr>
          <p:cNvSpPr txBox="1">
            <a:spLocks xmlns:a="http://schemas.openxmlformats.org/drawingml/2006/main" noGrp="1"/>
          </p:cNvSpPr>
          <p:nvPr/>
        </p:nvSpPr>
        <p:spPr>
          <a:xfrm xmlns:a="http://schemas.openxmlformats.org/drawingml/2006/main">
            <a:off x="9239555" y="2697480"/>
            <a:ext cx="914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0" i="0" kern="1200">
                <a:solidFill>
                  <a:srgbClr val="78716C"/>
                </a:solidFill>
                <a:latin typeface="Fraunces Medium"/>
                <a:ea typeface="Fraunces Medium"/>
                <a:cs typeface="Fraunces Medium"/>
              </a:defRPr>
            </a:defPPr>
          </a:lstStyle>
          <a:p xmlns:a="http://schemas.openxmlformats.org/drawingml/2006/main">
            <a:pPr>
              <a:lnSpc>
                <a:spcPts val="4000"/>
              </a:lnSpc>
              <a:defRPr sz="3600" b="0" i="0" kern="1200">
                <a:solidFill>
                  <a:srgbClr val="78716C"/>
                </a:solidFill>
                <a:latin typeface="Fraunces Medium"/>
                <a:ea typeface="Fraunces Medium"/>
                <a:cs typeface="Fraunces Medium"/>
              </a:defRPr>
            </a:pPr>
            <a:r>
              <a:rPr sz="3600" b="0" i="0" kern="1200">
                <a:solidFill>
                  <a:srgbClr val="78716C"/>
                </a:solidFill>
                <a:latin typeface="Fraunces Medium"/>
                <a:ea typeface="Fraunces Medium"/>
                <a:cs typeface="Fraunces Medium"/>
              </a:rPr>
              <a:t>4</a:t>
            </a:r>
          </a:p>
        </p:txBody>
      </p:sp>
      <p:sp>
        <p:nvSpPr>
          <p:cNvPr id="24" name="head-3">
            <a:extLst xmlns:a="http://schemas.openxmlformats.org/drawingml/2006/main">
              <a:ext uri="{FF2B5EF4-FFF2-40B4-BE49-F238E27FC236}">
                <a16:creationId xmlns:a16="http://schemas.microsoft.com/office/drawing/2014/main" id="{30FC682E-CABF-46AD-A6CA-5DDEF5EE2E6C}"/>
              </a:ext>
            </a:extLst>
          </p:cNvPr>
          <p:cNvSpPr txBox="1">
            <a:spLocks xmlns:a="http://schemas.openxmlformats.org/drawingml/2006/main" noGrp="1"/>
          </p:cNvSpPr>
          <p:nvPr/>
        </p:nvSpPr>
        <p:spPr>
          <a:xfrm xmlns:a="http://schemas.openxmlformats.org/drawingml/2006/main">
            <a:off x="9239555" y="3337560"/>
            <a:ext cx="2114550" cy="334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i="0" kern="1200">
                <a:solidFill>
                  <a:srgbClr val="292524"/>
                </a:solidFill>
                <a:latin typeface="Fraunces Medium"/>
                <a:ea typeface="Fraunces Medium"/>
                <a:cs typeface="Fraunces Medium"/>
              </a:defRPr>
            </a:defPPr>
          </a:lstStyle>
          <a:p xmlns:a="http://schemas.openxmlformats.org/drawingml/2006/main">
            <a:pPr>
              <a:lnSpc>
                <a:spcPts val="2200"/>
              </a:lnSpc>
              <a:defRPr sz="1800" b="0" i="0" kern="1200">
                <a:solidFill>
                  <a:srgbClr val="292524"/>
                </a:solidFill>
                <a:latin typeface="Fraunces Medium"/>
                <a:ea typeface="Fraunces Medium"/>
                <a:cs typeface="Fraunces Medium"/>
              </a:defRPr>
            </a:pPr>
            <a:r>
              <a:rPr sz="1800" b="0" i="0" kern="1200">
                <a:solidFill>
                  <a:srgbClr val="292524"/>
                </a:solidFill>
                <a:latin typeface="Fraunces Medium"/>
                <a:ea typeface="Fraunces Medium"/>
                <a:cs typeface="Fraunces Medium"/>
              </a:rPr>
              <a:t>Compatible kits</a:t>
            </a:r>
          </a:p>
        </p:txBody>
      </p:sp>
      <p:sp>
        <p:nvSpPr>
          <p:cNvPr id="25" name="body-3">
            <a:extLst xmlns:a="http://schemas.openxmlformats.org/drawingml/2006/main">
              <a:ext uri="{FF2B5EF4-FFF2-40B4-BE49-F238E27FC236}">
                <a16:creationId xmlns:a16="http://schemas.microsoft.com/office/drawing/2014/main" id="{6C6244B9-66C3-4461-A762-9CA3C80B8D3D}"/>
              </a:ext>
            </a:extLst>
          </p:cNvPr>
          <p:cNvSpPr txBox="1">
            <a:spLocks xmlns:a="http://schemas.openxmlformats.org/drawingml/2006/main" noGrp="1"/>
          </p:cNvSpPr>
          <p:nvPr/>
        </p:nvSpPr>
        <p:spPr>
          <a:xfrm xmlns:a="http://schemas.openxmlformats.org/drawingml/2006/main">
            <a:off x="9239555" y="3726688"/>
            <a:ext cx="211455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Local partners, only</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if installation pain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is proven.</a:t>
            </a:r>
          </a:p>
        </p:txBody>
      </p:sp>
      <p:sp>
        <p:nvSpPr>
          <p:cNvPr id="26" name="payer-3">
            <a:extLst xmlns:a="http://schemas.openxmlformats.org/drawingml/2006/main">
              <a:ext uri="{FF2B5EF4-FFF2-40B4-BE49-F238E27FC236}">
                <a16:creationId xmlns:a16="http://schemas.microsoft.com/office/drawing/2014/main" id="{AE5B9F7E-B976-460C-92B1-318F0D23A097}"/>
              </a:ext>
            </a:extLst>
          </p:cNvPr>
          <p:cNvSpPr txBox="1">
            <a:spLocks xmlns:a="http://schemas.openxmlformats.org/drawingml/2006/main" noGrp="1"/>
          </p:cNvSpPr>
          <p:nvPr/>
        </p:nvSpPr>
        <p:spPr>
          <a:xfrm xmlns:a="http://schemas.openxmlformats.org/drawingml/2006/main">
            <a:off x="9239555" y="4983480"/>
            <a:ext cx="2114550" cy="502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00" b="0" i="0" kern="1200">
                <a:solidFill>
                  <a:srgbClr val="78716C"/>
                </a:solidFill>
                <a:latin typeface="Inter"/>
                <a:ea typeface="Inter"/>
                <a:cs typeface="Inter"/>
              </a:defRPr>
            </a:defPPr>
          </a:lstStyle>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Pays: program operations</a:t>
            </a:r>
          </a:p>
          <a:p xmlns:a="http://schemas.openxmlformats.org/drawingml/2006/main">
            <a:pPr>
              <a:lnSpc>
                <a:spcPts val="1800"/>
              </a:lnSpc>
              <a:defRPr sz="1300" b="0" i="0" kern="1200">
                <a:solidFill>
                  <a:srgbClr val="78716C"/>
                </a:solidFill>
                <a:latin typeface="Inter"/>
                <a:ea typeface="Inter"/>
                <a:cs typeface="Inter"/>
              </a:defRPr>
            </a:pPr>
            <a:r>
              <a:rPr sz="1300" b="0" i="0" kern="1200">
                <a:solidFill>
                  <a:srgbClr val="78716C"/>
                </a:solidFill>
                <a:latin typeface="Inter"/>
                <a:ea typeface="Inter"/>
                <a:cs typeface="Inter"/>
              </a:rPr>
              <a:t>or a land manager.</a:t>
            </a:r>
          </a:p>
        </p:txBody>
      </p:sp>
      <p:sp>
        <p:nvSpPr>
          <p:cNvPr id="27" name="closing">
            <a:extLst xmlns:a="http://schemas.openxmlformats.org/drawingml/2006/main">
              <a:ext uri="{FF2B5EF4-FFF2-40B4-BE49-F238E27FC236}">
                <a16:creationId xmlns:a16="http://schemas.microsoft.com/office/drawing/2014/main" id="{4AD91F21-EA42-45E6-8EB8-1262205DCF61}"/>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Access funding for communities is separate from company revenue.</a:t>
            </a:r>
          </a:p>
        </p:txBody>
      </p:sp>
      <p:sp>
        <p:nvSpPr>
          <p:cNvPr id="28" name="footnote">
            <a:extLst xmlns:a="http://schemas.openxmlformats.org/drawingml/2006/main">
              <a:ext uri="{FF2B5EF4-FFF2-40B4-BE49-F238E27FC236}">
                <a16:creationId xmlns:a16="http://schemas.microsoft.com/office/drawing/2014/main" id="{096B8E85-948E-452B-9234-E59AEA87C581}"/>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Services and support first is a recommendation; protocol fees and licensing stay out of the initial model. No price or margin is asserted.</a:t>
            </a:r>
          </a:p>
        </p:txBody>
      </p:sp>
    </p:spTree>
    <p:extLst>
      <p:ext uri="{BB962C8B-B14F-4D97-AF65-F5344CB8AC3E}">
        <p14:creationId xmlns:p14="http://schemas.microsoft.com/office/powerpoint/2010/main" val="1440655531"/>
      </p:ext>
    </p:extLst>
  </p:cSld>
</p:sld>
</file>

<file path=ppt/slides/slide14.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358850BA-7273-48BE-A392-8921B15DDEB3}"/>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Grow through trusted delivery</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and useful exchange.</a:t>
            </a:r>
          </a:p>
        </p:txBody>
      </p:sp>
      <p:sp>
        <p:nvSpPr>
          <p:cNvPr id="3" name="lede">
            <a:extLst xmlns:a="http://schemas.openxmlformats.org/drawingml/2006/main">
              <a:ext uri="{FF2B5EF4-FFF2-40B4-BE49-F238E27FC236}">
                <a16:creationId xmlns:a16="http://schemas.microsoft.com/office/drawing/2014/main" id="{719A2BF7-0C6D-43FF-813F-BFB289693386}"/>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Relationships and delivery milestones, with maintenance owned by someone named.</a:t>
            </a:r>
          </a:p>
        </p:txBody>
      </p:sp>
      <p:sp>
        <p:nvSpPr>
          <p:cNvPr id="4" name="timeline">
            <a:extLst xmlns:a="http://schemas.openxmlformats.org/drawingml/2006/main">
              <a:ext uri="{FF2B5EF4-FFF2-40B4-BE49-F238E27FC236}">
                <a16:creationId xmlns:a16="http://schemas.microsoft.com/office/drawing/2014/main" id="{B5726D56-4CA8-4E67-BC55-FF55C0A427BA}"/>
              </a:ext>
            </a:extLst>
          </p:cNvPr>
          <p:cNvSpPr>
            <a:spLocks xmlns:a="http://schemas.openxmlformats.org/drawingml/2006/main" noGrp="1"/>
          </p:cNvSpPr>
          <p:nvPr/>
        </p:nvSpPr>
        <p:spPr>
          <a:xfrm xmlns:a="http://schemas.openxmlformats.org/drawingml/2006/main">
            <a:off x="609905" y="2834640"/>
            <a:ext cx="10972800" cy="0"/>
          </a:xfrm>
          <a:prstGeom xmlns:a="http://schemas.openxmlformats.org/drawingml/2006/main" prst="line">
            <a:avLst/>
          </a:prstGeom>
          <a:ln xmlns:a="http://schemas.openxmlformats.org/drawingml/2006/main" w="12700">
            <a:solidFill>
              <a:srgbClr val="78716C"/>
            </a:solidFill>
          </a:ln>
        </p:spPr>
      </p:sp>
      <p:sp>
        <p:nvSpPr>
          <p:cNvPr id="5" name="dot-0">
            <a:extLst xmlns:a="http://schemas.openxmlformats.org/drawingml/2006/main">
              <a:ext uri="{FF2B5EF4-FFF2-40B4-BE49-F238E27FC236}">
                <a16:creationId xmlns:a16="http://schemas.microsoft.com/office/drawing/2014/main" id="{3FB1EBAE-8A36-421A-90E6-4A45E18E991C}"/>
              </a:ext>
            </a:extLst>
          </p:cNvPr>
          <p:cNvSpPr>
            <a:spLocks xmlns:a="http://schemas.openxmlformats.org/drawingml/2006/main" noGrp="1"/>
          </p:cNvSpPr>
          <p:nvPr/>
        </p:nvSpPr>
        <p:spPr>
          <a:xfrm xmlns:a="http://schemas.openxmlformats.org/drawingml/2006/main">
            <a:off x="609905" y="2724912"/>
            <a:ext cx="219456" cy="219456"/>
          </a:xfrm>
          <a:prstGeom xmlns:a="http://schemas.openxmlformats.org/drawingml/2006/main" prst="rect">
            <a:avLst/>
          </a:prstGeom>
          <a:solidFill xmlns:a="http://schemas.openxmlformats.org/drawingml/2006/main">
            <a:srgbClr val="1A7544"/>
          </a:solidFill>
          <a:ln xmlns:a="http://schemas.openxmlformats.org/drawingml/2006/main" w="0">
            <a:noFill/>
          </a:ln>
        </p:spPr>
      </p:sp>
      <p:sp>
        <p:nvSpPr>
          <p:cNvPr id="6" name="head-0">
            <a:extLst xmlns:a="http://schemas.openxmlformats.org/drawingml/2006/main">
              <a:ext uri="{FF2B5EF4-FFF2-40B4-BE49-F238E27FC236}">
                <a16:creationId xmlns:a16="http://schemas.microsoft.com/office/drawing/2014/main" id="{6DE3F34C-E2FF-4265-8B47-A6EC4962711E}"/>
              </a:ext>
            </a:extLst>
          </p:cNvPr>
          <p:cNvSpPr txBox="1">
            <a:spLocks xmlns:a="http://schemas.openxmlformats.org/drawingml/2006/main" noGrp="1"/>
          </p:cNvSpPr>
          <p:nvPr/>
        </p:nvSpPr>
        <p:spPr>
          <a:xfrm xmlns:a="http://schemas.openxmlformats.org/drawingml/2006/main">
            <a:off x="609905" y="3108960"/>
            <a:ext cx="25374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Onboarding</a:t>
            </a:r>
          </a:p>
        </p:txBody>
      </p:sp>
      <p:sp>
        <p:nvSpPr>
          <p:cNvPr id="7" name="body-0">
            <a:extLst xmlns:a="http://schemas.openxmlformats.org/drawingml/2006/main">
              <a:ext uri="{FF2B5EF4-FFF2-40B4-BE49-F238E27FC236}">
                <a16:creationId xmlns:a16="http://schemas.microsoft.com/office/drawing/2014/main" id="{5264D0E6-F873-47AF-9F06-76180C57D7DA}"/>
              </a:ext>
            </a:extLst>
          </p:cNvPr>
          <p:cNvSpPr txBox="1">
            <a:spLocks xmlns:a="http://schemas.openxmlformats.org/drawingml/2006/main" noGrp="1"/>
          </p:cNvSpPr>
          <p:nvPr/>
        </p:nvSpPr>
        <p:spPr>
          <a:xfrm xmlns:a="http://schemas.openxmlformats.org/drawingml/2006/main">
            <a:off x="609905" y="3566160"/>
            <a:ext cx="253746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coordinator brings in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one cohort on the devices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it already uses.</a:t>
            </a:r>
          </a:p>
        </p:txBody>
      </p:sp>
      <p:sp>
        <p:nvSpPr>
          <p:cNvPr id="8" name="dot-1">
            <a:extLst xmlns:a="http://schemas.openxmlformats.org/drawingml/2006/main">
              <a:ext uri="{FF2B5EF4-FFF2-40B4-BE49-F238E27FC236}">
                <a16:creationId xmlns:a16="http://schemas.microsoft.com/office/drawing/2014/main" id="{7A85A615-3B6A-4B76-B62D-053675590528}"/>
              </a:ext>
            </a:extLst>
          </p:cNvPr>
          <p:cNvSpPr>
            <a:spLocks xmlns:a="http://schemas.openxmlformats.org/drawingml/2006/main" noGrp="1"/>
          </p:cNvSpPr>
          <p:nvPr/>
        </p:nvSpPr>
        <p:spPr>
          <a:xfrm xmlns:a="http://schemas.openxmlformats.org/drawingml/2006/main">
            <a:off x="3421685" y="2724912"/>
            <a:ext cx="219456" cy="219456"/>
          </a:xfrm>
          <a:prstGeom xmlns:a="http://schemas.openxmlformats.org/drawingml/2006/main" prst="rect">
            <a:avLst/>
          </a:prstGeom>
          <a:solidFill xmlns:a="http://schemas.openxmlformats.org/drawingml/2006/main">
            <a:srgbClr val="1A7544"/>
          </a:solidFill>
          <a:ln xmlns:a="http://schemas.openxmlformats.org/drawingml/2006/main" w="0">
            <a:noFill/>
          </a:ln>
        </p:spPr>
      </p:sp>
      <p:sp>
        <p:nvSpPr>
          <p:cNvPr id="9" name="head-1">
            <a:extLst xmlns:a="http://schemas.openxmlformats.org/drawingml/2006/main">
              <a:ext uri="{FF2B5EF4-FFF2-40B4-BE49-F238E27FC236}">
                <a16:creationId xmlns:a16="http://schemas.microsoft.com/office/drawing/2014/main" id="{7F43177F-2C90-4454-80BE-E03B39532781}"/>
              </a:ext>
            </a:extLst>
          </p:cNvPr>
          <p:cNvSpPr txBox="1">
            <a:spLocks xmlns:a="http://schemas.openxmlformats.org/drawingml/2006/main" noGrp="1"/>
          </p:cNvSpPr>
          <p:nvPr/>
        </p:nvSpPr>
        <p:spPr>
          <a:xfrm xmlns:a="http://schemas.openxmlformats.org/drawingml/2006/main">
            <a:off x="3421685" y="3108960"/>
            <a:ext cx="25374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Repeat use</a:t>
            </a:r>
          </a:p>
        </p:txBody>
      </p:sp>
      <p:sp>
        <p:nvSpPr>
          <p:cNvPr id="10" name="body-1">
            <a:extLst xmlns:a="http://schemas.openxmlformats.org/drawingml/2006/main">
              <a:ext uri="{FF2B5EF4-FFF2-40B4-BE49-F238E27FC236}">
                <a16:creationId xmlns:a16="http://schemas.microsoft.com/office/drawing/2014/main" id="{D0B83092-FCF6-455C-A7C7-54DEDCCD0E38}"/>
              </a:ext>
            </a:extLst>
          </p:cNvPr>
          <p:cNvSpPr txBox="1">
            <a:spLocks xmlns:a="http://schemas.openxmlformats.org/drawingml/2006/main" noGrp="1"/>
          </p:cNvSpPr>
          <p:nvPr/>
        </p:nvSpPr>
        <p:spPr>
          <a:xfrm xmlns:a="http://schemas.openxmlformats.org/drawingml/2006/main">
            <a:off x="3421685" y="3566160"/>
            <a:ext cx="253746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Weekly recording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review become routine.</a:t>
            </a:r>
          </a:p>
        </p:txBody>
      </p:sp>
      <p:sp>
        <p:nvSpPr>
          <p:cNvPr id="11" name="dot-2">
            <a:extLst xmlns:a="http://schemas.openxmlformats.org/drawingml/2006/main">
              <a:ext uri="{FF2B5EF4-FFF2-40B4-BE49-F238E27FC236}">
                <a16:creationId xmlns:a16="http://schemas.microsoft.com/office/drawing/2014/main" id="{15942219-2B33-4493-BC16-B9DE1D49856C}"/>
              </a:ext>
            </a:extLst>
          </p:cNvPr>
          <p:cNvSpPr>
            <a:spLocks xmlns:a="http://schemas.openxmlformats.org/drawingml/2006/main" noGrp="1"/>
          </p:cNvSpPr>
          <p:nvPr/>
        </p:nvSpPr>
        <p:spPr>
          <a:xfrm xmlns:a="http://schemas.openxmlformats.org/drawingml/2006/main">
            <a:off x="6233465" y="2724912"/>
            <a:ext cx="219456" cy="219456"/>
          </a:xfrm>
          <a:prstGeom xmlns:a="http://schemas.openxmlformats.org/drawingml/2006/main" prst="rect">
            <a:avLst/>
          </a:prstGeom>
          <a:solidFill xmlns:a="http://schemas.openxmlformats.org/drawingml/2006/main">
            <a:srgbClr val="1A7544"/>
          </a:solidFill>
          <a:ln xmlns:a="http://schemas.openxmlformats.org/drawingml/2006/main" w="0">
            <a:noFill/>
          </a:ln>
        </p:spPr>
      </p:sp>
      <p:sp>
        <p:nvSpPr>
          <p:cNvPr id="12" name="head-2">
            <a:extLst xmlns:a="http://schemas.openxmlformats.org/drawingml/2006/main">
              <a:ext uri="{FF2B5EF4-FFF2-40B4-BE49-F238E27FC236}">
                <a16:creationId xmlns:a16="http://schemas.microsoft.com/office/drawing/2014/main" id="{A88AC263-91E1-4F9C-92C5-1683366A112E}"/>
              </a:ext>
            </a:extLst>
          </p:cNvPr>
          <p:cNvSpPr txBox="1">
            <a:spLocks xmlns:a="http://schemas.openxmlformats.org/drawingml/2006/main" noGrp="1"/>
          </p:cNvSpPr>
          <p:nvPr/>
        </p:nvSpPr>
        <p:spPr>
          <a:xfrm xmlns:a="http://schemas.openxmlformats.org/drawingml/2006/main">
            <a:off x="6233465" y="3108960"/>
            <a:ext cx="25374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Renewal</a:t>
            </a:r>
          </a:p>
        </p:txBody>
      </p:sp>
      <p:sp>
        <p:nvSpPr>
          <p:cNvPr id="13" name="body-2">
            <a:extLst xmlns:a="http://schemas.openxmlformats.org/drawingml/2006/main">
              <a:ext uri="{FF2B5EF4-FFF2-40B4-BE49-F238E27FC236}">
                <a16:creationId xmlns:a16="http://schemas.microsoft.com/office/drawing/2014/main" id="{592CC26E-EA8B-4E8C-B8D5-569DC2A259DA}"/>
              </a:ext>
            </a:extLst>
          </p:cNvPr>
          <p:cNvSpPr txBox="1">
            <a:spLocks xmlns:a="http://schemas.openxmlformats.org/drawingml/2006/main" noGrp="1"/>
          </p:cNvSpPr>
          <p:nvPr/>
        </p:nvSpPr>
        <p:spPr>
          <a:xfrm xmlns:a="http://schemas.openxmlformats.org/drawingml/2006/main">
            <a:off x="6233465" y="3566160"/>
            <a:ext cx="2537460" cy="579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The buyer renews support</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after a measured pilot.</a:t>
            </a:r>
          </a:p>
        </p:txBody>
      </p:sp>
      <p:sp>
        <p:nvSpPr>
          <p:cNvPr id="14" name="dot-3">
            <a:extLst xmlns:a="http://schemas.openxmlformats.org/drawingml/2006/main">
              <a:ext uri="{FF2B5EF4-FFF2-40B4-BE49-F238E27FC236}">
                <a16:creationId xmlns:a16="http://schemas.microsoft.com/office/drawing/2014/main" id="{BA9C8102-14A8-417C-987D-E229AD523F23}"/>
              </a:ext>
            </a:extLst>
          </p:cNvPr>
          <p:cNvSpPr>
            <a:spLocks xmlns:a="http://schemas.openxmlformats.org/drawingml/2006/main" noGrp="1"/>
          </p:cNvSpPr>
          <p:nvPr/>
        </p:nvSpPr>
        <p:spPr>
          <a:xfrm xmlns:a="http://schemas.openxmlformats.org/drawingml/2006/main">
            <a:off x="9045245" y="2724912"/>
            <a:ext cx="219456" cy="219456"/>
          </a:xfrm>
          <a:prstGeom xmlns:a="http://schemas.openxmlformats.org/drawingml/2006/main" prst="rect">
            <a:avLst/>
          </a:prstGeom>
          <a:solidFill xmlns:a="http://schemas.openxmlformats.org/drawingml/2006/main">
            <a:srgbClr val="1A7544"/>
          </a:solidFill>
          <a:ln xmlns:a="http://schemas.openxmlformats.org/drawingml/2006/main" w="0">
            <a:noFill/>
          </a:ln>
        </p:spPr>
      </p:sp>
      <p:sp>
        <p:nvSpPr>
          <p:cNvPr id="15" name="head-3">
            <a:extLst xmlns:a="http://schemas.openxmlformats.org/drawingml/2006/main">
              <a:ext uri="{FF2B5EF4-FFF2-40B4-BE49-F238E27FC236}">
                <a16:creationId xmlns:a16="http://schemas.microsoft.com/office/drawing/2014/main" id="{97F8C178-9221-463F-90CF-B3878A4844D7}"/>
              </a:ext>
            </a:extLst>
          </p:cNvPr>
          <p:cNvSpPr txBox="1">
            <a:spLocks xmlns:a="http://schemas.openxmlformats.org/drawingml/2006/main" noGrp="1"/>
          </p:cNvSpPr>
          <p:nvPr/>
        </p:nvSpPr>
        <p:spPr>
          <a:xfrm xmlns:a="http://schemas.openxmlformats.org/drawingml/2006/main">
            <a:off x="9045245" y="3108960"/>
            <a:ext cx="25374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Introductions</a:t>
            </a:r>
          </a:p>
        </p:txBody>
      </p:sp>
      <p:sp>
        <p:nvSpPr>
          <p:cNvPr id="16" name="body-3">
            <a:extLst xmlns:a="http://schemas.openxmlformats.org/drawingml/2006/main">
              <a:ext uri="{FF2B5EF4-FFF2-40B4-BE49-F238E27FC236}">
                <a16:creationId xmlns:a16="http://schemas.microsoft.com/office/drawing/2014/main" id="{1AD58446-B325-498D-AF47-080405B33D79}"/>
              </a:ext>
            </a:extLst>
          </p:cNvPr>
          <p:cNvSpPr txBox="1">
            <a:spLocks xmlns:a="http://schemas.openxmlformats.org/drawingml/2006/main" noGrp="1"/>
          </p:cNvSpPr>
          <p:nvPr/>
        </p:nvSpPr>
        <p:spPr>
          <a:xfrm xmlns:a="http://schemas.openxmlformats.org/drawingml/2006/main">
            <a:off x="9045245" y="3566160"/>
            <a:ext cx="2537460" cy="845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Participants introduce the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next cohort; exchange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grows across places.</a:t>
            </a:r>
          </a:p>
        </p:txBody>
      </p:sp>
      <p:sp>
        <p:nvSpPr>
          <p:cNvPr id="17" name="rule-m">
            <a:extLst xmlns:a="http://schemas.openxmlformats.org/drawingml/2006/main">
              <a:ext uri="{FF2B5EF4-FFF2-40B4-BE49-F238E27FC236}">
                <a16:creationId xmlns:a16="http://schemas.microsoft.com/office/drawing/2014/main" id="{74FB1B32-E7F2-4C70-8A78-089A38D9D386}"/>
              </a:ext>
            </a:extLst>
          </p:cNvPr>
          <p:cNvSpPr>
            <a:spLocks xmlns:a="http://schemas.openxmlformats.org/drawingml/2006/main" noGrp="1"/>
          </p:cNvSpPr>
          <p:nvPr/>
        </p:nvSpPr>
        <p:spPr>
          <a:xfrm xmlns:a="http://schemas.openxmlformats.org/drawingml/2006/main">
            <a:off x="609905" y="5074920"/>
            <a:ext cx="10972800" cy="0"/>
          </a:xfrm>
          <a:prstGeom xmlns:a="http://schemas.openxmlformats.org/drawingml/2006/main" prst="line">
            <a:avLst/>
          </a:prstGeom>
          <a:ln xmlns:a="http://schemas.openxmlformats.org/drawingml/2006/main" w="9525">
            <a:solidFill>
              <a:srgbClr val="D6D3D1"/>
            </a:solidFill>
          </a:ln>
        </p:spPr>
      </p:sp>
      <p:sp>
        <p:nvSpPr>
          <p:cNvPr id="18" name="head-m">
            <a:extLst xmlns:a="http://schemas.openxmlformats.org/drawingml/2006/main">
              <a:ext uri="{FF2B5EF4-FFF2-40B4-BE49-F238E27FC236}">
                <a16:creationId xmlns:a16="http://schemas.microsoft.com/office/drawing/2014/main" id="{053C881C-10AE-4C11-AA8C-04731505E8B2}"/>
              </a:ext>
            </a:extLst>
          </p:cNvPr>
          <p:cNvSpPr txBox="1">
            <a:spLocks xmlns:a="http://schemas.openxmlformats.org/drawingml/2006/main" noGrp="1"/>
          </p:cNvSpPr>
          <p:nvPr/>
        </p:nvSpPr>
        <p:spPr>
          <a:xfrm xmlns:a="http://schemas.openxmlformats.org/drawingml/2006/main">
            <a:off x="609905" y="5212080"/>
            <a:ext cx="1097280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Maintenance ownership</a:t>
            </a:r>
          </a:p>
        </p:txBody>
      </p:sp>
      <p:sp>
        <p:nvSpPr>
          <p:cNvPr id="19" name="body-m">
            <a:extLst xmlns:a="http://schemas.openxmlformats.org/drawingml/2006/main">
              <a:ext uri="{FF2B5EF4-FFF2-40B4-BE49-F238E27FC236}">
                <a16:creationId xmlns:a16="http://schemas.microsoft.com/office/drawing/2014/main" id="{FEA441A8-64E9-4C3D-AED3-235B25BC2E08}"/>
              </a:ext>
            </a:extLst>
          </p:cNvPr>
          <p:cNvSpPr txBox="1">
            <a:spLocks xmlns:a="http://schemas.openxmlformats.org/drawingml/2006/main" noGrp="1"/>
          </p:cNvSpPr>
          <p:nvPr/>
        </p:nvSpPr>
        <p:spPr>
          <a:xfrm xmlns:a="http://schemas.openxmlformats.org/drawingml/2006/main">
            <a:off x="609905" y="5623560"/>
            <a:ext cx="10972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Every installation names who maintains it and who pays, before it is installed.</a:t>
            </a:r>
          </a:p>
        </p:txBody>
      </p:sp>
      <p:sp>
        <p:nvSpPr>
          <p:cNvPr id="20" name="footnote">
            <a:extLst xmlns:a="http://schemas.openxmlformats.org/drawingml/2006/main">
              <a:ext uri="{FF2B5EF4-FFF2-40B4-BE49-F238E27FC236}">
                <a16:creationId xmlns:a16="http://schemas.microsoft.com/office/drawing/2014/main" id="{7F2BDDA6-784C-4CF5-B14A-B4E869076D82}"/>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Proposed go-to-market, not measured acquisition. Repeat use and renewal are the evidence that matters.</a:t>
            </a:r>
          </a:p>
        </p:txBody>
      </p:sp>
    </p:spTree>
    <p:extLst>
      <p:ext uri="{BB962C8B-B14F-4D97-AF65-F5344CB8AC3E}">
        <p14:creationId xmlns:p14="http://schemas.microsoft.com/office/powerpoint/2010/main" val="1440655531"/>
      </p:ext>
    </p:extLst>
  </p:cSld>
</p:sld>
</file>

<file path=ppt/slides/slide15.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5A8E1521-179C-429F-B49A-47AB06E97F86}"/>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Prove usefulness, control</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and reciprocal value.</a:t>
            </a:r>
          </a:p>
        </p:txBody>
      </p:sp>
      <p:sp>
        <p:nvSpPr>
          <p:cNvPr id="3" name="lede">
            <a:extLst xmlns:a="http://schemas.openxmlformats.org/drawingml/2006/main">
              <a:ext uri="{FF2B5EF4-FFF2-40B4-BE49-F238E27FC236}">
                <a16:creationId xmlns:a16="http://schemas.microsoft.com/office/drawing/2014/main" id="{62EB4588-CCB6-4835-9399-43DCB5AB4FF0}"/>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What exists, what is proposed, and what the pilot must establish.</a:t>
            </a:r>
          </a:p>
        </p:txBody>
      </p:sp>
      <p:sp>
        <p:nvSpPr>
          <p:cNvPr id="4" name="rule-0">
            <a:extLst xmlns:a="http://schemas.openxmlformats.org/drawingml/2006/main">
              <a:ext uri="{FF2B5EF4-FFF2-40B4-BE49-F238E27FC236}">
                <a16:creationId xmlns:a16="http://schemas.microsoft.com/office/drawing/2014/main" id="{2F555923-775E-43FD-A922-F9778A2560E3}"/>
              </a:ext>
            </a:extLst>
          </p:cNvPr>
          <p:cNvSpPr>
            <a:spLocks xmlns:a="http://schemas.openxmlformats.org/drawingml/2006/main" noGrp="1"/>
          </p:cNvSpPr>
          <p:nvPr/>
        </p:nvSpPr>
        <p:spPr>
          <a:xfrm xmlns:a="http://schemas.openxmlformats.org/drawingml/2006/main">
            <a:off x="609905" y="2514600"/>
            <a:ext cx="3413760" cy="0"/>
          </a:xfrm>
          <a:prstGeom xmlns:a="http://schemas.openxmlformats.org/drawingml/2006/main" prst="line">
            <a:avLst/>
          </a:prstGeom>
          <a:ln xmlns:a="http://schemas.openxmlformats.org/drawingml/2006/main" w="9525">
            <a:solidFill>
              <a:srgbClr val="D6D3D1"/>
            </a:solidFill>
          </a:ln>
        </p:spPr>
      </p:sp>
      <p:sp>
        <p:nvSpPr>
          <p:cNvPr id="5" name="label-0">
            <a:extLst xmlns:a="http://schemas.openxmlformats.org/drawingml/2006/main">
              <a:ext uri="{FF2B5EF4-FFF2-40B4-BE49-F238E27FC236}">
                <a16:creationId xmlns:a16="http://schemas.microsoft.com/office/drawing/2014/main" id="{A8D83B78-F588-43A0-A5A2-301C2E8AE7E2}"/>
              </a:ext>
            </a:extLst>
          </p:cNvPr>
          <p:cNvSpPr txBox="1">
            <a:spLocks xmlns:a="http://schemas.openxmlformats.org/drawingml/2006/main" noGrp="1"/>
          </p:cNvSpPr>
          <p:nvPr/>
        </p:nvSpPr>
        <p:spPr>
          <a:xfrm xmlns:a="http://schemas.openxmlformats.org/drawingml/2006/main">
            <a:off x="609905" y="2651760"/>
            <a:ext cx="34137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EXISTS TODAY</a:t>
            </a:r>
          </a:p>
        </p:txBody>
      </p:sp>
      <p:sp>
        <p:nvSpPr>
          <p:cNvPr id="6" name="head-0">
            <a:extLst xmlns:a="http://schemas.openxmlformats.org/drawingml/2006/main">
              <a:ext uri="{FF2B5EF4-FFF2-40B4-BE49-F238E27FC236}">
                <a16:creationId xmlns:a16="http://schemas.microsoft.com/office/drawing/2014/main" id="{D0507FB2-1A93-48D6-9214-0AADB2A04578}"/>
              </a:ext>
            </a:extLst>
          </p:cNvPr>
          <p:cNvSpPr txBox="1">
            <a:spLocks xmlns:a="http://schemas.openxmlformats.org/drawingml/2006/main" noGrp="1"/>
          </p:cNvSpPr>
          <p:nvPr/>
        </p:nvSpPr>
        <p:spPr>
          <a:xfrm xmlns:a="http://schemas.openxmlformats.org/drawingml/2006/main">
            <a:off x="609905" y="2880360"/>
            <a:ext cx="34137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Inspected in source</a:t>
            </a:r>
          </a:p>
        </p:txBody>
      </p:sp>
      <p:sp>
        <p:nvSpPr>
          <p:cNvPr id="7" name="body-0">
            <a:extLst xmlns:a="http://schemas.openxmlformats.org/drawingml/2006/main">
              <a:ext uri="{FF2B5EF4-FFF2-40B4-BE49-F238E27FC236}">
                <a16:creationId xmlns:a16="http://schemas.microsoft.com/office/drawing/2014/main" id="{F6280664-8A73-4131-BB6B-A2B5E2E5B1E5}"/>
              </a:ext>
            </a:extLst>
          </p:cNvPr>
          <p:cNvSpPr txBox="1">
            <a:spLocks xmlns:a="http://schemas.openxmlformats.org/drawingml/2006/main" noGrp="1"/>
          </p:cNvSpPr>
          <p:nvPr/>
        </p:nvSpPr>
        <p:spPr>
          <a:xfrm xmlns:a="http://schemas.openxmlformats.org/drawingml/2006/main">
            <a:off x="609905" y="3337560"/>
            <a:ext cx="3413760" cy="19126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Garden records, work capture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steward review</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Donations and vault endowments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Installed app with an offline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work queue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Attestation schemas with role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and time rules</a:t>
            </a:r>
          </a:p>
        </p:txBody>
      </p:sp>
      <p:sp>
        <p:nvSpPr>
          <p:cNvPr id="8" name="rule-1">
            <a:extLst xmlns:a="http://schemas.openxmlformats.org/drawingml/2006/main">
              <a:ext uri="{FF2B5EF4-FFF2-40B4-BE49-F238E27FC236}">
                <a16:creationId xmlns:a16="http://schemas.microsoft.com/office/drawing/2014/main" id="{1E0D52A8-DB58-4920-AC70-C3192B3F0F86}"/>
              </a:ext>
            </a:extLst>
          </p:cNvPr>
          <p:cNvSpPr>
            <a:spLocks xmlns:a="http://schemas.openxmlformats.org/drawingml/2006/main" noGrp="1"/>
          </p:cNvSpPr>
          <p:nvPr/>
        </p:nvSpPr>
        <p:spPr>
          <a:xfrm xmlns:a="http://schemas.openxmlformats.org/drawingml/2006/main">
            <a:off x="4389425" y="2514600"/>
            <a:ext cx="3413760" cy="0"/>
          </a:xfrm>
          <a:prstGeom xmlns:a="http://schemas.openxmlformats.org/drawingml/2006/main" prst="line">
            <a:avLst/>
          </a:prstGeom>
          <a:ln xmlns:a="http://schemas.openxmlformats.org/drawingml/2006/main" w="9525">
            <a:solidFill>
              <a:srgbClr val="D6D3D1"/>
            </a:solidFill>
          </a:ln>
        </p:spPr>
      </p:sp>
      <p:sp>
        <p:nvSpPr>
          <p:cNvPr id="9" name="label-1">
            <a:extLst xmlns:a="http://schemas.openxmlformats.org/drawingml/2006/main">
              <a:ext uri="{FF2B5EF4-FFF2-40B4-BE49-F238E27FC236}">
                <a16:creationId xmlns:a16="http://schemas.microsoft.com/office/drawing/2014/main" id="{893A75E7-257C-4727-A0BF-E42AF8814DFD}"/>
              </a:ext>
            </a:extLst>
          </p:cNvPr>
          <p:cNvSpPr txBox="1">
            <a:spLocks xmlns:a="http://schemas.openxmlformats.org/drawingml/2006/main" noGrp="1"/>
          </p:cNvSpPr>
          <p:nvPr/>
        </p:nvSpPr>
        <p:spPr>
          <a:xfrm xmlns:a="http://schemas.openxmlformats.org/drawingml/2006/main">
            <a:off x="4389425" y="2651760"/>
            <a:ext cx="34137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a:t>
            </a:r>
          </a:p>
        </p:txBody>
      </p:sp>
      <p:sp>
        <p:nvSpPr>
          <p:cNvPr id="10" name="head-1">
            <a:extLst xmlns:a="http://schemas.openxmlformats.org/drawingml/2006/main">
              <a:ext uri="{FF2B5EF4-FFF2-40B4-BE49-F238E27FC236}">
                <a16:creationId xmlns:a16="http://schemas.microsoft.com/office/drawing/2014/main" id="{E5E78BE2-15FC-4991-A627-A4C8B855F8F1}"/>
              </a:ext>
            </a:extLst>
          </p:cNvPr>
          <p:cNvSpPr txBox="1">
            <a:spLocks xmlns:a="http://schemas.openxmlformats.org/drawingml/2006/main" noGrp="1"/>
          </p:cNvSpPr>
          <p:nvPr/>
        </p:nvSpPr>
        <p:spPr>
          <a:xfrm xmlns:a="http://schemas.openxmlformats.org/drawingml/2006/main">
            <a:off x="4389425" y="2880360"/>
            <a:ext cx="34137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Designed, not built</a:t>
            </a:r>
          </a:p>
        </p:txBody>
      </p:sp>
      <p:sp>
        <p:nvSpPr>
          <p:cNvPr id="11" name="body-1">
            <a:extLst xmlns:a="http://schemas.openxmlformats.org/drawingml/2006/main">
              <a:ext uri="{FF2B5EF4-FFF2-40B4-BE49-F238E27FC236}">
                <a16:creationId xmlns:a16="http://schemas.microsoft.com/office/drawing/2014/main" id="{3888EF4A-2D58-4F3D-B11D-B7EFB295FF14}"/>
              </a:ext>
            </a:extLst>
          </p:cNvPr>
          <p:cNvSpPr txBox="1">
            <a:spLocks xmlns:a="http://schemas.openxmlformats.org/drawingml/2006/main" noGrp="1"/>
          </p:cNvSpPr>
          <p:nvPr/>
        </p:nvSpPr>
        <p:spPr>
          <a:xfrm xmlns:a="http://schemas.openxmlformats.org/drawingml/2006/main">
            <a:off x="4389425" y="3337560"/>
            <a:ext cx="3413760" cy="16459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Private workspace with a</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disclosure preview</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Deliberate knowledge exchange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Source-linked local assistance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Compatible infrastructure</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services</a:t>
            </a:r>
          </a:p>
        </p:txBody>
      </p:sp>
      <p:sp>
        <p:nvSpPr>
          <p:cNvPr id="12" name="rule-2">
            <a:extLst xmlns:a="http://schemas.openxmlformats.org/drawingml/2006/main">
              <a:ext uri="{FF2B5EF4-FFF2-40B4-BE49-F238E27FC236}">
                <a16:creationId xmlns:a16="http://schemas.microsoft.com/office/drawing/2014/main" id="{155CAB0C-2D91-4F89-BF49-25389CC46258}"/>
              </a:ext>
            </a:extLst>
          </p:cNvPr>
          <p:cNvSpPr>
            <a:spLocks xmlns:a="http://schemas.openxmlformats.org/drawingml/2006/main" noGrp="1"/>
          </p:cNvSpPr>
          <p:nvPr/>
        </p:nvSpPr>
        <p:spPr>
          <a:xfrm xmlns:a="http://schemas.openxmlformats.org/drawingml/2006/main">
            <a:off x="8168945" y="2514600"/>
            <a:ext cx="3413760" cy="0"/>
          </a:xfrm>
          <a:prstGeom xmlns:a="http://schemas.openxmlformats.org/drawingml/2006/main" prst="line">
            <a:avLst/>
          </a:prstGeom>
          <a:ln xmlns:a="http://schemas.openxmlformats.org/drawingml/2006/main" w="9525">
            <a:solidFill>
              <a:srgbClr val="D6D3D1"/>
            </a:solidFill>
          </a:ln>
        </p:spPr>
      </p:sp>
      <p:sp>
        <p:nvSpPr>
          <p:cNvPr id="13" name="label-2">
            <a:extLst xmlns:a="http://schemas.openxmlformats.org/drawingml/2006/main">
              <a:ext uri="{FF2B5EF4-FFF2-40B4-BE49-F238E27FC236}">
                <a16:creationId xmlns:a16="http://schemas.microsoft.com/office/drawing/2014/main" id="{77ED57A6-0BBD-4688-AE9F-D41DA7041440}"/>
              </a:ext>
            </a:extLst>
          </p:cNvPr>
          <p:cNvSpPr txBox="1">
            <a:spLocks xmlns:a="http://schemas.openxmlformats.org/drawingml/2006/main" noGrp="1"/>
          </p:cNvSpPr>
          <p:nvPr/>
        </p:nvSpPr>
        <p:spPr>
          <a:xfrm xmlns:a="http://schemas.openxmlformats.org/drawingml/2006/main">
            <a:off x="8168945" y="2651760"/>
            <a:ext cx="34137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UNPROVEN, TO TEST</a:t>
            </a:r>
          </a:p>
        </p:txBody>
      </p:sp>
      <p:sp>
        <p:nvSpPr>
          <p:cNvPr id="14" name="head-2">
            <a:extLst xmlns:a="http://schemas.openxmlformats.org/drawingml/2006/main">
              <a:ext uri="{FF2B5EF4-FFF2-40B4-BE49-F238E27FC236}">
                <a16:creationId xmlns:a16="http://schemas.microsoft.com/office/drawing/2014/main" id="{5392D84A-987C-484E-AB28-D4A7A537654D}"/>
              </a:ext>
            </a:extLst>
          </p:cNvPr>
          <p:cNvSpPr txBox="1">
            <a:spLocks xmlns:a="http://schemas.openxmlformats.org/drawingml/2006/main" noGrp="1"/>
          </p:cNvSpPr>
          <p:nvPr/>
        </p:nvSpPr>
        <p:spPr>
          <a:xfrm xmlns:a="http://schemas.openxmlformats.org/drawingml/2006/main">
            <a:off x="8168945" y="2880360"/>
            <a:ext cx="3413760" cy="3596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4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The pilot decides</a:t>
            </a:r>
          </a:p>
        </p:txBody>
      </p:sp>
      <p:sp>
        <p:nvSpPr>
          <p:cNvPr id="15" name="body-2">
            <a:extLst xmlns:a="http://schemas.openxmlformats.org/drawingml/2006/main">
              <a:ext uri="{FF2B5EF4-FFF2-40B4-BE49-F238E27FC236}">
                <a16:creationId xmlns:a16="http://schemas.microsoft.com/office/drawing/2014/main" id="{4B95A650-D864-4791-BDBE-4ED796631130}"/>
              </a:ext>
            </a:extLst>
          </p:cNvPr>
          <p:cNvSpPr txBox="1">
            <a:spLocks xmlns:a="http://schemas.openxmlformats.org/drawingml/2006/main" noGrp="1"/>
          </p:cNvSpPr>
          <p:nvPr/>
        </p:nvSpPr>
        <p:spPr>
          <a:xfrm xmlns:a="http://schemas.openxmlformats.org/drawingml/2006/main">
            <a:off x="8168945" y="3337560"/>
            <a:ext cx="3413760" cy="2179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Inter"/>
                <a:ea typeface="Inter"/>
                <a:cs typeface="Inter"/>
              </a:defRPr>
            </a:defPPr>
          </a:lstStyle>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Usefulness without added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effort</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Real control: recovery and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exit drills</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Useful exchange in each</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direction</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A buyer who signs a paid</a:t>
            </a:r>
          </a:p>
          <a:p xmlns:a="http://schemas.openxmlformats.org/drawingml/2006/main">
            <a:pPr>
              <a:lnSpc>
                <a:spcPts val="2100"/>
              </a:lnSpc>
              <a:defRPr sz="1500" b="0" i="0" kern="1200">
                <a:solidFill>
                  <a:srgbClr val="292524"/>
                </a:solidFill>
                <a:latin typeface="Inter"/>
                <a:ea typeface="Inter"/>
                <a:cs typeface="Inter"/>
              </a:defRPr>
            </a:pPr>
            <a:r>
              <a:rPr sz="1500" b="0" i="0" kern="1200">
                <a:solidFill>
                  <a:srgbClr val="292524"/>
                </a:solidFill>
                <a:latin typeface="Inter"/>
                <a:ea typeface="Inter"/>
                <a:cs typeface="Inter"/>
              </a:rPr>
              <a:t>continuation</a:t>
            </a:r>
          </a:p>
        </p:txBody>
      </p:sp>
      <p:sp>
        <p:nvSpPr>
          <p:cNvPr id="16" name="closing">
            <a:extLst xmlns:a="http://schemas.openxmlformats.org/drawingml/2006/main">
              <a:ext uri="{FF2B5EF4-FFF2-40B4-BE49-F238E27FC236}">
                <a16:creationId xmlns:a16="http://schemas.microsoft.com/office/drawing/2014/main" id="{53C73234-DD64-4B4A-B8F9-7CC19A6BB317}"/>
              </a:ext>
            </a:extLst>
          </p:cNvPr>
          <p:cNvSpPr txBox="1">
            <a:spLocks xmlns:a="http://schemas.openxmlformats.org/drawingml/2006/main" noGrp="1"/>
          </p:cNvSpPr>
          <p:nvPr/>
        </p:nvSpPr>
        <p:spPr>
          <a:xfrm xmlns:a="http://schemas.openxmlformats.org/drawingml/2006/main">
            <a:off x="609905" y="59436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Eight weeks, three communities, the same workflow, with stop conditions set in advance.</a:t>
            </a:r>
          </a:p>
        </p:txBody>
      </p:sp>
      <p:sp>
        <p:nvSpPr>
          <p:cNvPr id="17" name="footnote">
            <a:extLst xmlns:a="http://schemas.openxmlformats.org/drawingml/2006/main">
              <a:ext uri="{FF2B5EF4-FFF2-40B4-BE49-F238E27FC236}">
                <a16:creationId xmlns:a16="http://schemas.microsoft.com/office/drawing/2014/main" id="{0DAA28F3-19D1-4BAA-A387-DB173A723010}"/>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Inspected code is not live certification; research is not field traction. Thresholds are proposed decision rules, not statistically generalizable effects.</a:t>
            </a:r>
          </a:p>
        </p:txBody>
      </p:sp>
    </p:spTree>
    <p:extLst>
      <p:ext uri="{BB962C8B-B14F-4D97-AF65-F5344CB8AC3E}">
        <p14:creationId xmlns:p14="http://schemas.microsoft.com/office/powerpoint/2010/main" val="1440655531"/>
      </p:ext>
    </p:extLst>
  </p:cSld>
</p:sld>
</file>

<file path=ppt/slides/slide16.xml><?xml version="1.0" encoding="utf-8"?>
<p:sld xmlns:p="http://schemas.openxmlformats.org/presentationml/2006/main">
  <p:cSld>
    <p:bg>
      <p:bgPr>
        <a:solidFill xmlns:a="http://schemas.openxmlformats.org/drawingml/2006/main">
          <a:srgbClr val="FAF8F5"/>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249AC578-93EB-4E67-A1B2-317AC6C6CA73}"/>
              </a:ext>
            </a:extLst>
          </p:cNvPr>
          <p:cNvSpPr txBox="1">
            <a:spLocks xmlns:a="http://schemas.openxmlformats.org/drawingml/2006/main" noGrp="1"/>
          </p:cNvSpPr>
          <p:nvPr/>
        </p:nvSpPr>
        <p:spPr>
          <a:xfrm xmlns:a="http://schemas.openxmlformats.org/drawingml/2006/main">
            <a:off x="609905" y="409651"/>
            <a:ext cx="10953598"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0" i="0" kern="1200" spc="-74">
                <a:solidFill>
                  <a:srgbClr val="292524"/>
                </a:solidFill>
                <a:latin typeface="Fraunces Medium"/>
                <a:ea typeface="Fraunces Medium"/>
                <a:cs typeface="Fraunces Medium"/>
              </a:defRPr>
            </a:defPPr>
          </a:lstStyle>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292524"/>
                </a:solidFill>
                <a:latin typeface="Fraunces Medium"/>
                <a:ea typeface="Fraunces Medium"/>
                <a:cs typeface="Fraunces Medium"/>
              </a:rPr>
              <a:t>Help shape the first locally useful,</a:t>
            </a:r>
          </a:p>
          <a:p xmlns:a="http://schemas.openxmlformats.org/drawingml/2006/main">
            <a:pPr>
              <a:lnSpc>
                <a:spcPts val="4500"/>
              </a:lnSpc>
              <a:defRPr sz="4125" b="0" i="0" kern="1200" spc="-74">
                <a:solidFill>
                  <a:srgbClr val="292524"/>
                </a:solidFill>
                <a:latin typeface="Fraunces Medium"/>
                <a:ea typeface="Fraunces Medium"/>
                <a:cs typeface="Fraunces Medium"/>
              </a:defRPr>
            </a:pPr>
            <a:r>
              <a:rPr sz="4125" b="0" i="0" kern="1200" spc="-74">
                <a:solidFill>
                  <a:srgbClr val="1A7544"/>
                </a:solidFill>
                <a:latin typeface="Fraunces Medium"/>
                <a:ea typeface="Fraunces Medium"/>
                <a:cs typeface="Fraunces Medium"/>
              </a:rPr>
              <a:t>globally connected cohort.</a:t>
            </a:r>
          </a:p>
        </p:txBody>
      </p:sp>
      <p:sp>
        <p:nvSpPr>
          <p:cNvPr id="3" name="lede">
            <a:extLst xmlns:a="http://schemas.openxmlformats.org/drawingml/2006/main">
              <a:ext uri="{FF2B5EF4-FFF2-40B4-BE49-F238E27FC236}">
                <a16:creationId xmlns:a16="http://schemas.microsoft.com/office/drawing/2014/main" id="{C247121B-2215-43FF-969E-9BE6E0A371D6}"/>
              </a:ext>
            </a:extLst>
          </p:cNvPr>
          <p:cNvSpPr txBox="1">
            <a:spLocks xmlns:a="http://schemas.openxmlformats.org/drawingml/2006/main" noGrp="1"/>
          </p:cNvSpPr>
          <p:nvPr/>
        </p:nvSpPr>
        <p:spPr>
          <a:xfrm xmlns:a="http://schemas.openxmlformats.org/drawingml/2006/main">
            <a:off x="609905" y="1828800"/>
            <a:ext cx="10972800" cy="365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Inter"/>
                <a:ea typeface="Inter"/>
                <a:cs typeface="Inter"/>
              </a:defRPr>
            </a:defPPr>
          </a:lstStyle>
          <a:p xmlns:a="http://schemas.openxmlformats.org/drawingml/2006/main">
            <a:pPr>
              <a:lnSpc>
                <a:spcPts val="2600"/>
              </a:lnSpc>
              <a:defRPr sz="2000" b="0" i="0" kern="1200">
                <a:solidFill>
                  <a:srgbClr val="292524"/>
                </a:solidFill>
                <a:latin typeface="Inter"/>
                <a:ea typeface="Inter"/>
                <a:cs typeface="Inter"/>
              </a:defRPr>
            </a:pPr>
            <a:r>
              <a:rPr sz="2000" b="0" i="0" kern="1200">
                <a:solidFill>
                  <a:srgbClr val="292524"/>
                </a:solidFill>
                <a:latin typeface="Inter"/>
                <a:ea typeface="Inter"/>
                <a:cs typeface="Inter"/>
              </a:rPr>
              <a:t>A bounded design conversation with four organizations whose public work is relevant.</a:t>
            </a:r>
          </a:p>
        </p:txBody>
      </p:sp>
      <p:sp>
        <p:nvSpPr>
          <p:cNvPr id="4" name="h-0">
            <a:extLst xmlns:a="http://schemas.openxmlformats.org/drawingml/2006/main">
              <a:ext uri="{FF2B5EF4-FFF2-40B4-BE49-F238E27FC236}">
                <a16:creationId xmlns:a16="http://schemas.microsoft.com/office/drawing/2014/main" id="{B07629EA-966E-4160-85B4-61E3174576EE}"/>
              </a:ext>
            </a:extLst>
          </p:cNvPr>
          <p:cNvSpPr txBox="1">
            <a:spLocks xmlns:a="http://schemas.openxmlformats.org/drawingml/2006/main" noGrp="1"/>
          </p:cNvSpPr>
          <p:nvPr/>
        </p:nvSpPr>
        <p:spPr>
          <a:xfrm xmlns:a="http://schemas.openxmlformats.org/drawingml/2006/main">
            <a:off x="609905" y="2377440"/>
            <a:ext cx="210312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AUDIENCE</a:t>
            </a:r>
          </a:p>
        </p:txBody>
      </p:sp>
      <p:sp>
        <p:nvSpPr>
          <p:cNvPr id="5" name="h-1">
            <a:extLst xmlns:a="http://schemas.openxmlformats.org/drawingml/2006/main">
              <a:ext uri="{FF2B5EF4-FFF2-40B4-BE49-F238E27FC236}">
                <a16:creationId xmlns:a16="http://schemas.microsoft.com/office/drawing/2014/main" id="{EB0B0E6D-5B51-49C1-AA5A-8BCA569BCA29}"/>
              </a:ext>
            </a:extLst>
          </p:cNvPr>
          <p:cNvSpPr txBox="1">
            <a:spLocks xmlns:a="http://schemas.openxmlformats.org/drawingml/2006/main" noGrp="1"/>
          </p:cNvSpPr>
          <p:nvPr/>
        </p:nvSpPr>
        <p:spPr>
          <a:xfrm xmlns:a="http://schemas.openxmlformats.org/drawingml/2006/main">
            <a:off x="2895905" y="2377440"/>
            <a:ext cx="539496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PROPOSED RELEVANCE</a:t>
            </a:r>
          </a:p>
        </p:txBody>
      </p:sp>
      <p:sp>
        <p:nvSpPr>
          <p:cNvPr id="6" name="h-2">
            <a:extLst xmlns:a="http://schemas.openxmlformats.org/drawingml/2006/main">
              <a:ext uri="{FF2B5EF4-FFF2-40B4-BE49-F238E27FC236}">
                <a16:creationId xmlns:a16="http://schemas.microsoft.com/office/drawing/2014/main" id="{2A3A546C-D39C-43B5-9D25-C276BBF6E685}"/>
              </a:ext>
            </a:extLst>
          </p:cNvPr>
          <p:cNvSpPr txBox="1">
            <a:spLocks xmlns:a="http://schemas.openxmlformats.org/drawingml/2006/main" noGrp="1"/>
          </p:cNvSpPr>
          <p:nvPr/>
        </p:nvSpPr>
        <p:spPr>
          <a:xfrm xmlns:a="http://schemas.openxmlformats.org/drawingml/2006/main">
            <a:off x="8473745" y="2377440"/>
            <a:ext cx="3657600" cy="182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spc="100">
                <a:solidFill>
                  <a:srgbClr val="78716C"/>
                </a:solidFill>
                <a:latin typeface="Inter"/>
                <a:ea typeface="Inter"/>
                <a:cs typeface="Inter"/>
              </a:defRPr>
            </a:defPPr>
          </a:lstStyle>
          <a:p xmlns:a="http://schemas.openxmlformats.org/drawingml/2006/main">
            <a:pPr>
              <a:lnSpc>
                <a:spcPts val="1300"/>
              </a:lnSpc>
              <a:defRPr sz="1050" b="0" i="0" kern="1200" spc="100">
                <a:solidFill>
                  <a:srgbClr val="78716C"/>
                </a:solidFill>
                <a:latin typeface="Inter"/>
                <a:ea typeface="Inter"/>
                <a:cs typeface="Inter"/>
              </a:defRPr>
            </a:pPr>
            <a:r>
              <a:rPr sz="1050" b="0" i="0" kern="1200" spc="100">
                <a:solidFill>
                  <a:srgbClr val="78716C"/>
                </a:solidFill>
                <a:latin typeface="Inter"/>
                <a:ea typeface="Inter"/>
                <a:cs typeface="Inter"/>
              </a:rPr>
              <a:t>THE ASK</a:t>
            </a:r>
          </a:p>
        </p:txBody>
      </p:sp>
      <p:sp>
        <p:nvSpPr>
          <p:cNvPr id="7" name="rule-top">
            <a:extLst xmlns:a="http://schemas.openxmlformats.org/drawingml/2006/main">
              <a:ext uri="{FF2B5EF4-FFF2-40B4-BE49-F238E27FC236}">
                <a16:creationId xmlns:a16="http://schemas.microsoft.com/office/drawing/2014/main" id="{6BB5D987-4923-47B6-BDDA-A60A0766F10B}"/>
              </a:ext>
            </a:extLst>
          </p:cNvPr>
          <p:cNvSpPr>
            <a:spLocks xmlns:a="http://schemas.openxmlformats.org/drawingml/2006/main" noGrp="1"/>
          </p:cNvSpPr>
          <p:nvPr/>
        </p:nvSpPr>
        <p:spPr>
          <a:xfrm xmlns:a="http://schemas.openxmlformats.org/drawingml/2006/main">
            <a:off x="609905" y="2606040"/>
            <a:ext cx="10972800" cy="0"/>
          </a:xfrm>
          <a:prstGeom xmlns:a="http://schemas.openxmlformats.org/drawingml/2006/main" prst="line">
            <a:avLst/>
          </a:prstGeom>
          <a:ln xmlns:a="http://schemas.openxmlformats.org/drawingml/2006/main" w="9525">
            <a:solidFill>
              <a:srgbClr val="D6D3D1"/>
            </a:solidFill>
          </a:ln>
        </p:spPr>
      </p:sp>
      <p:sp>
        <p:nvSpPr>
          <p:cNvPr id="8" name="r-0-0">
            <a:extLst xmlns:a="http://schemas.openxmlformats.org/drawingml/2006/main">
              <a:ext uri="{FF2B5EF4-FFF2-40B4-BE49-F238E27FC236}">
                <a16:creationId xmlns:a16="http://schemas.microsoft.com/office/drawing/2014/main" id="{D14DC406-C97B-4FE1-857F-5693094E76FC}"/>
              </a:ext>
            </a:extLst>
          </p:cNvPr>
          <p:cNvSpPr txBox="1">
            <a:spLocks xmlns:a="http://schemas.openxmlformats.org/drawingml/2006/main" noGrp="1"/>
          </p:cNvSpPr>
          <p:nvPr/>
        </p:nvSpPr>
        <p:spPr>
          <a:xfrm xmlns:a="http://schemas.openxmlformats.org/drawingml/2006/main">
            <a:off x="609905" y="2724912"/>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Ma Earth</a:t>
            </a:r>
          </a:p>
        </p:txBody>
      </p:sp>
      <p:sp>
        <p:nvSpPr>
          <p:cNvPr id="9" name="r-0-1">
            <a:extLst xmlns:a="http://schemas.openxmlformats.org/drawingml/2006/main">
              <a:ext uri="{FF2B5EF4-FFF2-40B4-BE49-F238E27FC236}">
                <a16:creationId xmlns:a16="http://schemas.microsoft.com/office/drawing/2014/main" id="{DE85AF7D-AA70-4766-8836-F669BD325C2A}"/>
              </a:ext>
            </a:extLst>
          </p:cNvPr>
          <p:cNvSpPr txBox="1">
            <a:spLocks xmlns:a="http://schemas.openxmlformats.org/drawingml/2006/main" noGrp="1"/>
          </p:cNvSpPr>
          <p:nvPr/>
        </p:nvSpPr>
        <p:spPr>
          <a:xfrm xmlns:a="http://schemas.openxmlformats.org/drawingml/2006/main">
            <a:off x="2895905" y="2734056"/>
            <a:ext cx="53949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Test whether useful steward records can support consented</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project updates and learning between funding rounds.</a:t>
            </a:r>
          </a:p>
        </p:txBody>
      </p:sp>
      <p:sp>
        <p:nvSpPr>
          <p:cNvPr id="10" name="r-0-2">
            <a:extLst xmlns:a="http://schemas.openxmlformats.org/drawingml/2006/main">
              <a:ext uri="{FF2B5EF4-FFF2-40B4-BE49-F238E27FC236}">
                <a16:creationId xmlns:a16="http://schemas.microsoft.com/office/drawing/2014/main" id="{06560D35-5614-4F2A-9589-0EED08C9E308}"/>
              </a:ext>
            </a:extLst>
          </p:cNvPr>
          <p:cNvSpPr txBox="1">
            <a:spLocks xmlns:a="http://schemas.openxmlformats.org/drawingml/2006/main" noGrp="1"/>
          </p:cNvSpPr>
          <p:nvPr/>
        </p:nvSpPr>
        <p:spPr>
          <a:xfrm xmlns:a="http://schemas.openxmlformats.org/drawingml/2006/main">
            <a:off x="8473745" y="2734056"/>
            <a:ext cx="365760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A design conversation and a scoped</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cohort.</a:t>
            </a:r>
          </a:p>
        </p:txBody>
      </p:sp>
      <p:sp>
        <p:nvSpPr>
          <p:cNvPr id="11" name="rule-0">
            <a:extLst xmlns:a="http://schemas.openxmlformats.org/drawingml/2006/main">
              <a:ext uri="{FF2B5EF4-FFF2-40B4-BE49-F238E27FC236}">
                <a16:creationId xmlns:a16="http://schemas.microsoft.com/office/drawing/2014/main" id="{E11ED700-A85F-420E-808D-5E6B566BC899}"/>
              </a:ext>
            </a:extLst>
          </p:cNvPr>
          <p:cNvSpPr>
            <a:spLocks xmlns:a="http://schemas.openxmlformats.org/drawingml/2006/main" noGrp="1"/>
          </p:cNvSpPr>
          <p:nvPr/>
        </p:nvSpPr>
        <p:spPr>
          <a:xfrm xmlns:a="http://schemas.openxmlformats.org/drawingml/2006/main">
            <a:off x="609905" y="3335528"/>
            <a:ext cx="10972800" cy="0"/>
          </a:xfrm>
          <a:prstGeom xmlns:a="http://schemas.openxmlformats.org/drawingml/2006/main" prst="line">
            <a:avLst/>
          </a:prstGeom>
          <a:ln xmlns:a="http://schemas.openxmlformats.org/drawingml/2006/main" w="9525">
            <a:solidFill>
              <a:srgbClr val="D6D3D1"/>
            </a:solidFill>
          </a:ln>
        </p:spPr>
      </p:sp>
      <p:sp>
        <p:nvSpPr>
          <p:cNvPr id="12" name="r-1-0">
            <a:extLst xmlns:a="http://schemas.openxmlformats.org/drawingml/2006/main">
              <a:ext uri="{FF2B5EF4-FFF2-40B4-BE49-F238E27FC236}">
                <a16:creationId xmlns:a16="http://schemas.microsoft.com/office/drawing/2014/main" id="{694618B4-A4B9-4406-99C8-DDF25FFB0CCA}"/>
              </a:ext>
            </a:extLst>
          </p:cNvPr>
          <p:cNvSpPr txBox="1">
            <a:spLocks xmlns:a="http://schemas.openxmlformats.org/drawingml/2006/main" noGrp="1"/>
          </p:cNvSpPr>
          <p:nvPr/>
        </p:nvSpPr>
        <p:spPr>
          <a:xfrm xmlns:a="http://schemas.openxmlformats.org/drawingml/2006/main">
            <a:off x="609905" y="3408680"/>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Hypercerts</a:t>
            </a:r>
          </a:p>
        </p:txBody>
      </p:sp>
      <p:sp>
        <p:nvSpPr>
          <p:cNvPr id="13" name="r-1-1">
            <a:extLst xmlns:a="http://schemas.openxmlformats.org/drawingml/2006/main">
              <a:ext uri="{FF2B5EF4-FFF2-40B4-BE49-F238E27FC236}">
                <a16:creationId xmlns:a16="http://schemas.microsoft.com/office/drawing/2014/main" id="{8036BEA8-19A8-4934-9055-3F7BC75216FC}"/>
              </a:ext>
            </a:extLst>
          </p:cNvPr>
          <p:cNvSpPr txBox="1">
            <a:spLocks xmlns:a="http://schemas.openxmlformats.org/drawingml/2006/main" noGrp="1"/>
          </p:cNvSpPr>
          <p:nvPr/>
        </p:nvSpPr>
        <p:spPr>
          <a:xfrm xmlns:a="http://schemas.openxmlformats.org/drawingml/2006/main">
            <a:off x="2895905" y="3417824"/>
            <a:ext cx="53949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Review compatibility of selected, human-approved records;</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test provenance and disclosure boundaries.</a:t>
            </a:r>
          </a:p>
        </p:txBody>
      </p:sp>
      <p:sp>
        <p:nvSpPr>
          <p:cNvPr id="14" name="r-1-2">
            <a:extLst xmlns:a="http://schemas.openxmlformats.org/drawingml/2006/main">
              <a:ext uri="{FF2B5EF4-FFF2-40B4-BE49-F238E27FC236}">
                <a16:creationId xmlns:a16="http://schemas.microsoft.com/office/drawing/2014/main" id="{BC30E31D-D603-4DC6-9882-34629B3128D5}"/>
              </a:ext>
            </a:extLst>
          </p:cNvPr>
          <p:cNvSpPr txBox="1">
            <a:spLocks xmlns:a="http://schemas.openxmlformats.org/drawingml/2006/main" noGrp="1"/>
          </p:cNvSpPr>
          <p:nvPr/>
        </p:nvSpPr>
        <p:spPr>
          <a:xfrm xmlns:a="http://schemas.openxmlformats.org/drawingml/2006/main">
            <a:off x="8473745" y="3417824"/>
            <a:ext cx="3657600" cy="287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A record-compatibility review.</a:t>
            </a:r>
          </a:p>
        </p:txBody>
      </p:sp>
      <p:sp>
        <p:nvSpPr>
          <p:cNvPr id="15" name="rule-1">
            <a:extLst xmlns:a="http://schemas.openxmlformats.org/drawingml/2006/main">
              <a:ext uri="{FF2B5EF4-FFF2-40B4-BE49-F238E27FC236}">
                <a16:creationId xmlns:a16="http://schemas.microsoft.com/office/drawing/2014/main" id="{F4635C5B-2B93-4AED-BC5E-89E411FA78A1}"/>
              </a:ext>
            </a:extLst>
          </p:cNvPr>
          <p:cNvSpPr>
            <a:spLocks xmlns:a="http://schemas.openxmlformats.org/drawingml/2006/main" noGrp="1"/>
          </p:cNvSpPr>
          <p:nvPr/>
        </p:nvSpPr>
        <p:spPr>
          <a:xfrm xmlns:a="http://schemas.openxmlformats.org/drawingml/2006/main">
            <a:off x="609905" y="4019296"/>
            <a:ext cx="10972800" cy="0"/>
          </a:xfrm>
          <a:prstGeom xmlns:a="http://schemas.openxmlformats.org/drawingml/2006/main" prst="line">
            <a:avLst/>
          </a:prstGeom>
          <a:ln xmlns:a="http://schemas.openxmlformats.org/drawingml/2006/main" w="9525">
            <a:solidFill>
              <a:srgbClr val="D6D3D1"/>
            </a:solidFill>
          </a:ln>
        </p:spPr>
      </p:sp>
      <p:sp>
        <p:nvSpPr>
          <p:cNvPr id="16" name="r-2-0">
            <a:extLst xmlns:a="http://schemas.openxmlformats.org/drawingml/2006/main">
              <a:ext uri="{FF2B5EF4-FFF2-40B4-BE49-F238E27FC236}">
                <a16:creationId xmlns:a16="http://schemas.microsoft.com/office/drawing/2014/main" id="{38E15CF8-F57F-4D42-8146-CB9E8D7A9E28}"/>
              </a:ext>
            </a:extLst>
          </p:cNvPr>
          <p:cNvSpPr txBox="1">
            <a:spLocks xmlns:a="http://schemas.openxmlformats.org/drawingml/2006/main" noGrp="1"/>
          </p:cNvSpPr>
          <p:nvPr/>
        </p:nvSpPr>
        <p:spPr>
          <a:xfrm xmlns:a="http://schemas.openxmlformats.org/drawingml/2006/main">
            <a:off x="609905" y="4092448"/>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5th World</a:t>
            </a:r>
          </a:p>
        </p:txBody>
      </p:sp>
      <p:sp>
        <p:nvSpPr>
          <p:cNvPr id="17" name="r-2-1">
            <a:extLst xmlns:a="http://schemas.openxmlformats.org/drawingml/2006/main">
              <a:ext uri="{FF2B5EF4-FFF2-40B4-BE49-F238E27FC236}">
                <a16:creationId xmlns:a16="http://schemas.microsoft.com/office/drawing/2014/main" id="{12E4F069-9DD2-4D9E-A5FC-5B78C8AA17C2}"/>
              </a:ext>
            </a:extLst>
          </p:cNvPr>
          <p:cNvSpPr txBox="1">
            <a:spLocks xmlns:a="http://schemas.openxmlformats.org/drawingml/2006/main" noGrp="1"/>
          </p:cNvSpPr>
          <p:nvPr/>
        </p:nvSpPr>
        <p:spPr>
          <a:xfrm xmlns:a="http://schemas.openxmlformats.org/drawingml/2006/main">
            <a:off x="2895905" y="4101592"/>
            <a:ext cx="53949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Explore continuity between professional design work,</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steward observations and maintenance learning.</a:t>
            </a:r>
          </a:p>
        </p:txBody>
      </p:sp>
      <p:sp>
        <p:nvSpPr>
          <p:cNvPr id="18" name="r-2-2">
            <a:extLst xmlns:a="http://schemas.openxmlformats.org/drawingml/2006/main">
              <a:ext uri="{FF2B5EF4-FFF2-40B4-BE49-F238E27FC236}">
                <a16:creationId xmlns:a16="http://schemas.microsoft.com/office/drawing/2014/main" id="{070275DA-3975-4C1A-9FAB-12B663A7B2B0}"/>
              </a:ext>
            </a:extLst>
          </p:cNvPr>
          <p:cNvSpPr txBox="1">
            <a:spLocks xmlns:a="http://schemas.openxmlformats.org/drawingml/2006/main" noGrp="1"/>
          </p:cNvSpPr>
          <p:nvPr/>
        </p:nvSpPr>
        <p:spPr>
          <a:xfrm xmlns:a="http://schemas.openxmlformats.org/drawingml/2006/main">
            <a:off x="8473745" y="4101592"/>
            <a:ext cx="3657600" cy="287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A bounded delivery-workflow review.</a:t>
            </a:r>
          </a:p>
        </p:txBody>
      </p:sp>
      <p:sp>
        <p:nvSpPr>
          <p:cNvPr id="19" name="rule-2">
            <a:extLst xmlns:a="http://schemas.openxmlformats.org/drawingml/2006/main">
              <a:ext uri="{FF2B5EF4-FFF2-40B4-BE49-F238E27FC236}">
                <a16:creationId xmlns:a16="http://schemas.microsoft.com/office/drawing/2014/main" id="{0D0EC6A1-0682-4874-8565-626E4E0D2292}"/>
              </a:ext>
            </a:extLst>
          </p:cNvPr>
          <p:cNvSpPr>
            <a:spLocks xmlns:a="http://schemas.openxmlformats.org/drawingml/2006/main" noGrp="1"/>
          </p:cNvSpPr>
          <p:nvPr/>
        </p:nvSpPr>
        <p:spPr>
          <a:xfrm xmlns:a="http://schemas.openxmlformats.org/drawingml/2006/main">
            <a:off x="609905" y="4703064"/>
            <a:ext cx="10972800" cy="0"/>
          </a:xfrm>
          <a:prstGeom xmlns:a="http://schemas.openxmlformats.org/drawingml/2006/main" prst="line">
            <a:avLst/>
          </a:prstGeom>
          <a:ln xmlns:a="http://schemas.openxmlformats.org/drawingml/2006/main" w="9525">
            <a:solidFill>
              <a:srgbClr val="D6D3D1"/>
            </a:solidFill>
          </a:ln>
        </p:spPr>
      </p:sp>
      <p:sp>
        <p:nvSpPr>
          <p:cNvPr id="20" name="r-3-0">
            <a:extLst xmlns:a="http://schemas.openxmlformats.org/drawingml/2006/main">
              <a:ext uri="{FF2B5EF4-FFF2-40B4-BE49-F238E27FC236}">
                <a16:creationId xmlns:a16="http://schemas.microsoft.com/office/drawing/2014/main" id="{BD57AA93-2D58-424F-B96D-6FFF6DBF3152}"/>
              </a:ext>
            </a:extLst>
          </p:cNvPr>
          <p:cNvSpPr txBox="1">
            <a:spLocks xmlns:a="http://schemas.openxmlformats.org/drawingml/2006/main" noGrp="1"/>
          </p:cNvSpPr>
          <p:nvPr/>
        </p:nvSpPr>
        <p:spPr>
          <a:xfrm xmlns:a="http://schemas.openxmlformats.org/drawingml/2006/main">
            <a:off x="609905" y="4776216"/>
            <a:ext cx="210312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i="0" kern="1200">
                <a:solidFill>
                  <a:srgbClr val="292524"/>
                </a:solidFill>
                <a:latin typeface="Fraunces Medium"/>
                <a:ea typeface="Fraunces Medium"/>
                <a:cs typeface="Fraunces Medium"/>
              </a:defRPr>
            </a:defPPr>
          </a:lstStyle>
          <a:p xmlns:a="http://schemas.openxmlformats.org/drawingml/2006/main">
            <a:pPr>
              <a:lnSpc>
                <a:spcPts val="2000"/>
              </a:lnSpc>
              <a:defRPr sz="1500" b="0" i="0" kern="1200">
                <a:solidFill>
                  <a:srgbClr val="292524"/>
                </a:solidFill>
                <a:latin typeface="Fraunces Medium"/>
                <a:ea typeface="Fraunces Medium"/>
                <a:cs typeface="Fraunces Medium"/>
              </a:defRPr>
            </a:pPr>
            <a:r>
              <a:rPr sz="1500" b="0" i="0" kern="1200">
                <a:solidFill>
                  <a:srgbClr val="292524"/>
                </a:solidFill>
                <a:latin typeface="Fraunces Medium"/>
                <a:ea typeface="Fraunces Medium"/>
                <a:cs typeface="Fraunces Medium"/>
              </a:rPr>
              <a:t>The BioFi Project</a:t>
            </a:r>
          </a:p>
        </p:txBody>
      </p:sp>
      <p:sp>
        <p:nvSpPr>
          <p:cNvPr id="21" name="r-3-1">
            <a:extLst xmlns:a="http://schemas.openxmlformats.org/drawingml/2006/main">
              <a:ext uri="{FF2B5EF4-FFF2-40B4-BE49-F238E27FC236}">
                <a16:creationId xmlns:a16="http://schemas.microsoft.com/office/drawing/2014/main" id="{5ACD11E0-F63F-40F5-A55F-8FA09E31BA89}"/>
              </a:ext>
            </a:extLst>
          </p:cNvPr>
          <p:cNvSpPr txBox="1">
            <a:spLocks xmlns:a="http://schemas.openxmlformats.org/drawingml/2006/main" noGrp="1"/>
          </p:cNvSpPr>
          <p:nvPr/>
        </p:nvSpPr>
        <p:spPr>
          <a:xfrm xmlns:a="http://schemas.openxmlformats.org/drawingml/2006/main">
            <a:off x="2895905" y="4785360"/>
            <a:ext cx="5394960" cy="528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Explore locally governed knowledge and commitments</a:t>
            </a:r>
          </a:p>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serving a bioregional strategy.</a:t>
            </a:r>
          </a:p>
        </p:txBody>
      </p:sp>
      <p:sp>
        <p:nvSpPr>
          <p:cNvPr id="22" name="r-3-2">
            <a:extLst xmlns:a="http://schemas.openxmlformats.org/drawingml/2006/main">
              <a:ext uri="{FF2B5EF4-FFF2-40B4-BE49-F238E27FC236}">
                <a16:creationId xmlns:a16="http://schemas.microsoft.com/office/drawing/2014/main" id="{548461A8-3519-4500-8A63-BA04E4FD3271}"/>
              </a:ext>
            </a:extLst>
          </p:cNvPr>
          <p:cNvSpPr txBox="1">
            <a:spLocks xmlns:a="http://schemas.openxmlformats.org/drawingml/2006/main" noGrp="1"/>
          </p:cNvSpPr>
          <p:nvPr/>
        </p:nvSpPr>
        <p:spPr>
          <a:xfrm xmlns:a="http://schemas.openxmlformats.org/drawingml/2006/main">
            <a:off x="8473745" y="4785360"/>
            <a:ext cx="3657600" cy="287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00" b="0" i="0" kern="1200">
                <a:solidFill>
                  <a:srgbClr val="292524"/>
                </a:solidFill>
                <a:latin typeface="Inter"/>
                <a:ea typeface="Inter"/>
                <a:cs typeface="Inter"/>
              </a:defRPr>
            </a:defPPr>
          </a:lstStyle>
          <a:p xmlns:a="http://schemas.openxmlformats.org/drawingml/2006/main">
            <a:pPr>
              <a:lnSpc>
                <a:spcPts val="1900"/>
              </a:lnSpc>
              <a:defRPr sz="1400" b="0" i="0" kern="1200">
                <a:solidFill>
                  <a:srgbClr val="292524"/>
                </a:solidFill>
                <a:latin typeface="Inter"/>
                <a:ea typeface="Inter"/>
                <a:cs typeface="Inter"/>
              </a:defRPr>
            </a:pPr>
            <a:r>
              <a:rPr sz="1400" b="0" i="0" kern="1200">
                <a:solidFill>
                  <a:srgbClr val="292524"/>
                </a:solidFill>
                <a:latin typeface="Inter"/>
                <a:ea typeface="Inter"/>
                <a:cs typeface="Inter"/>
              </a:rPr>
              <a:t>One community-defined use case.</a:t>
            </a:r>
          </a:p>
        </p:txBody>
      </p:sp>
      <p:sp>
        <p:nvSpPr>
          <p:cNvPr id="23" name="rule-3">
            <a:extLst xmlns:a="http://schemas.openxmlformats.org/drawingml/2006/main">
              <a:ext uri="{FF2B5EF4-FFF2-40B4-BE49-F238E27FC236}">
                <a16:creationId xmlns:a16="http://schemas.microsoft.com/office/drawing/2014/main" id="{8B95B08B-CBE0-44A4-8780-C909E61B6410}"/>
              </a:ext>
            </a:extLst>
          </p:cNvPr>
          <p:cNvSpPr>
            <a:spLocks xmlns:a="http://schemas.openxmlformats.org/drawingml/2006/main" noGrp="1"/>
          </p:cNvSpPr>
          <p:nvPr/>
        </p:nvSpPr>
        <p:spPr>
          <a:xfrm xmlns:a="http://schemas.openxmlformats.org/drawingml/2006/main">
            <a:off x="609905" y="5386832"/>
            <a:ext cx="10972800" cy="0"/>
          </a:xfrm>
          <a:prstGeom xmlns:a="http://schemas.openxmlformats.org/drawingml/2006/main" prst="line">
            <a:avLst/>
          </a:prstGeom>
          <a:ln xmlns:a="http://schemas.openxmlformats.org/drawingml/2006/main" w="9525">
            <a:solidFill>
              <a:srgbClr val="D6D3D1"/>
            </a:solidFill>
          </a:ln>
        </p:spPr>
      </p:sp>
      <p:sp>
        <p:nvSpPr>
          <p:cNvPr id="24" name="vision">
            <a:extLst xmlns:a="http://schemas.openxmlformats.org/drawingml/2006/main">
              <a:ext uri="{FF2B5EF4-FFF2-40B4-BE49-F238E27FC236}">
                <a16:creationId xmlns:a16="http://schemas.microsoft.com/office/drawing/2014/main" id="{567304A9-93BE-459A-A17E-0B522CA5E730}"/>
              </a:ext>
            </a:extLst>
          </p:cNvPr>
          <p:cNvSpPr txBox="1">
            <a:spLocks xmlns:a="http://schemas.openxmlformats.org/drawingml/2006/main" noGrp="1"/>
          </p:cNvSpPr>
          <p:nvPr/>
        </p:nvSpPr>
        <p:spPr>
          <a:xfrm xmlns:a="http://schemas.openxmlformats.org/drawingml/2006/main">
            <a:off x="609905" y="5669280"/>
            <a:ext cx="1097280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00" b="0" i="0" kern="1200">
                <a:solidFill>
                  <a:srgbClr val="292524"/>
                </a:solidFill>
                <a:latin typeface="Fraunces Medium"/>
                <a:ea typeface="Fraunces Medium"/>
                <a:cs typeface="Fraunces Medium"/>
              </a:defRPr>
            </a:defPPr>
          </a:lstStyle>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A world where every community, regardless of economic circumstances, can access</a:t>
            </a:r>
          </a:p>
          <a:p xmlns:a="http://schemas.openxmlformats.org/drawingml/2006/main">
            <a:pPr>
              <a:lnSpc>
                <a:spcPts val="2600"/>
              </a:lnSpc>
              <a:defRPr sz="2000" b="0" i="0" kern="1200">
                <a:solidFill>
                  <a:srgbClr val="292524"/>
                </a:solidFill>
                <a:latin typeface="Fraunces Medium"/>
                <a:ea typeface="Fraunces Medium"/>
                <a:cs typeface="Fraunces Medium"/>
              </a:defRPr>
            </a:pPr>
            <a:r>
              <a:rPr sz="2000" b="0" i="0" kern="1200">
                <a:solidFill>
                  <a:srgbClr val="292524"/>
                </a:solidFill>
                <a:latin typeface="Fraunces Medium"/>
                <a:ea typeface="Fraunces Medium"/>
                <a:cs typeface="Fraunces Medium"/>
              </a:rPr>
              <a:t>the tools, infrastructure, knowledge and support to care for land and each other.</a:t>
            </a:r>
          </a:p>
        </p:txBody>
      </p:sp>
      <p:sp>
        <p:nvSpPr>
          <p:cNvPr id="25" name="footnote">
            <a:extLst xmlns:a="http://schemas.openxmlformats.org/drawingml/2006/main">
              <a:ext uri="{FF2B5EF4-FFF2-40B4-BE49-F238E27FC236}">
                <a16:creationId xmlns:a16="http://schemas.microsoft.com/office/drawing/2014/main" id="{28A3227C-EAA1-4B84-BD23-9FED1C6FAE0E}"/>
              </a:ext>
            </a:extLst>
          </p:cNvPr>
          <p:cNvSpPr txBox="1">
            <a:spLocks xmlns:a="http://schemas.openxmlformats.org/drawingml/2006/main" noGrp="1"/>
          </p:cNvSpPr>
          <p:nvPr/>
        </p:nvSpPr>
        <p:spPr>
          <a:xfrm xmlns:a="http://schemas.openxmlformats.org/drawingml/2006/main">
            <a:off x="609905" y="6505956"/>
            <a:ext cx="10972800" cy="2093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50" b="0" i="0" kern="1200">
                <a:solidFill>
                  <a:srgbClr val="78716C"/>
                </a:solidFill>
                <a:latin typeface="Inter"/>
                <a:ea typeface="Inter"/>
                <a:cs typeface="Inter"/>
              </a:defRPr>
            </a:defPPr>
          </a:lstStyle>
          <a:p xmlns:a="http://schemas.openxmlformats.org/drawingml/2006/main">
            <a:pPr>
              <a:lnSpc>
                <a:spcPts val="1300"/>
              </a:lnSpc>
              <a:defRPr sz="1050" b="0" i="0" kern="1200">
                <a:solidFill>
                  <a:srgbClr val="78716C"/>
                </a:solidFill>
                <a:latin typeface="Inter"/>
                <a:ea typeface="Inter"/>
                <a:cs typeface="Inter"/>
              </a:defRPr>
            </a:pPr>
            <a:r>
              <a:rPr sz="1050" b="0" i="0" kern="1200">
                <a:solidFill>
                  <a:srgbClr val="78716C"/>
                </a:solidFill>
                <a:latin typeface="Inter"/>
                <a:ea typeface="Inter"/>
                <a:cs typeface="Inter"/>
              </a:rPr>
              <a:t>Relevance is inferred from public sources and establishes neither partnership nor interest. Scope, roles and cost need review; no funding figure is inherited.</a:t>
            </a:r>
          </a:p>
        </p:txBody>
      </p:sp>
    </p:spTree>
    <p:extLst>
      <p:ext uri="{BB962C8B-B14F-4D97-AF65-F5344CB8AC3E}">
        <p14:creationId xmlns:p14="http://schemas.microsoft.com/office/powerpoint/2010/main" val="14406555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Inter"/>
        <a:ea typeface=""/>
        <a:cs typeface=""/>
      </a:majorFont>
      <a:minorFont>
        <a:latin typeface="Inte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16</ap:Slides>
  <ap:Notes>16</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2026-10-09T05:12:31.2870000Z</dcterms:created>
  <dcterms:modified xsi:type="dcterms:W3CDTF">2026-10-09T05:12:31.2870000Z</dcterms:modified>
</coreProperties>
</file>