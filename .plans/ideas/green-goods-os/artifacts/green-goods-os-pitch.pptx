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806977708e54816" /><Relationship Type="http://schemas.openxmlformats.org/officeDocument/2006/relationships/extended-properties" Target="/docProps/app.xml" Id="R2280c8ec41e44bdf" /><Relationship Type="http://schemas.openxmlformats.org/officeDocument/2006/relationships/officeDocument" Target="/ppt/presentation.xml" Id="R9444e1ab68b64be8" /></Relationships>
</file>

<file path=ppt/presentation.xml><?xml version="1.0" encoding="utf-8"?>
<p:presentation xmlns:p="http://schemas.openxmlformats.org/presentationml/2006/main">
  <p:sldMasterIdLst>
    <p:sldMasterId xmlns:r="http://schemas.openxmlformats.org/officeDocument/2006/relationships" id="2147483648" r:id="Rc21bf4a524e2457b"/>
  </p:sldMasterIdLst>
  <p:notesMasterIdLst>
    <p:notesMasterId xmlns:r="http://schemas.openxmlformats.org/officeDocument/2006/relationships" r:id="R09acf6efbbb144ed"/>
  </p:notesMasterIdLst>
  <p:sldIdLst>
    <p:sldId xmlns:r="http://schemas.openxmlformats.org/officeDocument/2006/relationships" id="256" r:id="R25ab2b342dad4a13"/>
    <p:sldId xmlns:r="http://schemas.openxmlformats.org/officeDocument/2006/relationships" id="257" r:id="Rd76f898f2074455b"/>
    <p:sldId xmlns:r="http://schemas.openxmlformats.org/officeDocument/2006/relationships" id="258" r:id="Rd56614a210a24d6d"/>
    <p:sldId xmlns:r="http://schemas.openxmlformats.org/officeDocument/2006/relationships" id="259" r:id="Rb57bf1c565fe4611"/>
    <p:sldId xmlns:r="http://schemas.openxmlformats.org/officeDocument/2006/relationships" id="260" r:id="Rdeb8b3d494cb470e"/>
    <p:sldId xmlns:r="http://schemas.openxmlformats.org/officeDocument/2006/relationships" id="261" r:id="Rf4c0766babe7493f"/>
    <p:sldId xmlns:r="http://schemas.openxmlformats.org/officeDocument/2006/relationships" id="262" r:id="Rb118044d9fcf4b4c"/>
    <p:sldId xmlns:r="http://schemas.openxmlformats.org/officeDocument/2006/relationships" id="263" r:id="R2095a6906e024c82"/>
    <p:sldId xmlns:r="http://schemas.openxmlformats.org/officeDocument/2006/relationships" id="264" r:id="R40a3ab4f01f14f3a"/>
    <p:sldId xmlns:r="http://schemas.openxmlformats.org/officeDocument/2006/relationships" id="265" r:id="Re44b31d9ab0f485f"/>
    <p:sldId xmlns:r="http://schemas.openxmlformats.org/officeDocument/2006/relationships" id="266" r:id="R70a129a62492412a"/>
    <p:sldId xmlns:r="http://schemas.openxmlformats.org/officeDocument/2006/relationships" id="267" r:id="R6f3eb6904d8148a8"/>
    <p:sldId xmlns:r="http://schemas.openxmlformats.org/officeDocument/2006/relationships" id="268" r:id="R80560a6aabbd414d"/>
    <p:sldId xmlns:r="http://schemas.openxmlformats.org/officeDocument/2006/relationships" id="269" r:id="R73e8613aee184733"/>
    <p:sldId xmlns:r="http://schemas.openxmlformats.org/officeDocument/2006/relationships" id="270" r:id="Rb6ef803dd215462c"/>
    <p:sldId xmlns:r="http://schemas.openxmlformats.org/officeDocument/2006/relationships" id="271" r:id="Rd5f0d7a31c9b4994"/>
    <p:sldId xmlns:r="http://schemas.openxmlformats.org/officeDocument/2006/relationships" id="272" r:id="R4f7e96c5163a443e"/>
    <p:sldId xmlns:r="http://schemas.openxmlformats.org/officeDocument/2006/relationships" id="273" r:id="R1294ea4503aa41e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90ca325a9c44b7d" /><Relationship Type="http://schemas.openxmlformats.org/officeDocument/2006/relationships/slideMaster" Target="/ppt/slideMasters/slideMaster1.xml" Id="Rc21bf4a524e2457b" /><Relationship Type="http://schemas.openxmlformats.org/officeDocument/2006/relationships/notesMaster" Target="/ppt/notesMasters/notesMaster1.xml" Id="R09acf6efbbb144ed" /><Relationship Type="http://schemas.openxmlformats.org/officeDocument/2006/relationships/presProps" Target="/ppt/presProps.xml" Id="R3c3092bff8f3410e" /><Relationship Type="http://schemas.openxmlformats.org/officeDocument/2006/relationships/tableStyles" Target="/ppt/tableStyles.xml" Id="Rad02744fd5c04fee" /><Relationship Type="http://schemas.openxmlformats.org/officeDocument/2006/relationships/slide" Target="/ppt/slides/slide1.xml" Id="R25ab2b342dad4a13" /><Relationship Type="http://schemas.openxmlformats.org/officeDocument/2006/relationships/slide" Target="/ppt/slides/slide2.xml" Id="Rd76f898f2074455b" /><Relationship Type="http://schemas.openxmlformats.org/officeDocument/2006/relationships/slide" Target="/ppt/slides/slide3.xml" Id="Rd56614a210a24d6d" /><Relationship Type="http://schemas.openxmlformats.org/officeDocument/2006/relationships/slide" Target="/ppt/slides/slide4.xml" Id="Rb57bf1c565fe4611" /><Relationship Type="http://schemas.openxmlformats.org/officeDocument/2006/relationships/slide" Target="/ppt/slides/slide5.xml" Id="Rdeb8b3d494cb470e" /><Relationship Type="http://schemas.openxmlformats.org/officeDocument/2006/relationships/slide" Target="/ppt/slides/slide6.xml" Id="Rf4c0766babe7493f" /><Relationship Type="http://schemas.openxmlformats.org/officeDocument/2006/relationships/slide" Target="/ppt/slides/slide7.xml" Id="Rb118044d9fcf4b4c" /><Relationship Type="http://schemas.openxmlformats.org/officeDocument/2006/relationships/slide" Target="/ppt/slides/slide8.xml" Id="R2095a6906e024c82" /><Relationship Type="http://schemas.openxmlformats.org/officeDocument/2006/relationships/slide" Target="/ppt/slides/slide9.xml" Id="R40a3ab4f01f14f3a" /><Relationship Type="http://schemas.openxmlformats.org/officeDocument/2006/relationships/slide" Target="/ppt/slides/slide10.xml" Id="Re44b31d9ab0f485f" /><Relationship Type="http://schemas.openxmlformats.org/officeDocument/2006/relationships/slide" Target="/ppt/slides/slide11.xml" Id="R70a129a62492412a" /><Relationship Type="http://schemas.openxmlformats.org/officeDocument/2006/relationships/slide" Target="/ppt/slides/slide12.xml" Id="R6f3eb6904d8148a8" /><Relationship Type="http://schemas.openxmlformats.org/officeDocument/2006/relationships/slide" Target="/ppt/slides/slide13.xml" Id="R80560a6aabbd414d" /><Relationship Type="http://schemas.openxmlformats.org/officeDocument/2006/relationships/slide" Target="/ppt/slides/slide14.xml" Id="R73e8613aee184733" /><Relationship Type="http://schemas.openxmlformats.org/officeDocument/2006/relationships/slide" Target="/ppt/slides/slide15.xml" Id="Rb6ef803dd215462c" /><Relationship Type="http://schemas.openxmlformats.org/officeDocument/2006/relationships/slide" Target="/ppt/slides/slide16.xml" Id="Rd5f0d7a31c9b4994" /><Relationship Type="http://schemas.openxmlformats.org/officeDocument/2006/relationships/slide" Target="/ppt/slides/slide17.xml" Id="R4f7e96c5163a443e" /><Relationship Type="http://schemas.openxmlformats.org/officeDocument/2006/relationships/slide" Target="/ppt/slides/slide18.xml" Id="R1294ea4503aa41e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21240ec7451416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ca01a72ee9e45ad" /><Relationship Type="http://schemas.openxmlformats.org/officeDocument/2006/relationships/notesMaster" Target="/ppt/notesMasters/notesMaster1.xml" Id="Ra780184f8c144149" /></Relationships>
</file>

<file path=ppt/notesSlides/_rels/notesSlide2.xml.rels>&#65279;<?xml version="1.0" encoding="utf-8"?><Relationships xmlns="http://schemas.openxmlformats.org/package/2006/relationships"><Relationship Type="http://schemas.openxmlformats.org/officeDocument/2006/relationships/slide" Target="/ppt/slides/slide2.xml" Id="R63942efdd36b457b" /><Relationship Type="http://schemas.openxmlformats.org/officeDocument/2006/relationships/notesMaster" Target="/ppt/notesMasters/notesMaster1.xml" Id="R71b42f73be6b4c5a" /></Relationships>
</file>

<file path=ppt/notesSlides/_rels/notesSlide3.xml.rels>&#65279;<?xml version="1.0" encoding="utf-8"?><Relationships xmlns="http://schemas.openxmlformats.org/package/2006/relationships"><Relationship Type="http://schemas.openxmlformats.org/officeDocument/2006/relationships/slide" Target="/ppt/slides/slide3.xml" Id="Rade7b067007346fe" /><Relationship Type="http://schemas.openxmlformats.org/officeDocument/2006/relationships/notesMaster" Target="/ppt/notesMasters/notesMaster1.xml" Id="R8ab401eb6c014ed8" /></Relationships>
</file>

<file path=ppt/notesSlides/_rels/notesSlide4.xml.rels>&#65279;<?xml version="1.0" encoding="utf-8"?><Relationships xmlns="http://schemas.openxmlformats.org/package/2006/relationships"><Relationship Type="http://schemas.openxmlformats.org/officeDocument/2006/relationships/slide" Target="/ppt/slides/slide4.xml" Id="R6c55d8bded1a4322" /><Relationship Type="http://schemas.openxmlformats.org/officeDocument/2006/relationships/notesMaster" Target="/ppt/notesMasters/notesMaster1.xml" Id="R9768cf162abe4682" /></Relationships>
</file>

<file path=ppt/notesSlides/_rels/notesSlide5.xml.rels>&#65279;<?xml version="1.0" encoding="utf-8"?><Relationships xmlns="http://schemas.openxmlformats.org/package/2006/relationships"><Relationship Type="http://schemas.openxmlformats.org/officeDocument/2006/relationships/slide" Target="/ppt/slides/slide5.xml" Id="R06462b65c4fc4e62" /><Relationship Type="http://schemas.openxmlformats.org/officeDocument/2006/relationships/notesMaster" Target="/ppt/notesMasters/notesMaster1.xml" Id="R4f1938d41ac04b9b" /></Relationships>
</file>

<file path=ppt/notesSlides/_rels/notesSlide6.xml.rels>&#65279;<?xml version="1.0" encoding="utf-8"?><Relationships xmlns="http://schemas.openxmlformats.org/package/2006/relationships"><Relationship Type="http://schemas.openxmlformats.org/officeDocument/2006/relationships/slide" Target="/ppt/slides/slide6.xml" Id="R3ed307a36c5d4c48" /><Relationship Type="http://schemas.openxmlformats.org/officeDocument/2006/relationships/notesMaster" Target="/ppt/notesMasters/notesMaster1.xml" Id="R551de0f087444e57" /></Relationships>
</file>

<file path=ppt/notesSlides/_rels/notesSlide7.xml.rels>&#65279;<?xml version="1.0" encoding="utf-8"?><Relationships xmlns="http://schemas.openxmlformats.org/package/2006/relationships"><Relationship Type="http://schemas.openxmlformats.org/officeDocument/2006/relationships/slide" Target="/ppt/slides/slide7.xml" Id="R609596acefec4c42" /><Relationship Type="http://schemas.openxmlformats.org/officeDocument/2006/relationships/notesMaster" Target="/ppt/notesMasters/notesMaster1.xml" Id="Ra83637e04a6e4f96" /></Relationships>
</file>

<file path=ppt/notesSlides/_rels/notesSlide8.xml.rels>&#65279;<?xml version="1.0" encoding="utf-8"?><Relationships xmlns="http://schemas.openxmlformats.org/package/2006/relationships"><Relationship Type="http://schemas.openxmlformats.org/officeDocument/2006/relationships/slide" Target="/ppt/slides/slide8.xml" Id="R6dd5ba6daf9240e6" /><Relationship Type="http://schemas.openxmlformats.org/officeDocument/2006/relationships/notesMaster" Target="/ppt/notesMasters/notesMaster1.xml" Id="Rde20b73e05e94c50" /></Relationships>
</file>

<file path=ppt/notesSlides/_rels/notesSlide9.xml.rels>&#65279;<?xml version="1.0" encoding="utf-8"?><Relationships xmlns="http://schemas.openxmlformats.org/package/2006/relationships"><Relationship Type="http://schemas.openxmlformats.org/officeDocument/2006/relationships/slide" Target="/ppt/slides/slide9.xml" Id="Rece810f38a1e4474" /><Relationship Type="http://schemas.openxmlformats.org/officeDocument/2006/relationships/notesMaster" Target="/ppt/notesMasters/notesMaster1.xml" Id="R241299dc5f09493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c66f9fc841d4d29" /><Relationship Type="http://schemas.openxmlformats.org/officeDocument/2006/relationships/notesMaster" Target="/ppt/notesMasters/notesMaster1.xml" Id="R39a6dea97942468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f5d4f8eaa53473c" /><Relationship Type="http://schemas.openxmlformats.org/officeDocument/2006/relationships/notesMaster" Target="/ppt/notesMasters/notesMaster1.xml" Id="Rfc222dd476eb4aa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e9a7ed1f7904860" /><Relationship Type="http://schemas.openxmlformats.org/officeDocument/2006/relationships/notesMaster" Target="/ppt/notesMasters/notesMaster1.xml" Id="R5d6109c6a0ca437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1c7ca1d4f7c4d2b" /><Relationship Type="http://schemas.openxmlformats.org/officeDocument/2006/relationships/notesMaster" Target="/ppt/notesMasters/notesMaster1.xml" Id="Rda7bda4784ff40f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73b96a57b344068" /><Relationship Type="http://schemas.openxmlformats.org/officeDocument/2006/relationships/notesMaster" Target="/ppt/notesMasters/notesMaster1.xml" Id="R72fa4015f2244e0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37cda59d3524d51" /><Relationship Type="http://schemas.openxmlformats.org/officeDocument/2006/relationships/notesMaster" Target="/ppt/notesMasters/notesMaster1.xml" Id="R47623294849040f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21eba2ccdca4e73" /><Relationship Type="http://schemas.openxmlformats.org/officeDocument/2006/relationships/notesMaster" Target="/ppt/notesMasters/notesMaster1.xml" Id="R4dc5e4bb8ecb4c5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79cd4a61a034d06" /><Relationship Type="http://schemas.openxmlformats.org/officeDocument/2006/relationships/notesMaster" Target="/ppt/notesMasters/notesMaster1.xml" Id="Radf9a2e229b9484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967cf97c2144f14" /><Relationship Type="http://schemas.openxmlformats.org/officeDocument/2006/relationships/notesMaster" Target="/ppt/notesMasters/notesMaster1.xml" Id="Re6110c1c5c7e461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Green Goods is the primary product, protocol and ecosystem. OS is a working vision; the first product should be called a community workspace. This deck proposes a bounded learning investment, not a launched OS or demonstrated business. Cover: AI-generated conceptual nursery illustration, built-in image generation, 2026-10-08. It depicts no real community, site or deployment. The illustration is replaceable; text throughout the deck is editable. Full source register and research are supplied with this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Problem hypothesis: notes, readings and practical experience can be difficult to retrieve and hand over. We have not measured how much time these users currently lose. The pilot must establish that baseline and compare a form/shared-folder workflow before claiming savings. The desired outcome is a better local decision; reporting to a supporter is a downstream reuse.</a:t>
            </a:r>
          </a:p>
          <a:p xmlns:a="http://schemas.openxmlformats.org/drawingml/2006/main">
            <a:r>
              <a:t/>
            </a:r>
          </a:p>
          <a:p xmlns:a="http://schemas.openxmlformats.org/drawingml/2006/main">
            <a:r>
              <a:t>Sources (accessed 2026-10-08):</a:t>
            </a:r>
          </a:p>
          <a:p xmlns:a="http://schemas.openxmlformats.org/drawingml/2006/main">
            <a:r>
              <a:t>https://github.com/greenpill-dev-guild/green-goods/blob/0fc3fd83e9a1c4258e4bcfdf64396a3dbe601778/packages/shared/src/modules/work/submit-work-command.ts</a:t>
            </a:r>
          </a:p>
          <a:p xmlns:a="http://schemas.openxmlformats.org/drawingml/2006/main">
            <a:r>
              <a:t>https://github.com/greenpill-dev-guild/green-goods/blob/0fc3fd83e9a1c4258e4bcfdf64396a3dbe601778/packages/shared/src/modules/work/work-confirmation.ts</a:t>
            </a:r>
          </a:p>
          <a:p xmlns:a="http://schemas.openxmlformats.org/drawingml/2006/main">
            <a:r>
              <a:t/>
            </a:r>
          </a:p>
          <a:p xmlns:a="http://schemas.openxmlformats.org/drawingml/2006/main">
            <a:r>
              <a:t>Full evidence and limitations: research.md, spec.md, strategy.md and evidence-register.md in the Green Goods OS decision package. All unmeasured targets and economics are proposals.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recommended first user is a community nursery steward in a Global South land-management setting; the buyer hypothesis is an NGO or cooperative program coordinator purchasing setup, support and continuity. No country, community or buyer has agreed. The broader personas inform design constraints, not four simultaneous product roadmaps. The sponsor must not acquire authority over community knowledge by paying.</a:t>
            </a:r>
          </a:p>
          <a:p xmlns:a="http://schemas.openxmlformats.org/drawingml/2006/main">
            <a:r>
              <a:t/>
            </a:r>
          </a:p>
          <a:p xmlns:a="http://schemas.openxmlformats.org/drawingml/2006/main">
            <a:r>
              <a:t>Sources (accessed 2026-10-08):</a:t>
            </a:r>
          </a:p>
          <a:p xmlns:a="http://schemas.openxmlformats.org/drawingml/2006/main">
            <a:r>
              <a:t/>
            </a:r>
          </a:p>
          <a:p xmlns:a="http://schemas.openxmlformats.org/drawingml/2006/main">
            <a:r>
              <a:t/>
            </a:r>
          </a:p>
          <a:p xmlns:a="http://schemas.openxmlformats.org/drawingml/2006/main">
            <a:r>
              <a:t>Full evidence and limitations: research.md, spec.md, strategy.md and evidence-register.md in the Green Goods OS decision package. All unmeasured targets and economics are proposals.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capability ledger distinguishes available work capture/review/funding from deployed-not-available commitment pooling and in-build Hypercert functionality. Tests and code were inspected, not executed in this research. No current live-chain or authenticated-browser certification was performed. The OS, local AI and AT integration remain proposals; Certified exploration is explicitly unapproved.</a:t>
            </a:r>
          </a:p>
          <a:p xmlns:a="http://schemas.openxmlformats.org/drawingml/2006/main">
            <a:r>
              <a:t/>
            </a:r>
          </a:p>
          <a:p xmlns:a="http://schemas.openxmlformats.org/drawingml/2006/main">
            <a:r>
              <a:t>Sources (accessed 2026-10-08):</a:t>
            </a:r>
          </a:p>
          <a:p xmlns:a="http://schemas.openxmlformats.org/drawingml/2006/main">
            <a:r>
              <a:t>https://github.com/greenpill-dev-guild/green-goods/blob/0fc3fd83e9a1c4258e4bcfdf64396a3dbe601778/docs/docs/community/green-goods-claims.generated.mdx</a:t>
            </a:r>
          </a:p>
          <a:p xmlns:a="http://schemas.openxmlformats.org/drawingml/2006/main">
            <a:r>
              <a:t>https://github.com/greenpill-dev-guild/green-goods/blob/0fc3fd83e9a1c4258e4bcfdf64396a3dbe601778/packages/shared/src/modules/work/submit-work-command.ts</a:t>
            </a:r>
          </a:p>
          <a:p xmlns:a="http://schemas.openxmlformats.org/drawingml/2006/main">
            <a:r>
              <a:t>https://github.com/greenpill-dev-guild/green-goods/blob/0fc3fd83e9a1c4258e4bcfdf64396a3dbe601778/.plans/active/commitment-pooling/status.json</a:t>
            </a:r>
          </a:p>
          <a:p xmlns:a="http://schemas.openxmlformats.org/drawingml/2006/main">
            <a:r>
              <a:t>https://linear.app/greenpill-dev-guild/issue/RESR-69</a:t>
            </a:r>
          </a:p>
          <a:p xmlns:a="http://schemas.openxmlformats.org/drawingml/2006/main">
            <a:r>
              <a:t/>
            </a:r>
          </a:p>
          <a:p xmlns:a="http://schemas.openxmlformats.org/drawingml/2006/main">
            <a:r>
              <a:t>Full evidence and limitations: research.md, spec.md, strategy.md and evidence-register.md in the Green Goods OS decision package. All unmeasured targets and economics are proposals.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question is which nursery beds need a manual moisture check today. The first input is synthetic recording SM-01, with nominal moisture units and deliberately missing/stale/outlier rows. This does not test a physical sensor or establish agronomic thresholds. The model may draft explanations but may not prescribe irrigation, publish or sign. The Green Goods boundary is an unsubmitted export; the AT step is an authorized synthetic sandbox publication.</a:t>
            </a:r>
          </a:p>
          <a:p xmlns:a="http://schemas.openxmlformats.org/drawingml/2006/main">
            <a:r>
              <a:t/>
            </a:r>
          </a:p>
          <a:p xmlns:a="http://schemas.openxmlformats.org/drawingml/2006/main">
            <a:r>
              <a:t>Sources (accessed 2026-10-08):</a:t>
            </a:r>
          </a:p>
          <a:p xmlns:a="http://schemas.openxmlformats.org/drawingml/2006/main">
            <a:r>
              <a:t>https://github.com/greenpill-dev-guild/green-goods/blob/0fc3fd83e9a1c4258e4bcfdf64396a3dbe601778/packages/contracts/config/schemas.json</a:t>
            </a:r>
          </a:p>
          <a:p xmlns:a="http://schemas.openxmlformats.org/drawingml/2006/main">
            <a:r>
              <a:t>https://atproto.com/specs/repository</a:t>
            </a:r>
          </a:p>
          <a:p xmlns:a="http://schemas.openxmlformats.org/drawingml/2006/main">
            <a:r>
              <a:t/>
            </a:r>
          </a:p>
          <a:p xmlns:a="http://schemas.openxmlformats.org/drawingml/2006/main">
            <a:r>
              <a:t>Full evidence and limitations: research.md, spec.md, strategy.md and evidence-register.md in the Green Goods OS decision package. All unmeasured targets and economics are proposals.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pillars are proposed for evaluation, not adopted doctrine. Affordability supports accessibility; control and portability support sovereignty; accountable review supports trust; useful exchange supports reciprocity. Privacy, interoperability and verifiability are requirements across all four. More replication can improve access while increasing exposure; transparency must be appropriate to the audience.</a:t>
            </a:r>
          </a:p>
          <a:p xmlns:a="http://schemas.openxmlformats.org/drawingml/2006/main">
            <a:r>
              <a:t/>
            </a:r>
          </a:p>
          <a:p xmlns:a="http://schemas.openxmlformats.org/drawingml/2006/main">
            <a:r>
              <a:t>Sources (accessed 2026-10-08):</a:t>
            </a:r>
          </a:p>
          <a:p xmlns:a="http://schemas.openxmlformats.org/drawingml/2006/main">
            <a:r>
              <a:t/>
            </a:r>
          </a:p>
          <a:p xmlns:a="http://schemas.openxmlformats.org/drawingml/2006/main">
            <a:r>
              <a:t/>
            </a:r>
          </a:p>
          <a:p xmlns:a="http://schemas.openxmlformats.org/drawingml/2006/main">
            <a:r>
              <a:t>Full evidence and limitations: research.md, spec.md, strategy.md and evidence-register.md in the Green Goods OS decision package. All unmeasured targets and economics are proposals.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Maintain separate private and public representations. AT repositories are public; self-hosting does not change that. The permissioned-data proposal is experimental. Exact approved bytes, destination and identity bind the publication decision. Redact before any upload. Private source hashes, locations or URLs can also reveal information and are excluded by default. Public revocation cannot recall external copies.</a:t>
            </a:r>
          </a:p>
          <a:p xmlns:a="http://schemas.openxmlformats.org/drawingml/2006/main">
            <a:r>
              <a:t/>
            </a:r>
          </a:p>
          <a:p xmlns:a="http://schemas.openxmlformats.org/drawingml/2006/main">
            <a:r>
              <a:t>Sources (accessed 2026-10-08):</a:t>
            </a:r>
          </a:p>
          <a:p xmlns:a="http://schemas.openxmlformats.org/drawingml/2006/main">
            <a:r>
              <a:t>https://atproto.com/specs/repository</a:t>
            </a:r>
          </a:p>
          <a:p xmlns:a="http://schemas.openxmlformats.org/drawingml/2006/main">
            <a:r>
              <a:t>https://github.com/bluesky-social/proposals/blob/main/0016-permissioned-data/README.md</a:t>
            </a:r>
          </a:p>
          <a:p xmlns:a="http://schemas.openxmlformats.org/drawingml/2006/main">
            <a:r>
              <a:t>https://atproto.com/guides/self-hosting</a:t>
            </a:r>
          </a:p>
          <a:p xmlns:a="http://schemas.openxmlformats.org/drawingml/2006/main">
            <a:r>
              <a:t/>
            </a:r>
          </a:p>
          <a:p xmlns:a="http://schemas.openxmlformats.org/drawingml/2006/main">
            <a:r>
              <a:t>Full evidence and limitations: research.md, spec.md, strategy.md and evidence-register.md in the Green Goods OS decision package. All unmeasured targets and economics are proposals.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4–8 GB laptops are benchmark targets, not compatibility claims. Model download size differs from working memory, which includes buffers, cache, runtime, UI and the OS. Gemma 4 effective parameters should not be confused with total loaded weights. Pin actual model/runtime/license and compare with the manual/template baseline. RESR-79 blocks real gardener evidence being sent to new external inference trials before approval. No silent cloud fallback.</a:t>
            </a:r>
          </a:p>
          <a:p xmlns:a="http://schemas.openxmlformats.org/drawingml/2006/main">
            <a:r>
              <a:t/>
            </a:r>
          </a:p>
          <a:p xmlns:a="http://schemas.openxmlformats.org/drawingml/2006/main">
            <a:r>
              <a:t>Sources (accessed 2026-10-08):</a:t>
            </a:r>
          </a:p>
          <a:p xmlns:a="http://schemas.openxmlformats.org/drawingml/2006/main">
            <a:r>
              <a:t>https://ai.google.dev/gemma/docs/core</a:t>
            </a:r>
          </a:p>
          <a:p xmlns:a="http://schemas.openxmlformats.org/drawingml/2006/main">
            <a:r>
              <a:t>https://webllm.mlc.ai/docs/</a:t>
            </a:r>
          </a:p>
          <a:p xmlns:a="http://schemas.openxmlformats.org/drawingml/2006/main">
            <a:r>
              <a:t>https://linear.app/greenpill-dev-guild/issue/RESR-79</a:t>
            </a:r>
          </a:p>
          <a:p xmlns:a="http://schemas.openxmlformats.org/drawingml/2006/main">
            <a:r>
              <a:t/>
            </a:r>
          </a:p>
          <a:p xmlns:a="http://schemas.openxmlformats.org/drawingml/2006/main">
            <a:r>
              <a:t>Full evidence and limitations: research.md, spec.md, strategy.md and evidence-register.md in the Green Goods OS decision package. All unmeasured targets and economics are proposals.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network hypothesis is reciprocal. Better-resourced stewards may offer funded curation, expertise or equipment support. Resource-constrained communities may offer valuable local practice and context, without an obligation to disclose sensitive knowledge. Match conditions before transferring a method. The pilot tests exchanges in both directions, practical usefulness, attribution, refusal and review effort. Cultural and experiential value do not need token prices.</a:t>
            </a:r>
          </a:p>
          <a:p xmlns:a="http://schemas.openxmlformats.org/drawingml/2006/main">
            <a:r>
              <a:t/>
            </a:r>
          </a:p>
          <a:p xmlns:a="http://schemas.openxmlformats.org/drawingml/2006/main">
            <a:r>
              <a:t>Sources (accessed 2026-10-08):</a:t>
            </a:r>
          </a:p>
          <a:p xmlns:a="http://schemas.openxmlformats.org/drawingml/2006/main">
            <a:r>
              <a:t>https://www.gainforest.earth/</a:t>
            </a:r>
          </a:p>
          <a:p xmlns:a="http://schemas.openxmlformats.org/drawingml/2006/main">
            <a:r>
              <a:t>https://www.hylo.com/features</a:t>
            </a:r>
          </a:p>
          <a:p xmlns:a="http://schemas.openxmlformats.org/drawingml/2006/main">
            <a:r>
              <a:t/>
            </a:r>
          </a:p>
          <a:p xmlns:a="http://schemas.openxmlformats.org/drawingml/2006/main">
            <a:r>
              <a:t>Full evidence and limitations: research.md, spec.md, strategy.md and evidence-register.md in the Green Goods OS decision package. All unmeasured targets and economics are proposals.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tools are alternatives and possible integration candidates, not confirmed partners. farmOS offers records and data streams; ODK offers offline field forms; Hylo offers community coordination; GainForest/Taina overlaps directly in community knowledge and evidence; OpenTEAM offers an interoperability ecosystem. Green Goods must show incremental usefulness compared with a simpler toolchain. Current vendor claims are not independent outcome evidence.</a:t>
            </a:r>
          </a:p>
          <a:p xmlns:a="http://schemas.openxmlformats.org/drawingml/2006/main">
            <a:r>
              <a:t/>
            </a:r>
          </a:p>
          <a:p xmlns:a="http://schemas.openxmlformats.org/drawingml/2006/main">
            <a:r>
              <a:t>Sources (accessed 2026-10-08):</a:t>
            </a:r>
          </a:p>
          <a:p xmlns:a="http://schemas.openxmlformats.org/drawingml/2006/main">
            <a:r>
              <a:t>https://farmos.org/development/api/</a:t>
            </a:r>
          </a:p>
          <a:p xmlns:a="http://schemas.openxmlformats.org/drawingml/2006/main">
            <a:r>
              <a:t>https://docs.getodk.org/collect-intro/</a:t>
            </a:r>
          </a:p>
          <a:p xmlns:a="http://schemas.openxmlformats.org/drawingml/2006/main">
            <a:r>
              <a:t>https://www.hylo.com/features</a:t>
            </a:r>
          </a:p>
          <a:p xmlns:a="http://schemas.openxmlformats.org/drawingml/2006/main">
            <a:r>
              <a:t>https://www.gainforest.earth/</a:t>
            </a:r>
          </a:p>
          <a:p xmlns:a="http://schemas.openxmlformats.org/drawingml/2006/main">
            <a:r>
              <a:t>https://openteam.community/</a:t>
            </a:r>
          </a:p>
          <a:p xmlns:a="http://schemas.openxmlformats.org/drawingml/2006/main">
            <a:r>
              <a:t/>
            </a:r>
          </a:p>
          <a:p xmlns:a="http://schemas.openxmlformats.org/drawingml/2006/main">
            <a:r>
              <a:t>Full evidence and limitations: research.md, spec.md, strategy.md and evidence-register.md in the Green Goods OS decision package. All unmeasured targets and economics are proposals.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two-week clock starts after separate implementation approval, synthetic-data policy and authorized sandbox readiness. Proposed $12,000 cap covers 80 engineering hours plus research, facilitation, accessibility/security and contingency. The separate $30,000 pilot cap covers three communities for eight weeks. Both are assumptions, not quotes or approved spend. Real-data processing, sensors and external services have separate gates.</a:t>
            </a:r>
          </a:p>
          <a:p xmlns:a="http://schemas.openxmlformats.org/drawingml/2006/main">
            <a:r>
              <a:t/>
            </a:r>
          </a:p>
          <a:p xmlns:a="http://schemas.openxmlformats.org/drawingml/2006/main">
            <a:r>
              <a:t>Sources (accessed 2026-10-08):</a:t>
            </a:r>
          </a:p>
          <a:p xmlns:a="http://schemas.openxmlformats.org/drawingml/2006/main">
            <a:r>
              <a:t/>
            </a:r>
          </a:p>
          <a:p xmlns:a="http://schemas.openxmlformats.org/drawingml/2006/main">
            <a:r>
              <a:t/>
            </a:r>
          </a:p>
          <a:p xmlns:a="http://schemas.openxmlformats.org/drawingml/2006/main">
            <a:r>
              <a:t>Full evidence and limitations: research.md, spec.md, strategy.md and evidence-register.md in the Green Goods OS decision package. All unmeasured targets and economics are proposals.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commitment lifecycle includes claim acceptance, work/evidence links, confirmation and disputes; the registry uses non-transferable units and capacity accounting. Product availability is separately gated. Vault/strategy reporting and yield routing are implemented, but strategy/asset/liquidity/admin risks remain. A contribution to a community vault is not automatically Green Goods revenue. No principal/yield guarantee, settlement liquidity or causal impact conversion is established.</a:t>
            </a:r>
          </a:p>
          <a:p xmlns:a="http://schemas.openxmlformats.org/drawingml/2006/main">
            <a:r>
              <a:t/>
            </a:r>
          </a:p>
          <a:p xmlns:a="http://schemas.openxmlformats.org/drawingml/2006/main">
            <a:r>
              <a:t>Sources (accessed 2026-10-08):</a:t>
            </a:r>
          </a:p>
          <a:p xmlns:a="http://schemas.openxmlformats.org/drawingml/2006/main">
            <a:r>
              <a:t>https://github.com/greenpill-dev-guild/green-goods/blob/0fc3fd83e9a1c4258e4bcfdf64396a3dbe601778/packages/contracts/src/modules/CommitmentPooling/Lifecycle.sol</a:t>
            </a:r>
          </a:p>
          <a:p xmlns:a="http://schemas.openxmlformats.org/drawingml/2006/main">
            <a:r>
              <a:t>https://github.com/greenpill-dev-guild/green-goods/blob/0fc3fd83e9a1c4258e4bcfdf64396a3dbe601778/.plans/active/commitment-pooling/status.json</a:t>
            </a:r>
          </a:p>
          <a:p xmlns:a="http://schemas.openxmlformats.org/drawingml/2006/main">
            <a:r>
              <a:t>https://github.com/greenpill-dev-guild/green-goods/blob/0fc3fd83e9a1c4258e4bcfdf64396a3dbe601778/packages/contracts/src/resolvers/Yield.sol</a:t>
            </a:r>
          </a:p>
          <a:p xmlns:a="http://schemas.openxmlformats.org/drawingml/2006/main">
            <a:r>
              <a:t/>
            </a:r>
          </a:p>
          <a:p xmlns:a="http://schemas.openxmlformats.org/drawingml/2006/main">
            <a:r>
              <a:t>Full evidence and limitations: research.md, spec.md, strategy.md and evidence-register.md in the Green Goods OS decision package. All unmeasured targets and economics are proposals.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repository root is MIT but inspected vendored Solidity sources include AGPL-family headers. Coop at the inspected revision is AGPLv3. Regen Commons sources discuss brand governance, formation and conditional services, not an adopted replacement software license for Green Goods. Operative legal documents, contributor authority, dependency compatibility and grant obligations require qualified review. No license change is proposed for this prototype.</a:t>
            </a:r>
          </a:p>
          <a:p xmlns:a="http://schemas.openxmlformats.org/drawingml/2006/main">
            <a:r>
              <a:t/>
            </a:r>
          </a:p>
          <a:p xmlns:a="http://schemas.openxmlformats.org/drawingml/2006/main">
            <a:r>
              <a:t>Sources (accessed 2026-10-08):</a:t>
            </a:r>
          </a:p>
          <a:p xmlns:a="http://schemas.openxmlformats.org/drawingml/2006/main">
            <a:r>
              <a:t>https://github.com/greenpill-dev-guild/green-goods/blob/0fc3fd83e9a1c4258e4bcfdf64396a3dbe601778/LICENSE</a:t>
            </a:r>
          </a:p>
          <a:p xmlns:a="http://schemas.openxmlformats.org/drawingml/2006/main">
            <a:r>
              <a:t>https://github.com/greenpill-dev-guild/green-goods/blob/0fc3fd83e9a1c4258e4bcfdf64396a3dbe601778/packages/contracts/src/vendor/octant/LICENSE</a:t>
            </a:r>
          </a:p>
          <a:p xmlns:a="http://schemas.openxmlformats.org/drawingml/2006/main">
            <a:r>
              <a:t>https://regencommons.discourse.group/t/model-for-decentralized-brand-stewardship-draft/23</a:t>
            </a:r>
          </a:p>
          <a:p xmlns:a="http://schemas.openxmlformats.org/drawingml/2006/main">
            <a:r>
              <a:t>https://forum.regen.network/t/agentic-organization-design-and-collaboration/610</a:t>
            </a:r>
          </a:p>
          <a:p xmlns:a="http://schemas.openxmlformats.org/drawingml/2006/main">
            <a:r>
              <a:t/>
            </a:r>
          </a:p>
          <a:p xmlns:a="http://schemas.openxmlformats.org/drawingml/2006/main">
            <a:r>
              <a:t>Full evidence and limitations: research.md, spec.md, strategy.md and evidence-register.md in the Green Goods OS decision package. All unmeasured targets and economics are proposals.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Initial payer is an NGO/cooperative coordinator with a defined support budget. The six revenue hypotheses are evaluated separately in strategy.md: infrastructure/sensor packages, knowledge membership, professional services/education, recurring support, protocol fees and commercial licensing. None has validated Green Goods OS demand. Acquire through a narrow successful pilot; distinguish budget owner, beneficiary and data authority.</a:t>
            </a:r>
          </a:p>
          <a:p xmlns:a="http://schemas.openxmlformats.org/drawingml/2006/main">
            <a:r>
              <a:t/>
            </a:r>
          </a:p>
          <a:p xmlns:a="http://schemas.openxmlformats.org/drawingml/2006/main">
            <a:r>
              <a:t>Sources (accessed 2026-10-08):</a:t>
            </a:r>
          </a:p>
          <a:p xmlns:a="http://schemas.openxmlformats.org/drawingml/2006/main">
            <a:r>
              <a:t/>
            </a:r>
          </a:p>
          <a:p xmlns:a="http://schemas.openxmlformats.org/drawingml/2006/main">
            <a:r>
              <a:t/>
            </a:r>
          </a:p>
          <a:p xmlns:a="http://schemas.openxmlformats.org/drawingml/2006/main">
            <a:r>
              <a:t>Full evidence and limitations: research.md, spec.md, strategy.md and evidence-register.md in the Green Goods OS decision package. All unmeasured targets and economics are proposals.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Author calculations, not forecasts. Support communities/prices: downside 6 at $75/month, base 20 at $125, upside 50 at $175. Package sales: 2 at $1,500, 8 at $2,000, 20 at $2,500. Support direct-cost ratios: 120%,55%,45%; packages:80%,65%,60%. Revenue is support plus packages. Contribution excludes fixed R&amp;D/overhead, acquisition, taxes and separate prototype/pilot costs. Full arithmetic is in strategy.md. No grants, TVL, principal or community donations counted.</a:t>
            </a:r>
          </a:p>
          <a:p xmlns:a="http://schemas.openxmlformats.org/drawingml/2006/main">
            <a:r>
              <a:t/>
            </a:r>
          </a:p>
          <a:p xmlns:a="http://schemas.openxmlformats.org/drawingml/2006/main">
            <a:r>
              <a:t>Sources (accessed 2026-10-08):</a:t>
            </a:r>
          </a:p>
          <a:p xmlns:a="http://schemas.openxmlformats.org/drawingml/2006/main">
            <a:r>
              <a:t/>
            </a:r>
          </a:p>
          <a:p xmlns:a="http://schemas.openxmlformats.org/drawingml/2006/main">
            <a:r>
              <a:t/>
            </a:r>
          </a:p>
          <a:p xmlns:a="http://schemas.openxmlformats.org/drawingml/2006/main">
            <a:r>
              <a:t>Full evidence and limitations: research.md, spec.md, strategy.md and evidence-register.md in the Green Goods OS decision package. All unmeasured targets and economics are proposals.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most material risks are usefulness/demand, privacy/recovery, field and model quality, and operational burden. A finite test cannot prove zero future leaks. Publishing is public and potentially permanent. A mesh is not an availability solution by itself. The decision is to stop or simplify if the manual baseline wins, consent is weak, review effort increases or support is unaffordable.</a:t>
            </a:r>
          </a:p>
          <a:p xmlns:a="http://schemas.openxmlformats.org/drawingml/2006/main">
            <a:r>
              <a:t/>
            </a:r>
          </a:p>
          <a:p xmlns:a="http://schemas.openxmlformats.org/drawingml/2006/main">
            <a:r>
              <a:t>Sources (accessed 2026-10-08):</a:t>
            </a:r>
          </a:p>
          <a:p xmlns:a="http://schemas.openxmlformats.org/drawingml/2006/main">
            <a:r>
              <a:t>https://atproto.com/specs/repository</a:t>
            </a:r>
          </a:p>
          <a:p xmlns:a="http://schemas.openxmlformats.org/drawingml/2006/main">
            <a:r>
              <a:t>https://linear.app/greenpill-dev-guild/issue/RESR-79</a:t>
            </a:r>
          </a:p>
          <a:p xmlns:a="http://schemas.openxmlformats.org/drawingml/2006/main">
            <a:r>
              <a:t/>
            </a:r>
          </a:p>
          <a:p xmlns:a="http://schemas.openxmlformats.org/drawingml/2006/main">
            <a:r>
              <a:t>Full evidence and limitations: research.md, spec.md, strategy.md and evidence-register.md in the Green Goods OS decision package. All unmeasured targets and economics are proposals.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Checked 2026-10-08. Restack closes November 3 2026 at noon CET, requires open outputs and strong European dimension and excludes ordinary AI projects; a reusable open infrastructure contribution might fit. Existing Commons Fund call is closed and a prior application is not runway. Ma Earth round 3 is closed and concerns community delivery, not OS operating revenue. Candidates for discussion include an existing consenting GG community, farmOS/OpenTEAM, GainForest/Taina, Hylo, 5th World and Ma Earth. No contact or interest is claimed.</a:t>
            </a:r>
          </a:p>
          <a:p xmlns:a="http://schemas.openxmlformats.org/drawingml/2006/main">
            <a:r>
              <a:t/>
            </a:r>
          </a:p>
          <a:p xmlns:a="http://schemas.openxmlformats.org/drawingml/2006/main">
            <a:r>
              <a:t>Sources (accessed 2026-10-08):</a:t>
            </a:r>
          </a:p>
          <a:p xmlns:a="http://schemas.openxmlformats.org/drawingml/2006/main">
            <a:r>
              <a:t>https://nlnet.nl/restack/</a:t>
            </a:r>
          </a:p>
          <a:p xmlns:a="http://schemas.openxmlformats.org/drawingml/2006/main">
            <a:r>
              <a:t>https://nlnet.nl/restack/eligibility/</a:t>
            </a:r>
          </a:p>
          <a:p xmlns:a="http://schemas.openxmlformats.org/drawingml/2006/main">
            <a:r>
              <a:t>https://maearth.com/campaign-toolkit</a:t>
            </a:r>
          </a:p>
          <a:p xmlns:a="http://schemas.openxmlformats.org/drawingml/2006/main">
            <a:r>
              <a:t/>
            </a:r>
          </a:p>
          <a:p xmlns:a="http://schemas.openxmlformats.org/drawingml/2006/main">
            <a:r>
              <a:t>Full evidence and limitations: research.md, spec.md, strategy.md and evidence-register.md in the Green Goods OS decision package. All unmeasured targets and economics are proposals.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Seek authorization for a capped $12,000 two-week discovery/prototype after prerequisites. Assign product/technical and paid community/language review roles. Decide separately on a $30,000 eight-week three-community pilot only after useful task, privacy/recovery and sandbox proof. This is a proposal for discussion, not a request to spend automatically, grant application or already approved budget. Do not require a new license, hardware purchase or public real-data disclosure to learn whether the workflow helps.</a:t>
            </a:r>
          </a:p>
          <a:p xmlns:a="http://schemas.openxmlformats.org/drawingml/2006/main">
            <a:r>
              <a:t/>
            </a:r>
          </a:p>
          <a:p xmlns:a="http://schemas.openxmlformats.org/drawingml/2006/main">
            <a:r>
              <a:t>Sources (accessed 2026-10-08):</a:t>
            </a:r>
          </a:p>
          <a:p xmlns:a="http://schemas.openxmlformats.org/drawingml/2006/main">
            <a:r>
              <a:t/>
            </a:r>
          </a:p>
          <a:p xmlns:a="http://schemas.openxmlformats.org/drawingml/2006/main">
            <a:r>
              <a:t/>
            </a:r>
          </a:p>
          <a:p xmlns:a="http://schemas.openxmlformats.org/drawingml/2006/main">
            <a:r>
              <a:t>Full evidence and limitations: research.md, spec.md, strategy.md and evidence-register.md in the Green Goods OS decision package. All unmeasured targets and economics are proposals.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3de11e84f4a418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f488783e51c4bb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dd361e60a93459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96b842a96e94cf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66c1afc9746429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19589998b69404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6C0D4E5-E6C4-490E-BDFA-A8213DD3D9A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F31E495-2D3D-49A8-AAA1-C7AA8425A2D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BD3824F-B136-40EA-AC2A-3EC9B9DB60A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D2CEDE4-FDA2-47D0-856C-3409D8E5DBE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74099C4-7C42-4E7A-AE4D-509D75868CF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60BD149-31AA-4956-B032-936A9A38A3A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CA0969F-2376-40C5-90D3-DD6018B14FF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EF593B8-B3E4-4777-941F-C229A07D8D6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A8C4475-6445-45F6-95CF-D66284CF9B0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E982C94-1868-4B1B-A724-A549152AE97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1fac6ee84a04848" /><Relationship Type="http://schemas.openxmlformats.org/officeDocument/2006/relationships/slideLayout" Target="/ppt/slideLayouts/slideLayout1.xml" Id="R37fe1483ee7e4245" /><Relationship Type="http://schemas.openxmlformats.org/officeDocument/2006/relationships/slideLayout" Target="/ppt/slideLayouts/slideLayout2.xml" Id="R9c9d062a0a354e3b" /><Relationship Type="http://schemas.openxmlformats.org/officeDocument/2006/relationships/slideLayout" Target="/ppt/slideLayouts/slideLayout3.xml" Id="Rbc98360e0b7546c3" /><Relationship Type="http://schemas.openxmlformats.org/officeDocument/2006/relationships/slideLayout" Target="/ppt/slideLayouts/slideLayout4.xml" Id="R24009d12fff143ea" /><Relationship Type="http://schemas.openxmlformats.org/officeDocument/2006/relationships/slideLayout" Target="/ppt/slideLayouts/slideLayout5.xml" Id="Rdf728b141e0a4e68" /><Relationship Type="http://schemas.openxmlformats.org/officeDocument/2006/relationships/slideLayout" Target="/ppt/slideLayouts/slideLayout6.xml" Id="R8511a97217c44ad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7fe1483ee7e4245"/>
    <p:sldLayoutId xmlns:r="http://schemas.openxmlformats.org/officeDocument/2006/relationships" id="2147483650" r:id="R9c9d062a0a354e3b"/>
    <p:sldLayoutId xmlns:r="http://schemas.openxmlformats.org/officeDocument/2006/relationships" id="2147483651" r:id="Rbc98360e0b7546c3"/>
    <p:sldLayoutId xmlns:r="http://schemas.openxmlformats.org/officeDocument/2006/relationships" id="2147483652" r:id="R24009d12fff143ea"/>
    <p:sldLayoutId xmlns:r="http://schemas.openxmlformats.org/officeDocument/2006/relationships" id="2147483653" r:id="Rdf728b141e0a4e68"/>
    <p:sldLayoutId xmlns:r="http://schemas.openxmlformats.org/officeDocument/2006/relationships" id="2147483654" r:id="R8511a97217c44ad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09995dd15ef4c18" /><Relationship Type="http://schemas.openxmlformats.org/officeDocument/2006/relationships/image" Target="/ppt/media/image.png" Id="R0c03f29f6f524090" /><Relationship Type="http://schemas.openxmlformats.org/officeDocument/2006/relationships/notesSlide" Target="/ppt/notesSlides/notesSlide1.xml" Id="R13fb063fe2e9461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37a281f34ff44ae" /><Relationship Type="http://schemas.openxmlformats.org/officeDocument/2006/relationships/notesSlide" Target="/ppt/notesSlides/notesSlide2.xml" Id="R8ea6ad53b3fd41d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a0f1f1e4c5a4639" /><Relationship Type="http://schemas.openxmlformats.org/officeDocument/2006/relationships/notesSlide" Target="/ppt/notesSlides/notesSlide3.xml" Id="R9c988fdf3b24407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432f03ef05b4e4c" /><Relationship Type="http://schemas.openxmlformats.org/officeDocument/2006/relationships/notesSlide" Target="/ppt/notesSlides/notesSlide4.xml" Id="Rcc33ee4d8776465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eb5a61946fe4ec6" /><Relationship Type="http://schemas.openxmlformats.org/officeDocument/2006/relationships/notesSlide" Target="/ppt/notesSlides/notesSlide5.xml" Id="Rec4e3a1f9c0e43d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cd177e36df5460f" /><Relationship Type="http://schemas.openxmlformats.org/officeDocument/2006/relationships/notesSlide" Target="/ppt/notesSlides/notesSlide6.xml" Id="Rd9c697a564e449c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8b8865988524af7" /><Relationship Type="http://schemas.openxmlformats.org/officeDocument/2006/relationships/notesSlide" Target="/ppt/notesSlides/notesSlide7.xml" Id="Re0d41e533f8d44c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6fc40651db1416d" /><Relationship Type="http://schemas.openxmlformats.org/officeDocument/2006/relationships/notesSlide" Target="/ppt/notesSlides/notesSlide8.xml" Id="Ra0ed953e80e44795"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95422afb2f942ad" /><Relationship Type="http://schemas.openxmlformats.org/officeDocument/2006/relationships/notesSlide" Target="/ppt/notesSlides/notesSlide9.xml" Id="R53ff2ad16d4a455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503daa9ecdfe4677" /><Relationship Type="http://schemas.openxmlformats.org/officeDocument/2006/relationships/notesSlide" Target="/ppt/notesSlides/notesSlide10.xml" Id="Redf18c29df9d4aa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a294888b3bf84b9b" /><Relationship Type="http://schemas.openxmlformats.org/officeDocument/2006/relationships/notesSlide" Target="/ppt/notesSlides/notesSlide11.xml" Id="Rff444ba9a4d3416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51a7fd5c4fb0482c" /><Relationship Type="http://schemas.openxmlformats.org/officeDocument/2006/relationships/notesSlide" Target="/ppt/notesSlides/notesSlide12.xml" Id="R269bc09d8ac2407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41b7acb8a89b4395" /><Relationship Type="http://schemas.openxmlformats.org/officeDocument/2006/relationships/notesSlide" Target="/ppt/notesSlides/notesSlide13.xml" Id="Ra255de7fca8f4a9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c48ff819eb9045be" /><Relationship Type="http://schemas.openxmlformats.org/officeDocument/2006/relationships/notesSlide" Target="/ppt/notesSlides/notesSlide14.xml" Id="R1260fa8618c1440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f2902371431847c1" /><Relationship Type="http://schemas.openxmlformats.org/officeDocument/2006/relationships/notesSlide" Target="/ppt/notesSlides/notesSlide15.xml" Id="R20b919716b3849f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eb991251c90f4c72" /><Relationship Type="http://schemas.openxmlformats.org/officeDocument/2006/relationships/notesSlide" Target="/ppt/notesSlides/notesSlide16.xml" Id="Rb2d8d88e9c034a8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8adc0635b7ab41c3" /><Relationship Type="http://schemas.openxmlformats.org/officeDocument/2006/relationships/notesSlide" Target="/ppt/notesSlides/notesSlide17.xml" Id="Rbdff4dc53863480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2ee1b334f8eb43cb" /><Relationship Type="http://schemas.openxmlformats.org/officeDocument/2006/relationships/notesSlide" Target="/ppt/notesSlides/notesSlide18.xml" Id="R0cfaeef78e614c15" /></Relationships>
</file>

<file path=ppt/slides/slide1.xml><?xml version="1.0" encoding="utf-8"?>
<p:sld xmlns:p="http://schemas.openxmlformats.org/presentationml/2006/main">
  <p:cSld>
    <p:bg>
      <p:bgPr>
        <a:solidFill xmlns:a="http://schemas.openxmlformats.org/drawingml/2006/main">
          <a:srgbClr val="17382D"/>
        </a:solidFill>
      </p:bgPr>
    </p:b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5F9F6A59-F7F1-4C5B-B772-1D8087D38DDA}"/>
              </a:ext>
            </a:extLst>
          </p:cNvPr>
          <p:cNvPicPr>
            <a:picLocks xmlns:a="http://schemas.openxmlformats.org/drawingml/2006/main" noChangeAspect="1"/>
          </p:cNvPicPr>
          <p:nvPr/>
        </p:nvPicPr>
        <p:blipFill>
          <a:blip xmlns:r="http://schemas.openxmlformats.org/officeDocument/2006/relationships" xmlns:a="http://schemas.openxmlformats.org/drawingml/2006/main" r:embed="R0c03f29f6f524090"/>
          <a:srcRect xmlns:a="http://schemas.openxmlformats.org/drawingml/2006/main" l="0" t="327" r="0" b="327"/>
          <a:stretch xmlns:a="http://schemas.openxmlformats.org/drawingml/2006/main">
            <a:fillRect l="0" t="0" r="0" b="0"/>
          </a:stretch>
        </p:blipFill>
        <p:spPr>
          <a:xfrm xmlns:a="http://schemas.openxmlformats.org/drawingml/2006/main">
            <a:off x="6667500" y="0"/>
            <a:ext cx="55245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E1C6B2B-DC9E-410D-899B-2C4793B141B8}"/>
              </a:ext>
            </a:extLst>
          </p:cNvPr>
          <p:cNvSpPr>
            <a:spLocks xmlns:a="http://schemas.openxmlformats.org/drawingml/2006/main" noGrp="1"/>
          </p:cNvSpPr>
          <p:nvPr/>
        </p:nvSpPr>
        <p:spPr>
          <a:xfrm xmlns:a="http://schemas.openxmlformats.org/drawingml/2006/main">
            <a:off x="609600" y="1143000"/>
            <a:ext cx="5810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950" b="1">
                <a:solidFill>
                  <a:srgbClr val="F5F1E8"/>
                </a:solidFill>
                <a:latin typeface="Helvetica Neue"/>
                <a:ea typeface="Helvetica Neue"/>
                <a:cs typeface="Helvetica Neue"/>
              </a:defRPr>
            </a:defPPr>
          </a:lstStyle>
          <a:p xmlns:a="http://schemas.openxmlformats.org/drawingml/2006/main">
            <a:pPr>
              <a:defRPr sz="4950" b="1">
                <a:solidFill>
                  <a:srgbClr val="F5F1E8"/>
                </a:solidFill>
                <a:latin typeface="Helvetica Neue"/>
                <a:ea typeface="Helvetica Neue"/>
                <a:cs typeface="Helvetica Neue"/>
              </a:defRPr>
            </a:pPr>
            <a:r>
              <a:rPr sz="4950" b="1">
                <a:solidFill>
                  <a:srgbClr val="F5F1E8"/>
                </a:solidFill>
                <a:latin typeface="Helvetica Neue"/>
                <a:ea typeface="Helvetica Neue"/>
                <a:cs typeface="Helvetica Neue"/>
              </a:rPr>
              <a:t>Green Goods OS</a:t>
            </a:r>
          </a:p>
        </p:txBody>
      </p:sp>
      <p:sp>
        <p:nvSpPr>
          <p:cNvPr id="3" name="">
            <a:extLst xmlns:a="http://schemas.openxmlformats.org/drawingml/2006/main">
              <a:ext uri="{FF2B5EF4-FFF2-40B4-BE49-F238E27FC236}">
                <a16:creationId xmlns:a16="http://schemas.microsoft.com/office/drawing/2014/main" id="{F07F4B20-BCEB-4DE6-87B7-33FFED48C605}"/>
              </a:ext>
            </a:extLst>
          </p:cNvPr>
          <p:cNvSpPr>
            <a:spLocks xmlns:a="http://schemas.openxmlformats.org/drawingml/2006/main" noGrp="1"/>
          </p:cNvSpPr>
          <p:nvPr/>
        </p:nvSpPr>
        <p:spPr>
          <a:xfrm xmlns:a="http://schemas.openxmlformats.org/drawingml/2006/main">
            <a:off x="609600" y="2857500"/>
            <a:ext cx="56197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0">
                <a:solidFill>
                  <a:srgbClr val="F5F1E8"/>
                </a:solidFill>
                <a:latin typeface="Helvetica Neue"/>
                <a:ea typeface="Helvetica Neue"/>
                <a:cs typeface="Helvetica Neue"/>
              </a:defRPr>
            </a:defPPr>
          </a:lstStyle>
          <a:p xmlns:a="http://schemas.openxmlformats.org/drawingml/2006/main">
            <a:pPr>
              <a:defRPr sz="2850" b="0">
                <a:solidFill>
                  <a:srgbClr val="F5F1E8"/>
                </a:solidFill>
                <a:latin typeface="Helvetica Neue"/>
                <a:ea typeface="Helvetica Neue"/>
                <a:cs typeface="Helvetica Neue"/>
              </a:defRPr>
            </a:pPr>
            <a:r>
              <a:rPr sz="2850" b="0">
                <a:solidFill>
                  <a:srgbClr val="F5F1E8"/>
                </a:solidFill>
                <a:latin typeface="Helvetica Neue"/>
                <a:ea typeface="Helvetica Neue"/>
                <a:cs typeface="Helvetica Neue"/>
              </a:rPr>
              <a:t>Community knowledge for</a:t>
            </a:r>
          </a:p>
          <a:p xmlns:a="http://schemas.openxmlformats.org/drawingml/2006/main">
            <a:pPr>
              <a:defRPr sz="2850" b="0">
                <a:solidFill>
                  <a:srgbClr val="F5F1E8"/>
                </a:solidFill>
                <a:latin typeface="Helvetica Neue"/>
                <a:ea typeface="Helvetica Neue"/>
                <a:cs typeface="Helvetica Neue"/>
              </a:defRPr>
            </a:pPr>
            <a:r>
              <a:rPr sz="2850" b="0">
                <a:solidFill>
                  <a:srgbClr val="F5F1E8"/>
                </a:solidFill>
                <a:latin typeface="Helvetica Neue"/>
                <a:ea typeface="Helvetica Neue"/>
                <a:cs typeface="Helvetica Neue"/>
              </a:rPr>
              <a:t>everyday land decisions</a:t>
            </a:r>
          </a:p>
        </p:txBody>
      </p:sp>
      <p:sp>
        <p:nvSpPr>
          <p:cNvPr id="4" name="">
            <a:extLst xmlns:a="http://schemas.openxmlformats.org/drawingml/2006/main">
              <a:ext uri="{FF2B5EF4-FFF2-40B4-BE49-F238E27FC236}">
                <a16:creationId xmlns:a16="http://schemas.microsoft.com/office/drawing/2014/main" id="{43E953A5-8183-4D4F-ADBF-0F755FDD0C49}"/>
              </a:ext>
            </a:extLst>
          </p:cNvPr>
          <p:cNvSpPr>
            <a:spLocks xmlns:a="http://schemas.openxmlformats.org/drawingml/2006/main" noGrp="1"/>
          </p:cNvSpPr>
          <p:nvPr/>
        </p:nvSpPr>
        <p:spPr>
          <a:xfrm xmlns:a="http://schemas.openxmlformats.org/drawingml/2006/main">
            <a:off x="609600" y="4810125"/>
            <a:ext cx="54768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DCE5D8"/>
                </a:solidFill>
                <a:latin typeface="Helvetica Neue"/>
                <a:ea typeface="Helvetica Neue"/>
                <a:cs typeface="Helvetica Neue"/>
              </a:defRPr>
            </a:defPPr>
          </a:lstStyle>
          <a:p xmlns:a="http://schemas.openxmlformats.org/drawingml/2006/main">
            <a:pPr>
              <a:defRPr sz="1875" b="0">
                <a:solidFill>
                  <a:srgbClr val="DCE5D8"/>
                </a:solidFill>
                <a:latin typeface="Helvetica Neue"/>
                <a:ea typeface="Helvetica Neue"/>
                <a:cs typeface="Helvetica Neue"/>
              </a:defRPr>
            </a:pPr>
            <a:r>
              <a:rPr sz="1875" b="0">
                <a:solidFill>
                  <a:srgbClr val="DCE5D8"/>
                </a:solidFill>
                <a:latin typeface="Helvetica Neue"/>
                <a:ea typeface="Helvetica Neue"/>
                <a:cs typeface="Helvetica Neue"/>
              </a:rPr>
              <a:t>A focused proposal for the</a:t>
            </a:r>
          </a:p>
          <a:p xmlns:a="http://schemas.openxmlformats.org/drawingml/2006/main">
            <a:pPr>
              <a:defRPr sz="1875" b="0">
                <a:solidFill>
                  <a:srgbClr val="DCE5D8"/>
                </a:solidFill>
                <a:latin typeface="Helvetica Neue"/>
                <a:ea typeface="Helvetica Neue"/>
                <a:cs typeface="Helvetica Neue"/>
              </a:defRPr>
            </a:pPr>
            <a:r>
              <a:rPr sz="1875" b="0">
                <a:solidFill>
                  <a:srgbClr val="DCE5D8"/>
                </a:solidFill>
                <a:latin typeface="Helvetica Neue"/>
                <a:ea typeface="Helvetica Neue"/>
                <a:cs typeface="Helvetica Neue"/>
              </a:rPr>
              <a:t>Green Goods community workspace</a:t>
            </a:r>
          </a:p>
        </p:txBody>
      </p:sp>
      <p:sp>
        <p:nvSpPr>
          <p:cNvPr id="5" name="">
            <a:extLst xmlns:a="http://schemas.openxmlformats.org/drawingml/2006/main">
              <a:ext uri="{FF2B5EF4-FFF2-40B4-BE49-F238E27FC236}">
                <a16:creationId xmlns:a16="http://schemas.microsoft.com/office/drawing/2014/main" id="{123683D4-A83D-4EC3-AD2E-DB9CEED34194}"/>
              </a:ext>
            </a:extLst>
          </p:cNvPr>
          <p:cNvSpPr>
            <a:spLocks xmlns:a="http://schemas.openxmlformats.org/drawingml/2006/main" noGrp="1"/>
          </p:cNvSpPr>
          <p:nvPr/>
        </p:nvSpPr>
        <p:spPr>
          <a:xfrm xmlns:a="http://schemas.openxmlformats.org/drawingml/2006/main">
            <a:off x="609600" y="6181725"/>
            <a:ext cx="547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DCE5D8"/>
                </a:solidFill>
                <a:latin typeface="Helvetica Neue"/>
                <a:ea typeface="Helvetica Neue"/>
                <a:cs typeface="Helvetica Neue"/>
              </a:defRPr>
            </a:defPPr>
          </a:lstStyle>
          <a:p xmlns:a="http://schemas.openxmlformats.org/drawingml/2006/main">
            <a:pPr>
              <a:defRPr sz="1350" b="0">
                <a:solidFill>
                  <a:srgbClr val="DCE5D8"/>
                </a:solidFill>
                <a:latin typeface="Helvetica Neue"/>
                <a:ea typeface="Helvetica Neue"/>
                <a:cs typeface="Helvetica Neue"/>
              </a:defRPr>
            </a:pPr>
            <a:r>
              <a:rPr sz="1350" b="0">
                <a:solidFill>
                  <a:srgbClr val="DCE5D8"/>
                </a:solidFill>
                <a:latin typeface="Helvetica Neue"/>
                <a:ea typeface="Helvetica Neue"/>
                <a:cs typeface="Helvetica Neue"/>
              </a:rPr>
              <a:t>8 October 2026 · Proposed direction</a:t>
            </a:r>
          </a:p>
        </p:txBody>
      </p:sp>
    </p:spTree>
    <p:extLst>
      <p:ext uri="{BB962C8B-B14F-4D97-AF65-F5344CB8AC3E}">
        <p14:creationId xmlns:p14="http://schemas.microsoft.com/office/powerpoint/2010/main" val="1862878088"/>
      </p:ext>
    </p:extLst>
  </p:cSld>
</p:sld>
</file>

<file path=ppt/slides/slide2.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EC5DB79-8E77-4C07-9A06-DC72DDF29ACF}"/>
              </a:ext>
            </a:extLst>
          </p:cNvPr>
          <p:cNvSpPr>
            <a:spLocks xmlns:a="http://schemas.openxmlformats.org/drawingml/2006/main" noGrp="1"/>
          </p:cNvSpPr>
          <p:nvPr/>
        </p:nvSpPr>
        <p:spPr>
          <a:xfrm xmlns:a="http://schemas.openxmlformats.org/drawingml/2006/main">
            <a:off x="609600" y="49530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382D"/>
                </a:solidFill>
                <a:latin typeface="Helvetica Neue"/>
                <a:ea typeface="Helvetica Neue"/>
                <a:cs typeface="Helvetica Neue"/>
              </a:defRPr>
            </a:defPPr>
          </a:lstStyle>
          <a:p xmlns:a="http://schemas.openxmlformats.org/drawingml/2006/main">
            <a:pPr>
              <a:defRPr sz="3300" b="1">
                <a:solidFill>
                  <a:srgbClr val="17382D"/>
                </a:solidFill>
                <a:latin typeface="Helvetica Neue"/>
                <a:ea typeface="Helvetica Neue"/>
                <a:cs typeface="Helvetica Neue"/>
              </a:defRPr>
            </a:pPr>
            <a:r>
              <a:rPr sz="3300" b="1">
                <a:solidFill>
                  <a:srgbClr val="17382D"/>
                </a:solidFill>
                <a:latin typeface="Helvetica Neue"/>
                <a:ea typeface="Helvetica Neue"/>
                <a:cs typeface="Helvetica Neue"/>
              </a:rPr>
              <a:t>The costly gap: continuity between observations</a:t>
            </a:r>
          </a:p>
        </p:txBody>
      </p:sp>
      <p:sp>
        <p:nvSpPr>
          <p:cNvPr id="2" name="">
            <a:extLst xmlns:a="http://schemas.openxmlformats.org/drawingml/2006/main">
              <a:ext uri="{FF2B5EF4-FFF2-40B4-BE49-F238E27FC236}">
                <a16:creationId xmlns:a16="http://schemas.microsoft.com/office/drawing/2014/main" id="{4A60BA72-3F03-4E9B-A1A7-1BC68DF0A3C6}"/>
              </a:ext>
            </a:extLst>
          </p:cNvPr>
          <p:cNvSpPr>
            <a:spLocks xmlns:a="http://schemas.openxmlformats.org/drawingml/2006/main" noGrp="1"/>
          </p:cNvSpPr>
          <p:nvPr/>
        </p:nvSpPr>
        <p:spPr>
          <a:xfrm xmlns:a="http://schemas.openxmlformats.org/drawingml/2006/main">
            <a:off x="609600" y="624840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3645A"/>
                </a:solidFill>
                <a:latin typeface="Helvetica Neue"/>
                <a:ea typeface="Helvetica Neue"/>
                <a:cs typeface="Helvetica Neue"/>
              </a:defRPr>
            </a:defPPr>
          </a:lstStyle>
          <a:p xmlns:a="http://schemas.openxmlformats.org/drawingml/2006/main">
            <a:pPr>
              <a:defRPr sz="1275" b="0">
                <a:solidFill>
                  <a:srgbClr val="53645A"/>
                </a:solidFill>
                <a:latin typeface="Helvetica Neue"/>
                <a:ea typeface="Helvetica Neue"/>
                <a:cs typeface="Helvetica Neue"/>
              </a:defRPr>
            </a:pPr>
            <a:r>
              <a:rPr sz="1275" b="0">
                <a:solidFill>
                  <a:srgbClr val="53645A"/>
                </a:solidFill>
                <a:latin typeface="Helvetica Neue"/>
                <a:ea typeface="Helvetica Neue"/>
                <a:cs typeface="Helvetica Neue"/>
              </a:rPr>
              <a:t>Problem hypothesis · Current effort and cost remain unmeasured</a:t>
            </a:r>
          </a:p>
        </p:txBody>
      </p:sp>
      <p:sp>
        <p:nvSpPr>
          <p:cNvPr id="3" name="">
            <a:extLst xmlns:a="http://schemas.openxmlformats.org/drawingml/2006/main">
              <a:ext uri="{FF2B5EF4-FFF2-40B4-BE49-F238E27FC236}">
                <a16:creationId xmlns:a16="http://schemas.microsoft.com/office/drawing/2014/main" id="{5FF367B1-BB07-4B43-89E1-2C11C835F46D}"/>
              </a:ext>
            </a:extLst>
          </p:cNvPr>
          <p:cNvSpPr>
            <a:spLocks xmlns:a="http://schemas.openxmlformats.org/drawingml/2006/main" noGrp="1"/>
          </p:cNvSpPr>
          <p:nvPr/>
        </p:nvSpPr>
        <p:spPr>
          <a:xfrm xmlns:a="http://schemas.openxmlformats.org/drawingml/2006/main">
            <a:off x="11049000" y="6248400"/>
            <a:ext cx="45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3645A"/>
                </a:solidFill>
                <a:latin typeface="Helvetica Neue"/>
                <a:ea typeface="Helvetica Neue"/>
                <a:cs typeface="Helvetica Neue"/>
              </a:defRPr>
            </a:defPPr>
          </a:lstStyle>
          <a:p xmlns:a="http://schemas.openxmlformats.org/drawingml/2006/main">
            <a:pPr>
              <a:defRPr sz="1275" b="0">
                <a:solidFill>
                  <a:srgbClr val="53645A"/>
                </a:solidFill>
                <a:latin typeface="Helvetica Neue"/>
                <a:ea typeface="Helvetica Neue"/>
                <a:cs typeface="Helvetica Neue"/>
              </a:defRPr>
            </a:pPr>
            <a:r>
              <a:rPr sz="1275" b="0">
                <a:solidFill>
                  <a:srgbClr val="53645A"/>
                </a:solidFill>
                <a:latin typeface="Helvetica Neue"/>
                <a:ea typeface="Helvetica Neue"/>
                <a:cs typeface="Helvetica Neue"/>
              </a:rPr>
              <a:t>2</a:t>
            </a:r>
          </a:p>
        </p:txBody>
      </p:sp>
      <p:sp>
        <p:nvSpPr>
          <p:cNvPr id="4" name="">
            <a:extLst xmlns:a="http://schemas.openxmlformats.org/drawingml/2006/main">
              <a:ext uri="{FF2B5EF4-FFF2-40B4-BE49-F238E27FC236}">
                <a16:creationId xmlns:a16="http://schemas.microsoft.com/office/drawing/2014/main" id="{5C8B5036-F36C-474A-B53C-0075BE9096EB}"/>
              </a:ext>
            </a:extLst>
          </p:cNvPr>
          <p:cNvSpPr>
            <a:spLocks xmlns:a="http://schemas.openxmlformats.org/drawingml/2006/main" noGrp="1"/>
          </p:cNvSpPr>
          <p:nvPr/>
        </p:nvSpPr>
        <p:spPr>
          <a:xfrm xmlns:a="http://schemas.openxmlformats.org/drawingml/2006/main">
            <a:off x="609600" y="2000250"/>
            <a:ext cx="10096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17382D"/>
                </a:solidFill>
                <a:latin typeface="Helvetica Neue"/>
                <a:ea typeface="Helvetica Neue"/>
                <a:cs typeface="Helvetica Neue"/>
              </a:defRPr>
            </a:defPPr>
          </a:lstStyle>
          <a:p xmlns:a="http://schemas.openxmlformats.org/drawingml/2006/main">
            <a:pPr>
              <a:defRPr sz="3600" b="1">
                <a:solidFill>
                  <a:srgbClr val="17382D"/>
                </a:solidFill>
                <a:latin typeface="Helvetica Neue"/>
                <a:ea typeface="Helvetica Neue"/>
                <a:cs typeface="Helvetica Neue"/>
              </a:defRPr>
            </a:pPr>
            <a:r>
              <a:rPr sz="3600" b="1">
                <a:solidFill>
                  <a:srgbClr val="17382D"/>
                </a:solidFill>
                <a:latin typeface="Helvetica Neue"/>
                <a:ea typeface="Helvetica Neue"/>
                <a:cs typeface="Helvetica Neue"/>
              </a:rPr>
              <a:t>What changed in this bed—</a:t>
            </a:r>
          </a:p>
          <a:p xmlns:a="http://schemas.openxmlformats.org/drawingml/2006/main">
            <a:pPr>
              <a:defRPr sz="3600" b="1">
                <a:solidFill>
                  <a:srgbClr val="17382D"/>
                </a:solidFill>
                <a:latin typeface="Helvetica Neue"/>
                <a:ea typeface="Helvetica Neue"/>
                <a:cs typeface="Helvetica Neue"/>
              </a:defRPr>
            </a:pPr>
            <a:r>
              <a:rPr sz="3600" b="1">
                <a:solidFill>
                  <a:srgbClr val="17382D"/>
                </a:solidFill>
                <a:latin typeface="Helvetica Neue"/>
                <a:ea typeface="Helvetica Neue"/>
                <a:cs typeface="Helvetica Neue"/>
              </a:rPr>
              <a:t>and what should we check next?</a:t>
            </a:r>
          </a:p>
        </p:txBody>
      </p:sp>
      <p:sp>
        <p:nvSpPr>
          <p:cNvPr id="5" name="">
            <a:extLst xmlns:a="http://schemas.openxmlformats.org/drawingml/2006/main">
              <a:ext uri="{FF2B5EF4-FFF2-40B4-BE49-F238E27FC236}">
                <a16:creationId xmlns:a16="http://schemas.microsoft.com/office/drawing/2014/main" id="{35742D65-2079-4C49-961A-90AE5195D23C}"/>
              </a:ext>
            </a:extLst>
          </p:cNvPr>
          <p:cNvSpPr>
            <a:spLocks xmlns:a="http://schemas.openxmlformats.org/drawingml/2006/main" noGrp="1"/>
          </p:cNvSpPr>
          <p:nvPr/>
        </p:nvSpPr>
        <p:spPr>
          <a:xfrm xmlns:a="http://schemas.openxmlformats.org/drawingml/2006/main">
            <a:off x="609600" y="3914775"/>
            <a:ext cx="3276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17382D"/>
                </a:solidFill>
                <a:latin typeface="Helvetica Neue"/>
                <a:ea typeface="Helvetica Neue"/>
                <a:cs typeface="Helvetica Neue"/>
              </a:defRPr>
            </a:defPPr>
          </a:lstStyle>
          <a:p xmlns:a="http://schemas.openxmlformats.org/drawingml/2006/main">
            <a:pPr>
              <a:defRPr sz="2025" b="1">
                <a:solidFill>
                  <a:srgbClr val="17382D"/>
                </a:solidFill>
                <a:latin typeface="Helvetica Neue"/>
                <a:ea typeface="Helvetica Neue"/>
                <a:cs typeface="Helvetica Neue"/>
              </a:defRPr>
            </a:pPr>
            <a:r>
              <a:rPr sz="2025" b="1">
                <a:solidFill>
                  <a:srgbClr val="17382D"/>
                </a:solidFill>
                <a:latin typeface="Helvetica Neue"/>
                <a:ea typeface="Helvetica Neue"/>
                <a:cs typeface="Helvetica Neue"/>
              </a:rPr>
              <a:t>Lost context</a:t>
            </a:r>
          </a:p>
        </p:txBody>
      </p:sp>
      <p:sp>
        <p:nvSpPr>
          <p:cNvPr id="6" name="">
            <a:extLst xmlns:a="http://schemas.openxmlformats.org/drawingml/2006/main">
              <a:ext uri="{FF2B5EF4-FFF2-40B4-BE49-F238E27FC236}">
                <a16:creationId xmlns:a16="http://schemas.microsoft.com/office/drawing/2014/main" id="{1FED2559-298F-45D9-B0F4-118694E5A652}"/>
              </a:ext>
            </a:extLst>
          </p:cNvPr>
          <p:cNvSpPr>
            <a:spLocks xmlns:a="http://schemas.openxmlformats.org/drawingml/2006/main" noGrp="1"/>
          </p:cNvSpPr>
          <p:nvPr/>
        </p:nvSpPr>
        <p:spPr>
          <a:xfrm xmlns:a="http://schemas.openxmlformats.org/drawingml/2006/main">
            <a:off x="609600" y="4819650"/>
            <a:ext cx="3276600"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17382D"/>
                </a:solidFill>
                <a:latin typeface="Helvetica Neue"/>
                <a:ea typeface="Helvetica Neue"/>
                <a:cs typeface="Helvetica Neue"/>
              </a:defRPr>
            </a:defPPr>
          </a:lstStyle>
          <a:p xmlns:a="http://schemas.openxmlformats.org/drawingml/2006/main">
            <a:pPr>
              <a:defRPr sz="1875" b="0">
                <a:solidFill>
                  <a:srgbClr val="17382D"/>
                </a:solidFill>
                <a:latin typeface="Helvetica Neue"/>
                <a:ea typeface="Helvetica Neue"/>
                <a:cs typeface="Helvetica Neue"/>
              </a:defRPr>
            </a:pPr>
            <a:r>
              <a:rPr sz="1875" b="0">
                <a:solidFill>
                  <a:srgbClr val="17382D"/>
                </a:solidFill>
                <a:latin typeface="Helvetica Neue"/>
                <a:ea typeface="Helvetica Neue"/>
                <a:cs typeface="Helvetica Neue"/>
              </a:rPr>
              <a:t>A reading without placement,</a:t>
            </a:r>
          </a:p>
          <a:p xmlns:a="http://schemas.openxmlformats.org/drawingml/2006/main">
            <a:pPr>
              <a:defRPr sz="1875" b="0">
                <a:solidFill>
                  <a:srgbClr val="17382D"/>
                </a:solidFill>
                <a:latin typeface="Helvetica Neue"/>
                <a:ea typeface="Helvetica Neue"/>
                <a:cs typeface="Helvetica Neue"/>
              </a:defRPr>
            </a:pPr>
            <a:r>
              <a:rPr sz="1875" b="0">
                <a:solidFill>
                  <a:srgbClr val="17382D"/>
                </a:solidFill>
                <a:latin typeface="Helvetica Neue"/>
                <a:ea typeface="Helvetica Neue"/>
                <a:cs typeface="Helvetica Neue"/>
              </a:rPr>
              <a:t>time or maintenance history.</a:t>
            </a:r>
          </a:p>
        </p:txBody>
      </p:sp>
      <p:sp>
        <p:nvSpPr>
          <p:cNvPr id="7" name="">
            <a:extLst xmlns:a="http://schemas.openxmlformats.org/drawingml/2006/main">
              <a:ext uri="{FF2B5EF4-FFF2-40B4-BE49-F238E27FC236}">
                <a16:creationId xmlns:a16="http://schemas.microsoft.com/office/drawing/2014/main" id="{DF28C946-DF47-40E3-888B-592C33F46E32}"/>
              </a:ext>
            </a:extLst>
          </p:cNvPr>
          <p:cNvSpPr>
            <a:spLocks xmlns:a="http://schemas.openxmlformats.org/drawingml/2006/main" noGrp="1"/>
          </p:cNvSpPr>
          <p:nvPr/>
        </p:nvSpPr>
        <p:spPr>
          <a:xfrm xmlns:a="http://schemas.openxmlformats.org/drawingml/2006/main">
            <a:off x="4419600" y="3914775"/>
            <a:ext cx="3276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17382D"/>
                </a:solidFill>
                <a:latin typeface="Helvetica Neue"/>
                <a:ea typeface="Helvetica Neue"/>
                <a:cs typeface="Helvetica Neue"/>
              </a:defRPr>
            </a:defPPr>
          </a:lstStyle>
          <a:p xmlns:a="http://schemas.openxmlformats.org/drawingml/2006/main">
            <a:pPr>
              <a:defRPr sz="2025" b="1">
                <a:solidFill>
                  <a:srgbClr val="17382D"/>
                </a:solidFill>
                <a:latin typeface="Helvetica Neue"/>
                <a:ea typeface="Helvetica Neue"/>
                <a:cs typeface="Helvetica Neue"/>
              </a:defRPr>
            </a:pPr>
            <a:r>
              <a:rPr sz="2025" b="1">
                <a:solidFill>
                  <a:srgbClr val="17382D"/>
                </a:solidFill>
                <a:latin typeface="Helvetica Neue"/>
                <a:ea typeface="Helvetica Neue"/>
                <a:cs typeface="Helvetica Neue"/>
              </a:rPr>
              <a:t>Repeated effort</a:t>
            </a:r>
          </a:p>
        </p:txBody>
      </p:sp>
      <p:sp>
        <p:nvSpPr>
          <p:cNvPr id="8" name="">
            <a:extLst xmlns:a="http://schemas.openxmlformats.org/drawingml/2006/main">
              <a:ext uri="{FF2B5EF4-FFF2-40B4-BE49-F238E27FC236}">
                <a16:creationId xmlns:a16="http://schemas.microsoft.com/office/drawing/2014/main" id="{DD9A02A7-82EC-4CF5-BB74-731FD1C05BAE}"/>
              </a:ext>
            </a:extLst>
          </p:cNvPr>
          <p:cNvSpPr>
            <a:spLocks xmlns:a="http://schemas.openxmlformats.org/drawingml/2006/main" noGrp="1"/>
          </p:cNvSpPr>
          <p:nvPr/>
        </p:nvSpPr>
        <p:spPr>
          <a:xfrm xmlns:a="http://schemas.openxmlformats.org/drawingml/2006/main">
            <a:off x="4419600" y="4819650"/>
            <a:ext cx="3276600"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17382D"/>
                </a:solidFill>
                <a:latin typeface="Helvetica Neue"/>
                <a:ea typeface="Helvetica Neue"/>
                <a:cs typeface="Helvetica Neue"/>
              </a:defRPr>
            </a:defPPr>
          </a:lstStyle>
          <a:p xmlns:a="http://schemas.openxmlformats.org/drawingml/2006/main">
            <a:pPr>
              <a:defRPr sz="1875" b="0">
                <a:solidFill>
                  <a:srgbClr val="17382D"/>
                </a:solidFill>
                <a:latin typeface="Helvetica Neue"/>
                <a:ea typeface="Helvetica Neue"/>
                <a:cs typeface="Helvetica Neue"/>
              </a:defRPr>
            </a:pPr>
            <a:r>
              <a:rPr sz="1875" b="0">
                <a:solidFill>
                  <a:srgbClr val="17382D"/>
                </a:solidFill>
                <a:latin typeface="Helvetica Neue"/>
                <a:ea typeface="Helvetica Neue"/>
                <a:cs typeface="Helvetica Neue"/>
              </a:rPr>
              <a:t>Another steward reconstructs</a:t>
            </a:r>
          </a:p>
          <a:p xmlns:a="http://schemas.openxmlformats.org/drawingml/2006/main">
            <a:pPr>
              <a:defRPr sz="1875" b="0">
                <a:solidFill>
                  <a:srgbClr val="17382D"/>
                </a:solidFill>
                <a:latin typeface="Helvetica Neue"/>
                <a:ea typeface="Helvetica Neue"/>
                <a:cs typeface="Helvetica Neue"/>
              </a:defRPr>
            </a:pPr>
            <a:r>
              <a:rPr sz="1875" b="0">
                <a:solidFill>
                  <a:srgbClr val="17382D"/>
                </a:solidFill>
                <a:latin typeface="Helvetica Neue"/>
                <a:ea typeface="Helvetica Neue"/>
                <a:cs typeface="Helvetica Neue"/>
              </a:rPr>
              <a:t>what happened and why.</a:t>
            </a:r>
          </a:p>
        </p:txBody>
      </p:sp>
      <p:sp>
        <p:nvSpPr>
          <p:cNvPr id="9" name="">
            <a:extLst xmlns:a="http://schemas.openxmlformats.org/drawingml/2006/main">
              <a:ext uri="{FF2B5EF4-FFF2-40B4-BE49-F238E27FC236}">
                <a16:creationId xmlns:a16="http://schemas.microsoft.com/office/drawing/2014/main" id="{19D4A4B6-0EBC-4250-BAEE-33509C6228DE}"/>
              </a:ext>
            </a:extLst>
          </p:cNvPr>
          <p:cNvSpPr>
            <a:spLocks xmlns:a="http://schemas.openxmlformats.org/drawingml/2006/main" noGrp="1"/>
          </p:cNvSpPr>
          <p:nvPr/>
        </p:nvSpPr>
        <p:spPr>
          <a:xfrm xmlns:a="http://schemas.openxmlformats.org/drawingml/2006/main">
            <a:off x="8229600" y="3914775"/>
            <a:ext cx="3276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17382D"/>
                </a:solidFill>
                <a:latin typeface="Helvetica Neue"/>
                <a:ea typeface="Helvetica Neue"/>
                <a:cs typeface="Helvetica Neue"/>
              </a:defRPr>
            </a:defPPr>
          </a:lstStyle>
          <a:p xmlns:a="http://schemas.openxmlformats.org/drawingml/2006/main">
            <a:pPr>
              <a:defRPr sz="2025" b="1">
                <a:solidFill>
                  <a:srgbClr val="17382D"/>
                </a:solidFill>
                <a:latin typeface="Helvetica Neue"/>
                <a:ea typeface="Helvetica Neue"/>
                <a:cs typeface="Helvetica Neue"/>
              </a:defRPr>
            </a:pPr>
            <a:r>
              <a:rPr sz="2025" b="1">
                <a:solidFill>
                  <a:srgbClr val="17382D"/>
                </a:solidFill>
                <a:latin typeface="Helvetica Neue"/>
                <a:ea typeface="Helvetica Neue"/>
                <a:cs typeface="Helvetica Neue"/>
              </a:rPr>
              <a:t>Weak handovers</a:t>
            </a:r>
          </a:p>
        </p:txBody>
      </p:sp>
      <p:sp>
        <p:nvSpPr>
          <p:cNvPr id="10" name="">
            <a:extLst xmlns:a="http://schemas.openxmlformats.org/drawingml/2006/main">
              <a:ext uri="{FF2B5EF4-FFF2-40B4-BE49-F238E27FC236}">
                <a16:creationId xmlns:a16="http://schemas.microsoft.com/office/drawing/2014/main" id="{1BDD3FA7-2F80-4C22-A41E-C9CCF8D47380}"/>
              </a:ext>
            </a:extLst>
          </p:cNvPr>
          <p:cNvSpPr>
            <a:spLocks xmlns:a="http://schemas.openxmlformats.org/drawingml/2006/main" noGrp="1"/>
          </p:cNvSpPr>
          <p:nvPr/>
        </p:nvSpPr>
        <p:spPr>
          <a:xfrm xmlns:a="http://schemas.openxmlformats.org/drawingml/2006/main">
            <a:off x="8229600" y="4819650"/>
            <a:ext cx="3276600"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17382D"/>
                </a:solidFill>
                <a:latin typeface="Helvetica Neue"/>
                <a:ea typeface="Helvetica Neue"/>
                <a:cs typeface="Helvetica Neue"/>
              </a:defRPr>
            </a:defPPr>
          </a:lstStyle>
          <a:p xmlns:a="http://schemas.openxmlformats.org/drawingml/2006/main">
            <a:pPr>
              <a:defRPr sz="1875" b="0">
                <a:solidFill>
                  <a:srgbClr val="17382D"/>
                </a:solidFill>
                <a:latin typeface="Helvetica Neue"/>
                <a:ea typeface="Helvetica Neue"/>
                <a:cs typeface="Helvetica Neue"/>
              </a:defRPr>
            </a:pPr>
            <a:r>
              <a:rPr sz="1875" b="0">
                <a:solidFill>
                  <a:srgbClr val="17382D"/>
                </a:solidFill>
                <a:latin typeface="Helvetica Neue"/>
                <a:ea typeface="Helvetica Neue"/>
                <a:cs typeface="Helvetica Neue"/>
              </a:rPr>
              <a:t>The record reaches a report</a:t>
            </a:r>
          </a:p>
          <a:p xmlns:a="http://schemas.openxmlformats.org/drawingml/2006/main">
            <a:pPr>
              <a:defRPr sz="1875" b="0">
                <a:solidFill>
                  <a:srgbClr val="17382D"/>
                </a:solidFill>
                <a:latin typeface="Helvetica Neue"/>
                <a:ea typeface="Helvetica Neue"/>
                <a:cs typeface="Helvetica Neue"/>
              </a:defRPr>
            </a:pPr>
            <a:r>
              <a:rPr sz="1875" b="0">
                <a:solidFill>
                  <a:srgbClr val="17382D"/>
                </a:solidFill>
                <a:latin typeface="Helvetica Neue"/>
                <a:ea typeface="Helvetica Neue"/>
                <a:cs typeface="Helvetica Neue"/>
              </a:rPr>
              <a:t>but does not help tomorrow.</a:t>
            </a:r>
          </a:p>
        </p:txBody>
      </p:sp>
    </p:spTree>
    <p:extLst>
      <p:ext uri="{BB962C8B-B14F-4D97-AF65-F5344CB8AC3E}">
        <p14:creationId xmlns:p14="http://schemas.microsoft.com/office/powerpoint/2010/main" val="828766128"/>
      </p:ext>
    </p:extLst>
  </p:cSld>
</p:sld>
</file>

<file path=ppt/slides/slide3.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4CF34EE-442A-4AE9-9993-D66856CED49D}"/>
              </a:ext>
            </a:extLst>
          </p:cNvPr>
          <p:cNvSpPr>
            <a:spLocks xmlns:a="http://schemas.openxmlformats.org/drawingml/2006/main" noGrp="1"/>
          </p:cNvSpPr>
          <p:nvPr/>
        </p:nvSpPr>
        <p:spPr>
          <a:xfrm xmlns:a="http://schemas.openxmlformats.org/drawingml/2006/main">
            <a:off x="609600" y="49530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382D"/>
                </a:solidFill>
                <a:latin typeface="Helvetica Neue"/>
                <a:ea typeface="Helvetica Neue"/>
                <a:cs typeface="Helvetica Neue"/>
              </a:defRPr>
            </a:defPPr>
          </a:lstStyle>
          <a:p xmlns:a="http://schemas.openxmlformats.org/drawingml/2006/main">
            <a:pPr>
              <a:defRPr sz="3300" b="1">
                <a:solidFill>
                  <a:srgbClr val="17382D"/>
                </a:solidFill>
                <a:latin typeface="Helvetica Neue"/>
                <a:ea typeface="Helvetica Neue"/>
                <a:cs typeface="Helvetica Neue"/>
              </a:defRPr>
            </a:pPr>
            <a:r>
              <a:rPr sz="3300" b="1">
                <a:solidFill>
                  <a:srgbClr val="17382D"/>
                </a:solidFill>
                <a:latin typeface="Helvetica Neue"/>
                <a:ea typeface="Helvetica Neue"/>
                <a:cs typeface="Helvetica Neue"/>
              </a:rPr>
              <a:t>First user and buyer</a:t>
            </a:r>
          </a:p>
        </p:txBody>
      </p:sp>
      <p:sp>
        <p:nvSpPr>
          <p:cNvPr id="2" name="">
            <a:extLst xmlns:a="http://schemas.openxmlformats.org/drawingml/2006/main">
              <a:ext uri="{FF2B5EF4-FFF2-40B4-BE49-F238E27FC236}">
                <a16:creationId xmlns:a16="http://schemas.microsoft.com/office/drawing/2014/main" id="{FDCA1018-CD2A-487D-B59D-A38EF66792B4}"/>
              </a:ext>
            </a:extLst>
          </p:cNvPr>
          <p:cNvSpPr>
            <a:spLocks xmlns:a="http://schemas.openxmlformats.org/drawingml/2006/main" noGrp="1"/>
          </p:cNvSpPr>
          <p:nvPr/>
        </p:nvSpPr>
        <p:spPr>
          <a:xfrm xmlns:a="http://schemas.openxmlformats.org/drawingml/2006/main">
            <a:off x="609600" y="624840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3645A"/>
                </a:solidFill>
                <a:latin typeface="Helvetica Neue"/>
                <a:ea typeface="Helvetica Neue"/>
                <a:cs typeface="Helvetica Neue"/>
              </a:defRPr>
            </a:defPPr>
          </a:lstStyle>
          <a:p xmlns:a="http://schemas.openxmlformats.org/drawingml/2006/main">
            <a:pPr>
              <a:defRPr sz="1275" b="0">
                <a:solidFill>
                  <a:srgbClr val="53645A"/>
                </a:solidFill>
                <a:latin typeface="Helvetica Neue"/>
                <a:ea typeface="Helvetica Neue"/>
                <a:cs typeface="Helvetica Neue"/>
              </a:defRPr>
            </a:pPr>
            <a:r>
              <a:rPr sz="1275" b="0">
                <a:solidFill>
                  <a:srgbClr val="53645A"/>
                </a:solidFill>
                <a:latin typeface="Helvetica Neue"/>
                <a:ea typeface="Helvetica Neue"/>
                <a:cs typeface="Helvetica Neue"/>
              </a:rPr>
              <a:t>Customer hypothesis · Global South community pilot · Validate through interviews</a:t>
            </a:r>
          </a:p>
        </p:txBody>
      </p:sp>
      <p:sp>
        <p:nvSpPr>
          <p:cNvPr id="3" name="">
            <a:extLst xmlns:a="http://schemas.openxmlformats.org/drawingml/2006/main">
              <a:ext uri="{FF2B5EF4-FFF2-40B4-BE49-F238E27FC236}">
                <a16:creationId xmlns:a16="http://schemas.microsoft.com/office/drawing/2014/main" id="{2EE70265-B685-4B50-B878-47592E591571}"/>
              </a:ext>
            </a:extLst>
          </p:cNvPr>
          <p:cNvSpPr>
            <a:spLocks xmlns:a="http://schemas.openxmlformats.org/drawingml/2006/main" noGrp="1"/>
          </p:cNvSpPr>
          <p:nvPr/>
        </p:nvSpPr>
        <p:spPr>
          <a:xfrm xmlns:a="http://schemas.openxmlformats.org/drawingml/2006/main">
            <a:off x="11049000" y="6248400"/>
            <a:ext cx="45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3645A"/>
                </a:solidFill>
                <a:latin typeface="Helvetica Neue"/>
                <a:ea typeface="Helvetica Neue"/>
                <a:cs typeface="Helvetica Neue"/>
              </a:defRPr>
            </a:defPPr>
          </a:lstStyle>
          <a:p xmlns:a="http://schemas.openxmlformats.org/drawingml/2006/main">
            <a:pPr>
              <a:defRPr sz="1275" b="0">
                <a:solidFill>
                  <a:srgbClr val="53645A"/>
                </a:solidFill>
                <a:latin typeface="Helvetica Neue"/>
                <a:ea typeface="Helvetica Neue"/>
                <a:cs typeface="Helvetica Neue"/>
              </a:defRPr>
            </a:pPr>
            <a:r>
              <a:rPr sz="1275" b="0">
                <a:solidFill>
                  <a:srgbClr val="53645A"/>
                </a:solidFill>
                <a:latin typeface="Helvetica Neue"/>
                <a:ea typeface="Helvetica Neue"/>
                <a:cs typeface="Helvetica Neue"/>
              </a:rPr>
              <a:t>3</a:t>
            </a:r>
          </a:p>
        </p:txBody>
      </p:sp>
      <p:sp>
        <p:nvSpPr>
          <p:cNvPr id="4" name="">
            <a:extLst xmlns:a="http://schemas.openxmlformats.org/drawingml/2006/main">
              <a:ext uri="{FF2B5EF4-FFF2-40B4-BE49-F238E27FC236}">
                <a16:creationId xmlns:a16="http://schemas.microsoft.com/office/drawing/2014/main" id="{4BF81809-B206-4E35-8FBB-3630F5A401C1}"/>
              </a:ext>
            </a:extLst>
          </p:cNvPr>
          <p:cNvSpPr>
            <a:spLocks xmlns:a="http://schemas.openxmlformats.org/drawingml/2006/main" noGrp="1"/>
          </p:cNvSpPr>
          <p:nvPr/>
        </p:nvSpPr>
        <p:spPr>
          <a:xfrm xmlns:a="http://schemas.openxmlformats.org/drawingml/2006/main">
            <a:off x="609600" y="1724025"/>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7382D"/>
                </a:solidFill>
                <a:latin typeface="Helvetica Neue"/>
                <a:ea typeface="Helvetica Neue"/>
                <a:cs typeface="Helvetica Neue"/>
              </a:defRPr>
            </a:defPPr>
          </a:lstStyle>
          <a:p xmlns:a="http://schemas.openxmlformats.org/drawingml/2006/main">
            <a:pPr>
              <a:defRPr sz="2325" b="1">
                <a:solidFill>
                  <a:srgbClr val="17382D"/>
                </a:solidFill>
                <a:latin typeface="Helvetica Neue"/>
                <a:ea typeface="Helvetica Neue"/>
                <a:cs typeface="Helvetica Neue"/>
              </a:defRPr>
            </a:pPr>
            <a:r>
              <a:rPr sz="2325" b="1">
                <a:solidFill>
                  <a:srgbClr val="17382D"/>
                </a:solidFill>
                <a:latin typeface="Helvetica Neue"/>
                <a:ea typeface="Helvetica Neue"/>
                <a:cs typeface="Helvetica Neue"/>
              </a:rPr>
              <a:t>User: community nursery steward</a:t>
            </a:r>
          </a:p>
          <a:p xmlns:a="http://schemas.openxmlformats.org/drawingml/2006/main">
            <a:pPr>
              <a:defRPr sz="2325" b="1">
                <a:solidFill>
                  <a:srgbClr val="17382D"/>
                </a:solidFill>
                <a:latin typeface="Helvetica Neue"/>
                <a:ea typeface="Helvetica Neue"/>
                <a:cs typeface="Helvetica Neue"/>
              </a:defRPr>
            </a:pPr>
            <a:r>
              <a:rPr sz="2325" b="1">
                <a:solidFill>
                  <a:srgbClr val="17382D"/>
                </a:solidFill>
                <a:latin typeface="Helvetica Neue"/>
                <a:ea typeface="Helvetica Neue"/>
                <a:cs typeface="Helvetica Neue"/>
              </a:rPr>
              <a:t>Buyer: NGO or cooperative program coordinator</a:t>
            </a:r>
          </a:p>
        </p:txBody>
      </p:sp>
      <p:graphicFrame>
        <p:nvGraphicFramePr>
          <p:cNvPr id="5" name="">
            <a:extLst xmlns:a="http://schemas.openxmlformats.org/drawingml/2006/main">
              <a:ext uri="{FF2B5EF4-FFF2-40B4-BE49-F238E27FC236}">
                <a16:creationId xmlns:a16="http://schemas.microsoft.com/office/drawing/2014/main" id="{19ECCF26-9FC6-4787-8BF6-D80652CD1258}"/>
              </a:ext>
            </a:extLst>
          </p:cNvPr>
          <p:cNvGraphicFramePr/>
          <p:nvPr/>
        </p:nvGraphicFramePr>
        <p:xfrm>
          <a:off xmlns:a="http://schemas.openxmlformats.org/drawingml/2006/main" x="609600" y="3095625"/>
          <a:ext xmlns:a="http://schemas.openxmlformats.org/drawingml/2006/main" cx="10972800" cy="2524125"/>
        </p:xfrm>
        <a:graphic xmlns:a="http://schemas.openxmlformats.org/drawingml/2006/main">
          <a:graphicData uri="http://schemas.openxmlformats.org/drawingml/2006/table">
            <a:tbl>
              <a:tblPr/>
              <a:tblGrid>
                <a:gridCol w="4095750"/>
                <a:gridCol w="6877050"/>
              </a:tblGrid>
              <a:tr h="631031">
                <a:tc>
                  <a:txBody>
                    <a:bodyPr wrap="square" lIns="171450" tIns="95250" rIns="171450" bIns="95250">
                      <a:noAutofit/>
                    </a:bodyPr>
                    <a:lstStyle/>
                    <a:p>
                      <a:r>
                        <a:rPr sz="1800" b="1">
                          <a:solidFill>
                            <a:srgbClr val="FFFFFF"/>
                          </a:solidFill>
                          <a:latin typeface="Helvetica Neue"/>
                          <a:ea typeface="Helvetica Neue"/>
                          <a:cs typeface="Helvetica Neue"/>
                        </a:rPr>
                        <a:t>Adjacent setting</a:t>
                      </a:r>
                    </a:p>
                  </a:txBody>
                  <a:tcPr marL="91440" marR="91440" marT="45720" marB="45720" anchor="ctr">
                    <a:solidFill>
                      <a:srgbClr val="17382D"/>
                    </a:solidFill>
                  </a:tcPr>
                </a:tc>
                <a:tc>
                  <a:txBody>
                    <a:bodyPr wrap="square" lIns="171450" tIns="95250" rIns="171450" bIns="95250">
                      <a:noAutofit/>
                    </a:bodyPr>
                    <a:lstStyle/>
                    <a:p>
                      <a:r>
                        <a:rPr sz="1800" b="1">
                          <a:solidFill>
                            <a:srgbClr val="FFFFFF"/>
                          </a:solidFill>
                          <a:latin typeface="Helvetica Neue"/>
                          <a:ea typeface="Helvetica Neue"/>
                          <a:cs typeface="Helvetica Neue"/>
                        </a:rPr>
                        <a:t>What it teaches this first workflow</a:t>
                      </a:r>
                    </a:p>
                  </a:txBody>
                  <a:tcPr marL="91440" marR="91440" marT="45720" marB="45720" anchor="ctr">
                    <a:solidFill>
                      <a:srgbClr val="17382D"/>
                    </a:solidFill>
                  </a:tcPr>
                </a:tc>
              </a:tr>
              <a:tr h="631031">
                <a:tc>
                  <a:txBody>
                    <a:bodyPr wrap="square" lIns="171450" tIns="95250" rIns="171450" bIns="95250">
                      <a:noAutofit/>
                    </a:bodyPr>
                    <a:lstStyle/>
                    <a:p>
                      <a:r>
                        <a:rPr sz="1800" b="0">
                          <a:solidFill>
                            <a:srgbClr val="17382D"/>
                          </a:solidFill>
                          <a:latin typeface="Helvetica Neue"/>
                          <a:ea typeface="Helvetica Neue"/>
                          <a:cs typeface="Helvetica Neue"/>
                        </a:rPr>
                        <a:t>Mid-sized transitioning farm</a:t>
                      </a:r>
                    </a:p>
                  </a:txBody>
                  <a:tcPr marL="91440" marR="91440" marT="45720" marB="45720" anchor="ctr">
                    <a:solidFill>
                      <a:srgbClr val="FCFAF5"/>
                    </a:solidFill>
                  </a:tcPr>
                </a:tc>
                <a:tc>
                  <a:txBody>
                    <a:bodyPr wrap="square" lIns="171450" tIns="95250" rIns="171450" bIns="95250">
                      <a:noAutofit/>
                    </a:bodyPr>
                    <a:lstStyle/>
                    <a:p>
                      <a:r>
                        <a:rPr sz="1800" b="0">
                          <a:solidFill>
                            <a:srgbClr val="17382D"/>
                          </a:solidFill>
                          <a:latin typeface="Helvetica Neue"/>
                          <a:ea typeface="Helvetica Neue"/>
                          <a:cs typeface="Helvetica Neue"/>
                        </a:rPr>
                        <a:t>Integrate existing farm records and agronomy routines</a:t>
                      </a:r>
                    </a:p>
                  </a:txBody>
                  <a:tcPr marL="91440" marR="91440" marT="45720" marB="45720" anchor="ctr">
                    <a:solidFill>
                      <a:srgbClr val="FCFAF5"/>
                    </a:solidFill>
                  </a:tcPr>
                </a:tc>
              </a:tr>
              <a:tr h="631031">
                <a:tc>
                  <a:txBody>
                    <a:bodyPr wrap="square" lIns="171450" tIns="95250" rIns="171450" bIns="95250">
                      <a:noAutofit/>
                    </a:bodyPr>
                    <a:lstStyle/>
                    <a:p>
                      <a:r>
                        <a:rPr sz="1800" b="0">
                          <a:solidFill>
                            <a:srgbClr val="17382D"/>
                          </a:solidFill>
                          <a:latin typeface="Helvetica Neue"/>
                          <a:ea typeface="Helvetica Neue"/>
                          <a:cs typeface="Helvetica Neue"/>
                        </a:rPr>
                        <a:t>Small regenerative farmer</a:t>
                      </a:r>
                    </a:p>
                  </a:txBody>
                  <a:tcPr marL="91440" marR="91440" marT="45720" marB="45720" anchor="ctr">
                    <a:solidFill>
                      <a:srgbClr val="DCE5D8"/>
                    </a:solidFill>
                  </a:tcPr>
                </a:tc>
                <a:tc>
                  <a:txBody>
                    <a:bodyPr wrap="square" lIns="171450" tIns="95250" rIns="171450" bIns="95250">
                      <a:noAutofit/>
                    </a:bodyPr>
                    <a:lstStyle/>
                    <a:p>
                      <a:r>
                        <a:rPr sz="1800" b="0">
                          <a:solidFill>
                            <a:srgbClr val="17382D"/>
                          </a:solidFill>
                          <a:latin typeface="Helvetica Neue"/>
                          <a:ea typeface="Helvetica Neue"/>
                          <a:cs typeface="Helvetica Neue"/>
                        </a:rPr>
                        <a:t>Minimize time, cost and equipment demands</a:t>
                      </a:r>
                    </a:p>
                  </a:txBody>
                  <a:tcPr marL="91440" marR="91440" marT="45720" marB="45720" anchor="ctr">
                    <a:solidFill>
                      <a:srgbClr val="DCE5D8"/>
                    </a:solidFill>
                  </a:tcPr>
                </a:tc>
              </a:tr>
              <a:tr h="631031">
                <a:tc>
                  <a:txBody>
                    <a:bodyPr wrap="square" lIns="171450" tIns="95250" rIns="171450" bIns="95250">
                      <a:noAutofit/>
                    </a:bodyPr>
                    <a:lstStyle/>
                    <a:p>
                      <a:r>
                        <a:rPr sz="1800" b="0">
                          <a:solidFill>
                            <a:srgbClr val="17382D"/>
                          </a:solidFill>
                          <a:latin typeface="Helvetica Neue"/>
                          <a:ea typeface="Helvetica Neue"/>
                          <a:cs typeface="Helvetica Neue"/>
                        </a:rPr>
                        <a:t>Well-resourced steward</a:t>
                      </a:r>
                    </a:p>
                  </a:txBody>
                  <a:tcPr marL="91440" marR="91440" marT="45720" marB="45720" anchor="ctr">
                    <a:solidFill>
                      <a:srgbClr val="FCFAF5"/>
                    </a:solidFill>
                  </a:tcPr>
                </a:tc>
                <a:tc>
                  <a:txBody>
                    <a:bodyPr wrap="square" lIns="171450" tIns="95250" rIns="171450" bIns="95250">
                      <a:noAutofit/>
                    </a:bodyPr>
                    <a:lstStyle/>
                    <a:p>
                      <a:r>
                        <a:rPr sz="1800" b="0">
                          <a:solidFill>
                            <a:srgbClr val="17382D"/>
                          </a:solidFill>
                          <a:latin typeface="Helvetica Neue"/>
                          <a:ea typeface="Helvetica Neue"/>
                          <a:cs typeface="Helvetica Neue"/>
                        </a:rPr>
                        <a:t>Test paid support and reciprocal learning</a:t>
                      </a:r>
                    </a:p>
                  </a:txBody>
                  <a:tcPr marL="91440" marR="91440" marT="45720" marB="45720" anchor="ctr">
                    <a:solidFill>
                      <a:srgbClr val="FCFAF5"/>
                    </a:solidFill>
                  </a:tcPr>
                </a:tc>
              </a:tr>
            </a:tbl>
          </a:graphicData>
        </a:graphic>
      </p:graphicFrame>
    </p:spTree>
    <p:extLst>
      <p:ext uri="{BB962C8B-B14F-4D97-AF65-F5344CB8AC3E}">
        <p14:creationId xmlns:p14="http://schemas.microsoft.com/office/powerpoint/2010/main" val="147897517"/>
      </p:ext>
    </p:extLst>
  </p:cSld>
</p:sld>
</file>

<file path=ppt/slides/slide4.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C095A39-4E4C-4D76-9DB2-C74393CD3EFC}"/>
              </a:ext>
            </a:extLst>
          </p:cNvPr>
          <p:cNvSpPr>
            <a:spLocks xmlns:a="http://schemas.openxmlformats.org/drawingml/2006/main" noGrp="1"/>
          </p:cNvSpPr>
          <p:nvPr/>
        </p:nvSpPr>
        <p:spPr>
          <a:xfrm xmlns:a="http://schemas.openxmlformats.org/drawingml/2006/main">
            <a:off x="609600" y="49530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382D"/>
                </a:solidFill>
                <a:latin typeface="Helvetica Neue"/>
                <a:ea typeface="Helvetica Neue"/>
                <a:cs typeface="Helvetica Neue"/>
              </a:defRPr>
            </a:defPPr>
          </a:lstStyle>
          <a:p xmlns:a="http://schemas.openxmlformats.org/drawingml/2006/main">
            <a:pPr>
              <a:defRPr sz="3300" b="1">
                <a:solidFill>
                  <a:srgbClr val="17382D"/>
                </a:solidFill>
                <a:latin typeface="Helvetica Neue"/>
                <a:ea typeface="Helvetica Neue"/>
                <a:cs typeface="Helvetica Neue"/>
              </a:defRPr>
            </a:pPr>
            <a:r>
              <a:rPr sz="3300" b="1">
                <a:solidFill>
                  <a:srgbClr val="17382D"/>
                </a:solidFill>
                <a:latin typeface="Helvetica Neue"/>
                <a:ea typeface="Helvetica Neue"/>
                <a:cs typeface="Helvetica Neue"/>
              </a:rPr>
              <a:t>A real foundation, with clear delivery limits</a:t>
            </a:r>
          </a:p>
        </p:txBody>
      </p:sp>
      <p:sp>
        <p:nvSpPr>
          <p:cNvPr id="2" name="">
            <a:extLst xmlns:a="http://schemas.openxmlformats.org/drawingml/2006/main">
              <a:ext uri="{FF2B5EF4-FFF2-40B4-BE49-F238E27FC236}">
                <a16:creationId xmlns:a16="http://schemas.microsoft.com/office/drawing/2014/main" id="{3791BE3A-4D3E-449D-9DF2-BE17D98F3D4C}"/>
              </a:ext>
            </a:extLst>
          </p:cNvPr>
          <p:cNvSpPr>
            <a:spLocks xmlns:a="http://schemas.openxmlformats.org/drawingml/2006/main" noGrp="1"/>
          </p:cNvSpPr>
          <p:nvPr/>
        </p:nvSpPr>
        <p:spPr>
          <a:xfrm xmlns:a="http://schemas.openxmlformats.org/drawingml/2006/main">
            <a:off x="609600" y="624840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3645A"/>
                </a:solidFill>
                <a:latin typeface="Helvetica Neue"/>
                <a:ea typeface="Helvetica Neue"/>
                <a:cs typeface="Helvetica Neue"/>
              </a:defRPr>
            </a:defPPr>
          </a:lstStyle>
          <a:p xmlns:a="http://schemas.openxmlformats.org/drawingml/2006/main">
            <a:pPr>
              <a:defRPr sz="1275" b="0">
                <a:solidFill>
                  <a:srgbClr val="53645A"/>
                </a:solidFill>
                <a:latin typeface="Helvetica Neue"/>
                <a:ea typeface="Helvetica Neue"/>
                <a:cs typeface="Helvetica Neue"/>
              </a:defRPr>
            </a:pPr>
            <a:r>
              <a:rPr sz="1275" b="0">
                <a:solidFill>
                  <a:srgbClr val="53645A"/>
                </a:solidFill>
                <a:latin typeface="Helvetica Neue"/>
                <a:ea typeface="Helvetica Neue"/>
                <a:cs typeface="Helvetica Neue"/>
              </a:rPr>
              <a:t>Proposal · 8 October 2026</a:t>
            </a:r>
          </a:p>
        </p:txBody>
      </p:sp>
      <p:sp>
        <p:nvSpPr>
          <p:cNvPr id="3" name="">
            <a:extLst xmlns:a="http://schemas.openxmlformats.org/drawingml/2006/main">
              <a:ext uri="{FF2B5EF4-FFF2-40B4-BE49-F238E27FC236}">
                <a16:creationId xmlns:a16="http://schemas.microsoft.com/office/drawing/2014/main" id="{8A6CE2F8-C8ED-4489-B126-423F734CB40C}"/>
              </a:ext>
            </a:extLst>
          </p:cNvPr>
          <p:cNvSpPr>
            <a:spLocks xmlns:a="http://schemas.openxmlformats.org/drawingml/2006/main" noGrp="1"/>
          </p:cNvSpPr>
          <p:nvPr/>
        </p:nvSpPr>
        <p:spPr>
          <a:xfrm xmlns:a="http://schemas.openxmlformats.org/drawingml/2006/main">
            <a:off x="11049000" y="6248400"/>
            <a:ext cx="45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3645A"/>
                </a:solidFill>
                <a:latin typeface="Helvetica Neue"/>
                <a:ea typeface="Helvetica Neue"/>
                <a:cs typeface="Helvetica Neue"/>
              </a:defRPr>
            </a:defPPr>
          </a:lstStyle>
          <a:p xmlns:a="http://schemas.openxmlformats.org/drawingml/2006/main">
            <a:pPr>
              <a:defRPr sz="1275" b="0">
                <a:solidFill>
                  <a:srgbClr val="53645A"/>
                </a:solidFill>
                <a:latin typeface="Helvetica Neue"/>
                <a:ea typeface="Helvetica Neue"/>
                <a:cs typeface="Helvetica Neue"/>
              </a:defRPr>
            </a:pPr>
            <a:r>
              <a:rPr sz="1275" b="0">
                <a:solidFill>
                  <a:srgbClr val="53645A"/>
                </a:solidFill>
                <a:latin typeface="Helvetica Neue"/>
                <a:ea typeface="Helvetica Neue"/>
                <a:cs typeface="Helvetica Neue"/>
              </a:rPr>
              <a:t>4</a:t>
            </a:r>
          </a:p>
        </p:txBody>
      </p:sp>
      <p:sp>
        <p:nvSpPr>
          <p:cNvPr id="4" name="">
            <a:extLst xmlns:a="http://schemas.openxmlformats.org/drawingml/2006/main">
              <a:ext uri="{FF2B5EF4-FFF2-40B4-BE49-F238E27FC236}">
                <a16:creationId xmlns:a16="http://schemas.microsoft.com/office/drawing/2014/main" id="{890CE9F4-93BC-4146-950D-3E61DC18E4DE}"/>
              </a:ext>
            </a:extLst>
          </p:cNvPr>
          <p:cNvSpPr>
            <a:spLocks xmlns:a="http://schemas.openxmlformats.org/drawingml/2006/main" noGrp="1"/>
          </p:cNvSpPr>
          <p:nvPr/>
        </p:nvSpPr>
        <p:spPr>
          <a:xfrm xmlns:a="http://schemas.openxmlformats.org/drawingml/2006/main">
            <a:off x="609600" y="1857375"/>
            <a:ext cx="3276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7382D"/>
                </a:solidFill>
                <a:latin typeface="Helvetica Neue"/>
                <a:ea typeface="Helvetica Neue"/>
                <a:cs typeface="Helvetica Neue"/>
              </a:defRPr>
            </a:defPPr>
          </a:lstStyle>
          <a:p xmlns:a="http://schemas.openxmlformats.org/drawingml/2006/main">
            <a:pPr>
              <a:defRPr sz="2175" b="1">
                <a:solidFill>
                  <a:srgbClr val="17382D"/>
                </a:solidFill>
                <a:latin typeface="Helvetica Neue"/>
                <a:ea typeface="Helvetica Neue"/>
                <a:cs typeface="Helvetica Neue"/>
              </a:defRPr>
            </a:pPr>
            <a:r>
              <a:rPr sz="2175" b="1">
                <a:solidFill>
                  <a:srgbClr val="17382D"/>
                </a:solidFill>
                <a:latin typeface="Helvetica Neue"/>
                <a:ea typeface="Helvetica Neue"/>
                <a:cs typeface="Helvetica Neue"/>
              </a:rPr>
              <a:t>Existing foundation</a:t>
            </a:r>
          </a:p>
        </p:txBody>
      </p:sp>
      <p:sp>
        <p:nvSpPr>
          <p:cNvPr id="5" name="">
            <a:extLst xmlns:a="http://schemas.openxmlformats.org/drawingml/2006/main">
              <a:ext uri="{FF2B5EF4-FFF2-40B4-BE49-F238E27FC236}">
                <a16:creationId xmlns:a16="http://schemas.microsoft.com/office/drawing/2014/main" id="{34E18977-5EFC-4F77-9D24-42751D73DE7F}"/>
              </a:ext>
            </a:extLst>
          </p:cNvPr>
          <p:cNvSpPr>
            <a:spLocks xmlns:a="http://schemas.openxmlformats.org/drawingml/2006/main" noGrp="1"/>
          </p:cNvSpPr>
          <p:nvPr/>
        </p:nvSpPr>
        <p:spPr>
          <a:xfrm xmlns:a="http://schemas.openxmlformats.org/drawingml/2006/main">
            <a:off x="609600" y="2762250"/>
            <a:ext cx="327660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382D"/>
                </a:solidFill>
                <a:latin typeface="Helvetica Neue"/>
                <a:ea typeface="Helvetica Neue"/>
                <a:cs typeface="Helvetica Neue"/>
              </a:defRPr>
            </a:defPPr>
          </a:lstStyle>
          <a:p xmlns:a="http://schemas.openxmlformats.org/drawingml/2006/main">
            <a:pPr>
              <a:defRPr sz="2025" b="0">
                <a:solidFill>
                  <a:srgbClr val="17382D"/>
                </a:solidFill>
                <a:latin typeface="Helvetica Neue"/>
                <a:ea typeface="Helvetica Neue"/>
                <a:cs typeface="Helvetica Neue"/>
              </a:defRPr>
            </a:pPr>
            <a:r>
              <a:rPr sz="2025" b="0">
                <a:solidFill>
                  <a:srgbClr val="17382D"/>
                </a:solidFill>
                <a:latin typeface="Helvetica Neue"/>
                <a:ea typeface="Helvetica Neue"/>
                <a:cs typeface="Helvetica Neue"/>
              </a:rPr>
              <a:t>PWA work capture</a:t>
            </a:r>
          </a:p>
          <a:p xmlns:a="http://schemas.openxmlformats.org/drawingml/2006/main">
            <a:pPr>
              <a:defRPr sz="2025" b="0">
                <a:solidFill>
                  <a:srgbClr val="17382D"/>
                </a:solidFill>
                <a:latin typeface="Helvetica Neue"/>
                <a:ea typeface="Helvetica Neue"/>
                <a:cs typeface="Helvetica Neue"/>
              </a:defRPr>
            </a:pPr>
            <a:r>
              <a:rPr sz="2025" b="0">
                <a:solidFill>
                  <a:srgbClr val="17382D"/>
                </a:solidFill>
                <a:latin typeface="Helvetica Neue"/>
                <a:ea typeface="Helvetica Neue"/>
                <a:cs typeface="Helvetica Neue"/>
              </a:rPr>
              <a:t>Wallets and passkeys</a:t>
            </a:r>
          </a:p>
          <a:p xmlns:a="http://schemas.openxmlformats.org/drawingml/2006/main">
            <a:pPr>
              <a:defRPr sz="2025" b="0">
                <a:solidFill>
                  <a:srgbClr val="17382D"/>
                </a:solidFill>
                <a:latin typeface="Helvetica Neue"/>
                <a:ea typeface="Helvetica Neue"/>
                <a:cs typeface="Helvetica Neue"/>
              </a:defRPr>
            </a:pPr>
            <a:r>
              <a:rPr sz="2025" b="0">
                <a:solidFill>
                  <a:srgbClr val="17382D"/>
                </a:solidFill>
                <a:latin typeface="Helvetica Neue"/>
                <a:ea typeface="Helvetica Neue"/>
                <a:cs typeface="Helvetica Neue"/>
              </a:rPr>
              <a:t>Community review</a:t>
            </a:r>
          </a:p>
          <a:p xmlns:a="http://schemas.openxmlformats.org/drawingml/2006/main">
            <a:pPr>
              <a:defRPr sz="2025" b="0">
                <a:solidFill>
                  <a:srgbClr val="17382D"/>
                </a:solidFill>
                <a:latin typeface="Helvetica Neue"/>
                <a:ea typeface="Helvetica Neue"/>
                <a:cs typeface="Helvetica Neue"/>
              </a:defRPr>
            </a:pPr>
            <a:r>
              <a:rPr sz="2025" b="0">
                <a:solidFill>
                  <a:srgbClr val="17382D"/>
                </a:solidFill>
                <a:latin typeface="Helvetica Neue"/>
                <a:ea typeface="Helvetica Neue"/>
                <a:cs typeface="Helvetica Neue"/>
              </a:rPr>
              <a:t>Funding and vault code</a:t>
            </a:r>
          </a:p>
        </p:txBody>
      </p:sp>
      <p:sp>
        <p:nvSpPr>
          <p:cNvPr id="6" name="">
            <a:extLst xmlns:a="http://schemas.openxmlformats.org/drawingml/2006/main">
              <a:ext uri="{FF2B5EF4-FFF2-40B4-BE49-F238E27FC236}">
                <a16:creationId xmlns:a16="http://schemas.microsoft.com/office/drawing/2014/main" id="{B9E2EB52-72E9-47C1-B0EA-B443FBD7C3BD}"/>
              </a:ext>
            </a:extLst>
          </p:cNvPr>
          <p:cNvSpPr>
            <a:spLocks xmlns:a="http://schemas.openxmlformats.org/drawingml/2006/main" noGrp="1"/>
          </p:cNvSpPr>
          <p:nvPr/>
        </p:nvSpPr>
        <p:spPr>
          <a:xfrm xmlns:a="http://schemas.openxmlformats.org/drawingml/2006/main">
            <a:off x="4419600" y="1857375"/>
            <a:ext cx="3276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7382D"/>
                </a:solidFill>
                <a:latin typeface="Helvetica Neue"/>
                <a:ea typeface="Helvetica Neue"/>
                <a:cs typeface="Helvetica Neue"/>
              </a:defRPr>
            </a:defPPr>
          </a:lstStyle>
          <a:p xmlns:a="http://schemas.openxmlformats.org/drawingml/2006/main">
            <a:pPr>
              <a:defRPr sz="2175" b="1">
                <a:solidFill>
                  <a:srgbClr val="17382D"/>
                </a:solidFill>
                <a:latin typeface="Helvetica Neue"/>
                <a:ea typeface="Helvetica Neue"/>
                <a:cs typeface="Helvetica Neue"/>
              </a:defRPr>
            </a:pPr>
            <a:r>
              <a:rPr sz="2175" b="1">
                <a:solidFill>
                  <a:srgbClr val="17382D"/>
                </a:solidFill>
                <a:latin typeface="Helvetica Neue"/>
                <a:ea typeface="Helvetica Neue"/>
                <a:cs typeface="Helvetica Neue"/>
              </a:rPr>
              <a:t>Credible extension</a:t>
            </a:r>
          </a:p>
        </p:txBody>
      </p:sp>
      <p:sp>
        <p:nvSpPr>
          <p:cNvPr id="7" name="">
            <a:extLst xmlns:a="http://schemas.openxmlformats.org/drawingml/2006/main">
              <a:ext uri="{FF2B5EF4-FFF2-40B4-BE49-F238E27FC236}">
                <a16:creationId xmlns:a16="http://schemas.microsoft.com/office/drawing/2014/main" id="{8F78716A-06FD-4D0C-A77F-AB1243A824E7}"/>
              </a:ext>
            </a:extLst>
          </p:cNvPr>
          <p:cNvSpPr>
            <a:spLocks xmlns:a="http://schemas.openxmlformats.org/drawingml/2006/main" noGrp="1"/>
          </p:cNvSpPr>
          <p:nvPr/>
        </p:nvSpPr>
        <p:spPr>
          <a:xfrm xmlns:a="http://schemas.openxmlformats.org/drawingml/2006/main">
            <a:off x="4419600" y="2762250"/>
            <a:ext cx="327660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382D"/>
                </a:solidFill>
                <a:latin typeface="Helvetica Neue"/>
                <a:ea typeface="Helvetica Neue"/>
                <a:cs typeface="Helvetica Neue"/>
              </a:defRPr>
            </a:defPPr>
          </a:lstStyle>
          <a:p xmlns:a="http://schemas.openxmlformats.org/drawingml/2006/main">
            <a:pPr>
              <a:defRPr sz="2025" b="0">
                <a:solidFill>
                  <a:srgbClr val="17382D"/>
                </a:solidFill>
                <a:latin typeface="Helvetica Neue"/>
                <a:ea typeface="Helvetica Neue"/>
                <a:cs typeface="Helvetica Neue"/>
              </a:defRPr>
            </a:pPr>
            <a:r>
              <a:rPr sz="2025" b="0">
                <a:solidFill>
                  <a:srgbClr val="17382D"/>
                </a:solidFill>
                <a:latin typeface="Helvetica Neue"/>
                <a:ea typeface="Helvetica Neue"/>
                <a:cs typeface="Helvetica Neue"/>
              </a:rPr>
              <a:t>Private workspace</a:t>
            </a:r>
          </a:p>
          <a:p xmlns:a="http://schemas.openxmlformats.org/drawingml/2006/main">
            <a:pPr>
              <a:defRPr sz="2025" b="0">
                <a:solidFill>
                  <a:srgbClr val="17382D"/>
                </a:solidFill>
                <a:latin typeface="Helvetica Neue"/>
                <a:ea typeface="Helvetica Neue"/>
                <a:cs typeface="Helvetica Neue"/>
              </a:defRPr>
            </a:pPr>
            <a:r>
              <a:rPr sz="2025" b="0">
                <a:solidFill>
                  <a:srgbClr val="17382D"/>
                </a:solidFill>
                <a:latin typeface="Helvetica Neue"/>
                <a:ea typeface="Helvetica Neue"/>
                <a:cs typeface="Helvetica Neue"/>
              </a:rPr>
              <a:t>Source-linked drafts</a:t>
            </a:r>
          </a:p>
          <a:p xmlns:a="http://schemas.openxmlformats.org/drawingml/2006/main">
            <a:pPr>
              <a:defRPr sz="2025" b="0">
                <a:solidFill>
                  <a:srgbClr val="17382D"/>
                </a:solidFill>
                <a:latin typeface="Helvetica Neue"/>
                <a:ea typeface="Helvetica Neue"/>
                <a:cs typeface="Helvetica Neue"/>
              </a:defRPr>
            </a:pPr>
            <a:r>
              <a:rPr sz="2025" b="0">
                <a:solidFill>
                  <a:srgbClr val="17382D"/>
                </a:solidFill>
                <a:latin typeface="Helvetica Neue"/>
                <a:ea typeface="Helvetica Neue"/>
                <a:cs typeface="Helvetica Neue"/>
              </a:rPr>
              <a:t>Human disclosure review</a:t>
            </a:r>
          </a:p>
          <a:p xmlns:a="http://schemas.openxmlformats.org/drawingml/2006/main">
            <a:pPr>
              <a:defRPr sz="2025" b="0">
                <a:solidFill>
                  <a:srgbClr val="17382D"/>
                </a:solidFill>
                <a:latin typeface="Helvetica Neue"/>
                <a:ea typeface="Helvetica Neue"/>
                <a:cs typeface="Helvetica Neue"/>
              </a:defRPr>
            </a:pPr>
            <a:r>
              <a:rPr sz="2025" b="0">
                <a:solidFill>
                  <a:srgbClr val="17382D"/>
                </a:solidFill>
                <a:latin typeface="Helvetica Neue"/>
                <a:ea typeface="Helvetica Neue"/>
                <a:cs typeface="Helvetica Neue"/>
              </a:rPr>
              <a:t>Portable exports</a:t>
            </a:r>
          </a:p>
        </p:txBody>
      </p:sp>
      <p:sp>
        <p:nvSpPr>
          <p:cNvPr id="8" name="">
            <a:extLst xmlns:a="http://schemas.openxmlformats.org/drawingml/2006/main">
              <a:ext uri="{FF2B5EF4-FFF2-40B4-BE49-F238E27FC236}">
                <a16:creationId xmlns:a16="http://schemas.microsoft.com/office/drawing/2014/main" id="{6786F64A-7137-445A-8966-35DE013D0F35}"/>
              </a:ext>
            </a:extLst>
          </p:cNvPr>
          <p:cNvSpPr>
            <a:spLocks xmlns:a="http://schemas.openxmlformats.org/drawingml/2006/main" noGrp="1"/>
          </p:cNvSpPr>
          <p:nvPr/>
        </p:nvSpPr>
        <p:spPr>
          <a:xfrm xmlns:a="http://schemas.openxmlformats.org/drawingml/2006/main">
            <a:off x="8229600" y="1857375"/>
            <a:ext cx="3276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7382D"/>
                </a:solidFill>
                <a:latin typeface="Helvetica Neue"/>
                <a:ea typeface="Helvetica Neue"/>
                <a:cs typeface="Helvetica Neue"/>
              </a:defRPr>
            </a:defPPr>
          </a:lstStyle>
          <a:p xmlns:a="http://schemas.openxmlformats.org/drawingml/2006/main">
            <a:pPr>
              <a:defRPr sz="2175" b="1">
                <a:solidFill>
                  <a:srgbClr val="17382D"/>
                </a:solidFill>
                <a:latin typeface="Helvetica Neue"/>
                <a:ea typeface="Helvetica Neue"/>
                <a:cs typeface="Helvetica Neue"/>
              </a:defRPr>
            </a:pPr>
            <a:r>
              <a:rPr sz="2175" b="1">
                <a:solidFill>
                  <a:srgbClr val="17382D"/>
                </a:solidFill>
                <a:latin typeface="Helvetica Neue"/>
                <a:ea typeface="Helvetica Neue"/>
                <a:cs typeface="Helvetica Neue"/>
              </a:rPr>
              <a:t>Research / gated</a:t>
            </a:r>
          </a:p>
        </p:txBody>
      </p:sp>
      <p:sp>
        <p:nvSpPr>
          <p:cNvPr id="9" name="">
            <a:extLst xmlns:a="http://schemas.openxmlformats.org/drawingml/2006/main">
              <a:ext uri="{FF2B5EF4-FFF2-40B4-BE49-F238E27FC236}">
                <a16:creationId xmlns:a16="http://schemas.microsoft.com/office/drawing/2014/main" id="{2145DFF4-A5E2-4E3B-A91B-04A9780D7C9D}"/>
              </a:ext>
            </a:extLst>
          </p:cNvPr>
          <p:cNvSpPr>
            <a:spLocks xmlns:a="http://schemas.openxmlformats.org/drawingml/2006/main" noGrp="1"/>
          </p:cNvSpPr>
          <p:nvPr/>
        </p:nvSpPr>
        <p:spPr>
          <a:xfrm xmlns:a="http://schemas.openxmlformats.org/drawingml/2006/main">
            <a:off x="8229600" y="2762250"/>
            <a:ext cx="327660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382D"/>
                </a:solidFill>
                <a:latin typeface="Helvetica Neue"/>
                <a:ea typeface="Helvetica Neue"/>
                <a:cs typeface="Helvetica Neue"/>
              </a:defRPr>
            </a:defPPr>
          </a:lstStyle>
          <a:p xmlns:a="http://schemas.openxmlformats.org/drawingml/2006/main">
            <a:pPr>
              <a:defRPr sz="2025" b="0">
                <a:solidFill>
                  <a:srgbClr val="17382D"/>
                </a:solidFill>
                <a:latin typeface="Helvetica Neue"/>
                <a:ea typeface="Helvetica Neue"/>
                <a:cs typeface="Helvetica Neue"/>
              </a:defRPr>
            </a:pPr>
            <a:r>
              <a:rPr sz="2025" b="0">
                <a:solidFill>
                  <a:srgbClr val="17382D"/>
                </a:solidFill>
                <a:latin typeface="Helvetica Neue"/>
                <a:ea typeface="Helvetica Neue"/>
                <a:cs typeface="Helvetica Neue"/>
              </a:rPr>
              <a:t>Low-resource local AI</a:t>
            </a:r>
          </a:p>
          <a:p xmlns:a="http://schemas.openxmlformats.org/drawingml/2006/main">
            <a:pPr>
              <a:defRPr sz="2025" b="0">
                <a:solidFill>
                  <a:srgbClr val="17382D"/>
                </a:solidFill>
                <a:latin typeface="Helvetica Neue"/>
                <a:ea typeface="Helvetica Neue"/>
                <a:cs typeface="Helvetica Neue"/>
              </a:defRPr>
            </a:pPr>
            <a:r>
              <a:rPr sz="2025" b="0">
                <a:solidFill>
                  <a:srgbClr val="17382D"/>
                </a:solidFill>
                <a:latin typeface="Helvetica Neue"/>
                <a:ea typeface="Helvetica Neue"/>
                <a:cs typeface="Helvetica Neue"/>
              </a:rPr>
              <a:t>AT publication adapter</a:t>
            </a:r>
          </a:p>
          <a:p xmlns:a="http://schemas.openxmlformats.org/drawingml/2006/main">
            <a:pPr>
              <a:defRPr sz="2025" b="0">
                <a:solidFill>
                  <a:srgbClr val="17382D"/>
                </a:solidFill>
                <a:latin typeface="Helvetica Neue"/>
                <a:ea typeface="Helvetica Neue"/>
                <a:cs typeface="Helvetica Neue"/>
              </a:defRPr>
            </a:pPr>
            <a:r>
              <a:rPr sz="2025" b="0">
                <a:solidFill>
                  <a:srgbClr val="17382D"/>
                </a:solidFill>
                <a:latin typeface="Helvetica Neue"/>
                <a:ea typeface="Helvetica Neue"/>
                <a:cs typeface="Helvetica Neue"/>
              </a:rPr>
              <a:t>Cooperating peer mesh</a:t>
            </a:r>
          </a:p>
          <a:p xmlns:a="http://schemas.openxmlformats.org/drawingml/2006/main">
            <a:pPr>
              <a:defRPr sz="2025" b="0">
                <a:solidFill>
                  <a:srgbClr val="17382D"/>
                </a:solidFill>
                <a:latin typeface="Helvetica Neue"/>
                <a:ea typeface="Helvetica Neue"/>
                <a:cs typeface="Helvetica Neue"/>
              </a:defRPr>
            </a:pPr>
            <a:r>
              <a:rPr sz="2025" b="0">
                <a:solidFill>
                  <a:srgbClr val="17382D"/>
                </a:solidFill>
                <a:latin typeface="Helvetica Neue"/>
                <a:ea typeface="Helvetica Neue"/>
                <a:cs typeface="Helvetica Neue"/>
              </a:rPr>
              <a:t>Cross-community exchange</a:t>
            </a:r>
          </a:p>
        </p:txBody>
      </p:sp>
      <p:sp>
        <p:nvSpPr>
          <p:cNvPr id="10" name="">
            <a:extLst xmlns:a="http://schemas.openxmlformats.org/drawingml/2006/main">
              <a:ext uri="{FF2B5EF4-FFF2-40B4-BE49-F238E27FC236}">
                <a16:creationId xmlns:a16="http://schemas.microsoft.com/office/drawing/2014/main" id="{0F7B350E-483E-4D83-92C2-52D49A648157}"/>
              </a:ext>
            </a:extLst>
          </p:cNvPr>
          <p:cNvSpPr>
            <a:spLocks xmlns:a="http://schemas.openxmlformats.org/drawingml/2006/main" noGrp="1"/>
          </p:cNvSpPr>
          <p:nvPr/>
        </p:nvSpPr>
        <p:spPr>
          <a:xfrm xmlns:a="http://schemas.openxmlformats.org/drawingml/2006/main">
            <a:off x="609600" y="558165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9C4934"/>
                </a:solidFill>
                <a:latin typeface="Helvetica Neue"/>
                <a:ea typeface="Helvetica Neue"/>
                <a:cs typeface="Helvetica Neue"/>
              </a:defRPr>
            </a:defPPr>
          </a:lstStyle>
          <a:p xmlns:a="http://schemas.openxmlformats.org/drawingml/2006/main">
            <a:pPr>
              <a:defRPr sz="1800" b="1">
                <a:solidFill>
                  <a:srgbClr val="9C4934"/>
                </a:solidFill>
                <a:latin typeface="Helvetica Neue"/>
                <a:ea typeface="Helvetica Neue"/>
                <a:cs typeface="Helvetica Neue"/>
              </a:defRPr>
            </a:pPr>
            <a:r>
              <a:rPr sz="1800" b="1">
                <a:solidFill>
                  <a:srgbClr val="9C4934"/>
                </a:solidFill>
                <a:latin typeface="Helvetica Neue"/>
                <a:ea typeface="Helvetica Neue"/>
                <a:cs typeface="Helvetica Neue"/>
              </a:rPr>
              <a:t>Pooling: deployed-not-available in the capability ledger</a:t>
            </a:r>
          </a:p>
        </p:txBody>
      </p:sp>
    </p:spTree>
    <p:extLst>
      <p:ext uri="{BB962C8B-B14F-4D97-AF65-F5344CB8AC3E}">
        <p14:creationId xmlns:p14="http://schemas.microsoft.com/office/powerpoint/2010/main" val="622785081"/>
      </p:ext>
    </p:extLst>
  </p:cSld>
</p:sld>
</file>

<file path=ppt/slides/slide5.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1AC97D8-3777-4C61-A805-53B3A8C16944}"/>
              </a:ext>
            </a:extLst>
          </p:cNvPr>
          <p:cNvSpPr>
            <a:spLocks xmlns:a="http://schemas.openxmlformats.org/drawingml/2006/main" noGrp="1"/>
          </p:cNvSpPr>
          <p:nvPr/>
        </p:nvSpPr>
        <p:spPr>
          <a:xfrm xmlns:a="http://schemas.openxmlformats.org/drawingml/2006/main">
            <a:off x="609600" y="49530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382D"/>
                </a:solidFill>
                <a:latin typeface="Helvetica Neue"/>
                <a:ea typeface="Helvetica Neue"/>
                <a:cs typeface="Helvetica Neue"/>
              </a:defRPr>
            </a:defPPr>
          </a:lstStyle>
          <a:p xmlns:a="http://schemas.openxmlformats.org/drawingml/2006/main">
            <a:pPr>
              <a:defRPr sz="3300" b="1">
                <a:solidFill>
                  <a:srgbClr val="17382D"/>
                </a:solidFill>
                <a:latin typeface="Helvetica Neue"/>
                <a:ea typeface="Helvetica Neue"/>
                <a:cs typeface="Helvetica Neue"/>
              </a:defRPr>
            </a:pPr>
            <a:r>
              <a:rPr sz="3300" b="1">
                <a:solidFill>
                  <a:srgbClr val="17382D"/>
                </a:solidFill>
                <a:latin typeface="Helvetica Neue"/>
                <a:ea typeface="Helvetica Neue"/>
                <a:cs typeface="Helvetica Neue"/>
              </a:rPr>
              <a:t>One question, one practical workflow</a:t>
            </a:r>
          </a:p>
        </p:txBody>
      </p:sp>
      <p:sp>
        <p:nvSpPr>
          <p:cNvPr id="2" name="">
            <a:extLst xmlns:a="http://schemas.openxmlformats.org/drawingml/2006/main">
              <a:ext uri="{FF2B5EF4-FFF2-40B4-BE49-F238E27FC236}">
                <a16:creationId xmlns:a16="http://schemas.microsoft.com/office/drawing/2014/main" id="{859CC463-8D2C-402C-B196-093135E457DE}"/>
              </a:ext>
            </a:extLst>
          </p:cNvPr>
          <p:cNvSpPr>
            <a:spLocks xmlns:a="http://schemas.openxmlformats.org/drawingml/2006/main" noGrp="1"/>
          </p:cNvSpPr>
          <p:nvPr/>
        </p:nvSpPr>
        <p:spPr>
          <a:xfrm xmlns:a="http://schemas.openxmlformats.org/drawingml/2006/main">
            <a:off x="609600" y="624840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3645A"/>
                </a:solidFill>
                <a:latin typeface="Helvetica Neue"/>
                <a:ea typeface="Helvetica Neue"/>
                <a:cs typeface="Helvetica Neue"/>
              </a:defRPr>
            </a:defPPr>
          </a:lstStyle>
          <a:p xmlns:a="http://schemas.openxmlformats.org/drawingml/2006/main">
            <a:pPr>
              <a:defRPr sz="1275" b="0">
                <a:solidFill>
                  <a:srgbClr val="53645A"/>
                </a:solidFill>
                <a:latin typeface="Helvetica Neue"/>
                <a:ea typeface="Helvetica Neue"/>
                <a:cs typeface="Helvetica Neue"/>
              </a:defRPr>
            </a:pPr>
            <a:r>
              <a:rPr sz="1275" b="0">
                <a:solidFill>
                  <a:srgbClr val="53645A"/>
                </a:solidFill>
                <a:latin typeface="Helvetica Neue"/>
                <a:ea typeface="Helvetica Neue"/>
                <a:cs typeface="Helvetica Neue"/>
              </a:rPr>
              <a:t>Proposal · 8 October 2026</a:t>
            </a:r>
          </a:p>
        </p:txBody>
      </p:sp>
      <p:sp>
        <p:nvSpPr>
          <p:cNvPr id="3" name="">
            <a:extLst xmlns:a="http://schemas.openxmlformats.org/drawingml/2006/main">
              <a:ext uri="{FF2B5EF4-FFF2-40B4-BE49-F238E27FC236}">
                <a16:creationId xmlns:a16="http://schemas.microsoft.com/office/drawing/2014/main" id="{1B35D83C-C7D1-4646-80CA-F888A11904C3}"/>
              </a:ext>
            </a:extLst>
          </p:cNvPr>
          <p:cNvSpPr>
            <a:spLocks xmlns:a="http://schemas.openxmlformats.org/drawingml/2006/main" noGrp="1"/>
          </p:cNvSpPr>
          <p:nvPr/>
        </p:nvSpPr>
        <p:spPr>
          <a:xfrm xmlns:a="http://schemas.openxmlformats.org/drawingml/2006/main">
            <a:off x="11049000" y="6248400"/>
            <a:ext cx="45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3645A"/>
                </a:solidFill>
                <a:latin typeface="Helvetica Neue"/>
                <a:ea typeface="Helvetica Neue"/>
                <a:cs typeface="Helvetica Neue"/>
              </a:defRPr>
            </a:defPPr>
          </a:lstStyle>
          <a:p xmlns:a="http://schemas.openxmlformats.org/drawingml/2006/main">
            <a:pPr>
              <a:defRPr sz="1275" b="0">
                <a:solidFill>
                  <a:srgbClr val="53645A"/>
                </a:solidFill>
                <a:latin typeface="Helvetica Neue"/>
                <a:ea typeface="Helvetica Neue"/>
                <a:cs typeface="Helvetica Neue"/>
              </a:defRPr>
            </a:pPr>
            <a:r>
              <a:rPr sz="1275" b="0">
                <a:solidFill>
                  <a:srgbClr val="53645A"/>
                </a:solidFill>
                <a:latin typeface="Helvetica Neue"/>
                <a:ea typeface="Helvetica Neue"/>
                <a:cs typeface="Helvetica Neue"/>
              </a:rPr>
              <a:t>5</a:t>
            </a:r>
          </a:p>
        </p:txBody>
      </p:sp>
      <p:graphicFrame>
        <p:nvGraphicFramePr>
          <p:cNvPr id="4" name="">
            <a:extLst xmlns:a="http://schemas.openxmlformats.org/drawingml/2006/main">
              <a:ext uri="{FF2B5EF4-FFF2-40B4-BE49-F238E27FC236}">
                <a16:creationId xmlns:a16="http://schemas.microsoft.com/office/drawing/2014/main" id="{CED5D40C-AAAE-4B13-BC05-AA525AFDF070}"/>
              </a:ext>
            </a:extLst>
          </p:cNvPr>
          <p:cNvGraphicFramePr/>
          <p:nvPr/>
        </p:nvGraphicFramePr>
        <p:xfrm>
          <a:off xmlns:a="http://schemas.openxmlformats.org/drawingml/2006/main" x="609600" y="1743075"/>
          <a:ext xmlns:a="http://schemas.openxmlformats.org/drawingml/2006/main" cx="10972800" cy="3857625"/>
        </p:xfrm>
        <a:graphic xmlns:a="http://schemas.openxmlformats.org/drawingml/2006/main">
          <a:graphicData uri="http://schemas.openxmlformats.org/drawingml/2006/table">
            <a:tbl>
              <a:tblPr/>
              <a:tblGrid>
                <a:gridCol w="2095500"/>
                <a:gridCol w="8877300"/>
              </a:tblGrid>
              <a:tr h="642938">
                <a:tc>
                  <a:txBody>
                    <a:bodyPr wrap="square" lIns="171450" tIns="95250" rIns="171450" bIns="95250">
                      <a:noAutofit/>
                    </a:bodyPr>
                    <a:lstStyle/>
                    <a:p>
                      <a:r>
                        <a:rPr sz="1875" b="1">
                          <a:solidFill>
                            <a:srgbClr val="FFFFFF"/>
                          </a:solidFill>
                          <a:latin typeface="Helvetica Neue"/>
                          <a:ea typeface="Helvetica Neue"/>
                          <a:cs typeface="Helvetica Neue"/>
                        </a:rPr>
                        <a:t>Step</a:t>
                      </a:r>
                    </a:p>
                  </a:txBody>
                  <a:tcPr marL="91440" marR="91440" marT="45720" marB="45720" anchor="ctr">
                    <a:solidFill>
                      <a:srgbClr val="17382D"/>
                    </a:solidFill>
                  </a:tcPr>
                </a:tc>
                <a:tc>
                  <a:txBody>
                    <a:bodyPr wrap="square" lIns="171450" tIns="95250" rIns="171450" bIns="95250">
                      <a:noAutofit/>
                    </a:bodyPr>
                    <a:lstStyle/>
                    <a:p>
                      <a:r>
                        <a:rPr sz="1875" b="1">
                          <a:solidFill>
                            <a:srgbClr val="FFFFFF"/>
                          </a:solidFill>
                          <a:latin typeface="Helvetica Neue"/>
                          <a:ea typeface="Helvetica Neue"/>
                          <a:cs typeface="Helvetica Neue"/>
                        </a:rPr>
                        <a:t>Prototype behavior</a:t>
                      </a:r>
                    </a:p>
                  </a:txBody>
                  <a:tcPr marL="91440" marR="91440" marT="45720" marB="45720" anchor="ctr">
                    <a:solidFill>
                      <a:srgbClr val="17382D"/>
                    </a:solidFill>
                  </a:tcPr>
                </a:tc>
              </a:tr>
              <a:tr h="642938">
                <a:tc>
                  <a:txBody>
                    <a:bodyPr wrap="square" lIns="171450" tIns="95250" rIns="171450" bIns="95250">
                      <a:noAutofit/>
                    </a:bodyPr>
                    <a:lstStyle/>
                    <a:p>
                      <a:r>
                        <a:rPr sz="1875" b="0">
                          <a:solidFill>
                            <a:srgbClr val="17382D"/>
                          </a:solidFill>
                          <a:latin typeface="Helvetica Neue"/>
                          <a:ea typeface="Helvetica Neue"/>
                          <a:cs typeface="Helvetica Neue"/>
                        </a:rPr>
                        <a:t>Observe</a:t>
                      </a:r>
                    </a:p>
                  </a:txBody>
                  <a:tcPr marL="91440" marR="91440" marT="45720" marB="45720" anchor="ctr">
                    <a:solidFill>
                      <a:srgbClr val="FCFAF5"/>
                    </a:solidFill>
                  </a:tcPr>
                </a:tc>
                <a:tc>
                  <a:txBody>
                    <a:bodyPr wrap="square" lIns="171450" tIns="95250" rIns="171450" bIns="95250">
                      <a:noAutofit/>
                    </a:bodyPr>
                    <a:lstStyle/>
                    <a:p>
                      <a:r>
                        <a:rPr sz="1875" b="0">
                          <a:solidFill>
                            <a:srgbClr val="17382D"/>
                          </a:solidFill>
                          <a:latin typeface="Helvetica Neue"/>
                          <a:ea typeface="Helvetica Neue"/>
                          <a:cs typeface="Helvetica Neue"/>
                        </a:rPr>
                        <a:t>Import one labeled synthetic recording and a manual note</a:t>
                      </a:r>
                    </a:p>
                  </a:txBody>
                  <a:tcPr marL="91440" marR="91440" marT="45720" marB="45720" anchor="ctr">
                    <a:solidFill>
                      <a:srgbClr val="FCFAF5"/>
                    </a:solidFill>
                  </a:tcPr>
                </a:tc>
              </a:tr>
              <a:tr h="642938">
                <a:tc>
                  <a:txBody>
                    <a:bodyPr wrap="square" lIns="171450" tIns="95250" rIns="171450" bIns="95250">
                      <a:noAutofit/>
                    </a:bodyPr>
                    <a:lstStyle/>
                    <a:p>
                      <a:r>
                        <a:rPr sz="1875" b="0">
                          <a:solidFill>
                            <a:srgbClr val="17382D"/>
                          </a:solidFill>
                          <a:latin typeface="Helvetica Neue"/>
                          <a:ea typeface="Helvetica Neue"/>
                          <a:cs typeface="Helvetica Neue"/>
                        </a:rPr>
                        <a:t>Understand</a:t>
                      </a:r>
                    </a:p>
                  </a:txBody>
                  <a:tcPr marL="91440" marR="91440" marT="45720" marB="45720" anchor="ctr">
                    <a:solidFill>
                      <a:srgbClr val="DCE5D8"/>
                    </a:solidFill>
                  </a:tcPr>
                </a:tc>
                <a:tc>
                  <a:txBody>
                    <a:bodyPr wrap="square" lIns="171450" tIns="95250" rIns="171450" bIns="95250">
                      <a:noAutofit/>
                    </a:bodyPr>
                    <a:lstStyle/>
                    <a:p>
                      <a:r>
                        <a:rPr sz="1875" b="0">
                          <a:solidFill>
                            <a:srgbClr val="17382D"/>
                          </a:solidFill>
                          <a:latin typeface="Helvetica Neue"/>
                          <a:ea typeface="Helvetica Neue"/>
                          <a:cs typeface="Helvetica Neue"/>
                        </a:rPr>
                        <a:t>Link a short draft to its exact rows and notes</a:t>
                      </a:r>
                    </a:p>
                  </a:txBody>
                  <a:tcPr marL="91440" marR="91440" marT="45720" marB="45720" anchor="ctr">
                    <a:solidFill>
                      <a:srgbClr val="DCE5D8"/>
                    </a:solidFill>
                  </a:tcPr>
                </a:tc>
              </a:tr>
              <a:tr h="642938">
                <a:tc>
                  <a:txBody>
                    <a:bodyPr wrap="square" lIns="171450" tIns="95250" rIns="171450" bIns="95250">
                      <a:noAutofit/>
                    </a:bodyPr>
                    <a:lstStyle/>
                    <a:p>
                      <a:r>
                        <a:rPr sz="1875" b="0">
                          <a:solidFill>
                            <a:srgbClr val="17382D"/>
                          </a:solidFill>
                          <a:latin typeface="Helvetica Neue"/>
                          <a:ea typeface="Helvetica Neue"/>
                          <a:cs typeface="Helvetica Neue"/>
                        </a:rPr>
                        <a:t>Correct</a:t>
                      </a:r>
                    </a:p>
                  </a:txBody>
                  <a:tcPr marL="91440" marR="91440" marT="45720" marB="45720" anchor="ctr">
                    <a:solidFill>
                      <a:srgbClr val="FCFAF5"/>
                    </a:solidFill>
                  </a:tcPr>
                </a:tc>
                <a:tc>
                  <a:txBody>
                    <a:bodyPr wrap="square" lIns="171450" tIns="95250" rIns="171450" bIns="95250">
                      <a:noAutofit/>
                    </a:bodyPr>
                    <a:lstStyle/>
                    <a:p>
                      <a:r>
                        <a:rPr sz="1875" b="0">
                          <a:solidFill>
                            <a:srgbClr val="17382D"/>
                          </a:solidFill>
                          <a:latin typeface="Helvetica Neue"/>
                          <a:ea typeface="Helvetica Neue"/>
                          <a:cs typeface="Helvetica Neue"/>
                        </a:rPr>
                        <a:t>A steward records the next manual inspection</a:t>
                      </a:r>
                    </a:p>
                  </a:txBody>
                  <a:tcPr marL="91440" marR="91440" marT="45720" marB="45720" anchor="ctr">
                    <a:solidFill>
                      <a:srgbClr val="FCFAF5"/>
                    </a:solidFill>
                  </a:tcPr>
                </a:tc>
              </a:tr>
              <a:tr h="642938">
                <a:tc>
                  <a:txBody>
                    <a:bodyPr wrap="square" lIns="171450" tIns="95250" rIns="171450" bIns="95250">
                      <a:noAutofit/>
                    </a:bodyPr>
                    <a:lstStyle/>
                    <a:p>
                      <a:r>
                        <a:rPr sz="1875" b="0">
                          <a:solidFill>
                            <a:srgbClr val="17382D"/>
                          </a:solidFill>
                          <a:latin typeface="Helvetica Neue"/>
                          <a:ea typeface="Helvetica Neue"/>
                          <a:cs typeface="Helvetica Neue"/>
                        </a:rPr>
                        <a:t>Share</a:t>
                      </a:r>
                    </a:p>
                  </a:txBody>
                  <a:tcPr marL="91440" marR="91440" marT="45720" marB="45720" anchor="ctr">
                    <a:solidFill>
                      <a:srgbClr val="DCE5D8"/>
                    </a:solidFill>
                  </a:tcPr>
                </a:tc>
                <a:tc>
                  <a:txBody>
                    <a:bodyPr wrap="square" lIns="171450" tIns="95250" rIns="171450" bIns="95250">
                      <a:noAutofit/>
                    </a:bodyPr>
                    <a:lstStyle/>
                    <a:p>
                      <a:r>
                        <a:rPr sz="1875" b="0">
                          <a:solidFill>
                            <a:srgbClr val="17382D"/>
                          </a:solidFill>
                          <a:latin typeface="Helvetica Neue"/>
                          <a:ea typeface="Helvetica Neue"/>
                          <a:cs typeface="Helvetica Neue"/>
                        </a:rPr>
                        <a:t>Preview and approve every public field</a:t>
                      </a:r>
                    </a:p>
                  </a:txBody>
                  <a:tcPr marL="91440" marR="91440" marT="45720" marB="45720" anchor="ctr">
                    <a:solidFill>
                      <a:srgbClr val="DCE5D8"/>
                    </a:solidFill>
                  </a:tcPr>
                </a:tc>
              </a:tr>
              <a:tr h="642938">
                <a:tc>
                  <a:txBody>
                    <a:bodyPr wrap="square" lIns="171450" tIns="95250" rIns="171450" bIns="95250">
                      <a:noAutofit/>
                    </a:bodyPr>
                    <a:lstStyle/>
                    <a:p>
                      <a:r>
                        <a:rPr sz="1875" b="0">
                          <a:solidFill>
                            <a:srgbClr val="17382D"/>
                          </a:solidFill>
                          <a:latin typeface="Helvetica Neue"/>
                          <a:ea typeface="Helvetica Neue"/>
                          <a:cs typeface="Helvetica Neue"/>
                        </a:rPr>
                        <a:t>Retrieve</a:t>
                      </a:r>
                    </a:p>
                  </a:txBody>
                  <a:tcPr marL="91440" marR="91440" marT="45720" marB="45720" anchor="ctr">
                    <a:solidFill>
                      <a:srgbClr val="FCFAF5"/>
                    </a:solidFill>
                  </a:tcPr>
                </a:tc>
                <a:tc>
                  <a:txBody>
                    <a:bodyPr wrap="square" lIns="171450" tIns="95250" rIns="171450" bIns="95250">
                      <a:noAutofit/>
                    </a:bodyPr>
                    <a:lstStyle/>
                    <a:p>
                      <a:r>
                        <a:rPr sz="1875" b="0">
                          <a:solidFill>
                            <a:srgbClr val="17382D"/>
                          </a:solidFill>
                          <a:latin typeface="Helvetica Neue"/>
                          <a:ea typeface="Helvetica Neue"/>
                          <a:cs typeface="Helvetica Neue"/>
                        </a:rPr>
                        <a:t>Export to Green Goods; publish to AT; read in workspace two</a:t>
                      </a:r>
                    </a:p>
                  </a:txBody>
                  <a:tcPr marL="91440" marR="91440" marT="45720" marB="45720" anchor="ctr">
                    <a:solidFill>
                      <a:srgbClr val="FCFAF5"/>
                    </a:solidFill>
                  </a:tcPr>
                </a:tc>
              </a:tr>
            </a:tbl>
          </a:graphicData>
        </a:graphic>
      </p:graphicFrame>
      <p:sp>
        <p:nvSpPr>
          <p:cNvPr id="5" name="">
            <a:extLst xmlns:a="http://schemas.openxmlformats.org/drawingml/2006/main">
              <a:ext uri="{FF2B5EF4-FFF2-40B4-BE49-F238E27FC236}">
                <a16:creationId xmlns:a16="http://schemas.microsoft.com/office/drawing/2014/main" id="{98A108A2-7DF1-457A-B894-B35DA8B0F80B}"/>
              </a:ext>
            </a:extLst>
          </p:cNvPr>
          <p:cNvSpPr>
            <a:spLocks xmlns:a="http://schemas.openxmlformats.org/drawingml/2006/main" noGrp="1"/>
          </p:cNvSpPr>
          <p:nvPr/>
        </p:nvSpPr>
        <p:spPr>
          <a:xfrm xmlns:a="http://schemas.openxmlformats.org/drawingml/2006/main">
            <a:off x="609600" y="5819775"/>
            <a:ext cx="10763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9C4934"/>
                </a:solidFill>
                <a:latin typeface="Helvetica Neue"/>
                <a:ea typeface="Helvetica Neue"/>
                <a:cs typeface="Helvetica Neue"/>
              </a:defRPr>
            </a:defPPr>
          </a:lstStyle>
          <a:p xmlns:a="http://schemas.openxmlformats.org/drawingml/2006/main">
            <a:pPr>
              <a:defRPr sz="1650" b="0">
                <a:solidFill>
                  <a:srgbClr val="9C4934"/>
                </a:solidFill>
                <a:latin typeface="Helvetica Neue"/>
                <a:ea typeface="Helvetica Neue"/>
                <a:cs typeface="Helvetica Neue"/>
              </a:defRPr>
            </a:pPr>
            <a:r>
              <a:rPr sz="1650" b="0">
                <a:solidFill>
                  <a:srgbClr val="9C4934"/>
                </a:solidFill>
                <a:latin typeface="Helvetica Neue"/>
                <a:ea typeface="Helvetica Neue"/>
                <a:cs typeface="Helvetica Neue"/>
              </a:rPr>
              <a:t>No real sensor, ecological certification or transaction in the prototype</a:t>
            </a:r>
          </a:p>
        </p:txBody>
      </p:sp>
    </p:spTree>
    <p:extLst>
      <p:ext uri="{BB962C8B-B14F-4D97-AF65-F5344CB8AC3E}">
        <p14:creationId xmlns:p14="http://schemas.microsoft.com/office/powerpoint/2010/main" val="1383824126"/>
      </p:ext>
    </p:extLst>
  </p:cSld>
</p:sld>
</file>

<file path=ppt/slides/slide6.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53992B1-81C3-4C93-A488-AD081D511CF3}"/>
              </a:ext>
            </a:extLst>
          </p:cNvPr>
          <p:cNvSpPr>
            <a:spLocks xmlns:a="http://schemas.openxmlformats.org/drawingml/2006/main" noGrp="1"/>
          </p:cNvSpPr>
          <p:nvPr/>
        </p:nvSpPr>
        <p:spPr>
          <a:xfrm xmlns:a="http://schemas.openxmlformats.org/drawingml/2006/main">
            <a:off x="609600" y="49530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382D"/>
                </a:solidFill>
                <a:latin typeface="Helvetica Neue"/>
                <a:ea typeface="Helvetica Neue"/>
                <a:cs typeface="Helvetica Neue"/>
              </a:defRPr>
            </a:defPPr>
          </a:lstStyle>
          <a:p xmlns:a="http://schemas.openxmlformats.org/drawingml/2006/main">
            <a:pPr>
              <a:defRPr sz="3300" b="1">
                <a:solidFill>
                  <a:srgbClr val="17382D"/>
                </a:solidFill>
                <a:latin typeface="Helvetica Neue"/>
                <a:ea typeface="Helvetica Neue"/>
                <a:cs typeface="Helvetica Neue"/>
              </a:defRPr>
            </a:pPr>
            <a:r>
              <a:rPr sz="3300" b="1">
                <a:solidFill>
                  <a:srgbClr val="17382D"/>
                </a:solidFill>
                <a:latin typeface="Helvetica Neue"/>
                <a:ea typeface="Helvetica Neue"/>
                <a:cs typeface="Helvetica Neue"/>
              </a:rPr>
              <a:t>Pillars that must survive real use</a:t>
            </a:r>
          </a:p>
        </p:txBody>
      </p:sp>
      <p:sp>
        <p:nvSpPr>
          <p:cNvPr id="2" name="">
            <a:extLst xmlns:a="http://schemas.openxmlformats.org/drawingml/2006/main">
              <a:ext uri="{FF2B5EF4-FFF2-40B4-BE49-F238E27FC236}">
                <a16:creationId xmlns:a16="http://schemas.microsoft.com/office/drawing/2014/main" id="{67E1995C-D05F-4A55-85CC-1E715B7A0564}"/>
              </a:ext>
            </a:extLst>
          </p:cNvPr>
          <p:cNvSpPr>
            <a:spLocks xmlns:a="http://schemas.openxmlformats.org/drawingml/2006/main" noGrp="1"/>
          </p:cNvSpPr>
          <p:nvPr/>
        </p:nvSpPr>
        <p:spPr>
          <a:xfrm xmlns:a="http://schemas.openxmlformats.org/drawingml/2006/main">
            <a:off x="609600" y="624840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3645A"/>
                </a:solidFill>
                <a:latin typeface="Helvetica Neue"/>
                <a:ea typeface="Helvetica Neue"/>
                <a:cs typeface="Helvetica Neue"/>
              </a:defRPr>
            </a:defPPr>
          </a:lstStyle>
          <a:p xmlns:a="http://schemas.openxmlformats.org/drawingml/2006/main">
            <a:pPr>
              <a:defRPr sz="1275" b="0">
                <a:solidFill>
                  <a:srgbClr val="53645A"/>
                </a:solidFill>
                <a:latin typeface="Helvetica Neue"/>
                <a:ea typeface="Helvetica Neue"/>
                <a:cs typeface="Helvetica Neue"/>
              </a:defRPr>
            </a:pPr>
            <a:r>
              <a:rPr sz="1275" b="0">
                <a:solidFill>
                  <a:srgbClr val="53645A"/>
                </a:solidFill>
                <a:latin typeface="Helvetica Neue"/>
                <a:ea typeface="Helvetica Neue"/>
                <a:cs typeface="Helvetica Neue"/>
              </a:rPr>
              <a:t>Proposal · 8 October 2026</a:t>
            </a:r>
          </a:p>
        </p:txBody>
      </p:sp>
      <p:sp>
        <p:nvSpPr>
          <p:cNvPr id="3" name="">
            <a:extLst xmlns:a="http://schemas.openxmlformats.org/drawingml/2006/main">
              <a:ext uri="{FF2B5EF4-FFF2-40B4-BE49-F238E27FC236}">
                <a16:creationId xmlns:a16="http://schemas.microsoft.com/office/drawing/2014/main" id="{890A7630-0B0D-4D61-8BE2-A4DCB2CABD19}"/>
              </a:ext>
            </a:extLst>
          </p:cNvPr>
          <p:cNvSpPr>
            <a:spLocks xmlns:a="http://schemas.openxmlformats.org/drawingml/2006/main" noGrp="1"/>
          </p:cNvSpPr>
          <p:nvPr/>
        </p:nvSpPr>
        <p:spPr>
          <a:xfrm xmlns:a="http://schemas.openxmlformats.org/drawingml/2006/main">
            <a:off x="11049000" y="6248400"/>
            <a:ext cx="45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3645A"/>
                </a:solidFill>
                <a:latin typeface="Helvetica Neue"/>
                <a:ea typeface="Helvetica Neue"/>
                <a:cs typeface="Helvetica Neue"/>
              </a:defRPr>
            </a:defPPr>
          </a:lstStyle>
          <a:p xmlns:a="http://schemas.openxmlformats.org/drawingml/2006/main">
            <a:pPr>
              <a:defRPr sz="1275" b="0">
                <a:solidFill>
                  <a:srgbClr val="53645A"/>
                </a:solidFill>
                <a:latin typeface="Helvetica Neue"/>
                <a:ea typeface="Helvetica Neue"/>
                <a:cs typeface="Helvetica Neue"/>
              </a:defRPr>
            </a:pPr>
            <a:r>
              <a:rPr sz="1275" b="0">
                <a:solidFill>
                  <a:srgbClr val="53645A"/>
                </a:solidFill>
                <a:latin typeface="Helvetica Neue"/>
                <a:ea typeface="Helvetica Neue"/>
                <a:cs typeface="Helvetica Neue"/>
              </a:rPr>
              <a:t>6</a:t>
            </a:r>
          </a:p>
        </p:txBody>
      </p:sp>
      <p:graphicFrame>
        <p:nvGraphicFramePr>
          <p:cNvPr id="4" name="">
            <a:extLst xmlns:a="http://schemas.openxmlformats.org/drawingml/2006/main">
              <a:ext uri="{FF2B5EF4-FFF2-40B4-BE49-F238E27FC236}">
                <a16:creationId xmlns:a16="http://schemas.microsoft.com/office/drawing/2014/main" id="{6FFEC42A-94FD-4A02-B72A-D4219B195B22}"/>
              </a:ext>
            </a:extLst>
          </p:cNvPr>
          <p:cNvGraphicFramePr/>
          <p:nvPr/>
        </p:nvGraphicFramePr>
        <p:xfrm>
          <a:off xmlns:a="http://schemas.openxmlformats.org/drawingml/2006/main" x="609600" y="1809750"/>
          <a:ext xmlns:a="http://schemas.openxmlformats.org/drawingml/2006/main" cx="10972800" cy="3333750"/>
        </p:xfrm>
        <a:graphic xmlns:a="http://schemas.openxmlformats.org/drawingml/2006/main">
          <a:graphicData uri="http://schemas.openxmlformats.org/drawingml/2006/table">
            <a:tbl>
              <a:tblPr/>
              <a:tblGrid>
                <a:gridCol w="2857500"/>
                <a:gridCol w="8115300"/>
              </a:tblGrid>
              <a:tr h="666750">
                <a:tc>
                  <a:txBody>
                    <a:bodyPr wrap="square" lIns="171450" tIns="95250" rIns="171450" bIns="95250">
                      <a:noAutofit/>
                    </a:bodyPr>
                    <a:lstStyle/>
                    <a:p>
                      <a:r>
                        <a:rPr sz="1875" b="1">
                          <a:solidFill>
                            <a:srgbClr val="FFFFFF"/>
                          </a:solidFill>
                          <a:latin typeface="Helvetica Neue"/>
                          <a:ea typeface="Helvetica Neue"/>
                          <a:cs typeface="Helvetica Neue"/>
                        </a:rPr>
                        <a:t>Pillar</a:t>
                      </a:r>
                    </a:p>
                  </a:txBody>
                  <a:tcPr marL="91440" marR="91440" marT="45720" marB="45720" anchor="ctr">
                    <a:solidFill>
                      <a:srgbClr val="17382D"/>
                    </a:solidFill>
                  </a:tcPr>
                </a:tc>
                <a:tc>
                  <a:txBody>
                    <a:bodyPr wrap="square" lIns="171450" tIns="95250" rIns="171450" bIns="95250">
                      <a:noAutofit/>
                    </a:bodyPr>
                    <a:lstStyle/>
                    <a:p>
                      <a:r>
                        <a:rPr sz="1875" b="1">
                          <a:solidFill>
                            <a:srgbClr val="FFFFFF"/>
                          </a:solidFill>
                          <a:latin typeface="Helvetica Neue"/>
                          <a:ea typeface="Helvetica Neue"/>
                          <a:cs typeface="Helvetica Neue"/>
                        </a:rPr>
                        <a:t>A practical requirement</a:t>
                      </a:r>
                    </a:p>
                  </a:txBody>
                  <a:tcPr marL="91440" marR="91440" marT="45720" marB="45720" anchor="ctr">
                    <a:solidFill>
                      <a:srgbClr val="17382D"/>
                    </a:solidFill>
                  </a:tcPr>
                </a:tc>
              </a:tr>
              <a:tr h="666750">
                <a:tc>
                  <a:txBody>
                    <a:bodyPr wrap="square" lIns="171450" tIns="95250" rIns="171450" bIns="95250">
                      <a:noAutofit/>
                    </a:bodyPr>
                    <a:lstStyle/>
                    <a:p>
                      <a:r>
                        <a:rPr sz="1875" b="0">
                          <a:solidFill>
                            <a:srgbClr val="17382D"/>
                          </a:solidFill>
                          <a:latin typeface="Helvetica Neue"/>
                          <a:ea typeface="Helvetica Neue"/>
                          <a:cs typeface="Helvetica Neue"/>
                        </a:rPr>
                        <a:t>Accessibility</a:t>
                      </a:r>
                    </a:p>
                  </a:txBody>
                  <a:tcPr marL="91440" marR="91440" marT="45720" marB="45720" anchor="ctr">
                    <a:solidFill>
                      <a:srgbClr val="FCFAF5"/>
                    </a:solidFill>
                  </a:tcPr>
                </a:tc>
                <a:tc>
                  <a:txBody>
                    <a:bodyPr wrap="square" lIns="171450" tIns="95250" rIns="171450" bIns="95250">
                      <a:noAutofit/>
                    </a:bodyPr>
                    <a:lstStyle/>
                    <a:p>
                      <a:r>
                        <a:rPr sz="1875" b="0">
                          <a:solidFill>
                            <a:srgbClr val="17382D"/>
                          </a:solidFill>
                          <a:latin typeface="Helvetica Neue"/>
                          <a:ea typeface="Helvetica Neue"/>
                          <a:cs typeface="Helvetica Neue"/>
                        </a:rPr>
                        <a:t>Complete the task offline, manually and on existing hardware</a:t>
                      </a:r>
                    </a:p>
                  </a:txBody>
                  <a:tcPr marL="91440" marR="91440" marT="45720" marB="45720" anchor="ctr">
                    <a:solidFill>
                      <a:srgbClr val="FCFAF5"/>
                    </a:solidFill>
                  </a:tcPr>
                </a:tc>
              </a:tr>
              <a:tr h="666750">
                <a:tc>
                  <a:txBody>
                    <a:bodyPr wrap="square" lIns="171450" tIns="95250" rIns="171450" bIns="95250">
                      <a:noAutofit/>
                    </a:bodyPr>
                    <a:lstStyle/>
                    <a:p>
                      <a:r>
                        <a:rPr sz="1875" b="0">
                          <a:solidFill>
                            <a:srgbClr val="17382D"/>
                          </a:solidFill>
                          <a:latin typeface="Helvetica Neue"/>
                          <a:ea typeface="Helvetica Neue"/>
                          <a:cs typeface="Helvetica Neue"/>
                        </a:rPr>
                        <a:t>Sovereignty</a:t>
                      </a:r>
                    </a:p>
                  </a:txBody>
                  <a:tcPr marL="91440" marR="91440" marT="45720" marB="45720" anchor="ctr">
                    <a:solidFill>
                      <a:srgbClr val="DCE5D8"/>
                    </a:solidFill>
                  </a:tcPr>
                </a:tc>
                <a:tc>
                  <a:txBody>
                    <a:bodyPr wrap="square" lIns="171450" tIns="95250" rIns="171450" bIns="95250">
                      <a:noAutofit/>
                    </a:bodyPr>
                    <a:lstStyle/>
                    <a:p>
                      <a:r>
                        <a:rPr sz="1875" b="0">
                          <a:solidFill>
                            <a:srgbClr val="17382D"/>
                          </a:solidFill>
                          <a:latin typeface="Helvetica Neue"/>
                          <a:ea typeface="Helvetica Neue"/>
                          <a:cs typeface="Helvetica Neue"/>
                        </a:rPr>
                        <a:t>Control sharing, recover records and leave with a useful export</a:t>
                      </a:r>
                    </a:p>
                  </a:txBody>
                  <a:tcPr marL="91440" marR="91440" marT="45720" marB="45720" anchor="ctr">
                    <a:solidFill>
                      <a:srgbClr val="DCE5D8"/>
                    </a:solidFill>
                  </a:tcPr>
                </a:tc>
              </a:tr>
              <a:tr h="666750">
                <a:tc>
                  <a:txBody>
                    <a:bodyPr wrap="square" lIns="171450" tIns="95250" rIns="171450" bIns="95250">
                      <a:noAutofit/>
                    </a:bodyPr>
                    <a:lstStyle/>
                    <a:p>
                      <a:r>
                        <a:rPr sz="1875" b="0">
                          <a:solidFill>
                            <a:srgbClr val="17382D"/>
                          </a:solidFill>
                          <a:latin typeface="Helvetica Neue"/>
                          <a:ea typeface="Helvetica Neue"/>
                          <a:cs typeface="Helvetica Neue"/>
                        </a:rPr>
                        <a:t>Trust</a:t>
                      </a:r>
                    </a:p>
                  </a:txBody>
                  <a:tcPr marL="91440" marR="91440" marT="45720" marB="45720" anchor="ctr">
                    <a:solidFill>
                      <a:srgbClr val="FCFAF5"/>
                    </a:solidFill>
                  </a:tcPr>
                </a:tc>
                <a:tc>
                  <a:txBody>
                    <a:bodyPr wrap="square" lIns="171450" tIns="95250" rIns="171450" bIns="95250">
                      <a:noAutofit/>
                    </a:bodyPr>
                    <a:lstStyle/>
                    <a:p>
                      <a:r>
                        <a:rPr sz="1875" b="0">
                          <a:solidFill>
                            <a:srgbClr val="17382D"/>
                          </a:solidFill>
                          <a:latin typeface="Helvetica Neue"/>
                          <a:ea typeface="Helvetica Neue"/>
                          <a:cs typeface="Helvetica Neue"/>
                        </a:rPr>
                        <a:t>Trace statements to sources, corrections and human decisions</a:t>
                      </a:r>
                    </a:p>
                  </a:txBody>
                  <a:tcPr marL="91440" marR="91440" marT="45720" marB="45720" anchor="ctr">
                    <a:solidFill>
                      <a:srgbClr val="FCFAF5"/>
                    </a:solidFill>
                  </a:tcPr>
                </a:tc>
              </a:tr>
              <a:tr h="666750">
                <a:tc>
                  <a:txBody>
                    <a:bodyPr wrap="square" lIns="171450" tIns="95250" rIns="171450" bIns="95250">
                      <a:noAutofit/>
                    </a:bodyPr>
                    <a:lstStyle/>
                    <a:p>
                      <a:r>
                        <a:rPr sz="1875" b="0">
                          <a:solidFill>
                            <a:srgbClr val="17382D"/>
                          </a:solidFill>
                          <a:latin typeface="Helvetica Neue"/>
                          <a:ea typeface="Helvetica Neue"/>
                          <a:cs typeface="Helvetica Neue"/>
                        </a:rPr>
                        <a:t>Reciprocity</a:t>
                      </a:r>
                    </a:p>
                  </a:txBody>
                  <a:tcPr marL="91440" marR="91440" marT="45720" marB="45720" anchor="ctr">
                    <a:solidFill>
                      <a:srgbClr val="DCE5D8"/>
                    </a:solidFill>
                  </a:tcPr>
                </a:tc>
                <a:tc>
                  <a:txBody>
                    <a:bodyPr wrap="square" lIns="171450" tIns="95250" rIns="171450" bIns="95250">
                      <a:noAutofit/>
                    </a:bodyPr>
                    <a:lstStyle/>
                    <a:p>
                      <a:r>
                        <a:rPr sz="1875" b="0">
                          <a:solidFill>
                            <a:srgbClr val="17382D"/>
                          </a:solidFill>
                          <a:latin typeface="Helvetica Neue"/>
                          <a:ea typeface="Helvetica Neue"/>
                          <a:cs typeface="Helvetica Neue"/>
                        </a:rPr>
                        <a:t>Measure useful learning and benefit in both directions</a:t>
                      </a:r>
                    </a:p>
                  </a:txBody>
                  <a:tcPr marL="91440" marR="91440" marT="45720" marB="45720" anchor="ctr">
                    <a:solidFill>
                      <a:srgbClr val="DCE5D8"/>
                    </a:solidFill>
                  </a:tcPr>
                </a:tc>
              </a:tr>
            </a:tbl>
          </a:graphicData>
        </a:graphic>
      </p:graphicFrame>
      <p:sp>
        <p:nvSpPr>
          <p:cNvPr id="5" name="">
            <a:extLst xmlns:a="http://schemas.openxmlformats.org/drawingml/2006/main">
              <a:ext uri="{FF2B5EF4-FFF2-40B4-BE49-F238E27FC236}">
                <a16:creationId xmlns:a16="http://schemas.microsoft.com/office/drawing/2014/main" id="{A20A4AE3-2AFC-44DC-ADC6-9A6D10F0CF5C}"/>
              </a:ext>
            </a:extLst>
          </p:cNvPr>
          <p:cNvSpPr>
            <a:spLocks xmlns:a="http://schemas.openxmlformats.org/drawingml/2006/main" noGrp="1"/>
          </p:cNvSpPr>
          <p:nvPr/>
        </p:nvSpPr>
        <p:spPr>
          <a:xfrm xmlns:a="http://schemas.openxmlformats.org/drawingml/2006/main">
            <a:off x="609600" y="5619750"/>
            <a:ext cx="1076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7382D"/>
                </a:solidFill>
                <a:latin typeface="Helvetica Neue"/>
                <a:ea typeface="Helvetica Neue"/>
                <a:cs typeface="Helvetica Neue"/>
              </a:defRPr>
            </a:defPPr>
          </a:lstStyle>
          <a:p xmlns:a="http://schemas.openxmlformats.org/drawingml/2006/main">
            <a:pPr>
              <a:defRPr sz="2250" b="1">
                <a:solidFill>
                  <a:srgbClr val="17382D"/>
                </a:solidFill>
                <a:latin typeface="Helvetica Neue"/>
                <a:ea typeface="Helvetica Neue"/>
                <a:cs typeface="Helvetica Neue"/>
              </a:defRPr>
            </a:pPr>
            <a:r>
              <a:rPr sz="2250" b="1">
                <a:solidFill>
                  <a:srgbClr val="17382D"/>
                </a:solidFill>
                <a:latin typeface="Helvetica Neue"/>
                <a:ea typeface="Helvetica Neue"/>
                <a:cs typeface="Helvetica Neue"/>
              </a:rPr>
              <a:t>Privacy · Interoperability · Verifiability</a:t>
            </a:r>
          </a:p>
        </p:txBody>
      </p:sp>
    </p:spTree>
    <p:extLst>
      <p:ext uri="{BB962C8B-B14F-4D97-AF65-F5344CB8AC3E}">
        <p14:creationId xmlns:p14="http://schemas.microsoft.com/office/powerpoint/2010/main" val="1534944087"/>
      </p:ext>
    </p:extLst>
  </p:cSld>
</p:sld>
</file>

<file path=ppt/slides/slide7.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A70925A-BF24-4235-9A97-2F931AB9B1D9}"/>
              </a:ext>
            </a:extLst>
          </p:cNvPr>
          <p:cNvSpPr>
            <a:spLocks xmlns:a="http://schemas.openxmlformats.org/drawingml/2006/main" noGrp="1"/>
          </p:cNvSpPr>
          <p:nvPr/>
        </p:nvSpPr>
        <p:spPr>
          <a:xfrm xmlns:a="http://schemas.openxmlformats.org/drawingml/2006/main">
            <a:off x="609600" y="49530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382D"/>
                </a:solidFill>
                <a:latin typeface="Helvetica Neue"/>
                <a:ea typeface="Helvetica Neue"/>
                <a:cs typeface="Helvetica Neue"/>
              </a:defRPr>
            </a:defPPr>
          </a:lstStyle>
          <a:p xmlns:a="http://schemas.openxmlformats.org/drawingml/2006/main">
            <a:pPr>
              <a:defRPr sz="3300" b="1">
                <a:solidFill>
                  <a:srgbClr val="17382D"/>
                </a:solidFill>
                <a:latin typeface="Helvetica Neue"/>
                <a:ea typeface="Helvetica Neue"/>
                <a:cs typeface="Helvetica Neue"/>
              </a:defRPr>
            </a:pPr>
            <a:r>
              <a:rPr sz="3300" b="1">
                <a:solidFill>
                  <a:srgbClr val="17382D"/>
                </a:solidFill>
                <a:latin typeface="Helvetica Neue"/>
                <a:ea typeface="Helvetica Neue"/>
                <a:cs typeface="Helvetica Neue"/>
              </a:rPr>
              <a:t>Private evidence and public publication</a:t>
            </a:r>
          </a:p>
        </p:txBody>
      </p:sp>
      <p:sp>
        <p:nvSpPr>
          <p:cNvPr id="2" name="">
            <a:extLst xmlns:a="http://schemas.openxmlformats.org/drawingml/2006/main">
              <a:ext uri="{FF2B5EF4-FFF2-40B4-BE49-F238E27FC236}">
                <a16:creationId xmlns:a16="http://schemas.microsoft.com/office/drawing/2014/main" id="{A760772D-9D48-4963-98ED-378DABB87E6A}"/>
              </a:ext>
            </a:extLst>
          </p:cNvPr>
          <p:cNvSpPr>
            <a:spLocks xmlns:a="http://schemas.openxmlformats.org/drawingml/2006/main" noGrp="1"/>
          </p:cNvSpPr>
          <p:nvPr/>
        </p:nvSpPr>
        <p:spPr>
          <a:xfrm xmlns:a="http://schemas.openxmlformats.org/drawingml/2006/main">
            <a:off x="609600" y="624840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3645A"/>
                </a:solidFill>
                <a:latin typeface="Helvetica Neue"/>
                <a:ea typeface="Helvetica Neue"/>
                <a:cs typeface="Helvetica Neue"/>
              </a:defRPr>
            </a:defPPr>
          </a:lstStyle>
          <a:p xmlns:a="http://schemas.openxmlformats.org/drawingml/2006/main">
            <a:pPr>
              <a:defRPr sz="1275" b="0">
                <a:solidFill>
                  <a:srgbClr val="53645A"/>
                </a:solidFill>
                <a:latin typeface="Helvetica Neue"/>
                <a:ea typeface="Helvetica Neue"/>
                <a:cs typeface="Helvetica Neue"/>
              </a:defRPr>
            </a:pPr>
            <a:r>
              <a:rPr sz="1275" b="0">
                <a:solidFill>
                  <a:srgbClr val="53645A"/>
                </a:solidFill>
                <a:latin typeface="Helvetica Neue"/>
                <a:ea typeface="Helvetica Neue"/>
                <a:cs typeface="Helvetica Neue"/>
              </a:rPr>
              <a:t>Proposal · 8 October 2026</a:t>
            </a:r>
          </a:p>
        </p:txBody>
      </p:sp>
      <p:sp>
        <p:nvSpPr>
          <p:cNvPr id="3" name="">
            <a:extLst xmlns:a="http://schemas.openxmlformats.org/drawingml/2006/main">
              <a:ext uri="{FF2B5EF4-FFF2-40B4-BE49-F238E27FC236}">
                <a16:creationId xmlns:a16="http://schemas.microsoft.com/office/drawing/2014/main" id="{45CED7B2-F4ED-4BA8-BF47-2DCCAC061691}"/>
              </a:ext>
            </a:extLst>
          </p:cNvPr>
          <p:cNvSpPr>
            <a:spLocks xmlns:a="http://schemas.openxmlformats.org/drawingml/2006/main" noGrp="1"/>
          </p:cNvSpPr>
          <p:nvPr/>
        </p:nvSpPr>
        <p:spPr>
          <a:xfrm xmlns:a="http://schemas.openxmlformats.org/drawingml/2006/main">
            <a:off x="11049000" y="6248400"/>
            <a:ext cx="45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3645A"/>
                </a:solidFill>
                <a:latin typeface="Helvetica Neue"/>
                <a:ea typeface="Helvetica Neue"/>
                <a:cs typeface="Helvetica Neue"/>
              </a:defRPr>
            </a:defPPr>
          </a:lstStyle>
          <a:p xmlns:a="http://schemas.openxmlformats.org/drawingml/2006/main">
            <a:pPr>
              <a:defRPr sz="1275" b="0">
                <a:solidFill>
                  <a:srgbClr val="53645A"/>
                </a:solidFill>
                <a:latin typeface="Helvetica Neue"/>
                <a:ea typeface="Helvetica Neue"/>
                <a:cs typeface="Helvetica Neue"/>
              </a:defRPr>
            </a:pPr>
            <a:r>
              <a:rPr sz="1275" b="0">
                <a:solidFill>
                  <a:srgbClr val="53645A"/>
                </a:solidFill>
                <a:latin typeface="Helvetica Neue"/>
                <a:ea typeface="Helvetica Neue"/>
                <a:cs typeface="Helvetica Neue"/>
              </a:rPr>
              <a:t>7</a:t>
            </a:r>
          </a:p>
        </p:txBody>
      </p:sp>
      <p:sp>
        <p:nvSpPr>
          <p:cNvPr id="4" name="">
            <a:extLst xmlns:a="http://schemas.openxmlformats.org/drawingml/2006/main">
              <a:ext uri="{FF2B5EF4-FFF2-40B4-BE49-F238E27FC236}">
                <a16:creationId xmlns:a16="http://schemas.microsoft.com/office/drawing/2014/main" id="{8A062928-4543-4142-B08F-DD298502FA24}"/>
              </a:ext>
            </a:extLst>
          </p:cNvPr>
          <p:cNvSpPr>
            <a:spLocks xmlns:a="http://schemas.openxmlformats.org/drawingml/2006/main" noGrp="1"/>
          </p:cNvSpPr>
          <p:nvPr/>
        </p:nvSpPr>
        <p:spPr>
          <a:xfrm xmlns:a="http://schemas.openxmlformats.org/drawingml/2006/main">
            <a:off x="609600" y="1857375"/>
            <a:ext cx="3276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7382D"/>
                </a:solidFill>
                <a:latin typeface="Helvetica Neue"/>
                <a:ea typeface="Helvetica Neue"/>
                <a:cs typeface="Helvetica Neue"/>
              </a:defRPr>
            </a:defPPr>
          </a:lstStyle>
          <a:p xmlns:a="http://schemas.openxmlformats.org/drawingml/2006/main">
            <a:pPr>
              <a:defRPr sz="2175" b="1">
                <a:solidFill>
                  <a:srgbClr val="17382D"/>
                </a:solidFill>
                <a:latin typeface="Helvetica Neue"/>
                <a:ea typeface="Helvetica Neue"/>
                <a:cs typeface="Helvetica Neue"/>
              </a:defRPr>
            </a:pPr>
            <a:r>
              <a:rPr sz="2175" b="1">
                <a:solidFill>
                  <a:srgbClr val="17382D"/>
                </a:solidFill>
                <a:latin typeface="Helvetica Neue"/>
                <a:ea typeface="Helvetica Neue"/>
                <a:cs typeface="Helvetica Neue"/>
              </a:rPr>
              <a:t>Private workspace</a:t>
            </a:r>
          </a:p>
        </p:txBody>
      </p:sp>
      <p:sp>
        <p:nvSpPr>
          <p:cNvPr id="5" name="">
            <a:extLst xmlns:a="http://schemas.openxmlformats.org/drawingml/2006/main">
              <a:ext uri="{FF2B5EF4-FFF2-40B4-BE49-F238E27FC236}">
                <a16:creationId xmlns:a16="http://schemas.microsoft.com/office/drawing/2014/main" id="{CB84AB38-8CB5-452B-BA12-1444182D8731}"/>
              </a:ext>
            </a:extLst>
          </p:cNvPr>
          <p:cNvSpPr>
            <a:spLocks xmlns:a="http://schemas.openxmlformats.org/drawingml/2006/main" noGrp="1"/>
          </p:cNvSpPr>
          <p:nvPr/>
        </p:nvSpPr>
        <p:spPr>
          <a:xfrm xmlns:a="http://schemas.openxmlformats.org/drawingml/2006/main">
            <a:off x="609600" y="2762250"/>
            <a:ext cx="327660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382D"/>
                </a:solidFill>
                <a:latin typeface="Helvetica Neue"/>
                <a:ea typeface="Helvetica Neue"/>
                <a:cs typeface="Helvetica Neue"/>
              </a:defRPr>
            </a:defPPr>
          </a:lstStyle>
          <a:p xmlns:a="http://schemas.openxmlformats.org/drawingml/2006/main">
            <a:pPr>
              <a:defRPr sz="2025" b="0">
                <a:solidFill>
                  <a:srgbClr val="17382D"/>
                </a:solidFill>
                <a:latin typeface="Helvetica Neue"/>
                <a:ea typeface="Helvetica Neue"/>
                <a:cs typeface="Helvetica Neue"/>
              </a:defRPr>
            </a:pPr>
            <a:r>
              <a:rPr sz="2025" b="0">
                <a:solidFill>
                  <a:srgbClr val="17382D"/>
                </a:solidFill>
                <a:latin typeface="Helvetica Neue"/>
                <a:ea typeface="Helvetica Neue"/>
                <a:cs typeface="Helvetica Neue"/>
              </a:rPr>
              <a:t>Original notes and readings</a:t>
            </a:r>
          </a:p>
          <a:p xmlns:a="http://schemas.openxmlformats.org/drawingml/2006/main">
            <a:pPr>
              <a:defRPr sz="2025" b="0">
                <a:solidFill>
                  <a:srgbClr val="17382D"/>
                </a:solidFill>
                <a:latin typeface="Helvetica Neue"/>
                <a:ea typeface="Helvetica Neue"/>
                <a:cs typeface="Helvetica Neue"/>
              </a:defRPr>
            </a:pPr>
            <a:r>
              <a:rPr sz="2025" b="0">
                <a:solidFill>
                  <a:srgbClr val="17382D"/>
                </a:solidFill>
                <a:latin typeface="Helvetica Neue"/>
                <a:ea typeface="Helvetica Neue"/>
                <a:cs typeface="Helvetica Neue"/>
              </a:rPr>
              <a:t>Local interpretation</a:t>
            </a:r>
          </a:p>
          <a:p xmlns:a="http://schemas.openxmlformats.org/drawingml/2006/main">
            <a:pPr>
              <a:defRPr sz="2025" b="0">
                <a:solidFill>
                  <a:srgbClr val="17382D"/>
                </a:solidFill>
                <a:latin typeface="Helvetica Neue"/>
                <a:ea typeface="Helvetica Neue"/>
                <a:cs typeface="Helvetica Neue"/>
              </a:defRPr>
            </a:pPr>
            <a:r>
              <a:rPr sz="2025" b="0">
                <a:solidFill>
                  <a:srgbClr val="17382D"/>
                </a:solidFill>
                <a:latin typeface="Helvetica Neue"/>
                <a:ea typeface="Helvetica Neue"/>
                <a:cs typeface="Helvetica Neue"/>
              </a:rPr>
              <a:t>Corrections and consent</a:t>
            </a:r>
          </a:p>
          <a:p xmlns:a="http://schemas.openxmlformats.org/drawingml/2006/main">
            <a:pPr>
              <a:defRPr sz="2025" b="0">
                <a:solidFill>
                  <a:srgbClr val="17382D"/>
                </a:solidFill>
                <a:latin typeface="Helvetica Neue"/>
                <a:ea typeface="Helvetica Neue"/>
                <a:cs typeface="Helvetica Neue"/>
              </a:defRPr>
            </a:pPr>
            <a:r>
              <a:rPr sz="2025" b="0">
                <a:solidFill>
                  <a:srgbClr val="17382D"/>
                </a:solidFill>
                <a:latin typeface="Helvetica Neue"/>
                <a:ea typeface="Helvetica Neue"/>
                <a:cs typeface="Helvetica Neue"/>
              </a:rPr>
              <a:t>Encrypted backups</a:t>
            </a:r>
          </a:p>
        </p:txBody>
      </p:sp>
      <p:sp>
        <p:nvSpPr>
          <p:cNvPr id="6" name="">
            <a:extLst xmlns:a="http://schemas.openxmlformats.org/drawingml/2006/main">
              <a:ext uri="{FF2B5EF4-FFF2-40B4-BE49-F238E27FC236}">
                <a16:creationId xmlns:a16="http://schemas.microsoft.com/office/drawing/2014/main" id="{F2E1B454-8F16-4C98-BDBC-EF93DB5480A4}"/>
              </a:ext>
            </a:extLst>
          </p:cNvPr>
          <p:cNvSpPr>
            <a:spLocks xmlns:a="http://schemas.openxmlformats.org/drawingml/2006/main" noGrp="1"/>
          </p:cNvSpPr>
          <p:nvPr/>
        </p:nvSpPr>
        <p:spPr>
          <a:xfrm xmlns:a="http://schemas.openxmlformats.org/drawingml/2006/main">
            <a:off x="4419600" y="1857375"/>
            <a:ext cx="3276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7382D"/>
                </a:solidFill>
                <a:latin typeface="Helvetica Neue"/>
                <a:ea typeface="Helvetica Neue"/>
                <a:cs typeface="Helvetica Neue"/>
              </a:defRPr>
            </a:defPPr>
          </a:lstStyle>
          <a:p xmlns:a="http://schemas.openxmlformats.org/drawingml/2006/main">
            <a:pPr>
              <a:defRPr sz="2175" b="1">
                <a:solidFill>
                  <a:srgbClr val="17382D"/>
                </a:solidFill>
                <a:latin typeface="Helvetica Neue"/>
                <a:ea typeface="Helvetica Neue"/>
                <a:cs typeface="Helvetica Neue"/>
              </a:defRPr>
            </a:pPr>
            <a:r>
              <a:rPr sz="2175" b="1">
                <a:solidFill>
                  <a:srgbClr val="17382D"/>
                </a:solidFill>
                <a:latin typeface="Helvetica Neue"/>
                <a:ea typeface="Helvetica Neue"/>
                <a:cs typeface="Helvetica Neue"/>
              </a:rPr>
              <a:t>Human decision</a:t>
            </a:r>
          </a:p>
        </p:txBody>
      </p:sp>
      <p:sp>
        <p:nvSpPr>
          <p:cNvPr id="7" name="">
            <a:extLst xmlns:a="http://schemas.openxmlformats.org/drawingml/2006/main">
              <a:ext uri="{FF2B5EF4-FFF2-40B4-BE49-F238E27FC236}">
                <a16:creationId xmlns:a16="http://schemas.microsoft.com/office/drawing/2014/main" id="{FFE68DCB-5B29-4424-AFB9-04E6554388CE}"/>
              </a:ext>
            </a:extLst>
          </p:cNvPr>
          <p:cNvSpPr>
            <a:spLocks xmlns:a="http://schemas.openxmlformats.org/drawingml/2006/main" noGrp="1"/>
          </p:cNvSpPr>
          <p:nvPr/>
        </p:nvSpPr>
        <p:spPr>
          <a:xfrm xmlns:a="http://schemas.openxmlformats.org/drawingml/2006/main">
            <a:off x="4419600" y="2762250"/>
            <a:ext cx="327660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382D"/>
                </a:solidFill>
                <a:latin typeface="Helvetica Neue"/>
                <a:ea typeface="Helvetica Neue"/>
                <a:cs typeface="Helvetica Neue"/>
              </a:defRPr>
            </a:defPPr>
          </a:lstStyle>
          <a:p xmlns:a="http://schemas.openxmlformats.org/drawingml/2006/main">
            <a:pPr>
              <a:defRPr sz="2025" b="0">
                <a:solidFill>
                  <a:srgbClr val="17382D"/>
                </a:solidFill>
                <a:latin typeface="Helvetica Neue"/>
                <a:ea typeface="Helvetica Neue"/>
                <a:cs typeface="Helvetica Neue"/>
              </a:defRPr>
            </a:pPr>
            <a:r>
              <a:rPr sz="2025" b="0">
                <a:solidFill>
                  <a:srgbClr val="17382D"/>
                </a:solidFill>
                <a:latin typeface="Helvetica Neue"/>
                <a:ea typeface="Helvetica Neue"/>
                <a:cs typeface="Helvetica Neue"/>
              </a:rPr>
              <a:t>Select audience</a:t>
            </a:r>
          </a:p>
          <a:p xmlns:a="http://schemas.openxmlformats.org/drawingml/2006/main">
            <a:pPr>
              <a:defRPr sz="2025" b="0">
                <a:solidFill>
                  <a:srgbClr val="17382D"/>
                </a:solidFill>
                <a:latin typeface="Helvetica Neue"/>
                <a:ea typeface="Helvetica Neue"/>
                <a:cs typeface="Helvetica Neue"/>
              </a:defRPr>
            </a:pPr>
            <a:r>
              <a:rPr sz="2025" b="0">
                <a:solidFill>
                  <a:srgbClr val="17382D"/>
                </a:solidFill>
                <a:latin typeface="Helvetica Neue"/>
                <a:ea typeface="Helvetica Neue"/>
                <a:cs typeface="Helvetica Neue"/>
              </a:rPr>
              <a:t>Inspect exact disclosure</a:t>
            </a:r>
          </a:p>
          <a:p xmlns:a="http://schemas.openxmlformats.org/drawingml/2006/main">
            <a:pPr>
              <a:defRPr sz="2025" b="0">
                <a:solidFill>
                  <a:srgbClr val="17382D"/>
                </a:solidFill>
                <a:latin typeface="Helvetica Neue"/>
                <a:ea typeface="Helvetica Neue"/>
                <a:cs typeface="Helvetica Neue"/>
              </a:defRPr>
            </a:pPr>
            <a:r>
              <a:rPr sz="2025" b="0">
                <a:solidFill>
                  <a:srgbClr val="17382D"/>
                </a:solidFill>
                <a:latin typeface="Helvetica Neue"/>
                <a:ea typeface="Helvetica Neue"/>
                <a:cs typeface="Helvetica Neue"/>
              </a:rPr>
              <a:t>Approve this version</a:t>
            </a:r>
          </a:p>
          <a:p xmlns:a="http://schemas.openxmlformats.org/drawingml/2006/main">
            <a:pPr>
              <a:defRPr sz="2025" b="0">
                <a:solidFill>
                  <a:srgbClr val="17382D"/>
                </a:solidFill>
                <a:latin typeface="Helvetica Neue"/>
                <a:ea typeface="Helvetica Neue"/>
                <a:cs typeface="Helvetica Neue"/>
              </a:defRPr>
            </a:pPr>
            <a:r>
              <a:rPr sz="2025" b="0">
                <a:solidFill>
                  <a:srgbClr val="17382D"/>
                </a:solidFill>
                <a:latin typeface="Helvetica Neue"/>
                <a:ea typeface="Helvetica Neue"/>
                <a:cs typeface="Helvetica Neue"/>
              </a:rPr>
              <a:t>Choose publisher identity</a:t>
            </a:r>
          </a:p>
        </p:txBody>
      </p:sp>
      <p:sp>
        <p:nvSpPr>
          <p:cNvPr id="8" name="">
            <a:extLst xmlns:a="http://schemas.openxmlformats.org/drawingml/2006/main">
              <a:ext uri="{FF2B5EF4-FFF2-40B4-BE49-F238E27FC236}">
                <a16:creationId xmlns:a16="http://schemas.microsoft.com/office/drawing/2014/main" id="{62BE3184-E289-44B9-BFCF-FC88581B2DB4}"/>
              </a:ext>
            </a:extLst>
          </p:cNvPr>
          <p:cNvSpPr>
            <a:spLocks xmlns:a="http://schemas.openxmlformats.org/drawingml/2006/main" noGrp="1"/>
          </p:cNvSpPr>
          <p:nvPr/>
        </p:nvSpPr>
        <p:spPr>
          <a:xfrm xmlns:a="http://schemas.openxmlformats.org/drawingml/2006/main">
            <a:off x="8229600" y="1857375"/>
            <a:ext cx="3276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7382D"/>
                </a:solidFill>
                <a:latin typeface="Helvetica Neue"/>
                <a:ea typeface="Helvetica Neue"/>
                <a:cs typeface="Helvetica Neue"/>
              </a:defRPr>
            </a:defPPr>
          </a:lstStyle>
          <a:p xmlns:a="http://schemas.openxmlformats.org/drawingml/2006/main">
            <a:pPr>
              <a:defRPr sz="2175" b="1">
                <a:solidFill>
                  <a:srgbClr val="17382D"/>
                </a:solidFill>
                <a:latin typeface="Helvetica Neue"/>
                <a:ea typeface="Helvetica Neue"/>
                <a:cs typeface="Helvetica Neue"/>
              </a:defRPr>
            </a:pPr>
            <a:r>
              <a:rPr sz="2175" b="1">
                <a:solidFill>
                  <a:srgbClr val="17382D"/>
                </a:solidFill>
                <a:latin typeface="Helvetica Neue"/>
                <a:ea typeface="Helvetica Neue"/>
                <a:cs typeface="Helvetica Neue"/>
              </a:rPr>
              <a:t>Public record</a:t>
            </a:r>
          </a:p>
        </p:txBody>
      </p:sp>
      <p:sp>
        <p:nvSpPr>
          <p:cNvPr id="9" name="">
            <a:extLst xmlns:a="http://schemas.openxmlformats.org/drawingml/2006/main">
              <a:ext uri="{FF2B5EF4-FFF2-40B4-BE49-F238E27FC236}">
                <a16:creationId xmlns:a16="http://schemas.microsoft.com/office/drawing/2014/main" id="{3251F164-BD0E-469B-BB2A-2A453C4B2CC3}"/>
              </a:ext>
            </a:extLst>
          </p:cNvPr>
          <p:cNvSpPr>
            <a:spLocks xmlns:a="http://schemas.openxmlformats.org/drawingml/2006/main" noGrp="1"/>
          </p:cNvSpPr>
          <p:nvPr/>
        </p:nvSpPr>
        <p:spPr>
          <a:xfrm xmlns:a="http://schemas.openxmlformats.org/drawingml/2006/main">
            <a:off x="8229600" y="2762250"/>
            <a:ext cx="327660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382D"/>
                </a:solidFill>
                <a:latin typeface="Helvetica Neue"/>
                <a:ea typeface="Helvetica Neue"/>
                <a:cs typeface="Helvetica Neue"/>
              </a:defRPr>
            </a:defPPr>
          </a:lstStyle>
          <a:p xmlns:a="http://schemas.openxmlformats.org/drawingml/2006/main">
            <a:pPr>
              <a:defRPr sz="2025" b="0">
                <a:solidFill>
                  <a:srgbClr val="17382D"/>
                </a:solidFill>
                <a:latin typeface="Helvetica Neue"/>
                <a:ea typeface="Helvetica Neue"/>
                <a:cs typeface="Helvetica Neue"/>
              </a:defRPr>
            </a:pPr>
            <a:r>
              <a:rPr sz="2025" b="0">
                <a:solidFill>
                  <a:srgbClr val="17382D"/>
                </a:solidFill>
                <a:latin typeface="Helvetica Neue"/>
                <a:ea typeface="Helvetica Neue"/>
                <a:cs typeface="Helvetica Neue"/>
              </a:rPr>
              <a:t>Minimum approved text</a:t>
            </a:r>
          </a:p>
          <a:p xmlns:a="http://schemas.openxmlformats.org/drawingml/2006/main">
            <a:pPr>
              <a:defRPr sz="2025" b="0">
                <a:solidFill>
                  <a:srgbClr val="17382D"/>
                </a:solidFill>
                <a:latin typeface="Helvetica Neue"/>
                <a:ea typeface="Helvetica Neue"/>
                <a:cs typeface="Helvetica Neue"/>
              </a:defRPr>
            </a:pPr>
            <a:r>
              <a:rPr sz="2025" b="0">
                <a:solidFill>
                  <a:srgbClr val="17382D"/>
                </a:solidFill>
                <a:latin typeface="Helvetica Neue"/>
                <a:ea typeface="Helvetica Neue"/>
                <a:cs typeface="Helvetica Neue"/>
              </a:rPr>
              <a:t>Attribution and limits</a:t>
            </a:r>
          </a:p>
          <a:p xmlns:a="http://schemas.openxmlformats.org/drawingml/2006/main">
            <a:pPr>
              <a:defRPr sz="2025" b="0">
                <a:solidFill>
                  <a:srgbClr val="17382D"/>
                </a:solidFill>
                <a:latin typeface="Helvetica Neue"/>
                <a:ea typeface="Helvetica Neue"/>
                <a:cs typeface="Helvetica Neue"/>
              </a:defRPr>
            </a:pPr>
            <a:r>
              <a:rPr sz="2025" b="0">
                <a:solidFill>
                  <a:srgbClr val="17382D"/>
                </a:solidFill>
                <a:latin typeface="Helvetica Neue"/>
                <a:ea typeface="Helvetica Neue"/>
                <a:cs typeface="Helvetica Neue"/>
              </a:rPr>
              <a:t>AT URI or protocol export</a:t>
            </a:r>
          </a:p>
          <a:p xmlns:a="http://schemas.openxmlformats.org/drawingml/2006/main">
            <a:pPr>
              <a:defRPr sz="2025" b="0">
                <a:solidFill>
                  <a:srgbClr val="17382D"/>
                </a:solidFill>
                <a:latin typeface="Helvetica Neue"/>
                <a:ea typeface="Helvetica Neue"/>
                <a:cs typeface="Helvetica Neue"/>
              </a:defRPr>
            </a:pPr>
            <a:r>
              <a:rPr sz="2025" b="0">
                <a:solidFill>
                  <a:srgbClr val="17382D"/>
                </a:solidFill>
                <a:latin typeface="Helvetica Neue"/>
                <a:ea typeface="Helvetica Neue"/>
                <a:cs typeface="Helvetica Neue"/>
              </a:rPr>
              <a:t>Copies may persist</a:t>
            </a:r>
          </a:p>
        </p:txBody>
      </p:sp>
      <p:sp>
        <p:nvSpPr>
          <p:cNvPr id="10" name="">
            <a:extLst xmlns:a="http://schemas.openxmlformats.org/drawingml/2006/main">
              <a:ext uri="{FF2B5EF4-FFF2-40B4-BE49-F238E27FC236}">
                <a16:creationId xmlns:a16="http://schemas.microsoft.com/office/drawing/2014/main" id="{ECE1171E-8BF9-4AB9-9A86-3D93FAB0CD7C}"/>
              </a:ext>
            </a:extLst>
          </p:cNvPr>
          <p:cNvSpPr>
            <a:spLocks xmlns:a="http://schemas.openxmlformats.org/drawingml/2006/main" noGrp="1"/>
          </p:cNvSpPr>
          <p:nvPr/>
        </p:nvSpPr>
        <p:spPr>
          <a:xfrm xmlns:a="http://schemas.openxmlformats.org/drawingml/2006/main">
            <a:off x="609600" y="5629275"/>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9C4934"/>
                </a:solidFill>
                <a:latin typeface="Helvetica Neue"/>
                <a:ea typeface="Helvetica Neue"/>
                <a:cs typeface="Helvetica Neue"/>
              </a:defRPr>
            </a:defPPr>
          </a:lstStyle>
          <a:p xmlns:a="http://schemas.openxmlformats.org/drawingml/2006/main">
            <a:pPr>
              <a:defRPr sz="1875" b="1">
                <a:solidFill>
                  <a:srgbClr val="9C4934"/>
                </a:solidFill>
                <a:latin typeface="Helvetica Neue"/>
                <a:ea typeface="Helvetica Neue"/>
                <a:cs typeface="Helvetica Neue"/>
              </a:defRPr>
            </a:pPr>
            <a:r>
              <a:rPr sz="1875" b="1">
                <a:solidFill>
                  <a:srgbClr val="9C4934"/>
                </a:solidFill>
                <a:latin typeface="Helvetica Neue"/>
                <a:ea typeface="Helvetica Neue"/>
                <a:cs typeface="Helvetica Neue"/>
              </a:rPr>
              <a:t>A model never grants consent, publishes or authorizes a transaction</a:t>
            </a:r>
          </a:p>
        </p:txBody>
      </p:sp>
    </p:spTree>
    <p:extLst>
      <p:ext uri="{BB962C8B-B14F-4D97-AF65-F5344CB8AC3E}">
        <p14:creationId xmlns:p14="http://schemas.microsoft.com/office/powerpoint/2010/main" val="708185926"/>
      </p:ext>
    </p:extLst>
  </p:cSld>
</p:sld>
</file>

<file path=ppt/slides/slide8.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DF736B7-FC4A-46CE-9B60-BC5A38FD78FE}"/>
              </a:ext>
            </a:extLst>
          </p:cNvPr>
          <p:cNvSpPr>
            <a:spLocks xmlns:a="http://schemas.openxmlformats.org/drawingml/2006/main" noGrp="1"/>
          </p:cNvSpPr>
          <p:nvPr/>
        </p:nvSpPr>
        <p:spPr>
          <a:xfrm xmlns:a="http://schemas.openxmlformats.org/drawingml/2006/main">
            <a:off x="609600" y="49530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382D"/>
                </a:solidFill>
                <a:latin typeface="Helvetica Neue"/>
                <a:ea typeface="Helvetica Neue"/>
                <a:cs typeface="Helvetica Neue"/>
              </a:defRPr>
            </a:defPPr>
          </a:lstStyle>
          <a:p xmlns:a="http://schemas.openxmlformats.org/drawingml/2006/main">
            <a:pPr>
              <a:defRPr sz="3300" b="1">
                <a:solidFill>
                  <a:srgbClr val="17382D"/>
                </a:solidFill>
                <a:latin typeface="Helvetica Neue"/>
                <a:ea typeface="Helvetica Neue"/>
                <a:cs typeface="Helvetica Neue"/>
              </a:defRPr>
            </a:pPr>
            <a:r>
              <a:rPr sz="3300" b="1">
                <a:solidFill>
                  <a:srgbClr val="17382D"/>
                </a:solidFill>
                <a:latin typeface="Helvetica Neue"/>
                <a:ea typeface="Helvetica Neue"/>
                <a:cs typeface="Helvetica Neue"/>
              </a:rPr>
              <a:t>Local AI is an option, not an entry requirement</a:t>
            </a:r>
          </a:p>
        </p:txBody>
      </p:sp>
      <p:sp>
        <p:nvSpPr>
          <p:cNvPr id="2" name="">
            <a:extLst xmlns:a="http://schemas.openxmlformats.org/drawingml/2006/main">
              <a:ext uri="{FF2B5EF4-FFF2-40B4-BE49-F238E27FC236}">
                <a16:creationId xmlns:a16="http://schemas.microsoft.com/office/drawing/2014/main" id="{2BE304EA-68A7-40A1-BF75-D5DE430B967B}"/>
              </a:ext>
            </a:extLst>
          </p:cNvPr>
          <p:cNvSpPr>
            <a:spLocks xmlns:a="http://schemas.openxmlformats.org/drawingml/2006/main" noGrp="1"/>
          </p:cNvSpPr>
          <p:nvPr/>
        </p:nvSpPr>
        <p:spPr>
          <a:xfrm xmlns:a="http://schemas.openxmlformats.org/drawingml/2006/main">
            <a:off x="609600" y="624840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3645A"/>
                </a:solidFill>
                <a:latin typeface="Helvetica Neue"/>
                <a:ea typeface="Helvetica Neue"/>
                <a:cs typeface="Helvetica Neue"/>
              </a:defRPr>
            </a:defPPr>
          </a:lstStyle>
          <a:p xmlns:a="http://schemas.openxmlformats.org/drawingml/2006/main">
            <a:pPr>
              <a:defRPr sz="1275" b="0">
                <a:solidFill>
                  <a:srgbClr val="53645A"/>
                </a:solidFill>
                <a:latin typeface="Helvetica Neue"/>
                <a:ea typeface="Helvetica Neue"/>
                <a:cs typeface="Helvetica Neue"/>
              </a:defRPr>
            </a:pPr>
            <a:r>
              <a:rPr sz="1275" b="0">
                <a:solidFill>
                  <a:srgbClr val="53645A"/>
                </a:solidFill>
                <a:latin typeface="Helvetica Neue"/>
                <a:ea typeface="Helvetica Neue"/>
                <a:cs typeface="Helvetica Neue"/>
              </a:rPr>
              <a:t>Proposal · 8 October 2026</a:t>
            </a:r>
          </a:p>
        </p:txBody>
      </p:sp>
      <p:sp>
        <p:nvSpPr>
          <p:cNvPr id="3" name="">
            <a:extLst xmlns:a="http://schemas.openxmlformats.org/drawingml/2006/main">
              <a:ext uri="{FF2B5EF4-FFF2-40B4-BE49-F238E27FC236}">
                <a16:creationId xmlns:a16="http://schemas.microsoft.com/office/drawing/2014/main" id="{DB15F33C-A49D-4115-BA7C-F34E9EDB93AC}"/>
              </a:ext>
            </a:extLst>
          </p:cNvPr>
          <p:cNvSpPr>
            <a:spLocks xmlns:a="http://schemas.openxmlformats.org/drawingml/2006/main" noGrp="1"/>
          </p:cNvSpPr>
          <p:nvPr/>
        </p:nvSpPr>
        <p:spPr>
          <a:xfrm xmlns:a="http://schemas.openxmlformats.org/drawingml/2006/main">
            <a:off x="11049000" y="6248400"/>
            <a:ext cx="45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3645A"/>
                </a:solidFill>
                <a:latin typeface="Helvetica Neue"/>
                <a:ea typeface="Helvetica Neue"/>
                <a:cs typeface="Helvetica Neue"/>
              </a:defRPr>
            </a:defPPr>
          </a:lstStyle>
          <a:p xmlns:a="http://schemas.openxmlformats.org/drawingml/2006/main">
            <a:pPr>
              <a:defRPr sz="1275" b="0">
                <a:solidFill>
                  <a:srgbClr val="53645A"/>
                </a:solidFill>
                <a:latin typeface="Helvetica Neue"/>
                <a:ea typeface="Helvetica Neue"/>
                <a:cs typeface="Helvetica Neue"/>
              </a:defRPr>
            </a:pPr>
            <a:r>
              <a:rPr sz="1275" b="0">
                <a:solidFill>
                  <a:srgbClr val="53645A"/>
                </a:solidFill>
                <a:latin typeface="Helvetica Neue"/>
                <a:ea typeface="Helvetica Neue"/>
                <a:cs typeface="Helvetica Neue"/>
              </a:rPr>
              <a:t>8</a:t>
            </a:r>
          </a:p>
        </p:txBody>
      </p:sp>
      <p:sp>
        <p:nvSpPr>
          <p:cNvPr id="4" name="">
            <a:extLst xmlns:a="http://schemas.openxmlformats.org/drawingml/2006/main">
              <a:ext uri="{FF2B5EF4-FFF2-40B4-BE49-F238E27FC236}">
                <a16:creationId xmlns:a16="http://schemas.microsoft.com/office/drawing/2014/main" id="{9A0ED5C2-B9EE-49D8-BB3F-8199171FC0F8}"/>
              </a:ext>
            </a:extLst>
          </p:cNvPr>
          <p:cNvSpPr>
            <a:spLocks xmlns:a="http://schemas.openxmlformats.org/drawingml/2006/main" noGrp="1"/>
          </p:cNvSpPr>
          <p:nvPr/>
        </p:nvSpPr>
        <p:spPr>
          <a:xfrm xmlns:a="http://schemas.openxmlformats.org/drawingml/2006/main">
            <a:off x="609600" y="1905000"/>
            <a:ext cx="6191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050" b="1">
                <a:solidFill>
                  <a:srgbClr val="17382D"/>
                </a:solidFill>
                <a:latin typeface="Helvetica Neue"/>
                <a:ea typeface="Helvetica Neue"/>
                <a:cs typeface="Helvetica Neue"/>
              </a:defRPr>
            </a:defPPr>
          </a:lstStyle>
          <a:p xmlns:a="http://schemas.openxmlformats.org/drawingml/2006/main">
            <a:pPr>
              <a:defRPr sz="4050" b="1">
                <a:solidFill>
                  <a:srgbClr val="17382D"/>
                </a:solidFill>
                <a:latin typeface="Helvetica Neue"/>
                <a:ea typeface="Helvetica Neue"/>
                <a:cs typeface="Helvetica Neue"/>
              </a:defRPr>
            </a:pPr>
            <a:r>
              <a:rPr sz="4050" b="1">
                <a:solidFill>
                  <a:srgbClr val="17382D"/>
                </a:solidFill>
                <a:latin typeface="Helvetica Neue"/>
                <a:ea typeface="Helvetica Neue"/>
                <a:cs typeface="Helvetica Neue"/>
              </a:rPr>
              <a:t>4–8 GB laptops</a:t>
            </a:r>
          </a:p>
        </p:txBody>
      </p:sp>
      <p:sp>
        <p:nvSpPr>
          <p:cNvPr id="5" name="">
            <a:extLst xmlns:a="http://schemas.openxmlformats.org/drawingml/2006/main">
              <a:ext uri="{FF2B5EF4-FFF2-40B4-BE49-F238E27FC236}">
                <a16:creationId xmlns:a16="http://schemas.microsoft.com/office/drawing/2014/main" id="{6AB7FFCA-7522-4148-9F6E-9A34EF82079E}"/>
              </a:ext>
            </a:extLst>
          </p:cNvPr>
          <p:cNvSpPr>
            <a:spLocks xmlns:a="http://schemas.openxmlformats.org/drawingml/2006/main" noGrp="1"/>
          </p:cNvSpPr>
          <p:nvPr/>
        </p:nvSpPr>
        <p:spPr>
          <a:xfrm xmlns:a="http://schemas.openxmlformats.org/drawingml/2006/main">
            <a:off x="609600" y="2714625"/>
            <a:ext cx="10382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9C4934"/>
                </a:solidFill>
                <a:latin typeface="Helvetica Neue"/>
                <a:ea typeface="Helvetica Neue"/>
                <a:cs typeface="Helvetica Neue"/>
              </a:defRPr>
            </a:defPPr>
          </a:lstStyle>
          <a:p xmlns:a="http://schemas.openxmlformats.org/drawingml/2006/main">
            <a:pPr>
              <a:defRPr sz="2325" b="0">
                <a:solidFill>
                  <a:srgbClr val="9C4934"/>
                </a:solidFill>
                <a:latin typeface="Helvetica Neue"/>
                <a:ea typeface="Helvetica Neue"/>
                <a:cs typeface="Helvetica Neue"/>
              </a:defRPr>
            </a:pPr>
            <a:r>
              <a:rPr sz="2325" b="0">
                <a:solidFill>
                  <a:srgbClr val="9C4934"/>
                </a:solidFill>
                <a:latin typeface="Helvetica Neue"/>
                <a:ea typeface="Helvetica Neue"/>
                <a:cs typeface="Helvetica Neue"/>
              </a:rPr>
              <a:t>Benchmark target—not proven support</a:t>
            </a:r>
          </a:p>
        </p:txBody>
      </p:sp>
      <p:sp>
        <p:nvSpPr>
          <p:cNvPr id="6" name="">
            <a:extLst xmlns:a="http://schemas.openxmlformats.org/drawingml/2006/main">
              <a:ext uri="{FF2B5EF4-FFF2-40B4-BE49-F238E27FC236}">
                <a16:creationId xmlns:a16="http://schemas.microsoft.com/office/drawing/2014/main" id="{36D039DF-D5CE-40A6-8F86-1CCB3061A020}"/>
              </a:ext>
            </a:extLst>
          </p:cNvPr>
          <p:cNvSpPr>
            <a:spLocks xmlns:a="http://schemas.openxmlformats.org/drawingml/2006/main" noGrp="1"/>
          </p:cNvSpPr>
          <p:nvPr/>
        </p:nvSpPr>
        <p:spPr>
          <a:xfrm xmlns:a="http://schemas.openxmlformats.org/drawingml/2006/main">
            <a:off x="609600" y="3914775"/>
            <a:ext cx="3276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17382D"/>
                </a:solidFill>
                <a:latin typeface="Helvetica Neue"/>
                <a:ea typeface="Helvetica Neue"/>
                <a:cs typeface="Helvetica Neue"/>
              </a:defRPr>
            </a:defPPr>
          </a:lstStyle>
          <a:p xmlns:a="http://schemas.openxmlformats.org/drawingml/2006/main">
            <a:pPr>
              <a:defRPr sz="2025" b="1">
                <a:solidFill>
                  <a:srgbClr val="17382D"/>
                </a:solidFill>
                <a:latin typeface="Helvetica Neue"/>
                <a:ea typeface="Helvetica Neue"/>
                <a:cs typeface="Helvetica Neue"/>
              </a:defRPr>
            </a:pPr>
            <a:r>
              <a:rPr sz="2025" b="1">
                <a:solidFill>
                  <a:srgbClr val="17382D"/>
                </a:solidFill>
                <a:latin typeface="Helvetica Neue"/>
                <a:ea typeface="Helvetica Neue"/>
                <a:cs typeface="Helvetica Neue"/>
              </a:rPr>
              <a:t>Start without AI</a:t>
            </a:r>
          </a:p>
        </p:txBody>
      </p:sp>
      <p:sp>
        <p:nvSpPr>
          <p:cNvPr id="7" name="">
            <a:extLst xmlns:a="http://schemas.openxmlformats.org/drawingml/2006/main">
              <a:ext uri="{FF2B5EF4-FFF2-40B4-BE49-F238E27FC236}">
                <a16:creationId xmlns:a16="http://schemas.microsoft.com/office/drawing/2014/main" id="{89CC0135-8B48-4746-B0E1-09EF14C329D7}"/>
              </a:ext>
            </a:extLst>
          </p:cNvPr>
          <p:cNvSpPr>
            <a:spLocks xmlns:a="http://schemas.openxmlformats.org/drawingml/2006/main" noGrp="1"/>
          </p:cNvSpPr>
          <p:nvPr/>
        </p:nvSpPr>
        <p:spPr>
          <a:xfrm xmlns:a="http://schemas.openxmlformats.org/drawingml/2006/main">
            <a:off x="609600" y="4819650"/>
            <a:ext cx="3276600"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7382D"/>
                </a:solidFill>
                <a:latin typeface="Helvetica Neue"/>
                <a:ea typeface="Helvetica Neue"/>
                <a:cs typeface="Helvetica Neue"/>
              </a:defRPr>
            </a:defPPr>
          </a:lstStyle>
          <a:p xmlns:a="http://schemas.openxmlformats.org/drawingml/2006/main">
            <a:pPr>
              <a:defRPr sz="1950" b="0">
                <a:solidFill>
                  <a:srgbClr val="17382D"/>
                </a:solidFill>
                <a:latin typeface="Helvetica Neue"/>
                <a:ea typeface="Helvetica Neue"/>
                <a:cs typeface="Helvetica Neue"/>
              </a:defRPr>
            </a:pPr>
            <a:r>
              <a:rPr sz="1950" b="0">
                <a:solidFill>
                  <a:srgbClr val="17382D"/>
                </a:solidFill>
                <a:latin typeface="Helvetica Neue"/>
                <a:ea typeface="Helvetica Neue"/>
                <a:cs typeface="Helvetica Neue"/>
              </a:rPr>
              <a:t>Capture, check sources,</a:t>
            </a:r>
          </a:p>
          <a:p xmlns:a="http://schemas.openxmlformats.org/drawingml/2006/main">
            <a:pPr>
              <a:defRPr sz="1950" b="0">
                <a:solidFill>
                  <a:srgbClr val="17382D"/>
                </a:solidFill>
                <a:latin typeface="Helvetica Neue"/>
                <a:ea typeface="Helvetica Neue"/>
                <a:cs typeface="Helvetica Neue"/>
              </a:defRPr>
            </a:pPr>
            <a:r>
              <a:rPr sz="1950" b="0">
                <a:solidFill>
                  <a:srgbClr val="17382D"/>
                </a:solidFill>
                <a:latin typeface="Helvetica Neue"/>
                <a:ea typeface="Helvetica Neue"/>
                <a:cs typeface="Helvetica Neue"/>
              </a:rPr>
              <a:t>correct and export.</a:t>
            </a:r>
          </a:p>
        </p:txBody>
      </p:sp>
      <p:sp>
        <p:nvSpPr>
          <p:cNvPr id="8" name="">
            <a:extLst xmlns:a="http://schemas.openxmlformats.org/drawingml/2006/main">
              <a:ext uri="{FF2B5EF4-FFF2-40B4-BE49-F238E27FC236}">
                <a16:creationId xmlns:a16="http://schemas.microsoft.com/office/drawing/2014/main" id="{817389A5-1590-4F1B-97D4-05288C3FE77D}"/>
              </a:ext>
            </a:extLst>
          </p:cNvPr>
          <p:cNvSpPr>
            <a:spLocks xmlns:a="http://schemas.openxmlformats.org/drawingml/2006/main" noGrp="1"/>
          </p:cNvSpPr>
          <p:nvPr/>
        </p:nvSpPr>
        <p:spPr>
          <a:xfrm xmlns:a="http://schemas.openxmlformats.org/drawingml/2006/main">
            <a:off x="4419600" y="3914775"/>
            <a:ext cx="3276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17382D"/>
                </a:solidFill>
                <a:latin typeface="Helvetica Neue"/>
                <a:ea typeface="Helvetica Neue"/>
                <a:cs typeface="Helvetica Neue"/>
              </a:defRPr>
            </a:defPPr>
          </a:lstStyle>
          <a:p xmlns:a="http://schemas.openxmlformats.org/drawingml/2006/main">
            <a:pPr>
              <a:defRPr sz="2025" b="1">
                <a:solidFill>
                  <a:srgbClr val="17382D"/>
                </a:solidFill>
                <a:latin typeface="Helvetica Neue"/>
                <a:ea typeface="Helvetica Neue"/>
                <a:cs typeface="Helvetica Neue"/>
              </a:defRPr>
            </a:pPr>
            <a:r>
              <a:rPr sz="2025" b="1">
                <a:solidFill>
                  <a:srgbClr val="17382D"/>
                </a:solidFill>
                <a:latin typeface="Helvetica Neue"/>
                <a:ea typeface="Helvetica Neue"/>
                <a:cs typeface="Helvetica Neue"/>
              </a:rPr>
              <a:t>Measure the whole task</a:t>
            </a:r>
          </a:p>
        </p:txBody>
      </p:sp>
      <p:sp>
        <p:nvSpPr>
          <p:cNvPr id="9" name="">
            <a:extLst xmlns:a="http://schemas.openxmlformats.org/drawingml/2006/main">
              <a:ext uri="{FF2B5EF4-FFF2-40B4-BE49-F238E27FC236}">
                <a16:creationId xmlns:a16="http://schemas.microsoft.com/office/drawing/2014/main" id="{095345A7-DE43-41F2-82BF-3E105B389386}"/>
              </a:ext>
            </a:extLst>
          </p:cNvPr>
          <p:cNvSpPr>
            <a:spLocks xmlns:a="http://schemas.openxmlformats.org/drawingml/2006/main" noGrp="1"/>
          </p:cNvSpPr>
          <p:nvPr/>
        </p:nvSpPr>
        <p:spPr>
          <a:xfrm xmlns:a="http://schemas.openxmlformats.org/drawingml/2006/main">
            <a:off x="4419600" y="4819650"/>
            <a:ext cx="3276600"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7382D"/>
                </a:solidFill>
                <a:latin typeface="Helvetica Neue"/>
                <a:ea typeface="Helvetica Neue"/>
                <a:cs typeface="Helvetica Neue"/>
              </a:defRPr>
            </a:defPPr>
          </a:lstStyle>
          <a:p xmlns:a="http://schemas.openxmlformats.org/drawingml/2006/main">
            <a:pPr>
              <a:defRPr sz="1950" b="0">
                <a:solidFill>
                  <a:srgbClr val="17382D"/>
                </a:solidFill>
                <a:latin typeface="Helvetica Neue"/>
                <a:ea typeface="Helvetica Neue"/>
                <a:cs typeface="Helvetica Neue"/>
              </a:defRPr>
            </a:pPr>
            <a:r>
              <a:rPr sz="1950" b="0">
                <a:solidFill>
                  <a:srgbClr val="17382D"/>
                </a:solidFill>
                <a:latin typeface="Helvetica Neue"/>
                <a:ea typeface="Helvetica Neue"/>
                <a:cs typeface="Helvetica Neue"/>
              </a:rPr>
              <a:t>Memory, download, energy,</a:t>
            </a:r>
          </a:p>
          <a:p xmlns:a="http://schemas.openxmlformats.org/drawingml/2006/main">
            <a:pPr>
              <a:defRPr sz="1950" b="0">
                <a:solidFill>
                  <a:srgbClr val="17382D"/>
                </a:solidFill>
                <a:latin typeface="Helvetica Neue"/>
                <a:ea typeface="Helvetica Neue"/>
                <a:cs typeface="Helvetica Neue"/>
              </a:defRPr>
            </a:pPr>
            <a:r>
              <a:rPr sz="1950" b="0">
                <a:solidFill>
                  <a:srgbClr val="17382D"/>
                </a:solidFill>
                <a:latin typeface="Helvetica Neue"/>
                <a:ea typeface="Helvetica Neue"/>
                <a:cs typeface="Helvetica Neue"/>
              </a:rPr>
              <a:t>latency and review effort.</a:t>
            </a:r>
          </a:p>
        </p:txBody>
      </p:sp>
      <p:sp>
        <p:nvSpPr>
          <p:cNvPr id="10" name="">
            <a:extLst xmlns:a="http://schemas.openxmlformats.org/drawingml/2006/main">
              <a:ext uri="{FF2B5EF4-FFF2-40B4-BE49-F238E27FC236}">
                <a16:creationId xmlns:a16="http://schemas.microsoft.com/office/drawing/2014/main" id="{12A8191D-6A55-474F-BFC7-32619AEDBB23}"/>
              </a:ext>
            </a:extLst>
          </p:cNvPr>
          <p:cNvSpPr>
            <a:spLocks xmlns:a="http://schemas.openxmlformats.org/drawingml/2006/main" noGrp="1"/>
          </p:cNvSpPr>
          <p:nvPr/>
        </p:nvSpPr>
        <p:spPr>
          <a:xfrm xmlns:a="http://schemas.openxmlformats.org/drawingml/2006/main">
            <a:off x="8229600" y="3914775"/>
            <a:ext cx="3276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17382D"/>
                </a:solidFill>
                <a:latin typeface="Helvetica Neue"/>
                <a:ea typeface="Helvetica Neue"/>
                <a:cs typeface="Helvetica Neue"/>
              </a:defRPr>
            </a:defPPr>
          </a:lstStyle>
          <a:p xmlns:a="http://schemas.openxmlformats.org/drawingml/2006/main">
            <a:pPr>
              <a:defRPr sz="2025" b="1">
                <a:solidFill>
                  <a:srgbClr val="17382D"/>
                </a:solidFill>
                <a:latin typeface="Helvetica Neue"/>
                <a:ea typeface="Helvetica Neue"/>
                <a:cs typeface="Helvetica Neue"/>
              </a:defRPr>
            </a:pPr>
            <a:r>
              <a:rPr sz="2025" b="1">
                <a:solidFill>
                  <a:srgbClr val="17382D"/>
                </a:solidFill>
                <a:latin typeface="Helvetica Neue"/>
                <a:ea typeface="Helvetica Neue"/>
                <a:cs typeface="Helvetica Neue"/>
              </a:rPr>
              <a:t>Keep only useful help</a:t>
            </a:r>
          </a:p>
        </p:txBody>
      </p:sp>
      <p:sp>
        <p:nvSpPr>
          <p:cNvPr id="11" name="">
            <a:extLst xmlns:a="http://schemas.openxmlformats.org/drawingml/2006/main">
              <a:ext uri="{FF2B5EF4-FFF2-40B4-BE49-F238E27FC236}">
                <a16:creationId xmlns:a16="http://schemas.microsoft.com/office/drawing/2014/main" id="{7DA34B69-A639-432C-828D-D18893B610C5}"/>
              </a:ext>
            </a:extLst>
          </p:cNvPr>
          <p:cNvSpPr>
            <a:spLocks xmlns:a="http://schemas.openxmlformats.org/drawingml/2006/main" noGrp="1"/>
          </p:cNvSpPr>
          <p:nvPr/>
        </p:nvSpPr>
        <p:spPr>
          <a:xfrm xmlns:a="http://schemas.openxmlformats.org/drawingml/2006/main">
            <a:off x="8229600" y="4819650"/>
            <a:ext cx="3276600"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7382D"/>
                </a:solidFill>
                <a:latin typeface="Helvetica Neue"/>
                <a:ea typeface="Helvetica Neue"/>
                <a:cs typeface="Helvetica Neue"/>
              </a:defRPr>
            </a:defPPr>
          </a:lstStyle>
          <a:p xmlns:a="http://schemas.openxmlformats.org/drawingml/2006/main">
            <a:pPr>
              <a:defRPr sz="1950" b="0">
                <a:solidFill>
                  <a:srgbClr val="17382D"/>
                </a:solidFill>
                <a:latin typeface="Helvetica Neue"/>
                <a:ea typeface="Helvetica Neue"/>
                <a:cs typeface="Helvetica Neue"/>
              </a:defRPr>
            </a:pPr>
            <a:r>
              <a:rPr sz="1950" b="0">
                <a:solidFill>
                  <a:srgbClr val="17382D"/>
                </a:solidFill>
                <a:latin typeface="Helvetica Neue"/>
                <a:ea typeface="Helvetica Neue"/>
                <a:cs typeface="Helvetica Neue"/>
              </a:rPr>
              <a:t>Disable assistance when</a:t>
            </a:r>
          </a:p>
          <a:p xmlns:a="http://schemas.openxmlformats.org/drawingml/2006/main">
            <a:pPr>
              <a:defRPr sz="1950" b="0">
                <a:solidFill>
                  <a:srgbClr val="17382D"/>
                </a:solidFill>
                <a:latin typeface="Helvetica Neue"/>
                <a:ea typeface="Helvetica Neue"/>
                <a:cs typeface="Helvetica Neue"/>
              </a:defRPr>
            </a:pPr>
            <a:r>
              <a:rPr sz="1950" b="0">
                <a:solidFill>
                  <a:srgbClr val="17382D"/>
                </a:solidFill>
                <a:latin typeface="Helvetica Neue"/>
                <a:ea typeface="Helvetica Neue"/>
                <a:cs typeface="Helvetica Neue"/>
              </a:rPr>
              <a:t>quality or effort is worse.</a:t>
            </a:r>
          </a:p>
        </p:txBody>
      </p:sp>
    </p:spTree>
    <p:extLst>
      <p:ext uri="{BB962C8B-B14F-4D97-AF65-F5344CB8AC3E}">
        <p14:creationId xmlns:p14="http://schemas.microsoft.com/office/powerpoint/2010/main" val="1426946887"/>
      </p:ext>
    </p:extLst>
  </p:cSld>
</p:sld>
</file>

<file path=ppt/slides/slide9.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516C574-043C-4E6A-8380-8723D411DEAA}"/>
              </a:ext>
            </a:extLst>
          </p:cNvPr>
          <p:cNvSpPr>
            <a:spLocks xmlns:a="http://schemas.openxmlformats.org/drawingml/2006/main" noGrp="1"/>
          </p:cNvSpPr>
          <p:nvPr/>
        </p:nvSpPr>
        <p:spPr>
          <a:xfrm xmlns:a="http://schemas.openxmlformats.org/drawingml/2006/main">
            <a:off x="609600" y="49530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382D"/>
                </a:solidFill>
                <a:latin typeface="Helvetica Neue"/>
                <a:ea typeface="Helvetica Neue"/>
                <a:cs typeface="Helvetica Neue"/>
              </a:defRPr>
            </a:defPPr>
          </a:lstStyle>
          <a:p xmlns:a="http://schemas.openxmlformats.org/drawingml/2006/main">
            <a:pPr>
              <a:defRPr sz="3300" b="1">
                <a:solidFill>
                  <a:srgbClr val="17382D"/>
                </a:solidFill>
                <a:latin typeface="Helvetica Neue"/>
                <a:ea typeface="Helvetica Neue"/>
                <a:cs typeface="Helvetica Neue"/>
              </a:defRPr>
            </a:pPr>
            <a:r>
              <a:rPr sz="3300" b="1">
                <a:solidFill>
                  <a:srgbClr val="17382D"/>
                </a:solidFill>
                <a:latin typeface="Helvetica Neue"/>
                <a:ea typeface="Helvetica Neue"/>
                <a:cs typeface="Helvetica Neue"/>
              </a:rPr>
              <a:t>Reciprocity must help the contributor too</a:t>
            </a:r>
          </a:p>
        </p:txBody>
      </p:sp>
      <p:sp>
        <p:nvSpPr>
          <p:cNvPr id="2" name="">
            <a:extLst xmlns:a="http://schemas.openxmlformats.org/drawingml/2006/main">
              <a:ext uri="{FF2B5EF4-FFF2-40B4-BE49-F238E27FC236}">
                <a16:creationId xmlns:a16="http://schemas.microsoft.com/office/drawing/2014/main" id="{3CA56BD6-C309-4A1D-816A-751210505122}"/>
              </a:ext>
            </a:extLst>
          </p:cNvPr>
          <p:cNvSpPr>
            <a:spLocks xmlns:a="http://schemas.openxmlformats.org/drawingml/2006/main" noGrp="1"/>
          </p:cNvSpPr>
          <p:nvPr/>
        </p:nvSpPr>
        <p:spPr>
          <a:xfrm xmlns:a="http://schemas.openxmlformats.org/drawingml/2006/main">
            <a:off x="609600" y="624840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3645A"/>
                </a:solidFill>
                <a:latin typeface="Helvetica Neue"/>
                <a:ea typeface="Helvetica Neue"/>
                <a:cs typeface="Helvetica Neue"/>
              </a:defRPr>
            </a:defPPr>
          </a:lstStyle>
          <a:p xmlns:a="http://schemas.openxmlformats.org/drawingml/2006/main">
            <a:pPr>
              <a:defRPr sz="1275" b="0">
                <a:solidFill>
                  <a:srgbClr val="53645A"/>
                </a:solidFill>
                <a:latin typeface="Helvetica Neue"/>
                <a:ea typeface="Helvetica Neue"/>
                <a:cs typeface="Helvetica Neue"/>
              </a:defRPr>
            </a:pPr>
            <a:r>
              <a:rPr sz="1275" b="0">
                <a:solidFill>
                  <a:srgbClr val="53645A"/>
                </a:solidFill>
                <a:latin typeface="Helvetica Neue"/>
                <a:ea typeface="Helvetica Neue"/>
                <a:cs typeface="Helvetica Neue"/>
              </a:rPr>
              <a:t>Proposal · 8 October 2026</a:t>
            </a:r>
          </a:p>
        </p:txBody>
      </p:sp>
      <p:sp>
        <p:nvSpPr>
          <p:cNvPr id="3" name="">
            <a:extLst xmlns:a="http://schemas.openxmlformats.org/drawingml/2006/main">
              <a:ext uri="{FF2B5EF4-FFF2-40B4-BE49-F238E27FC236}">
                <a16:creationId xmlns:a16="http://schemas.microsoft.com/office/drawing/2014/main" id="{27D8FD81-6A1F-4C86-B948-3FD74217BED9}"/>
              </a:ext>
            </a:extLst>
          </p:cNvPr>
          <p:cNvSpPr>
            <a:spLocks xmlns:a="http://schemas.openxmlformats.org/drawingml/2006/main" noGrp="1"/>
          </p:cNvSpPr>
          <p:nvPr/>
        </p:nvSpPr>
        <p:spPr>
          <a:xfrm xmlns:a="http://schemas.openxmlformats.org/drawingml/2006/main">
            <a:off x="11049000" y="6248400"/>
            <a:ext cx="45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3645A"/>
                </a:solidFill>
                <a:latin typeface="Helvetica Neue"/>
                <a:ea typeface="Helvetica Neue"/>
                <a:cs typeface="Helvetica Neue"/>
              </a:defRPr>
            </a:defPPr>
          </a:lstStyle>
          <a:p xmlns:a="http://schemas.openxmlformats.org/drawingml/2006/main">
            <a:pPr>
              <a:defRPr sz="1275" b="0">
                <a:solidFill>
                  <a:srgbClr val="53645A"/>
                </a:solidFill>
                <a:latin typeface="Helvetica Neue"/>
                <a:ea typeface="Helvetica Neue"/>
                <a:cs typeface="Helvetica Neue"/>
              </a:defRPr>
            </a:pPr>
            <a:r>
              <a:rPr sz="1275" b="0">
                <a:solidFill>
                  <a:srgbClr val="53645A"/>
                </a:solidFill>
                <a:latin typeface="Helvetica Neue"/>
                <a:ea typeface="Helvetica Neue"/>
                <a:cs typeface="Helvetica Neue"/>
              </a:rPr>
              <a:t>9</a:t>
            </a:r>
          </a:p>
        </p:txBody>
      </p:sp>
      <p:sp>
        <p:nvSpPr>
          <p:cNvPr id="4" name="">
            <a:extLst xmlns:a="http://schemas.openxmlformats.org/drawingml/2006/main">
              <a:ext uri="{FF2B5EF4-FFF2-40B4-BE49-F238E27FC236}">
                <a16:creationId xmlns:a16="http://schemas.microsoft.com/office/drawing/2014/main" id="{A6EC7947-4DC6-4E3B-B363-65261C6D30B1}"/>
              </a:ext>
            </a:extLst>
          </p:cNvPr>
          <p:cNvSpPr>
            <a:spLocks xmlns:a="http://schemas.openxmlformats.org/drawingml/2006/main" noGrp="1"/>
          </p:cNvSpPr>
          <p:nvPr/>
        </p:nvSpPr>
        <p:spPr>
          <a:xfrm xmlns:a="http://schemas.openxmlformats.org/drawingml/2006/main">
            <a:off x="609600" y="1952625"/>
            <a:ext cx="109061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17382D"/>
                </a:solidFill>
                <a:latin typeface="Helvetica Neue"/>
                <a:ea typeface="Helvetica Neue"/>
                <a:cs typeface="Helvetica Neue"/>
              </a:defRPr>
            </a:defPPr>
          </a:lstStyle>
          <a:p xmlns:a="http://schemas.openxmlformats.org/drawingml/2006/main">
            <a:pPr>
              <a:defRPr sz="3600" b="1">
                <a:solidFill>
                  <a:srgbClr val="17382D"/>
                </a:solidFill>
                <a:latin typeface="Helvetica Neue"/>
                <a:ea typeface="Helvetica Neue"/>
                <a:cs typeface="Helvetica Neue"/>
              </a:defRPr>
            </a:pPr>
            <a:r>
              <a:rPr sz="3600" b="1">
                <a:solidFill>
                  <a:srgbClr val="17382D"/>
                </a:solidFill>
                <a:latin typeface="Helvetica Neue"/>
                <a:ea typeface="Helvetica Neue"/>
                <a:cs typeface="Helvetica Neue"/>
              </a:rPr>
              <a:t>Local experience  ↔  Practical feedback</a:t>
            </a:r>
          </a:p>
        </p:txBody>
      </p:sp>
      <p:sp>
        <p:nvSpPr>
          <p:cNvPr id="5" name="">
            <a:extLst xmlns:a="http://schemas.openxmlformats.org/drawingml/2006/main">
              <a:ext uri="{FF2B5EF4-FFF2-40B4-BE49-F238E27FC236}">
                <a16:creationId xmlns:a16="http://schemas.microsoft.com/office/drawing/2014/main" id="{E98303CB-2032-4140-B425-FBC5B491182F}"/>
              </a:ext>
            </a:extLst>
          </p:cNvPr>
          <p:cNvSpPr>
            <a:spLocks xmlns:a="http://schemas.openxmlformats.org/drawingml/2006/main" noGrp="1"/>
          </p:cNvSpPr>
          <p:nvPr/>
        </p:nvSpPr>
        <p:spPr>
          <a:xfrm xmlns:a="http://schemas.openxmlformats.org/drawingml/2006/main">
            <a:off x="609600" y="310515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0">
                <a:solidFill>
                  <a:srgbClr val="17382D"/>
                </a:solidFill>
                <a:latin typeface="Helvetica Neue"/>
                <a:ea typeface="Helvetica Neue"/>
                <a:cs typeface="Helvetica Neue"/>
              </a:defRPr>
            </a:defPPr>
          </a:lstStyle>
          <a:p xmlns:a="http://schemas.openxmlformats.org/drawingml/2006/main">
            <a:pPr>
              <a:defRPr sz="2475" b="0">
                <a:solidFill>
                  <a:srgbClr val="17382D"/>
                </a:solidFill>
                <a:latin typeface="Helvetica Neue"/>
                <a:ea typeface="Helvetica Neue"/>
                <a:cs typeface="Helvetica Neue"/>
              </a:defRPr>
            </a:pPr>
            <a:r>
              <a:rPr sz="2475" b="0">
                <a:solidFill>
                  <a:srgbClr val="17382D"/>
                </a:solidFill>
                <a:latin typeface="Helvetica Neue"/>
                <a:ea typeface="Helvetica Neue"/>
                <a:cs typeface="Helvetica Neue"/>
              </a:rPr>
              <a:t>Context, attribution and permission travel with every shared lesson.</a:t>
            </a:r>
          </a:p>
        </p:txBody>
      </p:sp>
      <p:sp>
        <p:nvSpPr>
          <p:cNvPr id="6" name="">
            <a:extLst xmlns:a="http://schemas.openxmlformats.org/drawingml/2006/main">
              <a:ext uri="{FF2B5EF4-FFF2-40B4-BE49-F238E27FC236}">
                <a16:creationId xmlns:a16="http://schemas.microsoft.com/office/drawing/2014/main" id="{DADD3058-11A1-4ACE-AA36-F21F7FC83A89}"/>
              </a:ext>
            </a:extLst>
          </p:cNvPr>
          <p:cNvSpPr>
            <a:spLocks xmlns:a="http://schemas.openxmlformats.org/drawingml/2006/main" noGrp="1"/>
          </p:cNvSpPr>
          <p:nvPr/>
        </p:nvSpPr>
        <p:spPr>
          <a:xfrm xmlns:a="http://schemas.openxmlformats.org/drawingml/2006/main">
            <a:off x="609600" y="4762500"/>
            <a:ext cx="10668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7382D"/>
                </a:solidFill>
                <a:latin typeface="Helvetica Neue"/>
                <a:ea typeface="Helvetica Neue"/>
                <a:cs typeface="Helvetica Neue"/>
              </a:defRPr>
            </a:defPPr>
          </a:lstStyle>
          <a:p xmlns:a="http://schemas.openxmlformats.org/drawingml/2006/main">
            <a:pPr>
              <a:defRPr sz="2175" b="1">
                <a:solidFill>
                  <a:srgbClr val="17382D"/>
                </a:solidFill>
                <a:latin typeface="Helvetica Neue"/>
                <a:ea typeface="Helvetica Neue"/>
                <a:cs typeface="Helvetica Neue"/>
              </a:defRPr>
            </a:pPr>
            <a:r>
              <a:rPr sz="2175" b="1">
                <a:solidFill>
                  <a:srgbClr val="17382D"/>
                </a:solidFill>
                <a:latin typeface="Helvetica Neue"/>
                <a:ea typeface="Helvetica Neue"/>
                <a:cs typeface="Helvetica Neue"/>
              </a:rPr>
              <a:t>Pilot test: one useful exchange in each direction for every matched pair—</a:t>
            </a:r>
          </a:p>
          <a:p xmlns:a="http://schemas.openxmlformats.org/drawingml/2006/main">
            <a:pPr>
              <a:defRPr sz="2175" b="1">
                <a:solidFill>
                  <a:srgbClr val="17382D"/>
                </a:solidFill>
                <a:latin typeface="Helvetica Neue"/>
                <a:ea typeface="Helvetica Neue"/>
                <a:cs typeface="Helvetica Neue"/>
              </a:defRPr>
            </a:pPr>
            <a:r>
              <a:rPr sz="2175" b="1">
                <a:solidFill>
                  <a:srgbClr val="17382D"/>
                </a:solidFill>
                <a:latin typeface="Helvetica Neue"/>
                <a:ea typeface="Helvetica Neue"/>
                <a:cs typeface="Helvetica Neue"/>
              </a:rPr>
              <a:t>with limitations recorded and the right to decline intact.</a:t>
            </a:r>
          </a:p>
        </p:txBody>
      </p:sp>
    </p:spTree>
    <p:extLst>
      <p:ext uri="{BB962C8B-B14F-4D97-AF65-F5344CB8AC3E}">
        <p14:creationId xmlns:p14="http://schemas.microsoft.com/office/powerpoint/2010/main" val="258095328"/>
      </p:ext>
    </p:extLst>
  </p:cSld>
</p:sld>
</file>

<file path=ppt/slides/slide10.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896E658-3E34-4A44-9EEB-4A1D856441AB}"/>
              </a:ext>
            </a:extLst>
          </p:cNvPr>
          <p:cNvSpPr>
            <a:spLocks xmlns:a="http://schemas.openxmlformats.org/drawingml/2006/main" noGrp="1"/>
          </p:cNvSpPr>
          <p:nvPr/>
        </p:nvSpPr>
        <p:spPr>
          <a:xfrm xmlns:a="http://schemas.openxmlformats.org/drawingml/2006/main">
            <a:off x="609600" y="49530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382D"/>
                </a:solidFill>
                <a:latin typeface="Helvetica Neue"/>
                <a:ea typeface="Helvetica Neue"/>
                <a:cs typeface="Helvetica Neue"/>
              </a:defRPr>
            </a:defPPr>
          </a:lstStyle>
          <a:p xmlns:a="http://schemas.openxmlformats.org/drawingml/2006/main">
            <a:pPr>
              <a:defRPr sz="3300" b="1">
                <a:solidFill>
                  <a:srgbClr val="17382D"/>
                </a:solidFill>
                <a:latin typeface="Helvetica Neue"/>
                <a:ea typeface="Helvetica Neue"/>
                <a:cs typeface="Helvetica Neue"/>
              </a:defRPr>
            </a:pPr>
            <a:r>
              <a:rPr sz="3300" b="1">
                <a:solidFill>
                  <a:srgbClr val="17382D"/>
                </a:solidFill>
                <a:latin typeface="Helvetica Neue"/>
                <a:ea typeface="Helvetica Neue"/>
                <a:cs typeface="Helvetica Neue"/>
              </a:rPr>
              <a:t>Integrate before rebuilding</a:t>
            </a:r>
          </a:p>
        </p:txBody>
      </p:sp>
      <p:sp>
        <p:nvSpPr>
          <p:cNvPr id="2" name="">
            <a:extLst xmlns:a="http://schemas.openxmlformats.org/drawingml/2006/main">
              <a:ext uri="{FF2B5EF4-FFF2-40B4-BE49-F238E27FC236}">
                <a16:creationId xmlns:a16="http://schemas.microsoft.com/office/drawing/2014/main" id="{B2797509-DA10-4591-9275-75117A78AEAF}"/>
              </a:ext>
            </a:extLst>
          </p:cNvPr>
          <p:cNvSpPr>
            <a:spLocks xmlns:a="http://schemas.openxmlformats.org/drawingml/2006/main" noGrp="1"/>
          </p:cNvSpPr>
          <p:nvPr/>
        </p:nvSpPr>
        <p:spPr>
          <a:xfrm xmlns:a="http://schemas.openxmlformats.org/drawingml/2006/main">
            <a:off x="609600" y="624840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3645A"/>
                </a:solidFill>
                <a:latin typeface="Helvetica Neue"/>
                <a:ea typeface="Helvetica Neue"/>
                <a:cs typeface="Helvetica Neue"/>
              </a:defRPr>
            </a:defPPr>
          </a:lstStyle>
          <a:p xmlns:a="http://schemas.openxmlformats.org/drawingml/2006/main">
            <a:pPr>
              <a:defRPr sz="1275" b="0">
                <a:solidFill>
                  <a:srgbClr val="53645A"/>
                </a:solidFill>
                <a:latin typeface="Helvetica Neue"/>
                <a:ea typeface="Helvetica Neue"/>
                <a:cs typeface="Helvetica Neue"/>
              </a:defRPr>
            </a:pPr>
            <a:r>
              <a:rPr sz="1275" b="0">
                <a:solidFill>
                  <a:srgbClr val="53645A"/>
                </a:solidFill>
                <a:latin typeface="Helvetica Neue"/>
                <a:ea typeface="Helvetica Neue"/>
                <a:cs typeface="Helvetica Neue"/>
              </a:rPr>
              <a:t>Proposal · 8 October 2026</a:t>
            </a:r>
          </a:p>
        </p:txBody>
      </p:sp>
      <p:sp>
        <p:nvSpPr>
          <p:cNvPr id="3" name="">
            <a:extLst xmlns:a="http://schemas.openxmlformats.org/drawingml/2006/main">
              <a:ext uri="{FF2B5EF4-FFF2-40B4-BE49-F238E27FC236}">
                <a16:creationId xmlns:a16="http://schemas.microsoft.com/office/drawing/2014/main" id="{723B4F2F-206C-4ED1-926B-ECCEB80672A0}"/>
              </a:ext>
            </a:extLst>
          </p:cNvPr>
          <p:cNvSpPr>
            <a:spLocks xmlns:a="http://schemas.openxmlformats.org/drawingml/2006/main" noGrp="1"/>
          </p:cNvSpPr>
          <p:nvPr/>
        </p:nvSpPr>
        <p:spPr>
          <a:xfrm xmlns:a="http://schemas.openxmlformats.org/drawingml/2006/main">
            <a:off x="11049000" y="6248400"/>
            <a:ext cx="45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3645A"/>
                </a:solidFill>
                <a:latin typeface="Helvetica Neue"/>
                <a:ea typeface="Helvetica Neue"/>
                <a:cs typeface="Helvetica Neue"/>
              </a:defRPr>
            </a:defPPr>
          </a:lstStyle>
          <a:p xmlns:a="http://schemas.openxmlformats.org/drawingml/2006/main">
            <a:pPr>
              <a:defRPr sz="1275" b="0">
                <a:solidFill>
                  <a:srgbClr val="53645A"/>
                </a:solidFill>
                <a:latin typeface="Helvetica Neue"/>
                <a:ea typeface="Helvetica Neue"/>
                <a:cs typeface="Helvetica Neue"/>
              </a:defRPr>
            </a:pPr>
            <a:r>
              <a:rPr sz="1275" b="0">
                <a:solidFill>
                  <a:srgbClr val="53645A"/>
                </a:solidFill>
                <a:latin typeface="Helvetica Neue"/>
                <a:ea typeface="Helvetica Neue"/>
                <a:cs typeface="Helvetica Neue"/>
              </a:rPr>
              <a:t>10</a:t>
            </a:r>
          </a:p>
        </p:txBody>
      </p:sp>
      <p:graphicFrame>
        <p:nvGraphicFramePr>
          <p:cNvPr id="4" name="">
            <a:extLst xmlns:a="http://schemas.openxmlformats.org/drawingml/2006/main">
              <a:ext uri="{FF2B5EF4-FFF2-40B4-BE49-F238E27FC236}">
                <a16:creationId xmlns:a16="http://schemas.microsoft.com/office/drawing/2014/main" id="{ADD7C79E-6F88-47D1-A1ED-841F4146D524}"/>
              </a:ext>
            </a:extLst>
          </p:cNvPr>
          <p:cNvGraphicFramePr/>
          <p:nvPr/>
        </p:nvGraphicFramePr>
        <p:xfrm>
          <a:off xmlns:a="http://schemas.openxmlformats.org/drawingml/2006/main" x="609600" y="1866900"/>
          <a:ext xmlns:a="http://schemas.openxmlformats.org/drawingml/2006/main" cx="10972800" cy="3343275"/>
        </p:xfrm>
        <a:graphic xmlns:a="http://schemas.openxmlformats.org/drawingml/2006/main">
          <a:graphicData uri="http://schemas.openxmlformats.org/drawingml/2006/table">
            <a:tbl>
              <a:tblPr/>
              <a:tblGrid>
                <a:gridCol w="4095750"/>
                <a:gridCol w="6877050"/>
              </a:tblGrid>
              <a:tr h="668655">
                <a:tc>
                  <a:txBody>
                    <a:bodyPr wrap="square" lIns="171450" tIns="95250" rIns="171450" bIns="95250">
                      <a:noAutofit/>
                    </a:bodyPr>
                    <a:lstStyle/>
                    <a:p>
                      <a:r>
                        <a:rPr sz="1875" b="1">
                          <a:solidFill>
                            <a:srgbClr val="FFFFFF"/>
                          </a:solidFill>
                          <a:latin typeface="Helvetica Neue"/>
                          <a:ea typeface="Helvetica Neue"/>
                          <a:cs typeface="Helvetica Neue"/>
                        </a:rPr>
                        <a:t>Existing system</a:t>
                      </a:r>
                    </a:p>
                  </a:txBody>
                  <a:tcPr marL="91440" marR="91440" marT="45720" marB="45720" anchor="ctr">
                    <a:solidFill>
                      <a:srgbClr val="17382D"/>
                    </a:solidFill>
                  </a:tcPr>
                </a:tc>
                <a:tc>
                  <a:txBody>
                    <a:bodyPr wrap="square" lIns="171450" tIns="95250" rIns="171450" bIns="95250">
                      <a:noAutofit/>
                    </a:bodyPr>
                    <a:lstStyle/>
                    <a:p>
                      <a:r>
                        <a:rPr sz="1875" b="1">
                          <a:solidFill>
                            <a:srgbClr val="FFFFFF"/>
                          </a:solidFill>
                          <a:latin typeface="Helvetica Neue"/>
                          <a:ea typeface="Helvetica Neue"/>
                          <a:cs typeface="Helvetica Neue"/>
                        </a:rPr>
                        <a:t>Green Goods response</a:t>
                      </a:r>
                    </a:p>
                  </a:txBody>
                  <a:tcPr marL="91440" marR="91440" marT="45720" marB="45720" anchor="ctr">
                    <a:solidFill>
                      <a:srgbClr val="17382D"/>
                    </a:solidFill>
                  </a:tcPr>
                </a:tc>
              </a:tr>
              <a:tr h="668655">
                <a:tc>
                  <a:txBody>
                    <a:bodyPr wrap="square" lIns="171450" tIns="95250" rIns="171450" bIns="95250">
                      <a:noAutofit/>
                    </a:bodyPr>
                    <a:lstStyle/>
                    <a:p>
                      <a:r>
                        <a:rPr sz="1875" b="0">
                          <a:solidFill>
                            <a:srgbClr val="17382D"/>
                          </a:solidFill>
                          <a:latin typeface="Helvetica Neue"/>
                          <a:ea typeface="Helvetica Neue"/>
                          <a:cs typeface="Helvetica Neue"/>
                        </a:rPr>
                        <a:t>farmOS · ODK / Kobo</a:t>
                      </a:r>
                    </a:p>
                  </a:txBody>
                  <a:tcPr marL="91440" marR="91440" marT="45720" marB="45720" anchor="ctr">
                    <a:solidFill>
                      <a:srgbClr val="FCFAF5"/>
                    </a:solidFill>
                  </a:tcPr>
                </a:tc>
                <a:tc>
                  <a:txBody>
                    <a:bodyPr wrap="square" lIns="171450" tIns="95250" rIns="171450" bIns="95250">
                      <a:noAutofit/>
                    </a:bodyPr>
                    <a:lstStyle/>
                    <a:p>
                      <a:r>
                        <a:rPr sz="1875" b="0">
                          <a:solidFill>
                            <a:srgbClr val="17382D"/>
                          </a:solidFill>
                          <a:latin typeface="Helvetica Neue"/>
                          <a:ea typeface="Helvetica Neue"/>
                          <a:cs typeface="Helvetica Neue"/>
                        </a:rPr>
                        <a:t>Reuse field records and collection patterns</a:t>
                      </a:r>
                    </a:p>
                  </a:txBody>
                  <a:tcPr marL="91440" marR="91440" marT="45720" marB="45720" anchor="ctr">
                    <a:solidFill>
                      <a:srgbClr val="FCFAF5"/>
                    </a:solidFill>
                  </a:tcPr>
                </a:tc>
              </a:tr>
              <a:tr h="668655">
                <a:tc>
                  <a:txBody>
                    <a:bodyPr wrap="square" lIns="171450" tIns="95250" rIns="171450" bIns="95250">
                      <a:noAutofit/>
                    </a:bodyPr>
                    <a:lstStyle/>
                    <a:p>
                      <a:r>
                        <a:rPr sz="1875" b="0">
                          <a:solidFill>
                            <a:srgbClr val="17382D"/>
                          </a:solidFill>
                          <a:latin typeface="Helvetica Neue"/>
                          <a:ea typeface="Helvetica Neue"/>
                          <a:cs typeface="Helvetica Neue"/>
                        </a:rPr>
                        <a:t>Hylo · OpenTEAM</a:t>
                      </a:r>
                    </a:p>
                  </a:txBody>
                  <a:tcPr marL="91440" marR="91440" marT="45720" marB="45720" anchor="ctr">
                    <a:solidFill>
                      <a:srgbClr val="DCE5D8"/>
                    </a:solidFill>
                  </a:tcPr>
                </a:tc>
                <a:tc>
                  <a:txBody>
                    <a:bodyPr wrap="square" lIns="171450" tIns="95250" rIns="171450" bIns="95250">
                      <a:noAutofit/>
                    </a:bodyPr>
                    <a:lstStyle/>
                    <a:p>
                      <a:r>
                        <a:rPr sz="1875" b="0">
                          <a:solidFill>
                            <a:srgbClr val="17382D"/>
                          </a:solidFill>
                          <a:latin typeface="Helvetica Neue"/>
                          <a:ea typeface="Helvetica Neue"/>
                          <a:cs typeface="Helvetica Neue"/>
                        </a:rPr>
                        <a:t>Connect coordination and interoperable knowledge</a:t>
                      </a:r>
                    </a:p>
                  </a:txBody>
                  <a:tcPr marL="91440" marR="91440" marT="45720" marB="45720" anchor="ctr">
                    <a:solidFill>
                      <a:srgbClr val="DCE5D8"/>
                    </a:solidFill>
                  </a:tcPr>
                </a:tc>
              </a:tr>
              <a:tr h="668655">
                <a:tc>
                  <a:txBody>
                    <a:bodyPr wrap="square" lIns="171450" tIns="95250" rIns="171450" bIns="95250">
                      <a:noAutofit/>
                    </a:bodyPr>
                    <a:lstStyle/>
                    <a:p>
                      <a:r>
                        <a:rPr sz="1875" b="0">
                          <a:solidFill>
                            <a:srgbClr val="17382D"/>
                          </a:solidFill>
                          <a:latin typeface="Helvetica Neue"/>
                          <a:ea typeface="Helvetica Neue"/>
                          <a:cs typeface="Helvetica Neue"/>
                        </a:rPr>
                        <a:t>GainForest / Taina</a:t>
                      </a:r>
                    </a:p>
                  </a:txBody>
                  <a:tcPr marL="91440" marR="91440" marT="45720" marB="45720" anchor="ctr">
                    <a:solidFill>
                      <a:srgbClr val="FCFAF5"/>
                    </a:solidFill>
                  </a:tcPr>
                </a:tc>
                <a:tc>
                  <a:txBody>
                    <a:bodyPr wrap="square" lIns="171450" tIns="95250" rIns="171450" bIns="95250">
                      <a:noAutofit/>
                    </a:bodyPr>
                    <a:lstStyle/>
                    <a:p>
                      <a:r>
                        <a:rPr sz="1875" b="0">
                          <a:solidFill>
                            <a:srgbClr val="17382D"/>
                          </a:solidFill>
                          <a:latin typeface="Helvetica Neue"/>
                          <a:ea typeface="Helvetica Neue"/>
                          <a:cs typeface="Helvetica Neue"/>
                        </a:rPr>
                        <a:t>Explore evidence and governance compatibility</a:t>
                      </a:r>
                    </a:p>
                  </a:txBody>
                  <a:tcPr marL="91440" marR="91440" marT="45720" marB="45720" anchor="ctr">
                    <a:solidFill>
                      <a:srgbClr val="FCFAF5"/>
                    </a:solidFill>
                  </a:tcPr>
                </a:tc>
              </a:tr>
              <a:tr h="668655">
                <a:tc>
                  <a:txBody>
                    <a:bodyPr wrap="square" lIns="171450" tIns="95250" rIns="171450" bIns="95250">
                      <a:noAutofit/>
                    </a:bodyPr>
                    <a:lstStyle/>
                    <a:p>
                      <a:r>
                        <a:rPr sz="1875" b="0">
                          <a:solidFill>
                            <a:srgbClr val="17382D"/>
                          </a:solidFill>
                          <a:latin typeface="Helvetica Neue"/>
                          <a:ea typeface="Helvetica Neue"/>
                          <a:cs typeface="Helvetica Neue"/>
                        </a:rPr>
                        <a:t>Green Goods protocol</a:t>
                      </a:r>
                    </a:p>
                  </a:txBody>
                  <a:tcPr marL="91440" marR="91440" marT="45720" marB="45720" anchor="ctr">
                    <a:solidFill>
                      <a:srgbClr val="DCE5D8"/>
                    </a:solidFill>
                  </a:tcPr>
                </a:tc>
                <a:tc>
                  <a:txBody>
                    <a:bodyPr wrap="square" lIns="171450" tIns="95250" rIns="171450" bIns="95250">
                      <a:noAutofit/>
                    </a:bodyPr>
                    <a:lstStyle/>
                    <a:p>
                      <a:r>
                        <a:rPr sz="1875" b="0">
                          <a:solidFill>
                            <a:srgbClr val="17382D"/>
                          </a:solidFill>
                          <a:latin typeface="Helvetica Neue"/>
                          <a:ea typeface="Helvetica Neue"/>
                          <a:cs typeface="Helvetica Neue"/>
                        </a:rPr>
                        <a:t>Preserve continuity into its existing review and funding rails</a:t>
                      </a:r>
                    </a:p>
                  </a:txBody>
                  <a:tcPr marL="91440" marR="91440" marT="45720" marB="45720" anchor="ctr">
                    <a:solidFill>
                      <a:srgbClr val="DCE5D8"/>
                    </a:solidFill>
                  </a:tcPr>
                </a:tc>
              </a:tr>
            </a:tbl>
          </a:graphicData>
        </a:graphic>
      </p:graphicFrame>
      <p:sp>
        <p:nvSpPr>
          <p:cNvPr id="5" name="">
            <a:extLst xmlns:a="http://schemas.openxmlformats.org/drawingml/2006/main">
              <a:ext uri="{FF2B5EF4-FFF2-40B4-BE49-F238E27FC236}">
                <a16:creationId xmlns:a16="http://schemas.microsoft.com/office/drawing/2014/main" id="{9967C70A-CC51-43C9-ABEB-1D89FEE02B40}"/>
              </a:ext>
            </a:extLst>
          </p:cNvPr>
          <p:cNvSpPr>
            <a:spLocks xmlns:a="http://schemas.openxmlformats.org/drawingml/2006/main" noGrp="1"/>
          </p:cNvSpPr>
          <p:nvPr/>
        </p:nvSpPr>
        <p:spPr>
          <a:xfrm xmlns:a="http://schemas.openxmlformats.org/drawingml/2006/main">
            <a:off x="609600" y="562927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17382D"/>
                </a:solidFill>
                <a:latin typeface="Helvetica Neue"/>
                <a:ea typeface="Helvetica Neue"/>
                <a:cs typeface="Helvetica Neue"/>
              </a:defRPr>
            </a:defPPr>
          </a:lstStyle>
          <a:p xmlns:a="http://schemas.openxmlformats.org/drawingml/2006/main">
            <a:pPr>
              <a:defRPr sz="2025" b="1">
                <a:solidFill>
                  <a:srgbClr val="17382D"/>
                </a:solidFill>
                <a:latin typeface="Helvetica Neue"/>
                <a:ea typeface="Helvetica Neue"/>
                <a:cs typeface="Helvetica Neue"/>
              </a:defRPr>
            </a:pPr>
            <a:r>
              <a:rPr sz="2025" b="1">
                <a:solidFill>
                  <a:srgbClr val="17382D"/>
                </a:solidFill>
                <a:latin typeface="Helvetica Neue"/>
                <a:ea typeface="Helvetica Neue"/>
                <a:cs typeface="Helvetica Neue"/>
              </a:rPr>
              <a:t>Differentiation to prove: useful continuity with less total effort</a:t>
            </a:r>
          </a:p>
        </p:txBody>
      </p:sp>
    </p:spTree>
    <p:extLst>
      <p:ext uri="{BB962C8B-B14F-4D97-AF65-F5344CB8AC3E}">
        <p14:creationId xmlns:p14="http://schemas.microsoft.com/office/powerpoint/2010/main" val="1606603274"/>
      </p:ext>
    </p:extLst>
  </p:cSld>
</p:sld>
</file>

<file path=ppt/slides/slide11.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169B274-98A3-4EDF-86EC-E8A1A3ADB7E0}"/>
              </a:ext>
            </a:extLst>
          </p:cNvPr>
          <p:cNvSpPr>
            <a:spLocks xmlns:a="http://schemas.openxmlformats.org/drawingml/2006/main" noGrp="1"/>
          </p:cNvSpPr>
          <p:nvPr/>
        </p:nvSpPr>
        <p:spPr>
          <a:xfrm xmlns:a="http://schemas.openxmlformats.org/drawingml/2006/main">
            <a:off x="609600" y="49530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382D"/>
                </a:solidFill>
                <a:latin typeface="Helvetica Neue"/>
                <a:ea typeface="Helvetica Neue"/>
                <a:cs typeface="Helvetica Neue"/>
              </a:defRPr>
            </a:defPPr>
          </a:lstStyle>
          <a:p xmlns:a="http://schemas.openxmlformats.org/drawingml/2006/main">
            <a:pPr>
              <a:defRPr sz="3300" b="1">
                <a:solidFill>
                  <a:srgbClr val="17382D"/>
                </a:solidFill>
                <a:latin typeface="Helvetica Neue"/>
                <a:ea typeface="Helvetica Neue"/>
                <a:cs typeface="Helvetica Neue"/>
              </a:defRPr>
            </a:pPr>
            <a:r>
              <a:rPr sz="3300" b="1">
                <a:solidFill>
                  <a:srgbClr val="17382D"/>
                </a:solidFill>
                <a:latin typeface="Helvetica Neue"/>
                <a:ea typeface="Helvetica Neue"/>
                <a:cs typeface="Helvetica Neue"/>
              </a:rPr>
              <a:t>Two weeks to test; eight weeks to learn</a:t>
            </a:r>
          </a:p>
        </p:txBody>
      </p:sp>
      <p:sp>
        <p:nvSpPr>
          <p:cNvPr id="2" name="">
            <a:extLst xmlns:a="http://schemas.openxmlformats.org/drawingml/2006/main">
              <a:ext uri="{FF2B5EF4-FFF2-40B4-BE49-F238E27FC236}">
                <a16:creationId xmlns:a16="http://schemas.microsoft.com/office/drawing/2014/main" id="{33E6B9C3-7C33-4D5C-BC1F-6D2DF29720E1}"/>
              </a:ext>
            </a:extLst>
          </p:cNvPr>
          <p:cNvSpPr>
            <a:spLocks xmlns:a="http://schemas.openxmlformats.org/drawingml/2006/main" noGrp="1"/>
          </p:cNvSpPr>
          <p:nvPr/>
        </p:nvSpPr>
        <p:spPr>
          <a:xfrm xmlns:a="http://schemas.openxmlformats.org/drawingml/2006/main">
            <a:off x="609600" y="624840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3645A"/>
                </a:solidFill>
                <a:latin typeface="Helvetica Neue"/>
                <a:ea typeface="Helvetica Neue"/>
                <a:cs typeface="Helvetica Neue"/>
              </a:defRPr>
            </a:defPPr>
          </a:lstStyle>
          <a:p xmlns:a="http://schemas.openxmlformats.org/drawingml/2006/main">
            <a:pPr>
              <a:defRPr sz="1275" b="0">
                <a:solidFill>
                  <a:srgbClr val="53645A"/>
                </a:solidFill>
                <a:latin typeface="Helvetica Neue"/>
                <a:ea typeface="Helvetica Neue"/>
                <a:cs typeface="Helvetica Neue"/>
              </a:defRPr>
            </a:pPr>
            <a:r>
              <a:rPr sz="1275" b="0">
                <a:solidFill>
                  <a:srgbClr val="53645A"/>
                </a:solidFill>
                <a:latin typeface="Helvetica Neue"/>
                <a:ea typeface="Helvetica Neue"/>
                <a:cs typeface="Helvetica Neue"/>
              </a:rPr>
              <a:t>Proposal · 8 October 2026</a:t>
            </a:r>
          </a:p>
        </p:txBody>
      </p:sp>
      <p:sp>
        <p:nvSpPr>
          <p:cNvPr id="3" name="">
            <a:extLst xmlns:a="http://schemas.openxmlformats.org/drawingml/2006/main">
              <a:ext uri="{FF2B5EF4-FFF2-40B4-BE49-F238E27FC236}">
                <a16:creationId xmlns:a16="http://schemas.microsoft.com/office/drawing/2014/main" id="{D41AB0F6-22D4-4B1B-AC74-4C5259EF3A6C}"/>
              </a:ext>
            </a:extLst>
          </p:cNvPr>
          <p:cNvSpPr>
            <a:spLocks xmlns:a="http://schemas.openxmlformats.org/drawingml/2006/main" noGrp="1"/>
          </p:cNvSpPr>
          <p:nvPr/>
        </p:nvSpPr>
        <p:spPr>
          <a:xfrm xmlns:a="http://schemas.openxmlformats.org/drawingml/2006/main">
            <a:off x="11049000" y="6248400"/>
            <a:ext cx="45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3645A"/>
                </a:solidFill>
                <a:latin typeface="Helvetica Neue"/>
                <a:ea typeface="Helvetica Neue"/>
                <a:cs typeface="Helvetica Neue"/>
              </a:defRPr>
            </a:defPPr>
          </a:lstStyle>
          <a:p xmlns:a="http://schemas.openxmlformats.org/drawingml/2006/main">
            <a:pPr>
              <a:defRPr sz="1275" b="0">
                <a:solidFill>
                  <a:srgbClr val="53645A"/>
                </a:solidFill>
                <a:latin typeface="Helvetica Neue"/>
                <a:ea typeface="Helvetica Neue"/>
                <a:cs typeface="Helvetica Neue"/>
              </a:defRPr>
            </a:pPr>
            <a:r>
              <a:rPr sz="1275" b="0">
                <a:solidFill>
                  <a:srgbClr val="53645A"/>
                </a:solidFill>
                <a:latin typeface="Helvetica Neue"/>
                <a:ea typeface="Helvetica Neue"/>
                <a:cs typeface="Helvetica Neue"/>
              </a:rPr>
              <a:t>11</a:t>
            </a:r>
          </a:p>
        </p:txBody>
      </p:sp>
      <p:sp>
        <p:nvSpPr>
          <p:cNvPr id="4" name="">
            <a:extLst xmlns:a="http://schemas.openxmlformats.org/drawingml/2006/main">
              <a:ext uri="{FF2B5EF4-FFF2-40B4-BE49-F238E27FC236}">
                <a16:creationId xmlns:a16="http://schemas.microsoft.com/office/drawing/2014/main" id="{F5291D35-3271-493D-88EF-A758B9214415}"/>
              </a:ext>
            </a:extLst>
          </p:cNvPr>
          <p:cNvSpPr>
            <a:spLocks xmlns:a="http://schemas.openxmlformats.org/drawingml/2006/main" noGrp="1"/>
          </p:cNvSpPr>
          <p:nvPr/>
        </p:nvSpPr>
        <p:spPr>
          <a:xfrm xmlns:a="http://schemas.openxmlformats.org/drawingml/2006/main">
            <a:off x="609600" y="1857375"/>
            <a:ext cx="3276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7382D"/>
                </a:solidFill>
                <a:latin typeface="Helvetica Neue"/>
                <a:ea typeface="Helvetica Neue"/>
                <a:cs typeface="Helvetica Neue"/>
              </a:defRPr>
            </a:defPPr>
          </a:lstStyle>
          <a:p xmlns:a="http://schemas.openxmlformats.org/drawingml/2006/main">
            <a:pPr>
              <a:defRPr sz="2175" b="1">
                <a:solidFill>
                  <a:srgbClr val="17382D"/>
                </a:solidFill>
                <a:latin typeface="Helvetica Neue"/>
                <a:ea typeface="Helvetica Neue"/>
                <a:cs typeface="Helvetica Neue"/>
              </a:defRPr>
            </a:pPr>
            <a:r>
              <a:rPr sz="2175" b="1">
                <a:solidFill>
                  <a:srgbClr val="17382D"/>
                </a:solidFill>
                <a:latin typeface="Helvetica Neue"/>
                <a:ea typeface="Helvetica Neue"/>
                <a:cs typeface="Helvetica Neue"/>
              </a:rPr>
              <a:t>Two-week prototype</a:t>
            </a:r>
          </a:p>
        </p:txBody>
      </p:sp>
      <p:sp>
        <p:nvSpPr>
          <p:cNvPr id="5" name="">
            <a:extLst xmlns:a="http://schemas.openxmlformats.org/drawingml/2006/main">
              <a:ext uri="{FF2B5EF4-FFF2-40B4-BE49-F238E27FC236}">
                <a16:creationId xmlns:a16="http://schemas.microsoft.com/office/drawing/2014/main" id="{54D8ADDF-FCA0-4906-BAE3-E01B7D6B1669}"/>
              </a:ext>
            </a:extLst>
          </p:cNvPr>
          <p:cNvSpPr>
            <a:spLocks xmlns:a="http://schemas.openxmlformats.org/drawingml/2006/main" noGrp="1"/>
          </p:cNvSpPr>
          <p:nvPr/>
        </p:nvSpPr>
        <p:spPr>
          <a:xfrm xmlns:a="http://schemas.openxmlformats.org/drawingml/2006/main">
            <a:off x="609600" y="2762250"/>
            <a:ext cx="327660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7382D"/>
                </a:solidFill>
                <a:latin typeface="Helvetica Neue"/>
                <a:ea typeface="Helvetica Neue"/>
                <a:cs typeface="Helvetica Neue"/>
              </a:defRPr>
            </a:defPPr>
          </a:lstStyle>
          <a:p xmlns:a="http://schemas.openxmlformats.org/drawingml/2006/main">
            <a:pPr>
              <a:defRPr sz="1950" b="0">
                <a:solidFill>
                  <a:srgbClr val="17382D"/>
                </a:solidFill>
                <a:latin typeface="Helvetica Neue"/>
                <a:ea typeface="Helvetica Neue"/>
                <a:cs typeface="Helvetica Neue"/>
              </a:defRPr>
            </a:pPr>
            <a:r>
              <a:rPr sz="1950" b="0">
                <a:solidFill>
                  <a:srgbClr val="17382D"/>
                </a:solidFill>
                <a:latin typeface="Helvetica Neue"/>
                <a:ea typeface="Helvetica Neue"/>
                <a:cs typeface="Helvetica Neue"/>
              </a:rPr>
              <a:t>One synthetic recording</a:t>
            </a:r>
          </a:p>
          <a:p xmlns:a="http://schemas.openxmlformats.org/drawingml/2006/main">
            <a:pPr>
              <a:defRPr sz="1950" b="0">
                <a:solidFill>
                  <a:srgbClr val="17382D"/>
                </a:solidFill>
                <a:latin typeface="Helvetica Neue"/>
                <a:ea typeface="Helvetica Neue"/>
                <a:cs typeface="Helvetica Neue"/>
              </a:defRPr>
            </a:pPr>
            <a:r>
              <a:rPr sz="1950" b="0">
                <a:solidFill>
                  <a:srgbClr val="17382D"/>
                </a:solidFill>
                <a:latin typeface="Helvetica Neue"/>
                <a:ea typeface="Helvetica Neue"/>
                <a:cs typeface="Helvetica Neue"/>
              </a:rPr>
              <a:t>Manual + local AI comparison</a:t>
            </a:r>
          </a:p>
          <a:p xmlns:a="http://schemas.openxmlformats.org/drawingml/2006/main">
            <a:pPr>
              <a:defRPr sz="1950" b="0">
                <a:solidFill>
                  <a:srgbClr val="17382D"/>
                </a:solidFill>
                <a:latin typeface="Helvetica Neue"/>
                <a:ea typeface="Helvetica Neue"/>
                <a:cs typeface="Helvetica Neue"/>
              </a:defRPr>
            </a:pPr>
            <a:r>
              <a:rPr sz="1950" b="0">
                <a:solidFill>
                  <a:srgbClr val="17382D"/>
                </a:solidFill>
                <a:latin typeface="Helvetica Neue"/>
                <a:ea typeface="Helvetica Neue"/>
                <a:cs typeface="Helvetica Neue"/>
              </a:rPr>
              <a:t>Green Goods export</a:t>
            </a:r>
          </a:p>
          <a:p xmlns:a="http://schemas.openxmlformats.org/drawingml/2006/main">
            <a:pPr>
              <a:defRPr sz="1950" b="0">
                <a:solidFill>
                  <a:srgbClr val="17382D"/>
                </a:solidFill>
                <a:latin typeface="Helvetica Neue"/>
                <a:ea typeface="Helvetica Neue"/>
                <a:cs typeface="Helvetica Neue"/>
              </a:defRPr>
            </a:pPr>
            <a:r>
              <a:rPr sz="1950" b="0">
                <a:solidFill>
                  <a:srgbClr val="17382D"/>
                </a:solidFill>
                <a:latin typeface="Helvetica Neue"/>
                <a:ea typeface="Helvetica Neue"/>
                <a:cs typeface="Helvetica Neue"/>
              </a:rPr>
              <a:t>Real sandbox AT retrieval</a:t>
            </a:r>
          </a:p>
        </p:txBody>
      </p:sp>
      <p:sp>
        <p:nvSpPr>
          <p:cNvPr id="6" name="">
            <a:extLst xmlns:a="http://schemas.openxmlformats.org/drawingml/2006/main">
              <a:ext uri="{FF2B5EF4-FFF2-40B4-BE49-F238E27FC236}">
                <a16:creationId xmlns:a16="http://schemas.microsoft.com/office/drawing/2014/main" id="{185DEF19-6B5A-40BE-8C98-E940D03B751C}"/>
              </a:ext>
            </a:extLst>
          </p:cNvPr>
          <p:cNvSpPr>
            <a:spLocks xmlns:a="http://schemas.openxmlformats.org/drawingml/2006/main" noGrp="1"/>
          </p:cNvSpPr>
          <p:nvPr/>
        </p:nvSpPr>
        <p:spPr>
          <a:xfrm xmlns:a="http://schemas.openxmlformats.org/drawingml/2006/main">
            <a:off x="4419600" y="1857375"/>
            <a:ext cx="3276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7382D"/>
                </a:solidFill>
                <a:latin typeface="Helvetica Neue"/>
                <a:ea typeface="Helvetica Neue"/>
                <a:cs typeface="Helvetica Neue"/>
              </a:defRPr>
            </a:defPPr>
          </a:lstStyle>
          <a:p xmlns:a="http://schemas.openxmlformats.org/drawingml/2006/main">
            <a:pPr>
              <a:defRPr sz="2175" b="1">
                <a:solidFill>
                  <a:srgbClr val="17382D"/>
                </a:solidFill>
                <a:latin typeface="Helvetica Neue"/>
                <a:ea typeface="Helvetica Neue"/>
                <a:cs typeface="Helvetica Neue"/>
              </a:defRPr>
            </a:pPr>
            <a:r>
              <a:rPr sz="2175" b="1">
                <a:solidFill>
                  <a:srgbClr val="17382D"/>
                </a:solidFill>
                <a:latin typeface="Helvetica Neue"/>
                <a:ea typeface="Helvetica Neue"/>
                <a:cs typeface="Helvetica Neue"/>
              </a:rPr>
              <a:t>Eight-week pilot</a:t>
            </a:r>
          </a:p>
        </p:txBody>
      </p:sp>
      <p:sp>
        <p:nvSpPr>
          <p:cNvPr id="7" name="">
            <a:extLst xmlns:a="http://schemas.openxmlformats.org/drawingml/2006/main">
              <a:ext uri="{FF2B5EF4-FFF2-40B4-BE49-F238E27FC236}">
                <a16:creationId xmlns:a16="http://schemas.microsoft.com/office/drawing/2014/main" id="{3B2A5F5E-E047-41CD-8546-3DA05B64D01E}"/>
              </a:ext>
            </a:extLst>
          </p:cNvPr>
          <p:cNvSpPr>
            <a:spLocks xmlns:a="http://schemas.openxmlformats.org/drawingml/2006/main" noGrp="1"/>
          </p:cNvSpPr>
          <p:nvPr/>
        </p:nvSpPr>
        <p:spPr>
          <a:xfrm xmlns:a="http://schemas.openxmlformats.org/drawingml/2006/main">
            <a:off x="4419600" y="2762250"/>
            <a:ext cx="327660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7382D"/>
                </a:solidFill>
                <a:latin typeface="Helvetica Neue"/>
                <a:ea typeface="Helvetica Neue"/>
                <a:cs typeface="Helvetica Neue"/>
              </a:defRPr>
            </a:defPPr>
          </a:lstStyle>
          <a:p xmlns:a="http://schemas.openxmlformats.org/drawingml/2006/main">
            <a:pPr>
              <a:defRPr sz="1950" b="0">
                <a:solidFill>
                  <a:srgbClr val="17382D"/>
                </a:solidFill>
                <a:latin typeface="Helvetica Neue"/>
                <a:ea typeface="Helvetica Neue"/>
                <a:cs typeface="Helvetica Neue"/>
              </a:defRPr>
            </a:pPr>
            <a:r>
              <a:rPr sz="1950" b="0">
                <a:solidFill>
                  <a:srgbClr val="17382D"/>
                </a:solidFill>
                <a:latin typeface="Helvetica Neue"/>
                <a:ea typeface="Helvetica Neue"/>
                <a:cs typeface="Helvetica Neue"/>
              </a:rPr>
              <a:t>Three consenting communities</a:t>
            </a:r>
          </a:p>
          <a:p xmlns:a="http://schemas.openxmlformats.org/drawingml/2006/main">
            <a:pPr>
              <a:defRPr sz="1950" b="0">
                <a:solidFill>
                  <a:srgbClr val="17382D"/>
                </a:solidFill>
                <a:latin typeface="Helvetica Neue"/>
                <a:ea typeface="Helvetica Neue"/>
                <a:cs typeface="Helvetica Neue"/>
              </a:defRPr>
            </a:pPr>
            <a:r>
              <a:rPr sz="1950" b="0">
                <a:solidFill>
                  <a:srgbClr val="17382D"/>
                </a:solidFill>
                <a:latin typeface="Helvetica Neue"/>
                <a:ea typeface="Helvetica Neue"/>
                <a:cs typeface="Helvetica Neue"/>
              </a:rPr>
              <a:t>One shared operational job</a:t>
            </a:r>
          </a:p>
          <a:p xmlns:a="http://schemas.openxmlformats.org/drawingml/2006/main">
            <a:pPr>
              <a:defRPr sz="1950" b="0">
                <a:solidFill>
                  <a:srgbClr val="17382D"/>
                </a:solidFill>
                <a:latin typeface="Helvetica Neue"/>
                <a:ea typeface="Helvetica Neue"/>
                <a:cs typeface="Helvetica Neue"/>
              </a:defRPr>
            </a:pPr>
            <a:r>
              <a:rPr sz="1950" b="0">
                <a:solidFill>
                  <a:srgbClr val="17382D"/>
                </a:solidFill>
                <a:latin typeface="Helvetica Neue"/>
                <a:ea typeface="Helvetica Neue"/>
                <a:cs typeface="Helvetica Neue"/>
              </a:rPr>
              <a:t>Recovery and exit drills</a:t>
            </a:r>
          </a:p>
          <a:p xmlns:a="http://schemas.openxmlformats.org/drawingml/2006/main">
            <a:pPr>
              <a:defRPr sz="1950" b="0">
                <a:solidFill>
                  <a:srgbClr val="17382D"/>
                </a:solidFill>
                <a:latin typeface="Helvetica Neue"/>
                <a:ea typeface="Helvetica Neue"/>
                <a:cs typeface="Helvetica Neue"/>
              </a:defRPr>
            </a:pPr>
            <a:r>
              <a:rPr sz="1950" b="0">
                <a:solidFill>
                  <a:srgbClr val="17382D"/>
                </a:solidFill>
                <a:latin typeface="Helvetica Neue"/>
                <a:ea typeface="Helvetica Neue"/>
                <a:cs typeface="Helvetica Neue"/>
              </a:rPr>
              <a:t>Paid continuation experiment</a:t>
            </a:r>
          </a:p>
        </p:txBody>
      </p:sp>
      <p:sp>
        <p:nvSpPr>
          <p:cNvPr id="8" name="">
            <a:extLst xmlns:a="http://schemas.openxmlformats.org/drawingml/2006/main">
              <a:ext uri="{FF2B5EF4-FFF2-40B4-BE49-F238E27FC236}">
                <a16:creationId xmlns:a16="http://schemas.microsoft.com/office/drawing/2014/main" id="{56038259-9134-4F80-ACE5-4BE0C6A09C6B}"/>
              </a:ext>
            </a:extLst>
          </p:cNvPr>
          <p:cNvSpPr>
            <a:spLocks xmlns:a="http://schemas.openxmlformats.org/drawingml/2006/main" noGrp="1"/>
          </p:cNvSpPr>
          <p:nvPr/>
        </p:nvSpPr>
        <p:spPr>
          <a:xfrm xmlns:a="http://schemas.openxmlformats.org/drawingml/2006/main">
            <a:off x="8229600" y="1857375"/>
            <a:ext cx="3276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7382D"/>
                </a:solidFill>
                <a:latin typeface="Helvetica Neue"/>
                <a:ea typeface="Helvetica Neue"/>
                <a:cs typeface="Helvetica Neue"/>
              </a:defRPr>
            </a:defPPr>
          </a:lstStyle>
          <a:p xmlns:a="http://schemas.openxmlformats.org/drawingml/2006/main">
            <a:pPr>
              <a:defRPr sz="2175" b="1">
                <a:solidFill>
                  <a:srgbClr val="17382D"/>
                </a:solidFill>
                <a:latin typeface="Helvetica Neue"/>
                <a:ea typeface="Helvetica Neue"/>
                <a:cs typeface="Helvetica Neue"/>
              </a:defRPr>
            </a:pPr>
            <a:r>
              <a:rPr sz="2175" b="1">
                <a:solidFill>
                  <a:srgbClr val="17382D"/>
                </a:solidFill>
                <a:latin typeface="Helvetica Neue"/>
                <a:ea typeface="Helvetica Neue"/>
                <a:cs typeface="Helvetica Neue"/>
              </a:rPr>
              <a:t>Advance only with proof</a:t>
            </a:r>
          </a:p>
        </p:txBody>
      </p:sp>
      <p:sp>
        <p:nvSpPr>
          <p:cNvPr id="9" name="">
            <a:extLst xmlns:a="http://schemas.openxmlformats.org/drawingml/2006/main">
              <a:ext uri="{FF2B5EF4-FFF2-40B4-BE49-F238E27FC236}">
                <a16:creationId xmlns:a16="http://schemas.microsoft.com/office/drawing/2014/main" id="{17F91715-03D7-431C-8FC6-100469178A53}"/>
              </a:ext>
            </a:extLst>
          </p:cNvPr>
          <p:cNvSpPr>
            <a:spLocks xmlns:a="http://schemas.openxmlformats.org/drawingml/2006/main" noGrp="1"/>
          </p:cNvSpPr>
          <p:nvPr/>
        </p:nvSpPr>
        <p:spPr>
          <a:xfrm xmlns:a="http://schemas.openxmlformats.org/drawingml/2006/main">
            <a:off x="8229600" y="2762250"/>
            <a:ext cx="327660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7382D"/>
                </a:solidFill>
                <a:latin typeface="Helvetica Neue"/>
                <a:ea typeface="Helvetica Neue"/>
                <a:cs typeface="Helvetica Neue"/>
              </a:defRPr>
            </a:defPPr>
          </a:lstStyle>
          <a:p xmlns:a="http://schemas.openxmlformats.org/drawingml/2006/main">
            <a:pPr>
              <a:defRPr sz="1950" b="0">
                <a:solidFill>
                  <a:srgbClr val="17382D"/>
                </a:solidFill>
                <a:latin typeface="Helvetica Neue"/>
                <a:ea typeface="Helvetica Neue"/>
                <a:cs typeface="Helvetica Neue"/>
              </a:defRPr>
            </a:pPr>
            <a:r>
              <a:rPr sz="1950" b="0">
                <a:solidFill>
                  <a:srgbClr val="17382D"/>
                </a:solidFill>
                <a:latin typeface="Helvetica Neue"/>
                <a:ea typeface="Helvetica Neue"/>
                <a:cs typeface="Helvetica Neue"/>
              </a:rPr>
              <a:t>No severe privacy defect</a:t>
            </a:r>
          </a:p>
          <a:p xmlns:a="http://schemas.openxmlformats.org/drawingml/2006/main">
            <a:pPr>
              <a:defRPr sz="1950" b="0">
                <a:solidFill>
                  <a:srgbClr val="17382D"/>
                </a:solidFill>
                <a:latin typeface="Helvetica Neue"/>
                <a:ea typeface="Helvetica Neue"/>
                <a:cs typeface="Helvetica Neue"/>
              </a:defRPr>
            </a:pPr>
            <a:r>
              <a:rPr sz="1950" b="0">
                <a:solidFill>
                  <a:srgbClr val="17382D"/>
                </a:solidFill>
                <a:latin typeface="Helvetica Neue"/>
                <a:ea typeface="Helvetica Neue"/>
                <a:cs typeface="Helvetica Neue"/>
              </a:rPr>
              <a:t>Useful weekly use</a:t>
            </a:r>
          </a:p>
          <a:p xmlns:a="http://schemas.openxmlformats.org/drawingml/2006/main">
            <a:pPr>
              <a:defRPr sz="1950" b="0">
                <a:solidFill>
                  <a:srgbClr val="17382D"/>
                </a:solidFill>
                <a:latin typeface="Helvetica Neue"/>
                <a:ea typeface="Helvetica Neue"/>
                <a:cs typeface="Helvetica Neue"/>
              </a:defRPr>
            </a:pPr>
            <a:r>
              <a:rPr sz="1950" b="0">
                <a:solidFill>
                  <a:srgbClr val="17382D"/>
                </a:solidFill>
                <a:latin typeface="Helvetica Neue"/>
                <a:ea typeface="Helvetica Neue"/>
                <a:cs typeface="Helvetica Neue"/>
              </a:rPr>
              <a:t>No added task burden</a:t>
            </a:r>
          </a:p>
          <a:p xmlns:a="http://schemas.openxmlformats.org/drawingml/2006/main">
            <a:pPr>
              <a:defRPr sz="1950" b="0">
                <a:solidFill>
                  <a:srgbClr val="17382D"/>
                </a:solidFill>
                <a:latin typeface="Helvetica Neue"/>
                <a:ea typeface="Helvetica Neue"/>
                <a:cs typeface="Helvetica Neue"/>
              </a:defRPr>
            </a:pPr>
            <a:r>
              <a:rPr sz="1950" b="0">
                <a:solidFill>
                  <a:srgbClr val="17382D"/>
                </a:solidFill>
                <a:latin typeface="Helvetica Neue"/>
                <a:ea typeface="Helvetica Neue"/>
                <a:cs typeface="Helvetica Neue"/>
              </a:rPr>
              <a:t>Reciprocal learning</a:t>
            </a:r>
          </a:p>
        </p:txBody>
      </p:sp>
      <p:sp>
        <p:nvSpPr>
          <p:cNvPr id="10" name="">
            <a:extLst xmlns:a="http://schemas.openxmlformats.org/drawingml/2006/main">
              <a:ext uri="{FF2B5EF4-FFF2-40B4-BE49-F238E27FC236}">
                <a16:creationId xmlns:a16="http://schemas.microsoft.com/office/drawing/2014/main" id="{2326C5BD-26D6-4298-AFCF-522F1FF71C10}"/>
              </a:ext>
            </a:extLst>
          </p:cNvPr>
          <p:cNvSpPr>
            <a:spLocks xmlns:a="http://schemas.openxmlformats.org/drawingml/2006/main" noGrp="1"/>
          </p:cNvSpPr>
          <p:nvPr/>
        </p:nvSpPr>
        <p:spPr>
          <a:xfrm xmlns:a="http://schemas.openxmlformats.org/drawingml/2006/main">
            <a:off x="609600" y="5629275"/>
            <a:ext cx="107823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9C4934"/>
                </a:solidFill>
                <a:latin typeface="Helvetica Neue"/>
                <a:ea typeface="Helvetica Neue"/>
                <a:cs typeface="Helvetica Neue"/>
              </a:defRPr>
            </a:defPPr>
          </a:lstStyle>
          <a:p xmlns:a="http://schemas.openxmlformats.org/drawingml/2006/main">
            <a:pPr>
              <a:defRPr sz="1725" b="1">
                <a:solidFill>
                  <a:srgbClr val="9C4934"/>
                </a:solidFill>
                <a:latin typeface="Helvetica Neue"/>
                <a:ea typeface="Helvetica Neue"/>
                <a:cs typeface="Helvetica Neue"/>
              </a:defRPr>
            </a:pPr>
            <a:r>
              <a:rPr sz="1725" b="1">
                <a:solidFill>
                  <a:srgbClr val="9C4934"/>
                </a:solidFill>
                <a:latin typeface="Helvetica Neue"/>
                <a:ea typeface="Helvetica Neue"/>
                <a:cs typeface="Helvetica Neue"/>
              </a:rPr>
              <a:t>Proposed targets: ≥20% less review time for AI default; full manual fallback</a:t>
            </a:r>
          </a:p>
        </p:txBody>
      </p:sp>
    </p:spTree>
    <p:extLst>
      <p:ext uri="{BB962C8B-B14F-4D97-AF65-F5344CB8AC3E}">
        <p14:creationId xmlns:p14="http://schemas.microsoft.com/office/powerpoint/2010/main" val="1375730690"/>
      </p:ext>
    </p:extLst>
  </p:cSld>
</p:sld>
</file>

<file path=ppt/slides/slide12.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B62B667-BBB5-41C4-85EE-CD6E2110BD82}"/>
              </a:ext>
            </a:extLst>
          </p:cNvPr>
          <p:cNvSpPr>
            <a:spLocks xmlns:a="http://schemas.openxmlformats.org/drawingml/2006/main" noGrp="1"/>
          </p:cNvSpPr>
          <p:nvPr/>
        </p:nvSpPr>
        <p:spPr>
          <a:xfrm xmlns:a="http://schemas.openxmlformats.org/drawingml/2006/main">
            <a:off x="609600" y="49530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382D"/>
                </a:solidFill>
                <a:latin typeface="Helvetica Neue"/>
                <a:ea typeface="Helvetica Neue"/>
                <a:cs typeface="Helvetica Neue"/>
              </a:defRPr>
            </a:defPPr>
          </a:lstStyle>
          <a:p xmlns:a="http://schemas.openxmlformats.org/drawingml/2006/main">
            <a:pPr>
              <a:defRPr sz="3300" b="1">
                <a:solidFill>
                  <a:srgbClr val="17382D"/>
                </a:solidFill>
                <a:latin typeface="Helvetica Neue"/>
                <a:ea typeface="Helvetica Neue"/>
                <a:cs typeface="Helvetica Neue"/>
              </a:defRPr>
            </a:pPr>
            <a:r>
              <a:rPr sz="3300" b="1">
                <a:solidFill>
                  <a:srgbClr val="17382D"/>
                </a:solidFill>
                <a:latin typeface="Helvetica Neue"/>
                <a:ea typeface="Helvetica Neue"/>
                <a:cs typeface="Helvetica Neue"/>
              </a:rPr>
              <a:t>Commitments and capital: useful, bounded roles</a:t>
            </a:r>
          </a:p>
        </p:txBody>
      </p:sp>
      <p:sp>
        <p:nvSpPr>
          <p:cNvPr id="2" name="">
            <a:extLst xmlns:a="http://schemas.openxmlformats.org/drawingml/2006/main">
              <a:ext uri="{FF2B5EF4-FFF2-40B4-BE49-F238E27FC236}">
                <a16:creationId xmlns:a16="http://schemas.microsoft.com/office/drawing/2014/main" id="{00ECABCD-8BF9-49CE-9E0D-D254E9077F2E}"/>
              </a:ext>
            </a:extLst>
          </p:cNvPr>
          <p:cNvSpPr>
            <a:spLocks xmlns:a="http://schemas.openxmlformats.org/drawingml/2006/main" noGrp="1"/>
          </p:cNvSpPr>
          <p:nvPr/>
        </p:nvSpPr>
        <p:spPr>
          <a:xfrm xmlns:a="http://schemas.openxmlformats.org/drawingml/2006/main">
            <a:off x="609600" y="624840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3645A"/>
                </a:solidFill>
                <a:latin typeface="Helvetica Neue"/>
                <a:ea typeface="Helvetica Neue"/>
                <a:cs typeface="Helvetica Neue"/>
              </a:defRPr>
            </a:defPPr>
          </a:lstStyle>
          <a:p xmlns:a="http://schemas.openxmlformats.org/drawingml/2006/main">
            <a:pPr>
              <a:defRPr sz="1275" b="0">
                <a:solidFill>
                  <a:srgbClr val="53645A"/>
                </a:solidFill>
                <a:latin typeface="Helvetica Neue"/>
                <a:ea typeface="Helvetica Neue"/>
                <a:cs typeface="Helvetica Neue"/>
              </a:defRPr>
            </a:pPr>
            <a:r>
              <a:rPr sz="1275" b="0">
                <a:solidFill>
                  <a:srgbClr val="53645A"/>
                </a:solidFill>
                <a:latin typeface="Helvetica Neue"/>
                <a:ea typeface="Helvetica Neue"/>
                <a:cs typeface="Helvetica Neue"/>
              </a:rPr>
              <a:t>Proposal · 8 October 2026</a:t>
            </a:r>
          </a:p>
        </p:txBody>
      </p:sp>
      <p:sp>
        <p:nvSpPr>
          <p:cNvPr id="3" name="">
            <a:extLst xmlns:a="http://schemas.openxmlformats.org/drawingml/2006/main">
              <a:ext uri="{FF2B5EF4-FFF2-40B4-BE49-F238E27FC236}">
                <a16:creationId xmlns:a16="http://schemas.microsoft.com/office/drawing/2014/main" id="{6ABA12A0-C127-4AD0-BD15-F1F31FC4C8D2}"/>
              </a:ext>
            </a:extLst>
          </p:cNvPr>
          <p:cNvSpPr>
            <a:spLocks xmlns:a="http://schemas.openxmlformats.org/drawingml/2006/main" noGrp="1"/>
          </p:cNvSpPr>
          <p:nvPr/>
        </p:nvSpPr>
        <p:spPr>
          <a:xfrm xmlns:a="http://schemas.openxmlformats.org/drawingml/2006/main">
            <a:off x="11049000" y="6248400"/>
            <a:ext cx="45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3645A"/>
                </a:solidFill>
                <a:latin typeface="Helvetica Neue"/>
                <a:ea typeface="Helvetica Neue"/>
                <a:cs typeface="Helvetica Neue"/>
              </a:defRPr>
            </a:defPPr>
          </a:lstStyle>
          <a:p xmlns:a="http://schemas.openxmlformats.org/drawingml/2006/main">
            <a:pPr>
              <a:defRPr sz="1275" b="0">
                <a:solidFill>
                  <a:srgbClr val="53645A"/>
                </a:solidFill>
                <a:latin typeface="Helvetica Neue"/>
                <a:ea typeface="Helvetica Neue"/>
                <a:cs typeface="Helvetica Neue"/>
              </a:defRPr>
            </a:pPr>
            <a:r>
              <a:rPr sz="1275" b="0">
                <a:solidFill>
                  <a:srgbClr val="53645A"/>
                </a:solidFill>
                <a:latin typeface="Helvetica Neue"/>
                <a:ea typeface="Helvetica Neue"/>
                <a:cs typeface="Helvetica Neue"/>
              </a:rPr>
              <a:t>12</a:t>
            </a:r>
          </a:p>
        </p:txBody>
      </p:sp>
      <p:sp>
        <p:nvSpPr>
          <p:cNvPr id="4" name="">
            <a:extLst xmlns:a="http://schemas.openxmlformats.org/drawingml/2006/main">
              <a:ext uri="{FF2B5EF4-FFF2-40B4-BE49-F238E27FC236}">
                <a16:creationId xmlns:a16="http://schemas.microsoft.com/office/drawing/2014/main" id="{EB550C78-3B2E-4475-9F01-79B2FF20289D}"/>
              </a:ext>
            </a:extLst>
          </p:cNvPr>
          <p:cNvSpPr>
            <a:spLocks xmlns:a="http://schemas.openxmlformats.org/drawingml/2006/main" noGrp="1"/>
          </p:cNvSpPr>
          <p:nvPr/>
        </p:nvSpPr>
        <p:spPr>
          <a:xfrm xmlns:a="http://schemas.openxmlformats.org/drawingml/2006/main">
            <a:off x="609600" y="1857375"/>
            <a:ext cx="3619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17382D"/>
                </a:solidFill>
                <a:latin typeface="Helvetica Neue"/>
                <a:ea typeface="Helvetica Neue"/>
                <a:cs typeface="Helvetica Neue"/>
              </a:defRPr>
            </a:defPPr>
          </a:lstStyle>
          <a:p xmlns:a="http://schemas.openxmlformats.org/drawingml/2006/main">
            <a:pPr>
              <a:defRPr sz="2475" b="1">
                <a:solidFill>
                  <a:srgbClr val="17382D"/>
                </a:solidFill>
                <a:latin typeface="Helvetica Neue"/>
                <a:ea typeface="Helvetica Neue"/>
                <a:cs typeface="Helvetica Neue"/>
              </a:defRPr>
            </a:pPr>
            <a:r>
              <a:rPr sz="2475" b="1">
                <a:solidFill>
                  <a:srgbClr val="17382D"/>
                </a:solidFill>
                <a:latin typeface="Helvetica Neue"/>
                <a:ea typeface="Helvetica Neue"/>
                <a:cs typeface="Helvetica Neue"/>
              </a:rPr>
              <a:t>Commitments</a:t>
            </a:r>
          </a:p>
        </p:txBody>
      </p:sp>
      <p:sp>
        <p:nvSpPr>
          <p:cNvPr id="5" name="">
            <a:extLst xmlns:a="http://schemas.openxmlformats.org/drawingml/2006/main">
              <a:ext uri="{FF2B5EF4-FFF2-40B4-BE49-F238E27FC236}">
                <a16:creationId xmlns:a16="http://schemas.microsoft.com/office/drawing/2014/main" id="{1066C4CE-FE02-408D-86B0-BA559B462BB8}"/>
              </a:ext>
            </a:extLst>
          </p:cNvPr>
          <p:cNvSpPr>
            <a:spLocks xmlns:a="http://schemas.openxmlformats.org/drawingml/2006/main" noGrp="1"/>
          </p:cNvSpPr>
          <p:nvPr/>
        </p:nvSpPr>
        <p:spPr>
          <a:xfrm xmlns:a="http://schemas.openxmlformats.org/drawingml/2006/main">
            <a:off x="4238625" y="1857375"/>
            <a:ext cx="71818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7382D"/>
                </a:solidFill>
                <a:latin typeface="Helvetica Neue"/>
                <a:ea typeface="Helvetica Neue"/>
                <a:cs typeface="Helvetica Neue"/>
              </a:defRPr>
            </a:defPPr>
          </a:lstStyle>
          <a:p xmlns:a="http://schemas.openxmlformats.org/drawingml/2006/main">
            <a:pPr>
              <a:defRPr sz="2100" b="0">
                <a:solidFill>
                  <a:srgbClr val="17382D"/>
                </a:solidFill>
                <a:latin typeface="Helvetica Neue"/>
                <a:ea typeface="Helvetica Neue"/>
                <a:cs typeface="Helvetica Neue"/>
              </a:defRPr>
            </a:pPr>
            <a:r>
              <a:rPr sz="2100" b="0">
                <a:solidFill>
                  <a:srgbClr val="17382D"/>
                </a:solidFill>
                <a:latin typeface="Helvetica Neue"/>
                <a:ea typeface="Helvetica Neue"/>
                <a:cs typeface="Helvetica Neue"/>
              </a:rPr>
              <a:t>Make responsibilities and reviewed fulfillment legible.</a:t>
            </a:r>
          </a:p>
          <a:p xmlns:a="http://schemas.openxmlformats.org/drawingml/2006/main">
            <a:pPr>
              <a:defRPr sz="2100" b="0">
                <a:solidFill>
                  <a:srgbClr val="17382D"/>
                </a:solidFill>
                <a:latin typeface="Helvetica Neue"/>
                <a:ea typeface="Helvetica Neue"/>
                <a:cs typeface="Helvetica Neue"/>
              </a:defRPr>
            </a:pPr>
            <a:r>
              <a:rPr sz="2100" b="0">
                <a:solidFill>
                  <a:srgbClr val="17382D"/>
                </a:solidFill>
                <a:latin typeface="Helvetica Neue"/>
                <a:ea typeface="Helvetica Neue"/>
                <a:cs typeface="Helvetica Neue"/>
              </a:rPr>
              <a:t>Pooling product availability remains gated.</a:t>
            </a:r>
          </a:p>
        </p:txBody>
      </p:sp>
      <p:sp>
        <p:nvSpPr>
          <p:cNvPr id="6" name="">
            <a:extLst xmlns:a="http://schemas.openxmlformats.org/drawingml/2006/main">
              <a:ext uri="{FF2B5EF4-FFF2-40B4-BE49-F238E27FC236}">
                <a16:creationId xmlns:a16="http://schemas.microsoft.com/office/drawing/2014/main" id="{796307F0-9B8A-42CA-94D9-9E82B594809F}"/>
              </a:ext>
            </a:extLst>
          </p:cNvPr>
          <p:cNvSpPr>
            <a:spLocks xmlns:a="http://schemas.openxmlformats.org/drawingml/2006/main" noGrp="1"/>
          </p:cNvSpPr>
          <p:nvPr/>
        </p:nvSpPr>
        <p:spPr>
          <a:xfrm xmlns:a="http://schemas.openxmlformats.org/drawingml/2006/main">
            <a:off x="609600" y="3362325"/>
            <a:ext cx="3619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17382D"/>
                </a:solidFill>
                <a:latin typeface="Helvetica Neue"/>
                <a:ea typeface="Helvetica Neue"/>
                <a:cs typeface="Helvetica Neue"/>
              </a:defRPr>
            </a:defPPr>
          </a:lstStyle>
          <a:p xmlns:a="http://schemas.openxmlformats.org/drawingml/2006/main">
            <a:pPr>
              <a:defRPr sz="2475" b="1">
                <a:solidFill>
                  <a:srgbClr val="17382D"/>
                </a:solidFill>
                <a:latin typeface="Helvetica Neue"/>
                <a:ea typeface="Helvetica Neue"/>
                <a:cs typeface="Helvetica Neue"/>
              </a:defRPr>
            </a:pPr>
            <a:r>
              <a:rPr sz="2475" b="1">
                <a:solidFill>
                  <a:srgbClr val="17382D"/>
                </a:solidFill>
                <a:latin typeface="Helvetica Neue"/>
                <a:ea typeface="Helvetica Neue"/>
                <a:cs typeface="Helvetica Neue"/>
              </a:rPr>
              <a:t>Endowments</a:t>
            </a:r>
          </a:p>
        </p:txBody>
      </p:sp>
      <p:sp>
        <p:nvSpPr>
          <p:cNvPr id="7" name="">
            <a:extLst xmlns:a="http://schemas.openxmlformats.org/drawingml/2006/main">
              <a:ext uri="{FF2B5EF4-FFF2-40B4-BE49-F238E27FC236}">
                <a16:creationId xmlns:a16="http://schemas.microsoft.com/office/drawing/2014/main" id="{019E4A5F-9B92-4D45-B8A9-06FD021908CB}"/>
              </a:ext>
            </a:extLst>
          </p:cNvPr>
          <p:cNvSpPr>
            <a:spLocks xmlns:a="http://schemas.openxmlformats.org/drawingml/2006/main" noGrp="1"/>
          </p:cNvSpPr>
          <p:nvPr/>
        </p:nvSpPr>
        <p:spPr>
          <a:xfrm xmlns:a="http://schemas.openxmlformats.org/drawingml/2006/main">
            <a:off x="4238625" y="3362325"/>
            <a:ext cx="71818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7382D"/>
                </a:solidFill>
                <a:latin typeface="Helvetica Neue"/>
                <a:ea typeface="Helvetica Neue"/>
                <a:cs typeface="Helvetica Neue"/>
              </a:defRPr>
            </a:defPPr>
          </a:lstStyle>
          <a:p xmlns:a="http://schemas.openxmlformats.org/drawingml/2006/main">
            <a:pPr>
              <a:defRPr sz="2100" b="0">
                <a:solidFill>
                  <a:srgbClr val="17382D"/>
                </a:solidFill>
                <a:latin typeface="Helvetica Neue"/>
                <a:ea typeface="Helvetica Neue"/>
                <a:cs typeface="Helvetica Neue"/>
              </a:defRPr>
            </a:pPr>
            <a:r>
              <a:rPr sz="2100" b="0">
                <a:solidFill>
                  <a:srgbClr val="17382D"/>
                </a:solidFill>
                <a:latin typeface="Helvetica Neue"/>
                <a:ea typeface="Helvetica Neue"/>
                <a:cs typeface="Helvetica Neue"/>
              </a:rPr>
              <a:t>Potential recurring support from actual returns.</a:t>
            </a:r>
          </a:p>
          <a:p xmlns:a="http://schemas.openxmlformats.org/drawingml/2006/main">
            <a:pPr>
              <a:defRPr sz="2100" b="0">
                <a:solidFill>
                  <a:srgbClr val="17382D"/>
                </a:solidFill>
                <a:latin typeface="Helvetica Neue"/>
                <a:ea typeface="Helvetica Neue"/>
                <a:cs typeface="Helvetica Neue"/>
              </a:defRPr>
            </a:pPr>
            <a:r>
              <a:rPr sz="2100" b="0">
                <a:solidFill>
                  <a:srgbClr val="17382D"/>
                </a:solidFill>
                <a:latin typeface="Helvetica Neue"/>
                <a:ea typeface="Helvetica Neue"/>
                <a:cs typeface="Helvetica Neue"/>
              </a:rPr>
              <a:t>Losses, fees and withdrawal limits still apply.</a:t>
            </a:r>
          </a:p>
        </p:txBody>
      </p:sp>
      <p:sp>
        <p:nvSpPr>
          <p:cNvPr id="8" name="">
            <a:extLst xmlns:a="http://schemas.openxmlformats.org/drawingml/2006/main">
              <a:ext uri="{FF2B5EF4-FFF2-40B4-BE49-F238E27FC236}">
                <a16:creationId xmlns:a16="http://schemas.microsoft.com/office/drawing/2014/main" id="{146444F0-187A-4515-B04D-1A547C8DEFCC}"/>
              </a:ext>
            </a:extLst>
          </p:cNvPr>
          <p:cNvSpPr>
            <a:spLocks xmlns:a="http://schemas.openxmlformats.org/drawingml/2006/main" noGrp="1"/>
          </p:cNvSpPr>
          <p:nvPr/>
        </p:nvSpPr>
        <p:spPr>
          <a:xfrm xmlns:a="http://schemas.openxmlformats.org/drawingml/2006/main">
            <a:off x="609600" y="5343525"/>
            <a:ext cx="107823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9C4934"/>
                </a:solidFill>
                <a:latin typeface="Helvetica Neue"/>
                <a:ea typeface="Helvetica Neue"/>
                <a:cs typeface="Helvetica Neue"/>
              </a:defRPr>
            </a:defPPr>
          </a:lstStyle>
          <a:p xmlns:a="http://schemas.openxmlformats.org/drawingml/2006/main">
            <a:pPr>
              <a:defRPr sz="2250" b="1">
                <a:solidFill>
                  <a:srgbClr val="9C4934"/>
                </a:solidFill>
                <a:latin typeface="Helvetica Neue"/>
                <a:ea typeface="Helvetica Neue"/>
                <a:cs typeface="Helvetica Neue"/>
              </a:defRPr>
            </a:pPr>
            <a:r>
              <a:rPr sz="2250" b="1">
                <a:solidFill>
                  <a:srgbClr val="9C4934"/>
                </a:solidFill>
                <a:latin typeface="Helvetica Neue"/>
                <a:ea typeface="Helvetica Neue"/>
                <a:cs typeface="Helvetica Neue"/>
              </a:rPr>
              <a:t>Community capital is distinct from Green Goods operating revenue</a:t>
            </a:r>
          </a:p>
        </p:txBody>
      </p:sp>
    </p:spTree>
    <p:extLst>
      <p:ext uri="{BB962C8B-B14F-4D97-AF65-F5344CB8AC3E}">
        <p14:creationId xmlns:p14="http://schemas.microsoft.com/office/powerpoint/2010/main" val="850965624"/>
      </p:ext>
    </p:extLst>
  </p:cSld>
</p:sld>
</file>

<file path=ppt/slides/slide13.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6CB9ED6-C03D-4F0D-80ED-4FE3F44A9018}"/>
              </a:ext>
            </a:extLst>
          </p:cNvPr>
          <p:cNvSpPr>
            <a:spLocks xmlns:a="http://schemas.openxmlformats.org/drawingml/2006/main" noGrp="1"/>
          </p:cNvSpPr>
          <p:nvPr/>
        </p:nvSpPr>
        <p:spPr>
          <a:xfrm xmlns:a="http://schemas.openxmlformats.org/drawingml/2006/main">
            <a:off x="609600" y="49530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382D"/>
                </a:solidFill>
                <a:latin typeface="Helvetica Neue"/>
                <a:ea typeface="Helvetica Neue"/>
                <a:cs typeface="Helvetica Neue"/>
              </a:defRPr>
            </a:defPPr>
          </a:lstStyle>
          <a:p xmlns:a="http://schemas.openxmlformats.org/drawingml/2006/main">
            <a:pPr>
              <a:defRPr sz="3300" b="1">
                <a:solidFill>
                  <a:srgbClr val="17382D"/>
                </a:solidFill>
                <a:latin typeface="Helvetica Neue"/>
                <a:ea typeface="Helvetica Neue"/>
                <a:cs typeface="Helvetica Neue"/>
              </a:defRPr>
            </a:pPr>
            <a:r>
              <a:rPr sz="3300" b="1">
                <a:solidFill>
                  <a:srgbClr val="17382D"/>
                </a:solidFill>
                <a:latin typeface="Helvetica Neue"/>
                <a:ea typeface="Helvetica Neue"/>
                <a:cs typeface="Helvetica Neue"/>
              </a:rPr>
              <a:t>Retain licenses; test governed services</a:t>
            </a:r>
          </a:p>
        </p:txBody>
      </p:sp>
      <p:sp>
        <p:nvSpPr>
          <p:cNvPr id="2" name="">
            <a:extLst xmlns:a="http://schemas.openxmlformats.org/drawingml/2006/main">
              <a:ext uri="{FF2B5EF4-FFF2-40B4-BE49-F238E27FC236}">
                <a16:creationId xmlns:a16="http://schemas.microsoft.com/office/drawing/2014/main" id="{A1137146-8E2B-40E0-BAC0-F34120D03264}"/>
              </a:ext>
            </a:extLst>
          </p:cNvPr>
          <p:cNvSpPr>
            <a:spLocks xmlns:a="http://schemas.openxmlformats.org/drawingml/2006/main" noGrp="1"/>
          </p:cNvSpPr>
          <p:nvPr/>
        </p:nvSpPr>
        <p:spPr>
          <a:xfrm xmlns:a="http://schemas.openxmlformats.org/drawingml/2006/main">
            <a:off x="609600" y="624840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3645A"/>
                </a:solidFill>
                <a:latin typeface="Helvetica Neue"/>
                <a:ea typeface="Helvetica Neue"/>
                <a:cs typeface="Helvetica Neue"/>
              </a:defRPr>
            </a:defPPr>
          </a:lstStyle>
          <a:p xmlns:a="http://schemas.openxmlformats.org/drawingml/2006/main">
            <a:pPr>
              <a:defRPr sz="1275" b="0">
                <a:solidFill>
                  <a:srgbClr val="53645A"/>
                </a:solidFill>
                <a:latin typeface="Helvetica Neue"/>
                <a:ea typeface="Helvetica Neue"/>
                <a:cs typeface="Helvetica Neue"/>
              </a:defRPr>
            </a:pPr>
            <a:r>
              <a:rPr sz="1275" b="0">
                <a:solidFill>
                  <a:srgbClr val="53645A"/>
                </a:solidFill>
                <a:latin typeface="Helvetica Neue"/>
                <a:ea typeface="Helvetica Neue"/>
                <a:cs typeface="Helvetica Neue"/>
              </a:rPr>
              <a:t>Proposal · 8 October 2026</a:t>
            </a:r>
          </a:p>
        </p:txBody>
      </p:sp>
      <p:sp>
        <p:nvSpPr>
          <p:cNvPr id="3" name="">
            <a:extLst xmlns:a="http://schemas.openxmlformats.org/drawingml/2006/main">
              <a:ext uri="{FF2B5EF4-FFF2-40B4-BE49-F238E27FC236}">
                <a16:creationId xmlns:a16="http://schemas.microsoft.com/office/drawing/2014/main" id="{881CCE21-6F0D-43F6-A792-C1EB9591EEF6}"/>
              </a:ext>
            </a:extLst>
          </p:cNvPr>
          <p:cNvSpPr>
            <a:spLocks xmlns:a="http://schemas.openxmlformats.org/drawingml/2006/main" noGrp="1"/>
          </p:cNvSpPr>
          <p:nvPr/>
        </p:nvSpPr>
        <p:spPr>
          <a:xfrm xmlns:a="http://schemas.openxmlformats.org/drawingml/2006/main">
            <a:off x="11049000" y="6248400"/>
            <a:ext cx="45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3645A"/>
                </a:solidFill>
                <a:latin typeface="Helvetica Neue"/>
                <a:ea typeface="Helvetica Neue"/>
                <a:cs typeface="Helvetica Neue"/>
              </a:defRPr>
            </a:defPPr>
          </a:lstStyle>
          <a:p xmlns:a="http://schemas.openxmlformats.org/drawingml/2006/main">
            <a:pPr>
              <a:defRPr sz="1275" b="0">
                <a:solidFill>
                  <a:srgbClr val="53645A"/>
                </a:solidFill>
                <a:latin typeface="Helvetica Neue"/>
                <a:ea typeface="Helvetica Neue"/>
                <a:cs typeface="Helvetica Neue"/>
              </a:defRPr>
            </a:pPr>
            <a:r>
              <a:rPr sz="1275" b="0">
                <a:solidFill>
                  <a:srgbClr val="53645A"/>
                </a:solidFill>
                <a:latin typeface="Helvetica Neue"/>
                <a:ea typeface="Helvetica Neue"/>
                <a:cs typeface="Helvetica Neue"/>
              </a:rPr>
              <a:t>13</a:t>
            </a:r>
          </a:p>
        </p:txBody>
      </p:sp>
      <p:graphicFrame>
        <p:nvGraphicFramePr>
          <p:cNvPr id="4" name="">
            <a:extLst xmlns:a="http://schemas.openxmlformats.org/drawingml/2006/main">
              <a:ext uri="{FF2B5EF4-FFF2-40B4-BE49-F238E27FC236}">
                <a16:creationId xmlns:a16="http://schemas.microsoft.com/office/drawing/2014/main" id="{09CC8042-F387-44C2-B49F-6428765A5453}"/>
              </a:ext>
            </a:extLst>
          </p:cNvPr>
          <p:cNvGraphicFramePr/>
          <p:nvPr/>
        </p:nvGraphicFramePr>
        <p:xfrm>
          <a:off xmlns:a="http://schemas.openxmlformats.org/drawingml/2006/main" x="609600" y="1857375"/>
          <a:ext xmlns:a="http://schemas.openxmlformats.org/drawingml/2006/main" cx="10972800" cy="3352800"/>
        </p:xfrm>
        <a:graphic xmlns:a="http://schemas.openxmlformats.org/drawingml/2006/main">
          <a:graphicData uri="http://schemas.openxmlformats.org/drawingml/2006/table">
            <a:tbl>
              <a:tblPr/>
              <a:tblGrid>
                <a:gridCol w="3857625"/>
                <a:gridCol w="7115175"/>
              </a:tblGrid>
              <a:tr h="670560">
                <a:tc>
                  <a:txBody>
                    <a:bodyPr wrap="square" lIns="171450" tIns="95250" rIns="171450" bIns="95250">
                      <a:noAutofit/>
                    </a:bodyPr>
                    <a:lstStyle/>
                    <a:p>
                      <a:r>
                        <a:rPr sz="1875" b="1">
                          <a:solidFill>
                            <a:srgbClr val="FFFFFF"/>
                          </a:solidFill>
                          <a:latin typeface="Helvetica Neue"/>
                          <a:ea typeface="Helvetica Neue"/>
                          <a:cs typeface="Helvetica Neue"/>
                        </a:rPr>
                        <a:t>Layer</a:t>
                      </a:r>
                    </a:p>
                  </a:txBody>
                  <a:tcPr marL="91440" marR="91440" marT="45720" marB="45720" anchor="ctr">
                    <a:solidFill>
                      <a:srgbClr val="17382D"/>
                    </a:solidFill>
                  </a:tcPr>
                </a:tc>
                <a:tc>
                  <a:txBody>
                    <a:bodyPr wrap="square" lIns="171450" tIns="95250" rIns="171450" bIns="95250">
                      <a:noAutofit/>
                    </a:bodyPr>
                    <a:lstStyle/>
                    <a:p>
                      <a:r>
                        <a:rPr sz="1875" b="1">
                          <a:solidFill>
                            <a:srgbClr val="FFFFFF"/>
                          </a:solidFill>
                          <a:latin typeface="Helvetica Neue"/>
                          <a:ea typeface="Helvetica Neue"/>
                          <a:cs typeface="Helvetica Neue"/>
                        </a:rPr>
                        <a:t>Proposed approach</a:t>
                      </a:r>
                    </a:p>
                  </a:txBody>
                  <a:tcPr marL="91440" marR="91440" marT="45720" marB="45720" anchor="ctr">
                    <a:solidFill>
                      <a:srgbClr val="17382D"/>
                    </a:solidFill>
                  </a:tcPr>
                </a:tc>
              </a:tr>
              <a:tr h="670560">
                <a:tc>
                  <a:txBody>
                    <a:bodyPr wrap="square" lIns="171450" tIns="95250" rIns="171450" bIns="95250">
                      <a:noAutofit/>
                    </a:bodyPr>
                    <a:lstStyle/>
                    <a:p>
                      <a:r>
                        <a:rPr sz="1875" b="0">
                          <a:solidFill>
                            <a:srgbClr val="17382D"/>
                          </a:solidFill>
                          <a:latin typeface="Helvetica Neue"/>
                          <a:ea typeface="Helvetica Neue"/>
                          <a:cs typeface="Helvetica Neue"/>
                        </a:rPr>
                        <a:t>Software</a:t>
                      </a:r>
                    </a:p>
                  </a:txBody>
                  <a:tcPr marL="91440" marR="91440" marT="45720" marB="45720" anchor="ctr">
                    <a:solidFill>
                      <a:srgbClr val="FCFAF5"/>
                    </a:solidFill>
                  </a:tcPr>
                </a:tc>
                <a:tc>
                  <a:txBody>
                    <a:bodyPr wrap="square" lIns="171450" tIns="95250" rIns="171450" bIns="95250">
                      <a:noAutofit/>
                    </a:bodyPr>
                    <a:lstStyle/>
                    <a:p>
                      <a:r>
                        <a:rPr sz="1875" b="0">
                          <a:solidFill>
                            <a:srgbClr val="17382D"/>
                          </a:solidFill>
                          <a:latin typeface="Helvetica Neue"/>
                          <a:ea typeface="Helvetica Neue"/>
                          <a:cs typeface="Helvetica Neue"/>
                        </a:rPr>
                        <a:t>Retain current licenses and upstream obligations</a:t>
                      </a:r>
                    </a:p>
                  </a:txBody>
                  <a:tcPr marL="91440" marR="91440" marT="45720" marB="45720" anchor="ctr">
                    <a:solidFill>
                      <a:srgbClr val="FCFAF5"/>
                    </a:solidFill>
                  </a:tcPr>
                </a:tc>
              </a:tr>
              <a:tr h="670560">
                <a:tc>
                  <a:txBody>
                    <a:bodyPr wrap="square" lIns="171450" tIns="95250" rIns="171450" bIns="95250">
                      <a:noAutofit/>
                    </a:bodyPr>
                    <a:lstStyle/>
                    <a:p>
                      <a:r>
                        <a:rPr sz="1875" b="0">
                          <a:solidFill>
                            <a:srgbClr val="17382D"/>
                          </a:solidFill>
                          <a:latin typeface="Helvetica Neue"/>
                          <a:ea typeface="Helvetica Neue"/>
                          <a:cs typeface="Helvetica Neue"/>
                        </a:rPr>
                        <a:t>Data and knowledge</a:t>
                      </a:r>
                    </a:p>
                  </a:txBody>
                  <a:tcPr marL="91440" marR="91440" marT="45720" marB="45720" anchor="ctr">
                    <a:solidFill>
                      <a:srgbClr val="DCE5D8"/>
                    </a:solidFill>
                  </a:tcPr>
                </a:tc>
                <a:tc>
                  <a:txBody>
                    <a:bodyPr wrap="square" lIns="171450" tIns="95250" rIns="171450" bIns="95250">
                      <a:noAutofit/>
                    </a:bodyPr>
                    <a:lstStyle/>
                    <a:p>
                      <a:r>
                        <a:rPr sz="1875" b="0">
                          <a:solidFill>
                            <a:srgbClr val="17382D"/>
                          </a:solidFill>
                          <a:latin typeface="Helvetica Neue"/>
                          <a:ea typeface="Helvetica Neue"/>
                          <a:cs typeface="Helvetica Neue"/>
                        </a:rPr>
                        <a:t>Separate permission, attribution, consent and exit rules</a:t>
                      </a:r>
                    </a:p>
                  </a:txBody>
                  <a:tcPr marL="91440" marR="91440" marT="45720" marB="45720" anchor="ctr">
                    <a:solidFill>
                      <a:srgbClr val="DCE5D8"/>
                    </a:solidFill>
                  </a:tcPr>
                </a:tc>
              </a:tr>
              <a:tr h="670560">
                <a:tc>
                  <a:txBody>
                    <a:bodyPr wrap="square" lIns="171450" tIns="95250" rIns="171450" bIns="95250">
                      <a:noAutofit/>
                    </a:bodyPr>
                    <a:lstStyle/>
                    <a:p>
                      <a:r>
                        <a:rPr sz="1875" b="0">
                          <a:solidFill>
                            <a:srgbClr val="17382D"/>
                          </a:solidFill>
                          <a:latin typeface="Helvetica Neue"/>
                          <a:ea typeface="Helvetica Neue"/>
                          <a:cs typeface="Helvetica Neue"/>
                        </a:rPr>
                        <a:t>Membership / services</a:t>
                      </a:r>
                    </a:p>
                  </a:txBody>
                  <a:tcPr marL="91440" marR="91440" marT="45720" marB="45720" anchor="ctr">
                    <a:solidFill>
                      <a:srgbClr val="FCFAF5"/>
                    </a:solidFill>
                  </a:tcPr>
                </a:tc>
                <a:tc>
                  <a:txBody>
                    <a:bodyPr wrap="square" lIns="171450" tIns="95250" rIns="171450" bIns="95250">
                      <a:noAutofit/>
                    </a:bodyPr>
                    <a:lstStyle/>
                    <a:p>
                      <a:r>
                        <a:rPr sz="1875" b="0">
                          <a:solidFill>
                            <a:srgbClr val="17382D"/>
                          </a:solidFill>
                          <a:latin typeface="Helvetica Neue"/>
                          <a:ea typeface="Helvetica Neue"/>
                          <a:cs typeface="Helvetica Neue"/>
                        </a:rPr>
                        <a:t>Charge for defined support, curation and expertise</a:t>
                      </a:r>
                    </a:p>
                  </a:txBody>
                  <a:tcPr marL="91440" marR="91440" marT="45720" marB="45720" anchor="ctr">
                    <a:solidFill>
                      <a:srgbClr val="FCFAF5"/>
                    </a:solidFill>
                  </a:tcPr>
                </a:tc>
              </a:tr>
              <a:tr h="670560">
                <a:tc>
                  <a:txBody>
                    <a:bodyPr wrap="square" lIns="171450" tIns="95250" rIns="171450" bIns="95250">
                      <a:noAutofit/>
                    </a:bodyPr>
                    <a:lstStyle/>
                    <a:p>
                      <a:r>
                        <a:rPr sz="1875" b="0">
                          <a:solidFill>
                            <a:srgbClr val="17382D"/>
                          </a:solidFill>
                          <a:latin typeface="Helvetica Neue"/>
                          <a:ea typeface="Helvetica Neue"/>
                          <a:cs typeface="Helvetica Neue"/>
                        </a:rPr>
                        <a:t>Brand / certification</a:t>
                      </a:r>
                    </a:p>
                  </a:txBody>
                  <a:tcPr marL="91440" marR="91440" marT="45720" marB="45720" anchor="ctr">
                    <a:solidFill>
                      <a:srgbClr val="DCE5D8"/>
                    </a:solidFill>
                  </a:tcPr>
                </a:tc>
                <a:tc>
                  <a:txBody>
                    <a:bodyPr wrap="square" lIns="171450" tIns="95250" rIns="171450" bIns="95250">
                      <a:noAutofit/>
                    </a:bodyPr>
                    <a:lstStyle/>
                    <a:p>
                      <a:r>
                        <a:rPr sz="1875" b="0">
                          <a:solidFill>
                            <a:srgbClr val="17382D"/>
                          </a:solidFill>
                          <a:latin typeface="Helvetica Neue"/>
                          <a:ea typeface="Helvetica Neue"/>
                          <a:cs typeface="Helvetica Neue"/>
                        </a:rPr>
                        <a:t>Use separate, legally reviewed governance terms</a:t>
                      </a:r>
                    </a:p>
                  </a:txBody>
                  <a:tcPr marL="91440" marR="91440" marT="45720" marB="45720" anchor="ctr">
                    <a:solidFill>
                      <a:srgbClr val="DCE5D8"/>
                    </a:solidFill>
                  </a:tcPr>
                </a:tc>
              </a:tr>
            </a:tbl>
          </a:graphicData>
        </a:graphic>
      </p:graphicFrame>
      <p:sp>
        <p:nvSpPr>
          <p:cNvPr id="5" name="">
            <a:extLst xmlns:a="http://schemas.openxmlformats.org/drawingml/2006/main">
              <a:ext uri="{FF2B5EF4-FFF2-40B4-BE49-F238E27FC236}">
                <a16:creationId xmlns:a16="http://schemas.microsoft.com/office/drawing/2014/main" id="{758570E8-D164-4406-9883-F1144F08B402}"/>
              </a:ext>
            </a:extLst>
          </p:cNvPr>
          <p:cNvSpPr>
            <a:spLocks xmlns:a="http://schemas.openxmlformats.org/drawingml/2006/main" noGrp="1"/>
          </p:cNvSpPr>
          <p:nvPr/>
        </p:nvSpPr>
        <p:spPr>
          <a:xfrm xmlns:a="http://schemas.openxmlformats.org/drawingml/2006/main">
            <a:off x="609600" y="5648325"/>
            <a:ext cx="108013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9C4934"/>
                </a:solidFill>
                <a:latin typeface="Helvetica Neue"/>
                <a:ea typeface="Helvetica Neue"/>
                <a:cs typeface="Helvetica Neue"/>
              </a:defRPr>
            </a:defPPr>
          </a:lstStyle>
          <a:p xmlns:a="http://schemas.openxmlformats.org/drawingml/2006/main">
            <a:pPr>
              <a:defRPr sz="1725" b="1">
                <a:solidFill>
                  <a:srgbClr val="9C4934"/>
                </a:solidFill>
                <a:latin typeface="Helvetica Neue"/>
                <a:ea typeface="Helvetica Neue"/>
                <a:cs typeface="Helvetica Neue"/>
              </a:defRPr>
            </a:pPr>
            <a:r>
              <a:rPr sz="1725" b="1">
                <a:solidFill>
                  <a:srgbClr val="9C4934"/>
                </a:solidFill>
                <a:latin typeface="Helvetica Neue"/>
                <a:ea typeface="Helvetica Neue"/>
                <a:cs typeface="Helvetica Neue"/>
              </a:rPr>
              <a:t>Cooperative terms unverified · No implied data ownership or AI-training right</a:t>
            </a:r>
          </a:p>
        </p:txBody>
      </p:sp>
    </p:spTree>
    <p:extLst>
      <p:ext uri="{BB962C8B-B14F-4D97-AF65-F5344CB8AC3E}">
        <p14:creationId xmlns:p14="http://schemas.microsoft.com/office/powerpoint/2010/main" val="806730150"/>
      </p:ext>
    </p:extLst>
  </p:cSld>
</p:sld>
</file>

<file path=ppt/slides/slide14.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51408A2-92C2-45E1-A10F-5F4AF4B93F11}"/>
              </a:ext>
            </a:extLst>
          </p:cNvPr>
          <p:cNvSpPr>
            <a:spLocks xmlns:a="http://schemas.openxmlformats.org/drawingml/2006/main" noGrp="1"/>
          </p:cNvSpPr>
          <p:nvPr/>
        </p:nvSpPr>
        <p:spPr>
          <a:xfrm xmlns:a="http://schemas.openxmlformats.org/drawingml/2006/main">
            <a:off x="609600" y="49530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382D"/>
                </a:solidFill>
                <a:latin typeface="Helvetica Neue"/>
                <a:ea typeface="Helvetica Neue"/>
                <a:cs typeface="Helvetica Neue"/>
              </a:defRPr>
            </a:defPPr>
          </a:lstStyle>
          <a:p xmlns:a="http://schemas.openxmlformats.org/drawingml/2006/main">
            <a:pPr>
              <a:defRPr sz="3300" b="1">
                <a:solidFill>
                  <a:srgbClr val="17382D"/>
                </a:solidFill>
                <a:latin typeface="Helvetica Neue"/>
                <a:ea typeface="Helvetica Neue"/>
                <a:cs typeface="Helvetica Neue"/>
              </a:defRPr>
            </a:pPr>
            <a:r>
              <a:rPr sz="3300" b="1">
                <a:solidFill>
                  <a:srgbClr val="17382D"/>
                </a:solidFill>
                <a:latin typeface="Helvetica Neue"/>
                <a:ea typeface="Helvetica Neue"/>
                <a:cs typeface="Helvetica Neue"/>
              </a:rPr>
              <a:t>A services-led business hypothesis</a:t>
            </a:r>
          </a:p>
        </p:txBody>
      </p:sp>
      <p:sp>
        <p:nvSpPr>
          <p:cNvPr id="2" name="">
            <a:extLst xmlns:a="http://schemas.openxmlformats.org/drawingml/2006/main">
              <a:ext uri="{FF2B5EF4-FFF2-40B4-BE49-F238E27FC236}">
                <a16:creationId xmlns:a16="http://schemas.microsoft.com/office/drawing/2014/main" id="{F24D057B-8184-486D-A8F1-B2F3EA39DF2D}"/>
              </a:ext>
            </a:extLst>
          </p:cNvPr>
          <p:cNvSpPr>
            <a:spLocks xmlns:a="http://schemas.openxmlformats.org/drawingml/2006/main" noGrp="1"/>
          </p:cNvSpPr>
          <p:nvPr/>
        </p:nvSpPr>
        <p:spPr>
          <a:xfrm xmlns:a="http://schemas.openxmlformats.org/drawingml/2006/main">
            <a:off x="609600" y="624840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3645A"/>
                </a:solidFill>
                <a:latin typeface="Helvetica Neue"/>
                <a:ea typeface="Helvetica Neue"/>
                <a:cs typeface="Helvetica Neue"/>
              </a:defRPr>
            </a:defPPr>
          </a:lstStyle>
          <a:p xmlns:a="http://schemas.openxmlformats.org/drawingml/2006/main">
            <a:pPr>
              <a:defRPr sz="1275" b="0">
                <a:solidFill>
                  <a:srgbClr val="53645A"/>
                </a:solidFill>
                <a:latin typeface="Helvetica Neue"/>
                <a:ea typeface="Helvetica Neue"/>
                <a:cs typeface="Helvetica Neue"/>
              </a:defRPr>
            </a:pPr>
            <a:r>
              <a:rPr sz="1275" b="0">
                <a:solidFill>
                  <a:srgbClr val="53645A"/>
                </a:solidFill>
                <a:latin typeface="Helvetica Neue"/>
                <a:ea typeface="Helvetica Neue"/>
                <a:cs typeface="Helvetica Neue"/>
              </a:rPr>
              <a:t>Proposal · 8 October 2026</a:t>
            </a:r>
          </a:p>
        </p:txBody>
      </p:sp>
      <p:sp>
        <p:nvSpPr>
          <p:cNvPr id="3" name="">
            <a:extLst xmlns:a="http://schemas.openxmlformats.org/drawingml/2006/main">
              <a:ext uri="{FF2B5EF4-FFF2-40B4-BE49-F238E27FC236}">
                <a16:creationId xmlns:a16="http://schemas.microsoft.com/office/drawing/2014/main" id="{130252DB-DF9F-4994-9E35-550B10860E56}"/>
              </a:ext>
            </a:extLst>
          </p:cNvPr>
          <p:cNvSpPr>
            <a:spLocks xmlns:a="http://schemas.openxmlformats.org/drawingml/2006/main" noGrp="1"/>
          </p:cNvSpPr>
          <p:nvPr/>
        </p:nvSpPr>
        <p:spPr>
          <a:xfrm xmlns:a="http://schemas.openxmlformats.org/drawingml/2006/main">
            <a:off x="11049000" y="6248400"/>
            <a:ext cx="45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3645A"/>
                </a:solidFill>
                <a:latin typeface="Helvetica Neue"/>
                <a:ea typeface="Helvetica Neue"/>
                <a:cs typeface="Helvetica Neue"/>
              </a:defRPr>
            </a:defPPr>
          </a:lstStyle>
          <a:p xmlns:a="http://schemas.openxmlformats.org/drawingml/2006/main">
            <a:pPr>
              <a:defRPr sz="1275" b="0">
                <a:solidFill>
                  <a:srgbClr val="53645A"/>
                </a:solidFill>
                <a:latin typeface="Helvetica Neue"/>
                <a:ea typeface="Helvetica Neue"/>
                <a:cs typeface="Helvetica Neue"/>
              </a:defRPr>
            </a:pPr>
            <a:r>
              <a:rPr sz="1275" b="0">
                <a:solidFill>
                  <a:srgbClr val="53645A"/>
                </a:solidFill>
                <a:latin typeface="Helvetica Neue"/>
                <a:ea typeface="Helvetica Neue"/>
                <a:cs typeface="Helvetica Neue"/>
              </a:rPr>
              <a:t>14</a:t>
            </a:r>
          </a:p>
        </p:txBody>
      </p:sp>
      <p:graphicFrame>
        <p:nvGraphicFramePr>
          <p:cNvPr id="4" name="">
            <a:extLst xmlns:a="http://schemas.openxmlformats.org/drawingml/2006/main">
              <a:ext uri="{FF2B5EF4-FFF2-40B4-BE49-F238E27FC236}">
                <a16:creationId xmlns:a16="http://schemas.microsoft.com/office/drawing/2014/main" id="{0DAC635A-69F3-43A5-9425-3DCCD873F174}"/>
              </a:ext>
            </a:extLst>
          </p:cNvPr>
          <p:cNvGraphicFramePr/>
          <p:nvPr/>
        </p:nvGraphicFramePr>
        <p:xfrm>
          <a:off xmlns:a="http://schemas.openxmlformats.org/drawingml/2006/main" x="609600" y="1847850"/>
          <a:ext xmlns:a="http://schemas.openxmlformats.org/drawingml/2006/main" cx="10972800" cy="3371850"/>
        </p:xfrm>
        <a:graphic xmlns:a="http://schemas.openxmlformats.org/drawingml/2006/main">
          <a:graphicData uri="http://schemas.openxmlformats.org/drawingml/2006/table">
            <a:tbl>
              <a:tblPr/>
              <a:tblGrid>
                <a:gridCol w="4857750"/>
                <a:gridCol w="6115050"/>
              </a:tblGrid>
              <a:tr h="674370">
                <a:tc>
                  <a:txBody>
                    <a:bodyPr wrap="square" lIns="171450" tIns="95250" rIns="171450" bIns="95250">
                      <a:noAutofit/>
                    </a:bodyPr>
                    <a:lstStyle/>
                    <a:p>
                      <a:r>
                        <a:rPr sz="1875" b="1">
                          <a:solidFill>
                            <a:srgbClr val="FFFFFF"/>
                          </a:solidFill>
                          <a:latin typeface="Helvetica Neue"/>
                          <a:ea typeface="Helvetica Neue"/>
                          <a:cs typeface="Helvetica Neue"/>
                        </a:rPr>
                        <a:t>Sequence</a:t>
                      </a:r>
                    </a:p>
                  </a:txBody>
                  <a:tcPr marL="91440" marR="91440" marT="45720" marB="45720" anchor="ctr">
                    <a:solidFill>
                      <a:srgbClr val="17382D"/>
                    </a:solidFill>
                  </a:tcPr>
                </a:tc>
                <a:tc>
                  <a:txBody>
                    <a:bodyPr wrap="square" lIns="171450" tIns="95250" rIns="171450" bIns="95250">
                      <a:noAutofit/>
                    </a:bodyPr>
                    <a:lstStyle/>
                    <a:p>
                      <a:r>
                        <a:rPr sz="1875" b="1">
                          <a:solidFill>
                            <a:srgbClr val="FFFFFF"/>
                          </a:solidFill>
                          <a:latin typeface="Helvetica Neue"/>
                          <a:ea typeface="Helvetica Neue"/>
                          <a:cs typeface="Helvetica Neue"/>
                        </a:rPr>
                        <a:t>Benefit someone could pay for</a:t>
                      </a:r>
                    </a:p>
                  </a:txBody>
                  <a:tcPr marL="91440" marR="91440" marT="45720" marB="45720" anchor="ctr">
                    <a:solidFill>
                      <a:srgbClr val="17382D"/>
                    </a:solidFill>
                  </a:tcPr>
                </a:tc>
              </a:tr>
              <a:tr h="674370">
                <a:tc>
                  <a:txBody>
                    <a:bodyPr wrap="square" lIns="171450" tIns="95250" rIns="171450" bIns="95250">
                      <a:noAutofit/>
                    </a:bodyPr>
                    <a:lstStyle/>
                    <a:p>
                      <a:r>
                        <a:rPr sz="1875" b="0">
                          <a:solidFill>
                            <a:srgbClr val="17382D"/>
                          </a:solidFill>
                          <a:latin typeface="Helvetica Neue"/>
                          <a:ea typeface="Helvetica Neue"/>
                          <a:cs typeface="Helvetica Neue"/>
                        </a:rPr>
                        <a:t>First: onboarding and education</a:t>
                      </a:r>
                    </a:p>
                  </a:txBody>
                  <a:tcPr marL="91440" marR="91440" marT="45720" marB="45720" anchor="ctr">
                    <a:solidFill>
                      <a:srgbClr val="FCFAF5"/>
                    </a:solidFill>
                  </a:tcPr>
                </a:tc>
                <a:tc>
                  <a:txBody>
                    <a:bodyPr wrap="square" lIns="171450" tIns="95250" rIns="171450" bIns="95250">
                      <a:noAutofit/>
                    </a:bodyPr>
                    <a:lstStyle/>
                    <a:p>
                      <a:r>
                        <a:rPr sz="1875" b="0">
                          <a:solidFill>
                            <a:srgbClr val="17382D"/>
                          </a:solidFill>
                          <a:latin typeface="Helvetica Neue"/>
                          <a:ea typeface="Helvetica Neue"/>
                          <a:cs typeface="Helvetica Neue"/>
                        </a:rPr>
                        <a:t>A working process, trained stewards and usable exports</a:t>
                      </a:r>
                    </a:p>
                  </a:txBody>
                  <a:tcPr marL="91440" marR="91440" marT="45720" marB="45720" anchor="ctr">
                    <a:solidFill>
                      <a:srgbClr val="FCFAF5"/>
                    </a:solidFill>
                  </a:tcPr>
                </a:tc>
              </a:tr>
              <a:tr h="674370">
                <a:tc>
                  <a:txBody>
                    <a:bodyPr wrap="square" lIns="171450" tIns="95250" rIns="171450" bIns="95250">
                      <a:noAutofit/>
                    </a:bodyPr>
                    <a:lstStyle/>
                    <a:p>
                      <a:r>
                        <a:rPr sz="1875" b="0">
                          <a:solidFill>
                            <a:srgbClr val="17382D"/>
                          </a:solidFill>
                          <a:latin typeface="Helvetica Neue"/>
                          <a:ea typeface="Helvetica Neue"/>
                          <a:cs typeface="Helvetica Neue"/>
                        </a:rPr>
                        <a:t>Next: recurring support</a:t>
                      </a:r>
                    </a:p>
                  </a:txBody>
                  <a:tcPr marL="91440" marR="91440" marT="45720" marB="45720" anchor="ctr">
                    <a:solidFill>
                      <a:srgbClr val="DCE5D8"/>
                    </a:solidFill>
                  </a:tcPr>
                </a:tc>
                <a:tc>
                  <a:txBody>
                    <a:bodyPr wrap="square" lIns="171450" tIns="95250" rIns="171450" bIns="95250">
                      <a:noAutofit/>
                    </a:bodyPr>
                    <a:lstStyle/>
                    <a:p>
                      <a:r>
                        <a:rPr sz="1875" b="0">
                          <a:solidFill>
                            <a:srgbClr val="17382D"/>
                          </a:solidFill>
                          <a:latin typeface="Helvetica Neue"/>
                          <a:ea typeface="Helvetica Neue"/>
                          <a:cs typeface="Helvetica Neue"/>
                        </a:rPr>
                        <a:t>Backups, upgrades, recovery and dependable assistance</a:t>
                      </a:r>
                    </a:p>
                  </a:txBody>
                  <a:tcPr marL="91440" marR="91440" marT="45720" marB="45720" anchor="ctr">
                    <a:solidFill>
                      <a:srgbClr val="DCE5D8"/>
                    </a:solidFill>
                  </a:tcPr>
                </a:tc>
              </a:tr>
              <a:tr h="674370">
                <a:tc>
                  <a:txBody>
                    <a:bodyPr wrap="square" lIns="171450" tIns="95250" rIns="171450" bIns="95250">
                      <a:noAutofit/>
                    </a:bodyPr>
                    <a:lstStyle/>
                    <a:p>
                      <a:r>
                        <a:rPr sz="1875" b="0">
                          <a:solidFill>
                            <a:srgbClr val="17382D"/>
                          </a:solidFill>
                          <a:latin typeface="Helvetica Neue"/>
                          <a:ea typeface="Helvetica Neue"/>
                          <a:cs typeface="Helvetica Neue"/>
                        </a:rPr>
                        <a:t>Then: curated knowledge / kits</a:t>
                      </a:r>
                    </a:p>
                  </a:txBody>
                  <a:tcPr marL="91440" marR="91440" marT="45720" marB="45720" anchor="ctr">
                    <a:solidFill>
                      <a:srgbClr val="FCFAF5"/>
                    </a:solidFill>
                  </a:tcPr>
                </a:tc>
                <a:tc>
                  <a:txBody>
                    <a:bodyPr wrap="square" lIns="171450" tIns="95250" rIns="171450" bIns="95250">
                      <a:noAutofit/>
                    </a:bodyPr>
                    <a:lstStyle/>
                    <a:p>
                      <a:r>
                        <a:rPr sz="1875" b="0">
                          <a:solidFill>
                            <a:srgbClr val="17382D"/>
                          </a:solidFill>
                          <a:latin typeface="Helvetica Neue"/>
                          <a:ea typeface="Helvetica Neue"/>
                          <a:cs typeface="Helvetica Neue"/>
                        </a:rPr>
                        <a:t>Relevant expertise and maintained equipment, if needed</a:t>
                      </a:r>
                    </a:p>
                  </a:txBody>
                  <a:tcPr marL="91440" marR="91440" marT="45720" marB="45720" anchor="ctr">
                    <a:solidFill>
                      <a:srgbClr val="FCFAF5"/>
                    </a:solidFill>
                  </a:tcPr>
                </a:tc>
              </a:tr>
              <a:tr h="674370">
                <a:tc>
                  <a:txBody>
                    <a:bodyPr wrap="square" lIns="171450" tIns="95250" rIns="171450" bIns="95250">
                      <a:noAutofit/>
                    </a:bodyPr>
                    <a:lstStyle/>
                    <a:p>
                      <a:r>
                        <a:rPr sz="1875" b="0">
                          <a:solidFill>
                            <a:srgbClr val="17382D"/>
                          </a:solidFill>
                          <a:latin typeface="Helvetica Neue"/>
                          <a:ea typeface="Helvetica Neue"/>
                          <a:cs typeface="Helvetica Neue"/>
                        </a:rPr>
                        <a:t>Defer: protocol fees / licensing</a:t>
                      </a:r>
                    </a:p>
                  </a:txBody>
                  <a:tcPr marL="91440" marR="91440" marT="45720" marB="45720" anchor="ctr">
                    <a:solidFill>
                      <a:srgbClr val="DCE5D8"/>
                    </a:solidFill>
                  </a:tcPr>
                </a:tc>
                <a:tc>
                  <a:txBody>
                    <a:bodyPr wrap="square" lIns="171450" tIns="95250" rIns="171450" bIns="95250">
                      <a:noAutofit/>
                    </a:bodyPr>
                    <a:lstStyle/>
                    <a:p>
                      <a:r>
                        <a:rPr sz="1875" b="0">
                          <a:solidFill>
                            <a:srgbClr val="17382D"/>
                          </a:solidFill>
                          <a:latin typeface="Helvetica Neue"/>
                          <a:ea typeface="Helvetica Neue"/>
                          <a:cs typeface="Helvetica Neue"/>
                        </a:rPr>
                        <a:t>Require separate demand, rights and economics evidence</a:t>
                      </a:r>
                    </a:p>
                  </a:txBody>
                  <a:tcPr marL="91440" marR="91440" marT="45720" marB="45720" anchor="ctr">
                    <a:solidFill>
                      <a:srgbClr val="DCE5D8"/>
                    </a:solidFill>
                  </a:tcPr>
                </a:tc>
              </a:tr>
            </a:tbl>
          </a:graphicData>
        </a:graphic>
      </p:graphicFrame>
      <p:sp>
        <p:nvSpPr>
          <p:cNvPr id="5" name="">
            <a:extLst xmlns:a="http://schemas.openxmlformats.org/drawingml/2006/main">
              <a:ext uri="{FF2B5EF4-FFF2-40B4-BE49-F238E27FC236}">
                <a16:creationId xmlns:a16="http://schemas.microsoft.com/office/drawing/2014/main" id="{F6651CF7-41FE-467A-8001-3E03EFF0CD1C}"/>
              </a:ext>
            </a:extLst>
          </p:cNvPr>
          <p:cNvSpPr>
            <a:spLocks xmlns:a="http://schemas.openxmlformats.org/drawingml/2006/main" noGrp="1"/>
          </p:cNvSpPr>
          <p:nvPr/>
        </p:nvSpPr>
        <p:spPr>
          <a:xfrm xmlns:a="http://schemas.openxmlformats.org/drawingml/2006/main">
            <a:off x="609600" y="5638800"/>
            <a:ext cx="108013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17382D"/>
                </a:solidFill>
                <a:latin typeface="Helvetica Neue"/>
                <a:ea typeface="Helvetica Neue"/>
                <a:cs typeface="Helvetica Neue"/>
              </a:defRPr>
            </a:defPPr>
          </a:lstStyle>
          <a:p xmlns:a="http://schemas.openxmlformats.org/drawingml/2006/main">
            <a:pPr>
              <a:defRPr sz="2025" b="1">
                <a:solidFill>
                  <a:srgbClr val="17382D"/>
                </a:solidFill>
                <a:latin typeface="Helvetica Neue"/>
                <a:ea typeface="Helvetica Neue"/>
                <a:cs typeface="Helvetica Neue"/>
              </a:defRPr>
            </a:pPr>
            <a:r>
              <a:rPr sz="2025" b="1">
                <a:solidFill>
                  <a:srgbClr val="17382D"/>
                </a:solidFill>
                <a:latin typeface="Helvetica Neue"/>
                <a:ea typeface="Helvetica Neue"/>
                <a:cs typeface="Helvetica Neue"/>
              </a:rPr>
              <a:t>Membership must never lock people out of their own contributions</a:t>
            </a:r>
          </a:p>
        </p:txBody>
      </p:sp>
    </p:spTree>
    <p:extLst>
      <p:ext uri="{BB962C8B-B14F-4D97-AF65-F5344CB8AC3E}">
        <p14:creationId xmlns:p14="http://schemas.microsoft.com/office/powerpoint/2010/main" val="2078337009"/>
      </p:ext>
    </p:extLst>
  </p:cSld>
</p:sld>
</file>

<file path=ppt/slides/slide15.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2382BC1-0C1B-40A9-9CA4-CAEF6AFCDF7E}"/>
              </a:ext>
            </a:extLst>
          </p:cNvPr>
          <p:cNvSpPr>
            <a:spLocks xmlns:a="http://schemas.openxmlformats.org/drawingml/2006/main" noGrp="1"/>
          </p:cNvSpPr>
          <p:nvPr/>
        </p:nvSpPr>
        <p:spPr>
          <a:xfrm xmlns:a="http://schemas.openxmlformats.org/drawingml/2006/main">
            <a:off x="609600" y="49530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382D"/>
                </a:solidFill>
                <a:latin typeface="Helvetica Neue"/>
                <a:ea typeface="Helvetica Neue"/>
                <a:cs typeface="Helvetica Neue"/>
              </a:defRPr>
            </a:defPPr>
          </a:lstStyle>
          <a:p xmlns:a="http://schemas.openxmlformats.org/drawingml/2006/main">
            <a:pPr>
              <a:defRPr sz="3300" b="1">
                <a:solidFill>
                  <a:srgbClr val="17382D"/>
                </a:solidFill>
                <a:latin typeface="Helvetica Neue"/>
                <a:ea typeface="Helvetica Neue"/>
                <a:cs typeface="Helvetica Neue"/>
              </a:defRPr>
            </a:pPr>
            <a:r>
              <a:rPr sz="3300" b="1">
                <a:solidFill>
                  <a:srgbClr val="17382D"/>
                </a:solidFill>
                <a:latin typeface="Helvetica Neue"/>
                <a:ea typeface="Helvetica Neue"/>
                <a:cs typeface="Helvetica Neue"/>
              </a:rPr>
              <a:t>Illustrative annualized economics</a:t>
            </a:r>
          </a:p>
        </p:txBody>
      </p:sp>
      <p:sp>
        <p:nvSpPr>
          <p:cNvPr id="2" name="">
            <a:extLst xmlns:a="http://schemas.openxmlformats.org/drawingml/2006/main">
              <a:ext uri="{FF2B5EF4-FFF2-40B4-BE49-F238E27FC236}">
                <a16:creationId xmlns:a16="http://schemas.microsoft.com/office/drawing/2014/main" id="{1130DFD0-B2B9-49D0-9E94-D9F0C30F6DE8}"/>
              </a:ext>
            </a:extLst>
          </p:cNvPr>
          <p:cNvSpPr>
            <a:spLocks xmlns:a="http://schemas.openxmlformats.org/drawingml/2006/main" noGrp="1"/>
          </p:cNvSpPr>
          <p:nvPr/>
        </p:nvSpPr>
        <p:spPr>
          <a:xfrm xmlns:a="http://schemas.openxmlformats.org/drawingml/2006/main">
            <a:off x="609600" y="624840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3645A"/>
                </a:solidFill>
                <a:latin typeface="Helvetica Neue"/>
                <a:ea typeface="Helvetica Neue"/>
                <a:cs typeface="Helvetica Neue"/>
              </a:defRPr>
            </a:defPPr>
          </a:lstStyle>
          <a:p xmlns:a="http://schemas.openxmlformats.org/drawingml/2006/main">
            <a:pPr>
              <a:defRPr sz="1275" b="0">
                <a:solidFill>
                  <a:srgbClr val="53645A"/>
                </a:solidFill>
                <a:latin typeface="Helvetica Neue"/>
                <a:ea typeface="Helvetica Neue"/>
                <a:cs typeface="Helvetica Neue"/>
              </a:defRPr>
            </a:pPr>
            <a:r>
              <a:rPr sz="1275" b="0">
                <a:solidFill>
                  <a:srgbClr val="53645A"/>
                </a:solidFill>
                <a:latin typeface="Helvetica Neue"/>
                <a:ea typeface="Helvetica Neue"/>
                <a:cs typeface="Helvetica Neue"/>
              </a:rPr>
              <a:t>Illustrative assumptions · Annualized after a successful pilot</a:t>
            </a:r>
          </a:p>
        </p:txBody>
      </p:sp>
      <p:sp>
        <p:nvSpPr>
          <p:cNvPr id="3" name="">
            <a:extLst xmlns:a="http://schemas.openxmlformats.org/drawingml/2006/main">
              <a:ext uri="{FF2B5EF4-FFF2-40B4-BE49-F238E27FC236}">
                <a16:creationId xmlns:a16="http://schemas.microsoft.com/office/drawing/2014/main" id="{F1F46B53-C667-40DB-89EE-2AA84C605AD7}"/>
              </a:ext>
            </a:extLst>
          </p:cNvPr>
          <p:cNvSpPr>
            <a:spLocks xmlns:a="http://schemas.openxmlformats.org/drawingml/2006/main" noGrp="1"/>
          </p:cNvSpPr>
          <p:nvPr/>
        </p:nvSpPr>
        <p:spPr>
          <a:xfrm xmlns:a="http://schemas.openxmlformats.org/drawingml/2006/main">
            <a:off x="11049000" y="6248400"/>
            <a:ext cx="45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3645A"/>
                </a:solidFill>
                <a:latin typeface="Helvetica Neue"/>
                <a:ea typeface="Helvetica Neue"/>
                <a:cs typeface="Helvetica Neue"/>
              </a:defRPr>
            </a:defPPr>
          </a:lstStyle>
          <a:p xmlns:a="http://schemas.openxmlformats.org/drawingml/2006/main">
            <a:pPr>
              <a:defRPr sz="1275" b="0">
                <a:solidFill>
                  <a:srgbClr val="53645A"/>
                </a:solidFill>
                <a:latin typeface="Helvetica Neue"/>
                <a:ea typeface="Helvetica Neue"/>
                <a:cs typeface="Helvetica Neue"/>
              </a:defRPr>
            </a:pPr>
            <a:r>
              <a:rPr sz="1275" b="0">
                <a:solidFill>
                  <a:srgbClr val="53645A"/>
                </a:solidFill>
                <a:latin typeface="Helvetica Neue"/>
                <a:ea typeface="Helvetica Neue"/>
                <a:cs typeface="Helvetica Neue"/>
              </a:rPr>
              <a:t>15</a:t>
            </a:r>
          </a:p>
        </p:txBody>
      </p:sp>
      <p:graphicFrame>
        <p:nvGraphicFramePr>
          <p:cNvPr id="4" name="">
            <a:extLst xmlns:a="http://schemas.openxmlformats.org/drawingml/2006/main">
              <a:ext uri="{FF2B5EF4-FFF2-40B4-BE49-F238E27FC236}">
                <a16:creationId xmlns:a16="http://schemas.microsoft.com/office/drawing/2014/main" id="{7B1DFD69-D724-4A2F-AB5C-656005C414B4}"/>
              </a:ext>
            </a:extLst>
          </p:cNvPr>
          <p:cNvGraphicFramePr/>
          <p:nvPr/>
        </p:nvGraphicFramePr>
        <p:xfrm>
          <a:off xmlns:a="http://schemas.openxmlformats.org/drawingml/2006/main" x="609600" y="1838325"/>
          <a:ext xmlns:a="http://schemas.openxmlformats.org/drawingml/2006/main" cx="10972800" cy="3086100"/>
        </p:xfrm>
        <a:graphic xmlns:a="http://schemas.openxmlformats.org/drawingml/2006/main">
          <a:graphicData uri="http://schemas.openxmlformats.org/drawingml/2006/table">
            <a:tbl>
              <a:tblPr/>
              <a:tblGrid>
                <a:gridCol w="4429125"/>
                <a:gridCol w="2181225"/>
                <a:gridCol w="2181225"/>
                <a:gridCol w="2181225"/>
              </a:tblGrid>
              <a:tr h="771525">
                <a:tc>
                  <a:txBody>
                    <a:bodyPr wrap="square" lIns="171450" tIns="95250" rIns="171450" bIns="95250">
                      <a:noAutofit/>
                    </a:bodyPr>
                    <a:lstStyle/>
                    <a:p>
                      <a:r>
                        <a:rPr sz="1875" b="1">
                          <a:solidFill>
                            <a:srgbClr val="FFFFFF"/>
                          </a:solidFill>
                          <a:latin typeface="Helvetica Neue"/>
                          <a:ea typeface="Helvetica Neue"/>
                          <a:cs typeface="Helvetica Neue"/>
                        </a:rPr>
                        <a:t>US$ / year</a:t>
                      </a:r>
                    </a:p>
                  </a:txBody>
                  <a:tcPr marL="91440" marR="91440" marT="45720" marB="45720" anchor="ctr">
                    <a:solidFill>
                      <a:srgbClr val="17382D"/>
                    </a:solidFill>
                  </a:tcPr>
                </a:tc>
                <a:tc>
                  <a:txBody>
                    <a:bodyPr wrap="square" lIns="171450" tIns="95250" rIns="171450" bIns="95250">
                      <a:noAutofit/>
                    </a:bodyPr>
                    <a:lstStyle/>
                    <a:p>
                      <a:r>
                        <a:rPr sz="1875" b="1">
                          <a:solidFill>
                            <a:srgbClr val="FFFFFF"/>
                          </a:solidFill>
                          <a:latin typeface="Helvetica Neue"/>
                          <a:ea typeface="Helvetica Neue"/>
                          <a:cs typeface="Helvetica Neue"/>
                        </a:rPr>
                        <a:t>Downside</a:t>
                      </a:r>
                    </a:p>
                  </a:txBody>
                  <a:tcPr marL="91440" marR="91440" marT="45720" marB="45720" anchor="ctr">
                    <a:solidFill>
                      <a:srgbClr val="17382D"/>
                    </a:solidFill>
                  </a:tcPr>
                </a:tc>
                <a:tc>
                  <a:txBody>
                    <a:bodyPr wrap="square" lIns="171450" tIns="95250" rIns="171450" bIns="95250">
                      <a:noAutofit/>
                    </a:bodyPr>
                    <a:lstStyle/>
                    <a:p>
                      <a:r>
                        <a:rPr sz="1875" b="1">
                          <a:solidFill>
                            <a:srgbClr val="FFFFFF"/>
                          </a:solidFill>
                          <a:latin typeface="Helvetica Neue"/>
                          <a:ea typeface="Helvetica Neue"/>
                          <a:cs typeface="Helvetica Neue"/>
                        </a:rPr>
                        <a:t>Base</a:t>
                      </a:r>
                    </a:p>
                  </a:txBody>
                  <a:tcPr marL="91440" marR="91440" marT="45720" marB="45720" anchor="ctr">
                    <a:solidFill>
                      <a:srgbClr val="17382D"/>
                    </a:solidFill>
                  </a:tcPr>
                </a:tc>
                <a:tc>
                  <a:txBody>
                    <a:bodyPr wrap="square" lIns="171450" tIns="95250" rIns="171450" bIns="95250">
                      <a:noAutofit/>
                    </a:bodyPr>
                    <a:lstStyle/>
                    <a:p>
                      <a:r>
                        <a:rPr sz="1875" b="1">
                          <a:solidFill>
                            <a:srgbClr val="FFFFFF"/>
                          </a:solidFill>
                          <a:latin typeface="Helvetica Neue"/>
                          <a:ea typeface="Helvetica Neue"/>
                          <a:cs typeface="Helvetica Neue"/>
                        </a:rPr>
                        <a:t>Upside</a:t>
                      </a:r>
                    </a:p>
                  </a:txBody>
                  <a:tcPr marL="91440" marR="91440" marT="45720" marB="45720" anchor="ctr">
                    <a:solidFill>
                      <a:srgbClr val="17382D"/>
                    </a:solidFill>
                  </a:tcPr>
                </a:tc>
              </a:tr>
              <a:tr h="771525">
                <a:tc>
                  <a:txBody>
                    <a:bodyPr wrap="square" lIns="171450" tIns="95250" rIns="171450" bIns="95250">
                      <a:noAutofit/>
                    </a:bodyPr>
                    <a:lstStyle/>
                    <a:p>
                      <a:r>
                        <a:rPr sz="1875" b="0">
                          <a:solidFill>
                            <a:srgbClr val="17382D"/>
                          </a:solidFill>
                          <a:latin typeface="Helvetica Neue"/>
                          <a:ea typeface="Helvetica Neue"/>
                          <a:cs typeface="Helvetica Neue"/>
                        </a:rPr>
                        <a:t>Operating revenue</a:t>
                      </a:r>
                    </a:p>
                  </a:txBody>
                  <a:tcPr marL="91440" marR="91440" marT="45720" marB="45720" anchor="ctr">
                    <a:solidFill>
                      <a:srgbClr val="FCFAF5"/>
                    </a:solidFill>
                  </a:tcPr>
                </a:tc>
                <a:tc>
                  <a:txBody>
                    <a:bodyPr wrap="square" lIns="171450" tIns="95250" rIns="171450" bIns="95250">
                      <a:noAutofit/>
                    </a:bodyPr>
                    <a:lstStyle/>
                    <a:p>
                      <a:r>
                        <a:rPr sz="1875" b="0">
                          <a:solidFill>
                            <a:srgbClr val="17382D"/>
                          </a:solidFill>
                          <a:latin typeface="Helvetica Neue"/>
                          <a:ea typeface="Helvetica Neue"/>
                          <a:cs typeface="Helvetica Neue"/>
                        </a:rPr>
                        <a:t>$8,400</a:t>
                      </a:r>
                    </a:p>
                  </a:txBody>
                  <a:tcPr marL="91440" marR="91440" marT="45720" marB="45720" anchor="ctr">
                    <a:solidFill>
                      <a:srgbClr val="FCFAF5"/>
                    </a:solidFill>
                  </a:tcPr>
                </a:tc>
                <a:tc>
                  <a:txBody>
                    <a:bodyPr wrap="square" lIns="171450" tIns="95250" rIns="171450" bIns="95250">
                      <a:noAutofit/>
                    </a:bodyPr>
                    <a:lstStyle/>
                    <a:p>
                      <a:r>
                        <a:rPr sz="1875" b="0">
                          <a:solidFill>
                            <a:srgbClr val="17382D"/>
                          </a:solidFill>
                          <a:latin typeface="Helvetica Neue"/>
                          <a:ea typeface="Helvetica Neue"/>
                          <a:cs typeface="Helvetica Neue"/>
                        </a:rPr>
                        <a:t>$46,000</a:t>
                      </a:r>
                    </a:p>
                  </a:txBody>
                  <a:tcPr marL="91440" marR="91440" marT="45720" marB="45720" anchor="ctr">
                    <a:solidFill>
                      <a:srgbClr val="FCFAF5"/>
                    </a:solidFill>
                  </a:tcPr>
                </a:tc>
                <a:tc>
                  <a:txBody>
                    <a:bodyPr wrap="square" lIns="171450" tIns="95250" rIns="171450" bIns="95250">
                      <a:noAutofit/>
                    </a:bodyPr>
                    <a:lstStyle/>
                    <a:p>
                      <a:r>
                        <a:rPr sz="1875" b="0">
                          <a:solidFill>
                            <a:srgbClr val="17382D"/>
                          </a:solidFill>
                          <a:latin typeface="Helvetica Neue"/>
                          <a:ea typeface="Helvetica Neue"/>
                          <a:cs typeface="Helvetica Neue"/>
                        </a:rPr>
                        <a:t>$155,000</a:t>
                      </a:r>
                    </a:p>
                  </a:txBody>
                  <a:tcPr marL="91440" marR="91440" marT="45720" marB="45720" anchor="ctr">
                    <a:solidFill>
                      <a:srgbClr val="FCFAF5"/>
                    </a:solidFill>
                  </a:tcPr>
                </a:tc>
              </a:tr>
              <a:tr h="771525">
                <a:tc>
                  <a:txBody>
                    <a:bodyPr wrap="square" lIns="171450" tIns="95250" rIns="171450" bIns="95250">
                      <a:noAutofit/>
                    </a:bodyPr>
                    <a:lstStyle/>
                    <a:p>
                      <a:r>
                        <a:rPr sz="1875" b="0">
                          <a:solidFill>
                            <a:srgbClr val="17382D"/>
                          </a:solidFill>
                          <a:latin typeface="Helvetica Neue"/>
                          <a:ea typeface="Helvetica Neue"/>
                          <a:cs typeface="Helvetica Neue"/>
                        </a:rPr>
                        <a:t>Contribution before fixed costs</a:t>
                      </a:r>
                    </a:p>
                  </a:txBody>
                  <a:tcPr marL="91440" marR="91440" marT="45720" marB="45720" anchor="ctr">
                    <a:solidFill>
                      <a:srgbClr val="DCE5D8"/>
                    </a:solidFill>
                  </a:tcPr>
                </a:tc>
                <a:tc>
                  <a:txBody>
                    <a:bodyPr wrap="square" lIns="171450" tIns="95250" rIns="171450" bIns="95250">
                      <a:noAutofit/>
                    </a:bodyPr>
                    <a:lstStyle/>
                    <a:p>
                      <a:r>
                        <a:rPr sz="1875" b="0">
                          <a:solidFill>
                            <a:srgbClr val="17382D"/>
                          </a:solidFill>
                          <a:latin typeface="Helvetica Neue"/>
                          <a:ea typeface="Helvetica Neue"/>
                          <a:cs typeface="Helvetica Neue"/>
                        </a:rPr>
                        <a:t>−$480</a:t>
                      </a:r>
                    </a:p>
                  </a:txBody>
                  <a:tcPr marL="91440" marR="91440" marT="45720" marB="45720" anchor="ctr">
                    <a:solidFill>
                      <a:srgbClr val="DCE5D8"/>
                    </a:solidFill>
                  </a:tcPr>
                </a:tc>
                <a:tc>
                  <a:txBody>
                    <a:bodyPr wrap="square" lIns="171450" tIns="95250" rIns="171450" bIns="95250">
                      <a:noAutofit/>
                    </a:bodyPr>
                    <a:lstStyle/>
                    <a:p>
                      <a:r>
                        <a:rPr sz="1875" b="0">
                          <a:solidFill>
                            <a:srgbClr val="17382D"/>
                          </a:solidFill>
                          <a:latin typeface="Helvetica Neue"/>
                          <a:ea typeface="Helvetica Neue"/>
                          <a:cs typeface="Helvetica Neue"/>
                        </a:rPr>
                        <a:t>$19,100</a:t>
                      </a:r>
                    </a:p>
                  </a:txBody>
                  <a:tcPr marL="91440" marR="91440" marT="45720" marB="45720" anchor="ctr">
                    <a:solidFill>
                      <a:srgbClr val="DCE5D8"/>
                    </a:solidFill>
                  </a:tcPr>
                </a:tc>
                <a:tc>
                  <a:txBody>
                    <a:bodyPr wrap="square" lIns="171450" tIns="95250" rIns="171450" bIns="95250">
                      <a:noAutofit/>
                    </a:bodyPr>
                    <a:lstStyle/>
                    <a:p>
                      <a:r>
                        <a:rPr sz="1875" b="0">
                          <a:solidFill>
                            <a:srgbClr val="17382D"/>
                          </a:solidFill>
                          <a:latin typeface="Helvetica Neue"/>
                          <a:ea typeface="Helvetica Neue"/>
                          <a:cs typeface="Helvetica Neue"/>
                        </a:rPr>
                        <a:t>$77,750</a:t>
                      </a:r>
                    </a:p>
                  </a:txBody>
                  <a:tcPr marL="91440" marR="91440" marT="45720" marB="45720" anchor="ctr">
                    <a:solidFill>
                      <a:srgbClr val="DCE5D8"/>
                    </a:solidFill>
                  </a:tcPr>
                </a:tc>
              </a:tr>
              <a:tr h="771525">
                <a:tc>
                  <a:txBody>
                    <a:bodyPr wrap="square" lIns="171450" tIns="95250" rIns="171450" bIns="95250">
                      <a:noAutofit/>
                    </a:bodyPr>
                    <a:lstStyle/>
                    <a:p>
                      <a:r>
                        <a:rPr sz="1875" b="0">
                          <a:solidFill>
                            <a:srgbClr val="17382D"/>
                          </a:solidFill>
                          <a:latin typeface="Helvetica Neue"/>
                          <a:ea typeface="Helvetica Neue"/>
                          <a:cs typeface="Helvetica Neue"/>
                        </a:rPr>
                        <a:t>After $60,000 fixed-cost assumption</a:t>
                      </a:r>
                    </a:p>
                  </a:txBody>
                  <a:tcPr marL="91440" marR="91440" marT="45720" marB="45720" anchor="ctr">
                    <a:solidFill>
                      <a:srgbClr val="FCFAF5"/>
                    </a:solidFill>
                  </a:tcPr>
                </a:tc>
                <a:tc>
                  <a:txBody>
                    <a:bodyPr wrap="square" lIns="171450" tIns="95250" rIns="171450" bIns="95250">
                      <a:noAutofit/>
                    </a:bodyPr>
                    <a:lstStyle/>
                    <a:p>
                      <a:r>
                        <a:rPr sz="1875" b="0">
                          <a:solidFill>
                            <a:srgbClr val="17382D"/>
                          </a:solidFill>
                          <a:latin typeface="Helvetica Neue"/>
                          <a:ea typeface="Helvetica Neue"/>
                          <a:cs typeface="Helvetica Neue"/>
                        </a:rPr>
                        <a:t>−$60,480</a:t>
                      </a:r>
                    </a:p>
                  </a:txBody>
                  <a:tcPr marL="91440" marR="91440" marT="45720" marB="45720" anchor="ctr">
                    <a:solidFill>
                      <a:srgbClr val="FCFAF5"/>
                    </a:solidFill>
                  </a:tcPr>
                </a:tc>
                <a:tc>
                  <a:txBody>
                    <a:bodyPr wrap="square" lIns="171450" tIns="95250" rIns="171450" bIns="95250">
                      <a:noAutofit/>
                    </a:bodyPr>
                    <a:lstStyle/>
                    <a:p>
                      <a:r>
                        <a:rPr sz="1875" b="0">
                          <a:solidFill>
                            <a:srgbClr val="17382D"/>
                          </a:solidFill>
                          <a:latin typeface="Helvetica Neue"/>
                          <a:ea typeface="Helvetica Neue"/>
                          <a:cs typeface="Helvetica Neue"/>
                        </a:rPr>
                        <a:t>−$40,900</a:t>
                      </a:r>
                    </a:p>
                  </a:txBody>
                  <a:tcPr marL="91440" marR="91440" marT="45720" marB="45720" anchor="ctr">
                    <a:solidFill>
                      <a:srgbClr val="FCFAF5"/>
                    </a:solidFill>
                  </a:tcPr>
                </a:tc>
                <a:tc>
                  <a:txBody>
                    <a:bodyPr wrap="square" lIns="171450" tIns="95250" rIns="171450" bIns="95250">
                      <a:noAutofit/>
                    </a:bodyPr>
                    <a:lstStyle/>
                    <a:p>
                      <a:r>
                        <a:rPr sz="1875" b="0">
                          <a:solidFill>
                            <a:srgbClr val="17382D"/>
                          </a:solidFill>
                          <a:latin typeface="Helvetica Neue"/>
                          <a:ea typeface="Helvetica Neue"/>
                          <a:cs typeface="Helvetica Neue"/>
                        </a:rPr>
                        <a:t>$17,750</a:t>
                      </a:r>
                    </a:p>
                  </a:txBody>
                  <a:tcPr marL="91440" marR="91440" marT="45720" marB="45720" anchor="ctr">
                    <a:solidFill>
                      <a:srgbClr val="FCFAF5"/>
                    </a:solidFill>
                  </a:tcPr>
                </a:tc>
              </a:tr>
            </a:tbl>
          </a:graphicData>
        </a:graphic>
      </p:graphicFrame>
      <p:sp>
        <p:nvSpPr>
          <p:cNvPr id="5" name="">
            <a:extLst xmlns:a="http://schemas.openxmlformats.org/drawingml/2006/main">
              <a:ext uri="{FF2B5EF4-FFF2-40B4-BE49-F238E27FC236}">
                <a16:creationId xmlns:a16="http://schemas.microsoft.com/office/drawing/2014/main" id="{8CF8A44B-D0F6-4BF6-AA50-BC7FB0CEDF8C}"/>
              </a:ext>
            </a:extLst>
          </p:cNvPr>
          <p:cNvSpPr>
            <a:spLocks xmlns:a="http://schemas.openxmlformats.org/drawingml/2006/main" noGrp="1"/>
          </p:cNvSpPr>
          <p:nvPr/>
        </p:nvSpPr>
        <p:spPr>
          <a:xfrm xmlns:a="http://schemas.openxmlformats.org/drawingml/2006/main">
            <a:off x="609600" y="5305425"/>
            <a:ext cx="10715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9C4934"/>
                </a:solidFill>
                <a:latin typeface="Helvetica Neue"/>
                <a:ea typeface="Helvetica Neue"/>
                <a:cs typeface="Helvetica Neue"/>
              </a:defRPr>
            </a:defPPr>
          </a:lstStyle>
          <a:p xmlns:a="http://schemas.openxmlformats.org/drawingml/2006/main">
            <a:pPr>
              <a:defRPr sz="2400" b="1">
                <a:solidFill>
                  <a:srgbClr val="9C4934"/>
                </a:solidFill>
                <a:latin typeface="Helvetica Neue"/>
                <a:ea typeface="Helvetica Neue"/>
                <a:cs typeface="Helvetica Neue"/>
              </a:defRPr>
            </a:pPr>
            <a:r>
              <a:rPr sz="2400" b="1">
                <a:solidFill>
                  <a:srgbClr val="9C4934"/>
                </a:solidFill>
                <a:latin typeface="Helvetica Neue"/>
                <a:ea typeface="Helvetica Neue"/>
                <a:cs typeface="Helvetica Neue"/>
              </a:rPr>
              <a:t>The base case does not yet support a self-sustaining organization.</a:t>
            </a:r>
          </a:p>
        </p:txBody>
      </p:sp>
    </p:spTree>
    <p:extLst>
      <p:ext uri="{BB962C8B-B14F-4D97-AF65-F5344CB8AC3E}">
        <p14:creationId xmlns:p14="http://schemas.microsoft.com/office/powerpoint/2010/main" val="1632485460"/>
      </p:ext>
    </p:extLst>
  </p:cSld>
</p:sld>
</file>

<file path=ppt/slides/slide16.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C7550E0-804C-4250-BB5C-D391C69569BB}"/>
              </a:ext>
            </a:extLst>
          </p:cNvPr>
          <p:cNvSpPr>
            <a:spLocks xmlns:a="http://schemas.openxmlformats.org/drawingml/2006/main" noGrp="1"/>
          </p:cNvSpPr>
          <p:nvPr/>
        </p:nvSpPr>
        <p:spPr>
          <a:xfrm xmlns:a="http://schemas.openxmlformats.org/drawingml/2006/main">
            <a:off x="609600" y="49530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382D"/>
                </a:solidFill>
                <a:latin typeface="Helvetica Neue"/>
                <a:ea typeface="Helvetica Neue"/>
                <a:cs typeface="Helvetica Neue"/>
              </a:defRPr>
            </a:defPPr>
          </a:lstStyle>
          <a:p xmlns:a="http://schemas.openxmlformats.org/drawingml/2006/main">
            <a:pPr>
              <a:defRPr sz="3300" b="1">
                <a:solidFill>
                  <a:srgbClr val="17382D"/>
                </a:solidFill>
                <a:latin typeface="Helvetica Neue"/>
                <a:ea typeface="Helvetica Neue"/>
                <a:cs typeface="Helvetica Neue"/>
              </a:defRPr>
            </a:pPr>
            <a:r>
              <a:rPr sz="3300" b="1">
                <a:solidFill>
                  <a:srgbClr val="17382D"/>
                </a:solidFill>
                <a:latin typeface="Helvetica Neue"/>
                <a:ea typeface="Helvetica Neue"/>
                <a:cs typeface="Helvetica Neue"/>
              </a:rPr>
              <a:t>Risks that can stop expansion</a:t>
            </a:r>
          </a:p>
        </p:txBody>
      </p:sp>
      <p:sp>
        <p:nvSpPr>
          <p:cNvPr id="2" name="">
            <a:extLst xmlns:a="http://schemas.openxmlformats.org/drawingml/2006/main">
              <a:ext uri="{FF2B5EF4-FFF2-40B4-BE49-F238E27FC236}">
                <a16:creationId xmlns:a16="http://schemas.microsoft.com/office/drawing/2014/main" id="{17505C5E-4150-44B3-8FB1-B85D1A0BD929}"/>
              </a:ext>
            </a:extLst>
          </p:cNvPr>
          <p:cNvSpPr>
            <a:spLocks xmlns:a="http://schemas.openxmlformats.org/drawingml/2006/main" noGrp="1"/>
          </p:cNvSpPr>
          <p:nvPr/>
        </p:nvSpPr>
        <p:spPr>
          <a:xfrm xmlns:a="http://schemas.openxmlformats.org/drawingml/2006/main">
            <a:off x="609600" y="624840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3645A"/>
                </a:solidFill>
                <a:latin typeface="Helvetica Neue"/>
                <a:ea typeface="Helvetica Neue"/>
                <a:cs typeface="Helvetica Neue"/>
              </a:defRPr>
            </a:defPPr>
          </a:lstStyle>
          <a:p xmlns:a="http://schemas.openxmlformats.org/drawingml/2006/main">
            <a:pPr>
              <a:defRPr sz="1275" b="0">
                <a:solidFill>
                  <a:srgbClr val="53645A"/>
                </a:solidFill>
                <a:latin typeface="Helvetica Neue"/>
                <a:ea typeface="Helvetica Neue"/>
                <a:cs typeface="Helvetica Neue"/>
              </a:defRPr>
            </a:pPr>
            <a:r>
              <a:rPr sz="1275" b="0">
                <a:solidFill>
                  <a:srgbClr val="53645A"/>
                </a:solidFill>
                <a:latin typeface="Helvetica Neue"/>
                <a:ea typeface="Helvetica Neue"/>
                <a:cs typeface="Helvetica Neue"/>
              </a:rPr>
              <a:t>Proposal · 8 October 2026</a:t>
            </a:r>
          </a:p>
        </p:txBody>
      </p:sp>
      <p:sp>
        <p:nvSpPr>
          <p:cNvPr id="3" name="">
            <a:extLst xmlns:a="http://schemas.openxmlformats.org/drawingml/2006/main">
              <a:ext uri="{FF2B5EF4-FFF2-40B4-BE49-F238E27FC236}">
                <a16:creationId xmlns:a16="http://schemas.microsoft.com/office/drawing/2014/main" id="{FBCED137-3533-4404-A63C-0D4B645FD7DB}"/>
              </a:ext>
            </a:extLst>
          </p:cNvPr>
          <p:cNvSpPr>
            <a:spLocks xmlns:a="http://schemas.openxmlformats.org/drawingml/2006/main" noGrp="1"/>
          </p:cNvSpPr>
          <p:nvPr/>
        </p:nvSpPr>
        <p:spPr>
          <a:xfrm xmlns:a="http://schemas.openxmlformats.org/drawingml/2006/main">
            <a:off x="11049000" y="6248400"/>
            <a:ext cx="45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3645A"/>
                </a:solidFill>
                <a:latin typeface="Helvetica Neue"/>
                <a:ea typeface="Helvetica Neue"/>
                <a:cs typeface="Helvetica Neue"/>
              </a:defRPr>
            </a:defPPr>
          </a:lstStyle>
          <a:p xmlns:a="http://schemas.openxmlformats.org/drawingml/2006/main">
            <a:pPr>
              <a:defRPr sz="1275" b="0">
                <a:solidFill>
                  <a:srgbClr val="53645A"/>
                </a:solidFill>
                <a:latin typeface="Helvetica Neue"/>
                <a:ea typeface="Helvetica Neue"/>
                <a:cs typeface="Helvetica Neue"/>
              </a:defRPr>
            </a:pPr>
            <a:r>
              <a:rPr sz="1275" b="0">
                <a:solidFill>
                  <a:srgbClr val="53645A"/>
                </a:solidFill>
                <a:latin typeface="Helvetica Neue"/>
                <a:ea typeface="Helvetica Neue"/>
                <a:cs typeface="Helvetica Neue"/>
              </a:rPr>
              <a:t>16</a:t>
            </a:r>
          </a:p>
        </p:txBody>
      </p:sp>
      <p:graphicFrame>
        <p:nvGraphicFramePr>
          <p:cNvPr id="4" name="">
            <a:extLst xmlns:a="http://schemas.openxmlformats.org/drawingml/2006/main">
              <a:ext uri="{FF2B5EF4-FFF2-40B4-BE49-F238E27FC236}">
                <a16:creationId xmlns:a16="http://schemas.microsoft.com/office/drawing/2014/main" id="{624E097A-356D-403D-8B48-07F546CDA7AC}"/>
              </a:ext>
            </a:extLst>
          </p:cNvPr>
          <p:cNvGraphicFramePr/>
          <p:nvPr/>
        </p:nvGraphicFramePr>
        <p:xfrm>
          <a:off xmlns:a="http://schemas.openxmlformats.org/drawingml/2006/main" x="609600" y="1866900"/>
          <a:ext xmlns:a="http://schemas.openxmlformats.org/drawingml/2006/main" cx="10972800" cy="3476625"/>
        </p:xfrm>
        <a:graphic xmlns:a="http://schemas.openxmlformats.org/drawingml/2006/main">
          <a:graphicData uri="http://schemas.openxmlformats.org/drawingml/2006/table">
            <a:tbl>
              <a:tblPr/>
              <a:tblGrid>
                <a:gridCol w="4648200"/>
                <a:gridCol w="6324600"/>
              </a:tblGrid>
              <a:tr h="695325">
                <a:tc>
                  <a:txBody>
                    <a:bodyPr wrap="square" lIns="171450" tIns="95250" rIns="171450" bIns="95250">
                      <a:noAutofit/>
                    </a:bodyPr>
                    <a:lstStyle/>
                    <a:p>
                      <a:r>
                        <a:rPr sz="1875" b="1">
                          <a:solidFill>
                            <a:srgbClr val="FFFFFF"/>
                          </a:solidFill>
                          <a:latin typeface="Helvetica Neue"/>
                          <a:ea typeface="Helvetica Neue"/>
                          <a:cs typeface="Helvetica Neue"/>
                        </a:rPr>
                        <a:t>Risk</a:t>
                      </a:r>
                    </a:p>
                  </a:txBody>
                  <a:tcPr marL="91440" marR="91440" marT="45720" marB="45720" anchor="ctr">
                    <a:solidFill>
                      <a:srgbClr val="17382D"/>
                    </a:solidFill>
                  </a:tcPr>
                </a:tc>
                <a:tc>
                  <a:txBody>
                    <a:bodyPr wrap="square" lIns="171450" tIns="95250" rIns="171450" bIns="95250">
                      <a:noAutofit/>
                    </a:bodyPr>
                    <a:lstStyle/>
                    <a:p>
                      <a:r>
                        <a:rPr sz="1875" b="1">
                          <a:solidFill>
                            <a:srgbClr val="FFFFFF"/>
                          </a:solidFill>
                          <a:latin typeface="Helvetica Neue"/>
                          <a:ea typeface="Helvetica Neue"/>
                          <a:cs typeface="Helvetica Neue"/>
                        </a:rPr>
                        <a:t>Go / no-go evidence</a:t>
                      </a:r>
                    </a:p>
                  </a:txBody>
                  <a:tcPr marL="91440" marR="91440" marT="45720" marB="45720" anchor="ctr">
                    <a:solidFill>
                      <a:srgbClr val="17382D"/>
                    </a:solidFill>
                  </a:tcPr>
                </a:tc>
              </a:tr>
              <a:tr h="695325">
                <a:tc>
                  <a:txBody>
                    <a:bodyPr wrap="square" lIns="171450" tIns="95250" rIns="171450" bIns="95250">
                      <a:noAutofit/>
                    </a:bodyPr>
                    <a:lstStyle/>
                    <a:p>
                      <a:r>
                        <a:rPr sz="1875" b="0">
                          <a:solidFill>
                            <a:srgbClr val="17382D"/>
                          </a:solidFill>
                          <a:latin typeface="Helvetica Neue"/>
                          <a:ea typeface="Helvetica Neue"/>
                          <a:cs typeface="Helvetica Neue"/>
                        </a:rPr>
                        <a:t>Weak usefulness or demand</a:t>
                      </a:r>
                    </a:p>
                  </a:txBody>
                  <a:tcPr marL="91440" marR="91440" marT="45720" marB="45720" anchor="ctr">
                    <a:solidFill>
                      <a:srgbClr val="FCFAF5"/>
                    </a:solidFill>
                  </a:tcPr>
                </a:tc>
                <a:tc>
                  <a:txBody>
                    <a:bodyPr wrap="square" lIns="171450" tIns="95250" rIns="171450" bIns="95250">
                      <a:noAutofit/>
                    </a:bodyPr>
                    <a:lstStyle/>
                    <a:p>
                      <a:r>
                        <a:rPr sz="1875" b="0">
                          <a:solidFill>
                            <a:srgbClr val="17382D"/>
                          </a:solidFill>
                          <a:latin typeface="Helvetica Neue"/>
                          <a:ea typeface="Helvetica Neue"/>
                          <a:cs typeface="Helvetica Neue"/>
                        </a:rPr>
                        <a:t>Baseline comparison and a paid continuation</a:t>
                      </a:r>
                    </a:p>
                  </a:txBody>
                  <a:tcPr marL="91440" marR="91440" marT="45720" marB="45720" anchor="ctr">
                    <a:solidFill>
                      <a:srgbClr val="FCFAF5"/>
                    </a:solidFill>
                  </a:tcPr>
                </a:tc>
              </a:tr>
              <a:tr h="695325">
                <a:tc>
                  <a:txBody>
                    <a:bodyPr wrap="square" lIns="171450" tIns="95250" rIns="171450" bIns="95250">
                      <a:noAutofit/>
                    </a:bodyPr>
                    <a:lstStyle/>
                    <a:p>
                      <a:r>
                        <a:rPr sz="1875" b="0">
                          <a:solidFill>
                            <a:srgbClr val="17382D"/>
                          </a:solidFill>
                          <a:latin typeface="Helvetica Neue"/>
                          <a:ea typeface="Helvetica Neue"/>
                          <a:cs typeface="Helvetica Neue"/>
                        </a:rPr>
                        <a:t>Private information leaves the workspace</a:t>
                      </a:r>
                    </a:p>
                  </a:txBody>
                  <a:tcPr marL="91440" marR="91440" marT="45720" marB="45720" anchor="ctr">
                    <a:solidFill>
                      <a:srgbClr val="DCE5D8"/>
                    </a:solidFill>
                  </a:tcPr>
                </a:tc>
                <a:tc>
                  <a:txBody>
                    <a:bodyPr wrap="square" lIns="171450" tIns="95250" rIns="171450" bIns="95250">
                      <a:noAutofit/>
                    </a:bodyPr>
                    <a:lstStyle/>
                    <a:p>
                      <a:r>
                        <a:rPr sz="1875" b="0">
                          <a:solidFill>
                            <a:srgbClr val="17382D"/>
                          </a:solidFill>
                          <a:latin typeface="Helvetica Neue"/>
                          <a:ea typeface="Helvetica Neue"/>
                          <a:cs typeface="Helvetica Neue"/>
                        </a:rPr>
                        <a:t>Canary tests, exact preview, consent and recovery drills</a:t>
                      </a:r>
                    </a:p>
                  </a:txBody>
                  <a:tcPr marL="91440" marR="91440" marT="45720" marB="45720" anchor="ctr">
                    <a:solidFill>
                      <a:srgbClr val="DCE5D8"/>
                    </a:solidFill>
                  </a:tcPr>
                </a:tc>
              </a:tr>
              <a:tr h="695325">
                <a:tc>
                  <a:txBody>
                    <a:bodyPr wrap="square" lIns="171450" tIns="95250" rIns="171450" bIns="95250">
                      <a:noAutofit/>
                    </a:bodyPr>
                    <a:lstStyle/>
                    <a:p>
                      <a:r>
                        <a:rPr sz="1875" b="0">
                          <a:solidFill>
                            <a:srgbClr val="17382D"/>
                          </a:solidFill>
                          <a:latin typeface="Helvetica Neue"/>
                          <a:ea typeface="Helvetica Neue"/>
                          <a:cs typeface="Helvetica Neue"/>
                        </a:rPr>
                        <a:t>AI or sensor gives false confidence</a:t>
                      </a:r>
                    </a:p>
                  </a:txBody>
                  <a:tcPr marL="91440" marR="91440" marT="45720" marB="45720" anchor="ctr">
                    <a:solidFill>
                      <a:srgbClr val="FCFAF5"/>
                    </a:solidFill>
                  </a:tcPr>
                </a:tc>
                <a:tc>
                  <a:txBody>
                    <a:bodyPr wrap="square" lIns="171450" tIns="95250" rIns="171450" bIns="95250">
                      <a:noAutofit/>
                    </a:bodyPr>
                    <a:lstStyle/>
                    <a:p>
                      <a:r>
                        <a:rPr sz="1875" b="0">
                          <a:solidFill>
                            <a:srgbClr val="17382D"/>
                          </a:solidFill>
                          <a:latin typeface="Helvetica Neue"/>
                          <a:ea typeface="Helvetica Neue"/>
                          <a:cs typeface="Helvetica Neue"/>
                        </a:rPr>
                        <a:t>Source fidelity, calibration, abstention and human review</a:t>
                      </a:r>
                    </a:p>
                  </a:txBody>
                  <a:tcPr marL="91440" marR="91440" marT="45720" marB="45720" anchor="ctr">
                    <a:solidFill>
                      <a:srgbClr val="FCFAF5"/>
                    </a:solidFill>
                  </a:tcPr>
                </a:tc>
              </a:tr>
              <a:tr h="695325">
                <a:tc>
                  <a:txBody>
                    <a:bodyPr wrap="square" lIns="171450" tIns="95250" rIns="171450" bIns="95250">
                      <a:noAutofit/>
                    </a:bodyPr>
                    <a:lstStyle/>
                    <a:p>
                      <a:r>
                        <a:rPr sz="1875" b="0">
                          <a:solidFill>
                            <a:srgbClr val="17382D"/>
                          </a:solidFill>
                          <a:latin typeface="Helvetica Neue"/>
                          <a:ea typeface="Helvetica Neue"/>
                          <a:cs typeface="Helvetica Neue"/>
                        </a:rPr>
                        <a:t>Support burden defeats affordability</a:t>
                      </a:r>
                    </a:p>
                  </a:txBody>
                  <a:tcPr marL="91440" marR="91440" marT="45720" marB="45720" anchor="ctr">
                    <a:solidFill>
                      <a:srgbClr val="DCE5D8"/>
                    </a:solidFill>
                  </a:tcPr>
                </a:tc>
                <a:tc>
                  <a:txBody>
                    <a:bodyPr wrap="square" lIns="171450" tIns="95250" rIns="171450" bIns="95250">
                      <a:noAutofit/>
                    </a:bodyPr>
                    <a:lstStyle/>
                    <a:p>
                      <a:r>
                        <a:rPr sz="1875" b="0">
                          <a:solidFill>
                            <a:srgbClr val="17382D"/>
                          </a:solidFill>
                          <a:latin typeface="Helvetica Neue"/>
                          <a:ea typeface="Helvetica Neue"/>
                          <a:cs typeface="Helvetica Neue"/>
                        </a:rPr>
                        <a:t>Measured setup, connectivity, review and service costs</a:t>
                      </a:r>
                    </a:p>
                  </a:txBody>
                  <a:tcPr marL="91440" marR="91440" marT="45720" marB="45720" anchor="ctr">
                    <a:solidFill>
                      <a:srgbClr val="DCE5D8"/>
                    </a:solidFill>
                  </a:tcPr>
                </a:tc>
              </a:tr>
            </a:tbl>
          </a:graphicData>
        </a:graphic>
      </p:graphicFrame>
    </p:spTree>
    <p:extLst>
      <p:ext uri="{BB962C8B-B14F-4D97-AF65-F5344CB8AC3E}">
        <p14:creationId xmlns:p14="http://schemas.microsoft.com/office/powerpoint/2010/main" val="17163750"/>
      </p:ext>
    </p:extLst>
  </p:cSld>
</p:sld>
</file>

<file path=ppt/slides/slide17.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7A0BB87-4D3F-4DBB-BCF8-DCAB53DE6AA7}"/>
              </a:ext>
            </a:extLst>
          </p:cNvPr>
          <p:cNvSpPr>
            <a:spLocks xmlns:a="http://schemas.openxmlformats.org/drawingml/2006/main" noGrp="1"/>
          </p:cNvSpPr>
          <p:nvPr/>
        </p:nvSpPr>
        <p:spPr>
          <a:xfrm xmlns:a="http://schemas.openxmlformats.org/drawingml/2006/main">
            <a:off x="609600" y="49530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382D"/>
                </a:solidFill>
                <a:latin typeface="Helvetica Neue"/>
                <a:ea typeface="Helvetica Neue"/>
                <a:cs typeface="Helvetica Neue"/>
              </a:defRPr>
            </a:defPPr>
          </a:lstStyle>
          <a:p xmlns:a="http://schemas.openxmlformats.org/drawingml/2006/main">
            <a:pPr>
              <a:defRPr sz="3300" b="1">
                <a:solidFill>
                  <a:srgbClr val="17382D"/>
                </a:solidFill>
                <a:latin typeface="Helvetica Neue"/>
                <a:ea typeface="Helvetica Neue"/>
                <a:cs typeface="Helvetica Neue"/>
              </a:defRPr>
            </a:pPr>
            <a:r>
              <a:rPr sz="3300" b="1">
                <a:solidFill>
                  <a:srgbClr val="17382D"/>
                </a:solidFill>
                <a:latin typeface="Helvetica Neue"/>
                <a:ea typeface="Helvetica Neue"/>
                <a:cs typeface="Helvetica Neue"/>
              </a:rPr>
              <a:t>Funding and design partners remain conditional</a:t>
            </a:r>
          </a:p>
        </p:txBody>
      </p:sp>
      <p:sp>
        <p:nvSpPr>
          <p:cNvPr id="2" name="">
            <a:extLst xmlns:a="http://schemas.openxmlformats.org/drawingml/2006/main">
              <a:ext uri="{FF2B5EF4-FFF2-40B4-BE49-F238E27FC236}">
                <a16:creationId xmlns:a16="http://schemas.microsoft.com/office/drawing/2014/main" id="{6E01594E-FDCB-4EDD-891C-0C8378417EA8}"/>
              </a:ext>
            </a:extLst>
          </p:cNvPr>
          <p:cNvSpPr>
            <a:spLocks xmlns:a="http://schemas.openxmlformats.org/drawingml/2006/main" noGrp="1"/>
          </p:cNvSpPr>
          <p:nvPr/>
        </p:nvSpPr>
        <p:spPr>
          <a:xfrm xmlns:a="http://schemas.openxmlformats.org/drawingml/2006/main">
            <a:off x="609600" y="624840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3645A"/>
                </a:solidFill>
                <a:latin typeface="Helvetica Neue"/>
                <a:ea typeface="Helvetica Neue"/>
                <a:cs typeface="Helvetica Neue"/>
              </a:defRPr>
            </a:defPPr>
          </a:lstStyle>
          <a:p xmlns:a="http://schemas.openxmlformats.org/drawingml/2006/main">
            <a:pPr>
              <a:defRPr sz="1275" b="0">
                <a:solidFill>
                  <a:srgbClr val="53645A"/>
                </a:solidFill>
                <a:latin typeface="Helvetica Neue"/>
                <a:ea typeface="Helvetica Neue"/>
                <a:cs typeface="Helvetica Neue"/>
              </a:defRPr>
            </a:pPr>
            <a:r>
              <a:rPr sz="1275" b="0">
                <a:solidFill>
                  <a:srgbClr val="53645A"/>
                </a:solidFill>
                <a:latin typeface="Helvetica Neue"/>
                <a:ea typeface="Helvetica Neue"/>
                <a:cs typeface="Helvetica Neue"/>
              </a:rPr>
              <a:t>Proposal · 8 October 2026</a:t>
            </a:r>
          </a:p>
        </p:txBody>
      </p:sp>
      <p:sp>
        <p:nvSpPr>
          <p:cNvPr id="3" name="">
            <a:extLst xmlns:a="http://schemas.openxmlformats.org/drawingml/2006/main">
              <a:ext uri="{FF2B5EF4-FFF2-40B4-BE49-F238E27FC236}">
                <a16:creationId xmlns:a16="http://schemas.microsoft.com/office/drawing/2014/main" id="{1529613D-2B49-4242-BD35-E1F69CDAB01C}"/>
              </a:ext>
            </a:extLst>
          </p:cNvPr>
          <p:cNvSpPr>
            <a:spLocks xmlns:a="http://schemas.openxmlformats.org/drawingml/2006/main" noGrp="1"/>
          </p:cNvSpPr>
          <p:nvPr/>
        </p:nvSpPr>
        <p:spPr>
          <a:xfrm xmlns:a="http://schemas.openxmlformats.org/drawingml/2006/main">
            <a:off x="11049000" y="6248400"/>
            <a:ext cx="45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3645A"/>
                </a:solidFill>
                <a:latin typeface="Helvetica Neue"/>
                <a:ea typeface="Helvetica Neue"/>
                <a:cs typeface="Helvetica Neue"/>
              </a:defRPr>
            </a:defPPr>
          </a:lstStyle>
          <a:p xmlns:a="http://schemas.openxmlformats.org/drawingml/2006/main">
            <a:pPr>
              <a:defRPr sz="1275" b="0">
                <a:solidFill>
                  <a:srgbClr val="53645A"/>
                </a:solidFill>
                <a:latin typeface="Helvetica Neue"/>
                <a:ea typeface="Helvetica Neue"/>
                <a:cs typeface="Helvetica Neue"/>
              </a:defRPr>
            </a:pPr>
            <a:r>
              <a:rPr sz="1275" b="0">
                <a:solidFill>
                  <a:srgbClr val="53645A"/>
                </a:solidFill>
                <a:latin typeface="Helvetica Neue"/>
                <a:ea typeface="Helvetica Neue"/>
                <a:cs typeface="Helvetica Neue"/>
              </a:rPr>
              <a:t>17</a:t>
            </a:r>
          </a:p>
        </p:txBody>
      </p:sp>
      <p:sp>
        <p:nvSpPr>
          <p:cNvPr id="4" name="">
            <a:extLst xmlns:a="http://schemas.openxmlformats.org/drawingml/2006/main">
              <a:ext uri="{FF2B5EF4-FFF2-40B4-BE49-F238E27FC236}">
                <a16:creationId xmlns:a16="http://schemas.microsoft.com/office/drawing/2014/main" id="{EF8F8C05-9EE2-4427-93FB-84F6D3789664}"/>
              </a:ext>
            </a:extLst>
          </p:cNvPr>
          <p:cNvSpPr>
            <a:spLocks xmlns:a="http://schemas.openxmlformats.org/drawingml/2006/main" noGrp="1"/>
          </p:cNvSpPr>
          <p:nvPr/>
        </p:nvSpPr>
        <p:spPr>
          <a:xfrm xmlns:a="http://schemas.openxmlformats.org/drawingml/2006/main">
            <a:off x="609600" y="1809750"/>
            <a:ext cx="10382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17382D"/>
                </a:solidFill>
                <a:latin typeface="Helvetica Neue"/>
                <a:ea typeface="Helvetica Neue"/>
                <a:cs typeface="Helvetica Neue"/>
              </a:defRPr>
            </a:defPPr>
          </a:lstStyle>
          <a:p xmlns:a="http://schemas.openxmlformats.org/drawingml/2006/main">
            <a:pPr>
              <a:defRPr sz="2700" b="1">
                <a:solidFill>
                  <a:srgbClr val="17382D"/>
                </a:solidFill>
                <a:latin typeface="Helvetica Neue"/>
                <a:ea typeface="Helvetica Neue"/>
                <a:cs typeface="Helvetica Neue"/>
              </a:defRPr>
            </a:pPr>
            <a:r>
              <a:rPr sz="2700" b="1">
                <a:solidFill>
                  <a:srgbClr val="17382D"/>
                </a:solidFill>
                <a:latin typeface="Helvetica Neue"/>
                <a:ea typeface="Helvetica Neue"/>
                <a:cs typeface="Helvetica Neue"/>
              </a:rPr>
              <a:t>NLnet Restack</a:t>
            </a:r>
          </a:p>
        </p:txBody>
      </p:sp>
      <p:sp>
        <p:nvSpPr>
          <p:cNvPr id="5" name="">
            <a:extLst xmlns:a="http://schemas.openxmlformats.org/drawingml/2006/main">
              <a:ext uri="{FF2B5EF4-FFF2-40B4-BE49-F238E27FC236}">
                <a16:creationId xmlns:a16="http://schemas.microsoft.com/office/drawing/2014/main" id="{4B79C15B-56FD-4869-B86E-B2068E0DC6A3}"/>
              </a:ext>
            </a:extLst>
          </p:cNvPr>
          <p:cNvSpPr>
            <a:spLocks xmlns:a="http://schemas.openxmlformats.org/drawingml/2006/main" noGrp="1"/>
          </p:cNvSpPr>
          <p:nvPr/>
        </p:nvSpPr>
        <p:spPr>
          <a:xfrm xmlns:a="http://schemas.openxmlformats.org/drawingml/2006/main">
            <a:off x="609600" y="2628900"/>
            <a:ext cx="1066800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7382D"/>
                </a:solidFill>
                <a:latin typeface="Helvetica Neue"/>
                <a:ea typeface="Helvetica Neue"/>
                <a:cs typeface="Helvetica Neue"/>
              </a:defRPr>
            </a:defPPr>
          </a:lstStyle>
          <a:p xmlns:a="http://schemas.openxmlformats.org/drawingml/2006/main">
            <a:pPr>
              <a:defRPr sz="2250" b="0">
                <a:solidFill>
                  <a:srgbClr val="17382D"/>
                </a:solidFill>
                <a:latin typeface="Helvetica Neue"/>
                <a:ea typeface="Helvetica Neue"/>
                <a:cs typeface="Helvetica Neue"/>
              </a:defRPr>
            </a:pPr>
            <a:r>
              <a:rPr sz="2250" b="0">
                <a:solidFill>
                  <a:srgbClr val="17382D"/>
                </a:solidFill>
                <a:latin typeface="Helvetica Neue"/>
                <a:ea typeface="Helvetica Neue"/>
                <a:cs typeface="Helvetica Neue"/>
              </a:rPr>
              <a:t>3 November 2026 · noon CET</a:t>
            </a:r>
          </a:p>
          <a:p xmlns:a="http://schemas.openxmlformats.org/drawingml/2006/main">
            <a:pPr>
              <a:defRPr sz="2250" b="0">
                <a:solidFill>
                  <a:srgbClr val="17382D"/>
                </a:solidFill>
                <a:latin typeface="Helvetica Neue"/>
                <a:ea typeface="Helvetica Neue"/>
                <a:cs typeface="Helvetica Neue"/>
              </a:defRPr>
            </a:pPr>
            <a:r>
              <a:rPr sz="2250" b="0">
                <a:solidFill>
                  <a:srgbClr val="17382D"/>
                </a:solidFill>
                <a:latin typeface="Helvetica Neue"/>
                <a:ea typeface="Helvetica Neue"/>
                <a:cs typeface="Helvetica Neue"/>
              </a:rPr>
              <a:t>Possible open-infrastructure fit; AI scope and geographic eligibility matter.</a:t>
            </a:r>
          </a:p>
        </p:txBody>
      </p:sp>
      <p:sp>
        <p:nvSpPr>
          <p:cNvPr id="6" name="">
            <a:extLst xmlns:a="http://schemas.openxmlformats.org/drawingml/2006/main">
              <a:ext uri="{FF2B5EF4-FFF2-40B4-BE49-F238E27FC236}">
                <a16:creationId xmlns:a16="http://schemas.microsoft.com/office/drawing/2014/main" id="{12505838-AB78-4028-96B6-7E26D3428620}"/>
              </a:ext>
            </a:extLst>
          </p:cNvPr>
          <p:cNvSpPr>
            <a:spLocks xmlns:a="http://schemas.openxmlformats.org/drawingml/2006/main" noGrp="1"/>
          </p:cNvSpPr>
          <p:nvPr/>
        </p:nvSpPr>
        <p:spPr>
          <a:xfrm xmlns:a="http://schemas.openxmlformats.org/drawingml/2006/main">
            <a:off x="609600" y="4171950"/>
            <a:ext cx="10382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17382D"/>
                </a:solidFill>
                <a:latin typeface="Helvetica Neue"/>
                <a:ea typeface="Helvetica Neue"/>
                <a:cs typeface="Helvetica Neue"/>
              </a:defRPr>
            </a:defPPr>
          </a:lstStyle>
          <a:p xmlns:a="http://schemas.openxmlformats.org/drawingml/2006/main">
            <a:pPr>
              <a:defRPr sz="2700" b="1">
                <a:solidFill>
                  <a:srgbClr val="17382D"/>
                </a:solidFill>
                <a:latin typeface="Helvetica Neue"/>
                <a:ea typeface="Helvetica Neue"/>
                <a:cs typeface="Helvetica Neue"/>
              </a:defRPr>
            </a:pPr>
            <a:r>
              <a:rPr sz="2700" b="1">
                <a:solidFill>
                  <a:srgbClr val="17382D"/>
                </a:solidFill>
                <a:latin typeface="Helvetica Neue"/>
                <a:ea typeface="Helvetica Neue"/>
                <a:cs typeface="Helvetica Neue"/>
              </a:rPr>
              <a:t>Design-partner path</a:t>
            </a:r>
          </a:p>
        </p:txBody>
      </p:sp>
      <p:sp>
        <p:nvSpPr>
          <p:cNvPr id="7" name="">
            <a:extLst xmlns:a="http://schemas.openxmlformats.org/drawingml/2006/main">
              <a:ext uri="{FF2B5EF4-FFF2-40B4-BE49-F238E27FC236}">
                <a16:creationId xmlns:a16="http://schemas.microsoft.com/office/drawing/2014/main" id="{D15DDA9E-3E61-4060-97EF-E1B65D423D52}"/>
              </a:ext>
            </a:extLst>
          </p:cNvPr>
          <p:cNvSpPr>
            <a:spLocks xmlns:a="http://schemas.openxmlformats.org/drawingml/2006/main" noGrp="1"/>
          </p:cNvSpPr>
          <p:nvPr/>
        </p:nvSpPr>
        <p:spPr>
          <a:xfrm xmlns:a="http://schemas.openxmlformats.org/drawingml/2006/main">
            <a:off x="609600" y="4914900"/>
            <a:ext cx="107632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7382D"/>
                </a:solidFill>
                <a:latin typeface="Helvetica Neue"/>
                <a:ea typeface="Helvetica Neue"/>
                <a:cs typeface="Helvetica Neue"/>
              </a:defRPr>
            </a:defPPr>
          </a:lstStyle>
          <a:p xmlns:a="http://schemas.openxmlformats.org/drawingml/2006/main">
            <a:pPr>
              <a:defRPr sz="2175" b="0">
                <a:solidFill>
                  <a:srgbClr val="17382D"/>
                </a:solidFill>
                <a:latin typeface="Helvetica Neue"/>
                <a:ea typeface="Helvetica Neue"/>
                <a:cs typeface="Helvetica Neue"/>
              </a:defRPr>
            </a:pPr>
            <a:r>
              <a:rPr sz="2175" b="0">
                <a:solidFill>
                  <a:srgbClr val="17382D"/>
                </a:solidFill>
                <a:latin typeface="Helvetica Neue"/>
                <a:ea typeface="Helvetica Neue"/>
                <a:cs typeface="Helvetica Neue"/>
              </a:rPr>
              <a:t>One consenting Green Goods community and buyer first.</a:t>
            </a:r>
          </a:p>
          <a:p xmlns:a="http://schemas.openxmlformats.org/drawingml/2006/main">
            <a:pPr>
              <a:defRPr sz="2175" b="0">
                <a:solidFill>
                  <a:srgbClr val="17382D"/>
                </a:solidFill>
                <a:latin typeface="Helvetica Neue"/>
                <a:ea typeface="Helvetica Neue"/>
                <a:cs typeface="Helvetica Neue"/>
              </a:defRPr>
            </a:pPr>
            <a:r>
              <a:rPr sz="2175" b="0">
                <a:solidFill>
                  <a:srgbClr val="17382D"/>
                </a:solidFill>
                <a:latin typeface="Helvetica Neue"/>
                <a:ea typeface="Helvetica Neue"/>
                <a:cs typeface="Helvetica Neue"/>
              </a:rPr>
              <a:t>Explore interoperability with existing tools; no partnership assumed.</a:t>
            </a:r>
          </a:p>
        </p:txBody>
      </p:sp>
    </p:spTree>
    <p:extLst>
      <p:ext uri="{BB962C8B-B14F-4D97-AF65-F5344CB8AC3E}">
        <p14:creationId xmlns:p14="http://schemas.microsoft.com/office/powerpoint/2010/main" val="1960555793"/>
      </p:ext>
    </p:extLst>
  </p:cSld>
</p:sld>
</file>

<file path=ppt/slides/slide18.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A80F04F-1774-45CC-943B-B050267C88B7}"/>
              </a:ext>
            </a:extLst>
          </p:cNvPr>
          <p:cNvSpPr>
            <a:spLocks xmlns:a="http://schemas.openxmlformats.org/drawingml/2006/main" noGrp="1"/>
          </p:cNvSpPr>
          <p:nvPr/>
        </p:nvSpPr>
        <p:spPr>
          <a:xfrm xmlns:a="http://schemas.openxmlformats.org/drawingml/2006/main">
            <a:off x="609600" y="49530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382D"/>
                </a:solidFill>
                <a:latin typeface="Helvetica Neue"/>
                <a:ea typeface="Helvetica Neue"/>
                <a:cs typeface="Helvetica Neue"/>
              </a:defRPr>
            </a:defPPr>
          </a:lstStyle>
          <a:p xmlns:a="http://schemas.openxmlformats.org/drawingml/2006/main">
            <a:pPr>
              <a:defRPr sz="3300" b="1">
                <a:solidFill>
                  <a:srgbClr val="17382D"/>
                </a:solidFill>
                <a:latin typeface="Helvetica Neue"/>
                <a:ea typeface="Helvetica Neue"/>
                <a:cs typeface="Helvetica Neue"/>
              </a:defRPr>
            </a:pPr>
            <a:r>
              <a:rPr sz="3300" b="1">
                <a:solidFill>
                  <a:srgbClr val="17382D"/>
                </a:solidFill>
                <a:latin typeface="Helvetica Neue"/>
                <a:ea typeface="Helvetica Neue"/>
                <a:cs typeface="Helvetica Neue"/>
              </a:rPr>
              <a:t>Proposed ask</a:t>
            </a:r>
          </a:p>
        </p:txBody>
      </p:sp>
      <p:sp>
        <p:nvSpPr>
          <p:cNvPr id="2" name="">
            <a:extLst xmlns:a="http://schemas.openxmlformats.org/drawingml/2006/main">
              <a:ext uri="{FF2B5EF4-FFF2-40B4-BE49-F238E27FC236}">
                <a16:creationId xmlns:a16="http://schemas.microsoft.com/office/drawing/2014/main" id="{BCF1EF3E-B7C8-4308-8484-DD5A6AE3E720}"/>
              </a:ext>
            </a:extLst>
          </p:cNvPr>
          <p:cNvSpPr>
            <a:spLocks xmlns:a="http://schemas.openxmlformats.org/drawingml/2006/main" noGrp="1"/>
          </p:cNvSpPr>
          <p:nvPr/>
        </p:nvSpPr>
        <p:spPr>
          <a:xfrm xmlns:a="http://schemas.openxmlformats.org/drawingml/2006/main">
            <a:off x="609600" y="624840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3645A"/>
                </a:solidFill>
                <a:latin typeface="Helvetica Neue"/>
                <a:ea typeface="Helvetica Neue"/>
                <a:cs typeface="Helvetica Neue"/>
              </a:defRPr>
            </a:defPPr>
          </a:lstStyle>
          <a:p xmlns:a="http://schemas.openxmlformats.org/drawingml/2006/main">
            <a:pPr>
              <a:defRPr sz="1275" b="0">
                <a:solidFill>
                  <a:srgbClr val="53645A"/>
                </a:solidFill>
                <a:latin typeface="Helvetica Neue"/>
                <a:ea typeface="Helvetica Neue"/>
                <a:cs typeface="Helvetica Neue"/>
              </a:defRPr>
            </a:pPr>
            <a:r>
              <a:rPr sz="1275" b="0">
                <a:solidFill>
                  <a:srgbClr val="53645A"/>
                </a:solidFill>
                <a:latin typeface="Helvetica Neue"/>
                <a:ea typeface="Helvetica Neue"/>
                <a:cs typeface="Helvetica Neue"/>
              </a:rPr>
              <a:t>Proposed budget · US dollars · Not authorized expenditure</a:t>
            </a:r>
          </a:p>
        </p:txBody>
      </p:sp>
      <p:sp>
        <p:nvSpPr>
          <p:cNvPr id="3" name="">
            <a:extLst xmlns:a="http://schemas.openxmlformats.org/drawingml/2006/main">
              <a:ext uri="{FF2B5EF4-FFF2-40B4-BE49-F238E27FC236}">
                <a16:creationId xmlns:a16="http://schemas.microsoft.com/office/drawing/2014/main" id="{A0FDB8B8-7514-4803-8B1A-8978D4469D7E}"/>
              </a:ext>
            </a:extLst>
          </p:cNvPr>
          <p:cNvSpPr>
            <a:spLocks xmlns:a="http://schemas.openxmlformats.org/drawingml/2006/main" noGrp="1"/>
          </p:cNvSpPr>
          <p:nvPr/>
        </p:nvSpPr>
        <p:spPr>
          <a:xfrm xmlns:a="http://schemas.openxmlformats.org/drawingml/2006/main">
            <a:off x="11049000" y="6248400"/>
            <a:ext cx="45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3645A"/>
                </a:solidFill>
                <a:latin typeface="Helvetica Neue"/>
                <a:ea typeface="Helvetica Neue"/>
                <a:cs typeface="Helvetica Neue"/>
              </a:defRPr>
            </a:defPPr>
          </a:lstStyle>
          <a:p xmlns:a="http://schemas.openxmlformats.org/drawingml/2006/main">
            <a:pPr>
              <a:defRPr sz="1275" b="0">
                <a:solidFill>
                  <a:srgbClr val="53645A"/>
                </a:solidFill>
                <a:latin typeface="Helvetica Neue"/>
                <a:ea typeface="Helvetica Neue"/>
                <a:cs typeface="Helvetica Neue"/>
              </a:defRPr>
            </a:pPr>
            <a:r>
              <a:rPr sz="1275" b="0">
                <a:solidFill>
                  <a:srgbClr val="53645A"/>
                </a:solidFill>
                <a:latin typeface="Helvetica Neue"/>
                <a:ea typeface="Helvetica Neue"/>
                <a:cs typeface="Helvetica Neue"/>
              </a:rPr>
              <a:t>18</a:t>
            </a:r>
          </a:p>
        </p:txBody>
      </p:sp>
      <p:sp>
        <p:nvSpPr>
          <p:cNvPr id="4" name="">
            <a:extLst xmlns:a="http://schemas.openxmlformats.org/drawingml/2006/main">
              <a:ext uri="{FF2B5EF4-FFF2-40B4-BE49-F238E27FC236}">
                <a16:creationId xmlns:a16="http://schemas.microsoft.com/office/drawing/2014/main" id="{67813BAB-4FE3-4F8F-9452-86F028209ACB}"/>
              </a:ext>
            </a:extLst>
          </p:cNvPr>
          <p:cNvSpPr>
            <a:spLocks xmlns:a="http://schemas.openxmlformats.org/drawingml/2006/main" noGrp="1"/>
          </p:cNvSpPr>
          <p:nvPr/>
        </p:nvSpPr>
        <p:spPr>
          <a:xfrm xmlns:a="http://schemas.openxmlformats.org/drawingml/2006/main">
            <a:off x="609600" y="1838325"/>
            <a:ext cx="10572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6450" b="1">
                <a:solidFill>
                  <a:srgbClr val="17382D"/>
                </a:solidFill>
                <a:latin typeface="Helvetica Neue"/>
                <a:ea typeface="Helvetica Neue"/>
                <a:cs typeface="Helvetica Neue"/>
              </a:defRPr>
            </a:defPPr>
          </a:lstStyle>
          <a:p xmlns:a="http://schemas.openxmlformats.org/drawingml/2006/main">
            <a:pPr>
              <a:defRPr sz="6450" b="1">
                <a:solidFill>
                  <a:srgbClr val="17382D"/>
                </a:solidFill>
                <a:latin typeface="Helvetica Neue"/>
                <a:ea typeface="Helvetica Neue"/>
                <a:cs typeface="Helvetica Neue"/>
              </a:defRPr>
            </a:pPr>
            <a:r>
              <a:rPr sz="6450" b="1">
                <a:solidFill>
                  <a:srgbClr val="17382D"/>
                </a:solidFill>
                <a:latin typeface="Helvetica Neue"/>
                <a:ea typeface="Helvetica Neue"/>
                <a:cs typeface="Helvetica Neue"/>
              </a:rPr>
              <a:t>$12,000</a:t>
            </a:r>
          </a:p>
        </p:txBody>
      </p:sp>
      <p:sp>
        <p:nvSpPr>
          <p:cNvPr id="5" name="">
            <a:extLst xmlns:a="http://schemas.openxmlformats.org/drawingml/2006/main">
              <a:ext uri="{FF2B5EF4-FFF2-40B4-BE49-F238E27FC236}">
                <a16:creationId xmlns:a16="http://schemas.microsoft.com/office/drawing/2014/main" id="{50A8E3CC-D1E5-4F1F-8C95-A2CFBF976468}"/>
              </a:ext>
            </a:extLst>
          </p:cNvPr>
          <p:cNvSpPr>
            <a:spLocks xmlns:a="http://schemas.openxmlformats.org/drawingml/2006/main" noGrp="1"/>
          </p:cNvSpPr>
          <p:nvPr/>
        </p:nvSpPr>
        <p:spPr>
          <a:xfrm xmlns:a="http://schemas.openxmlformats.org/drawingml/2006/main">
            <a:off x="609600" y="3286125"/>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925" b="1">
                <a:solidFill>
                  <a:srgbClr val="17382D"/>
                </a:solidFill>
                <a:latin typeface="Helvetica Neue"/>
                <a:ea typeface="Helvetica Neue"/>
                <a:cs typeface="Helvetica Neue"/>
              </a:defRPr>
            </a:defPPr>
          </a:lstStyle>
          <a:p xmlns:a="http://schemas.openxmlformats.org/drawingml/2006/main">
            <a:pPr>
              <a:defRPr sz="2925" b="1">
                <a:solidFill>
                  <a:srgbClr val="17382D"/>
                </a:solidFill>
                <a:latin typeface="Helvetica Neue"/>
                <a:ea typeface="Helvetica Neue"/>
                <a:cs typeface="Helvetica Neue"/>
              </a:defRPr>
            </a:pPr>
            <a:r>
              <a:rPr sz="2925" b="1">
                <a:solidFill>
                  <a:srgbClr val="17382D"/>
                </a:solidFill>
                <a:latin typeface="Helvetica Neue"/>
                <a:ea typeface="Helvetica Neue"/>
                <a:cs typeface="Helvetica Neue"/>
              </a:rPr>
              <a:t>Two weeks. One workflow. A measured decision.</a:t>
            </a:r>
          </a:p>
        </p:txBody>
      </p:sp>
      <p:sp>
        <p:nvSpPr>
          <p:cNvPr id="6" name="">
            <a:extLst xmlns:a="http://schemas.openxmlformats.org/drawingml/2006/main">
              <a:ext uri="{FF2B5EF4-FFF2-40B4-BE49-F238E27FC236}">
                <a16:creationId xmlns:a16="http://schemas.microsoft.com/office/drawing/2014/main" id="{B3BEC83B-CEDE-4A5C-9617-3F9C411E096C}"/>
              </a:ext>
            </a:extLst>
          </p:cNvPr>
          <p:cNvSpPr>
            <a:spLocks xmlns:a="http://schemas.openxmlformats.org/drawingml/2006/main" noGrp="1"/>
          </p:cNvSpPr>
          <p:nvPr/>
        </p:nvSpPr>
        <p:spPr>
          <a:xfrm xmlns:a="http://schemas.openxmlformats.org/drawingml/2006/main">
            <a:off x="609600" y="4581525"/>
            <a:ext cx="1052512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382D"/>
                </a:solidFill>
                <a:latin typeface="Helvetica Neue"/>
                <a:ea typeface="Helvetica Neue"/>
                <a:cs typeface="Helvetica Neue"/>
              </a:defRPr>
            </a:defPPr>
          </a:lstStyle>
          <a:p xmlns:a="http://schemas.openxmlformats.org/drawingml/2006/main">
            <a:pPr>
              <a:defRPr sz="2325" b="0">
                <a:solidFill>
                  <a:srgbClr val="17382D"/>
                </a:solidFill>
                <a:latin typeface="Helvetica Neue"/>
                <a:ea typeface="Helvetica Neue"/>
                <a:cs typeface="Helvetica Neue"/>
              </a:defRPr>
            </a:pPr>
            <a:r>
              <a:rPr sz="2325" b="0">
                <a:solidFill>
                  <a:srgbClr val="17382D"/>
                </a:solidFill>
                <a:latin typeface="Helvetica Neue"/>
                <a:ea typeface="Helvetica Neue"/>
                <a:cs typeface="Helvetica Neue"/>
              </a:rPr>
              <a:t>Then a separate $30,000 pilot decision—</a:t>
            </a:r>
          </a:p>
          <a:p xmlns:a="http://schemas.openxmlformats.org/drawingml/2006/main">
            <a:pPr>
              <a:defRPr sz="2325" b="0">
                <a:solidFill>
                  <a:srgbClr val="17382D"/>
                </a:solidFill>
                <a:latin typeface="Helvetica Neue"/>
                <a:ea typeface="Helvetica Neue"/>
                <a:cs typeface="Helvetica Neue"/>
              </a:defRPr>
            </a:pPr>
            <a:r>
              <a:rPr sz="2325" b="0">
                <a:solidFill>
                  <a:srgbClr val="17382D"/>
                </a:solidFill>
                <a:latin typeface="Helvetica Neue"/>
                <a:ea typeface="Helvetica Neue"/>
                <a:cs typeface="Helvetica Neue"/>
              </a:rPr>
              <a:t>only after usefulness, privacy and recovery are demonstrated.</a:t>
            </a:r>
          </a:p>
        </p:txBody>
      </p:sp>
    </p:spTree>
    <p:extLst>
      <p:ext uri="{BB962C8B-B14F-4D97-AF65-F5344CB8AC3E}">
        <p14:creationId xmlns:p14="http://schemas.microsoft.com/office/powerpoint/2010/main" val="112864446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2026-10-08T16:27:11.4640000Z</dcterms:created>
  <dcterms:modified xsi:type="dcterms:W3CDTF">2026-10-08T16:27:11.4640000Z</dcterms:modified>
</coreProperties>
</file>